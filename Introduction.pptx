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0" r:id="rId5"/>
    <p:sldId id="261" r:id="rId6"/>
    <p:sldId id="262" r:id="rId7"/>
    <p:sldId id="263"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91" y="6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n B" userId="db9ed596-3ff8-44ed-9ddf-677f7b64b4c6" providerId="ADAL" clId="{EEF83267-7AEB-4787-957A-D06E19C3CDCB}"/>
    <pc:docChg chg="custSel addSld delSld modSld">
      <pc:chgData name="Fan B" userId="db9ed596-3ff8-44ed-9ddf-677f7b64b4c6" providerId="ADAL" clId="{EEF83267-7AEB-4787-957A-D06E19C3CDCB}" dt="2025-09-02T02:37:44.745" v="89"/>
      <pc:docMkLst>
        <pc:docMk/>
      </pc:docMkLst>
      <pc:sldChg chg="addSp modSp mod">
        <pc:chgData name="Fan B" userId="db9ed596-3ff8-44ed-9ddf-677f7b64b4c6" providerId="ADAL" clId="{EEF83267-7AEB-4787-957A-D06E19C3CDCB}" dt="2025-09-02T02:22:21.850" v="26" actId="14100"/>
        <pc:sldMkLst>
          <pc:docMk/>
          <pc:sldMk cId="3791045373" sldId="256"/>
        </pc:sldMkLst>
        <pc:spChg chg="mod">
          <ac:chgData name="Fan B" userId="db9ed596-3ff8-44ed-9ddf-677f7b64b4c6" providerId="ADAL" clId="{EEF83267-7AEB-4787-957A-D06E19C3CDCB}" dt="2025-09-02T02:22:18.765" v="25" actId="14100"/>
          <ac:spMkLst>
            <pc:docMk/>
            <pc:sldMk cId="3791045373" sldId="256"/>
            <ac:spMk id="2" creationId="{00000000-0000-0000-0000-000000000000}"/>
          </ac:spMkLst>
        </pc:spChg>
        <pc:spChg chg="mod">
          <ac:chgData name="Fan B" userId="db9ed596-3ff8-44ed-9ddf-677f7b64b4c6" providerId="ADAL" clId="{EEF83267-7AEB-4787-957A-D06E19C3CDCB}" dt="2025-09-02T02:22:21.850" v="26" actId="14100"/>
          <ac:spMkLst>
            <pc:docMk/>
            <pc:sldMk cId="3791045373" sldId="256"/>
            <ac:spMk id="3" creationId="{00000000-0000-0000-0000-000000000000}"/>
          </ac:spMkLst>
        </pc:spChg>
        <pc:picChg chg="add mod">
          <ac:chgData name="Fan B" userId="db9ed596-3ff8-44ed-9ddf-677f7b64b4c6" providerId="ADAL" clId="{EEF83267-7AEB-4787-957A-D06E19C3CDCB}" dt="2025-09-02T02:22:12.211" v="24" actId="1076"/>
          <ac:picMkLst>
            <pc:docMk/>
            <pc:sldMk cId="3791045373" sldId="256"/>
            <ac:picMk id="1026" creationId="{2CE32480-D532-4E19-A03F-39BC14EB3FED}"/>
          </ac:picMkLst>
        </pc:picChg>
      </pc:sldChg>
      <pc:sldChg chg="del">
        <pc:chgData name="Fan B" userId="db9ed596-3ff8-44ed-9ddf-677f7b64b4c6" providerId="ADAL" clId="{EEF83267-7AEB-4787-957A-D06E19C3CDCB}" dt="2025-09-02T02:31:04.659" v="32" actId="2696"/>
        <pc:sldMkLst>
          <pc:docMk/>
          <pc:sldMk cId="914748038" sldId="258"/>
        </pc:sldMkLst>
      </pc:sldChg>
      <pc:sldChg chg="del">
        <pc:chgData name="Fan B" userId="db9ed596-3ff8-44ed-9ddf-677f7b64b4c6" providerId="ADAL" clId="{EEF83267-7AEB-4787-957A-D06E19C3CDCB}" dt="2025-09-02T02:31:27.987" v="33" actId="2696"/>
        <pc:sldMkLst>
          <pc:docMk/>
          <pc:sldMk cId="2173735695" sldId="259"/>
        </pc:sldMkLst>
      </pc:sldChg>
      <pc:sldChg chg="modSp mod">
        <pc:chgData name="Fan B" userId="db9ed596-3ff8-44ed-9ddf-677f7b64b4c6" providerId="ADAL" clId="{EEF83267-7AEB-4787-957A-D06E19C3CDCB}" dt="2025-09-02T02:37:44.745" v="89"/>
        <pc:sldMkLst>
          <pc:docMk/>
          <pc:sldMk cId="2978660101" sldId="261"/>
        </pc:sldMkLst>
        <pc:spChg chg="mod">
          <ac:chgData name="Fan B" userId="db9ed596-3ff8-44ed-9ddf-677f7b64b4c6" providerId="ADAL" clId="{EEF83267-7AEB-4787-957A-D06E19C3CDCB}" dt="2025-09-02T02:37:44.745" v="89"/>
          <ac:spMkLst>
            <pc:docMk/>
            <pc:sldMk cId="2978660101" sldId="261"/>
            <ac:spMk id="3" creationId="{00000000-0000-0000-0000-000000000000}"/>
          </ac:spMkLst>
        </pc:spChg>
      </pc:sldChg>
      <pc:sldChg chg="modSp mod">
        <pc:chgData name="Fan B" userId="db9ed596-3ff8-44ed-9ddf-677f7b64b4c6" providerId="ADAL" clId="{EEF83267-7AEB-4787-957A-D06E19C3CDCB}" dt="2025-09-02T02:37:12.780" v="86" actId="313"/>
        <pc:sldMkLst>
          <pc:docMk/>
          <pc:sldMk cId="1337076664" sldId="262"/>
        </pc:sldMkLst>
        <pc:spChg chg="mod">
          <ac:chgData name="Fan B" userId="db9ed596-3ff8-44ed-9ddf-677f7b64b4c6" providerId="ADAL" clId="{EEF83267-7AEB-4787-957A-D06E19C3CDCB}" dt="2025-09-02T02:37:12.780" v="86" actId="313"/>
          <ac:spMkLst>
            <pc:docMk/>
            <pc:sldMk cId="1337076664" sldId="262"/>
            <ac:spMk id="2" creationId="{00000000-0000-0000-0000-000000000000}"/>
          </ac:spMkLst>
        </pc:spChg>
        <pc:spChg chg="mod">
          <ac:chgData name="Fan B" userId="db9ed596-3ff8-44ed-9ddf-677f7b64b4c6" providerId="ADAL" clId="{EEF83267-7AEB-4787-957A-D06E19C3CDCB}" dt="2025-09-02T02:36:58.420" v="56" actId="403"/>
          <ac:spMkLst>
            <pc:docMk/>
            <pc:sldMk cId="1337076664" sldId="262"/>
            <ac:spMk id="3" creationId="{00000000-0000-0000-0000-000000000000}"/>
          </ac:spMkLst>
        </pc:spChg>
      </pc:sldChg>
      <pc:sldChg chg="addSp modSp">
        <pc:chgData name="Fan B" userId="db9ed596-3ff8-44ed-9ddf-677f7b64b4c6" providerId="ADAL" clId="{EEF83267-7AEB-4787-957A-D06E19C3CDCB}" dt="2025-09-02T02:34:16.368" v="41" actId="1076"/>
        <pc:sldMkLst>
          <pc:docMk/>
          <pc:sldMk cId="744714506" sldId="263"/>
        </pc:sldMkLst>
        <pc:picChg chg="add mod">
          <ac:chgData name="Fan B" userId="db9ed596-3ff8-44ed-9ddf-677f7b64b4c6" providerId="ADAL" clId="{EEF83267-7AEB-4787-957A-D06E19C3CDCB}" dt="2025-09-02T02:34:16.368" v="41" actId="1076"/>
          <ac:picMkLst>
            <pc:docMk/>
            <pc:sldMk cId="744714506" sldId="263"/>
            <ac:picMk id="2050" creationId="{49723904-E8A6-4316-A0E4-6DFB7D63D76E}"/>
          </ac:picMkLst>
        </pc:picChg>
      </pc:sldChg>
      <pc:sldChg chg="modSp new mod">
        <pc:chgData name="Fan B" userId="db9ed596-3ff8-44ed-9ddf-677f7b64b4c6" providerId="ADAL" clId="{EEF83267-7AEB-4787-957A-D06E19C3CDCB}" dt="2025-09-02T02:30:59.804" v="31" actId="14100"/>
        <pc:sldMkLst>
          <pc:docMk/>
          <pc:sldMk cId="2463673336" sldId="264"/>
        </pc:sldMkLst>
        <pc:spChg chg="mod">
          <ac:chgData name="Fan B" userId="db9ed596-3ff8-44ed-9ddf-677f7b64b4c6" providerId="ADAL" clId="{EEF83267-7AEB-4787-957A-D06E19C3CDCB}" dt="2025-09-02T02:30:59.804" v="31" actId="14100"/>
          <ac:spMkLst>
            <pc:docMk/>
            <pc:sldMk cId="2463673336" sldId="264"/>
            <ac:spMk id="2" creationId="{13C7C6F4-4B6B-4364-A9D6-AF06A3C37F8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1849550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4227088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3058606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2648089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3142665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3110332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363013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1983807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2779826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2696555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2662457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62EB67-6BBA-4EBF-B924-533FC2BD3030}" type="datetimeFigureOut">
              <a:rPr lang="zh-CN" altLang="en-US" smtClean="0"/>
              <a:t>2025/9/2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3AF921-95E1-4FF8-8355-D8785BC20FC8}" type="slidenum">
              <a:rPr lang="zh-CN" altLang="en-US" smtClean="0"/>
              <a:t>‹#›</a:t>
            </a:fld>
            <a:endParaRPr lang="zh-CN" altLang="en-US"/>
          </a:p>
        </p:txBody>
      </p:sp>
    </p:spTree>
    <p:extLst>
      <p:ext uri="{BB962C8B-B14F-4D97-AF65-F5344CB8AC3E}">
        <p14:creationId xmlns:p14="http://schemas.microsoft.com/office/powerpoint/2010/main" val="834048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cs.berkeley.edu/~vazirani/algorithms.html" TargetMode="External"/><Relationship Id="rId2" Type="http://schemas.openxmlformats.org/officeDocument/2006/relationships/hyperlink" Target="http://www.cs.uiuc.edu/~jeffe/teaching/algorithms"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4984865" cy="2387600"/>
          </a:xfrm>
        </p:spPr>
        <p:txBody>
          <a:bodyPr/>
          <a:lstStyle/>
          <a:p>
            <a:r>
              <a:rPr lang="en-US" altLang="zh-CN" dirty="0"/>
              <a:t>Introduction</a:t>
            </a:r>
            <a:endParaRPr lang="zh-CN" altLang="en-US" dirty="0"/>
          </a:p>
        </p:txBody>
      </p:sp>
      <p:sp>
        <p:nvSpPr>
          <p:cNvPr id="3" name="副标题 2"/>
          <p:cNvSpPr>
            <a:spLocks noGrp="1"/>
          </p:cNvSpPr>
          <p:nvPr>
            <p:ph type="subTitle" idx="1"/>
          </p:nvPr>
        </p:nvSpPr>
        <p:spPr>
          <a:xfrm>
            <a:off x="1524000" y="3602038"/>
            <a:ext cx="4572000" cy="1655762"/>
          </a:xfrm>
        </p:spPr>
        <p:txBody>
          <a:bodyPr/>
          <a:lstStyle/>
          <a:p>
            <a:r>
              <a:rPr lang="en-US" altLang="zh-CN" dirty="0"/>
              <a:t>Dr  Fan Bi</a:t>
            </a:r>
          </a:p>
          <a:p>
            <a:r>
              <a:rPr lang="en-US" altLang="zh-CN" dirty="0"/>
              <a:t> </a:t>
            </a:r>
            <a:r>
              <a:rPr lang="zh-CN" altLang="en-US" dirty="0"/>
              <a:t>毕凡</a:t>
            </a:r>
          </a:p>
        </p:txBody>
      </p:sp>
      <p:pic>
        <p:nvPicPr>
          <p:cNvPr id="1026" name="Picture 2" descr="May be an image of ‎5 people, map and ‎text that says &quot;‎படபම ام 7 University of Southampton MALAYSIA QS WORLD D UNIVERSITY RANKINGS rOP OD 100 00 87T GLOBALLY QS World University Rankings 2026 TOP 100 UNIVERSITY IN THE WORLD Ranked#14intheUK the UK Ranked #14 FOUNDING FOUNDINGRUSSELL NG RUSSELL MEMBER OF THE GROUP‎&quot;‎‎">
            <a:extLst>
              <a:ext uri="{FF2B5EF4-FFF2-40B4-BE49-F238E27FC236}">
                <a16:creationId xmlns:a16="http://schemas.microsoft.com/office/drawing/2014/main" id="{2CE32480-D532-4E19-A03F-39BC14EB3F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0" y="0"/>
            <a:ext cx="5143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045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Algorithm definitions</a:t>
            </a:r>
            <a:endParaRPr lang="zh-CN" altLang="en-US" dirty="0"/>
          </a:p>
        </p:txBody>
      </p:sp>
      <p:pic>
        <p:nvPicPr>
          <p:cNvPr id="4" name="内容占位符 3"/>
          <p:cNvPicPr>
            <a:picLocks noGrp="1" noChangeAspect="1"/>
          </p:cNvPicPr>
          <p:nvPr>
            <p:ph idx="1"/>
          </p:nvPr>
        </p:nvPicPr>
        <p:blipFill>
          <a:blip r:embed="rId2"/>
          <a:stretch>
            <a:fillRect/>
          </a:stretch>
        </p:blipFill>
        <p:spPr>
          <a:xfrm>
            <a:off x="1126119" y="1690688"/>
            <a:ext cx="8985335" cy="1624272"/>
          </a:xfrm>
          <a:prstGeom prst="rect">
            <a:avLst/>
          </a:prstGeom>
        </p:spPr>
      </p:pic>
      <p:pic>
        <p:nvPicPr>
          <p:cNvPr id="5" name="图片 4"/>
          <p:cNvPicPr>
            <a:picLocks noChangeAspect="1"/>
          </p:cNvPicPr>
          <p:nvPr/>
        </p:nvPicPr>
        <p:blipFill>
          <a:blip r:embed="rId3"/>
          <a:stretch>
            <a:fillRect/>
          </a:stretch>
        </p:blipFill>
        <p:spPr>
          <a:xfrm>
            <a:off x="1309579" y="3958871"/>
            <a:ext cx="8906671" cy="1855076"/>
          </a:xfrm>
          <a:prstGeom prst="rect">
            <a:avLst/>
          </a:prstGeom>
        </p:spPr>
      </p:pic>
    </p:spTree>
    <p:extLst>
      <p:ext uri="{BB962C8B-B14F-4D97-AF65-F5344CB8AC3E}">
        <p14:creationId xmlns:p14="http://schemas.microsoft.com/office/powerpoint/2010/main" val="614116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C7C6F4-4B6B-4364-A9D6-AF06A3C37F88}"/>
              </a:ext>
            </a:extLst>
          </p:cNvPr>
          <p:cNvSpPr>
            <a:spLocks noChangeAspect="1"/>
          </p:cNvSpPr>
          <p:nvPr>
            <p:custDataLst>
              <p:tags r:id="rId1"/>
            </p:custDataLst>
          </p:nvPr>
        </p:nvSpPr>
        <p:spPr>
          <a:xfrm>
            <a:off x="1295400" y="-1"/>
            <a:ext cx="9619211" cy="6870865"/>
          </a:xfrm>
          <a:prstGeom prst="rect">
            <a:avLst/>
          </a:prstGeom>
          <a:blipFill>
            <a:blip r:embed="rId3"/>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355600" rIns="355600" rtlCol="0" anchor="ctr">
            <a:noAutofit/>
          </a:bodyPr>
          <a:lstStyle/>
          <a:p>
            <a:pPr algn="ctr"/>
            <a:r>
              <a:rPr lang="zh-CN" altLang="en-US" sz="20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网络视频</a:t>
            </a:r>
          </a:p>
          <a:p>
            <a:pPr algn="just"/>
            <a:endParaRPr lang="zh-CN" altLang="en-US"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r>
              <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rPr>
              <a:t>https://www.youtube.com/watch?v=oRkNaF0QvnI</a:t>
            </a: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endParaRPr lang="en-US" altLang="zh-CN" sz="1600">
              <a:solidFill>
                <a:srgbClr val="F8F8F8"/>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gn="just"/>
            <a:r>
              <a:rPr lang="zh-CN" altLang="en-US" sz="1100">
                <a:solidFill>
                  <a:srgbClr val="C8C8C8"/>
                </a:solidFill>
                <a:latin typeface="Microsoft Yahei" panose="020B0503020204020204" pitchFamily="34" charset="-122"/>
                <a:ea typeface="Microsoft Yahei" panose="020B0503020204020204" pitchFamily="34" charset="-122"/>
                <a:sym typeface="Microsoft Yahei" panose="020B0503020204020204" pitchFamily="34" charset="-122"/>
              </a:rPr>
              <a:t>温馨提示：此视频框在点击“上传手机课件”时会进行转换，用手机进行观看时则会变为可点击的视频。此视频框可被拖动移位和修改大小</a:t>
            </a:r>
          </a:p>
        </p:txBody>
      </p:sp>
    </p:spTree>
    <p:extLst>
      <p:ext uri="{BB962C8B-B14F-4D97-AF65-F5344CB8AC3E}">
        <p14:creationId xmlns:p14="http://schemas.microsoft.com/office/powerpoint/2010/main" val="2463673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Why study algorithms</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t>Internet. Web search, packet routing, distributed file sharing, ...</a:t>
            </a:r>
          </a:p>
          <a:p>
            <a:r>
              <a:rPr lang="en-US" altLang="zh-CN" dirty="0"/>
              <a:t>Biology. Human genome project, protein folding, …</a:t>
            </a:r>
          </a:p>
          <a:p>
            <a:r>
              <a:rPr lang="en-US" altLang="zh-CN" dirty="0"/>
              <a:t>Computers. Circuit layout, databases, caching, networking, compilers, …</a:t>
            </a:r>
          </a:p>
          <a:p>
            <a:r>
              <a:rPr lang="en-US" altLang="zh-CN" dirty="0"/>
              <a:t>Computer graphics. Movies, video games, virtual reality, …</a:t>
            </a:r>
          </a:p>
          <a:p>
            <a:r>
              <a:rPr lang="en-US" altLang="zh-CN" dirty="0"/>
              <a:t>Security. Cell phones, e-commerce, voting machines, …</a:t>
            </a:r>
          </a:p>
          <a:p>
            <a:r>
              <a:rPr lang="en-US" altLang="zh-CN" dirty="0"/>
              <a:t>Multimedia. MP3, JPG, DivX, HDTV, face recognition, …</a:t>
            </a:r>
          </a:p>
          <a:p>
            <a:r>
              <a:rPr lang="en-US" altLang="zh-CN" dirty="0"/>
              <a:t>Social networks. Recommendations, news feeds, advertisements, …</a:t>
            </a:r>
          </a:p>
          <a:p>
            <a:r>
              <a:rPr lang="en-US" altLang="zh-CN" dirty="0"/>
              <a:t>Physics. N-body simulation, particle collision simulation, …</a:t>
            </a:r>
            <a:endParaRPr lang="zh-CN" altLang="en-US" dirty="0"/>
          </a:p>
        </p:txBody>
      </p:sp>
    </p:spTree>
    <p:extLst>
      <p:ext uri="{BB962C8B-B14F-4D97-AF65-F5344CB8AC3E}">
        <p14:creationId xmlns:p14="http://schemas.microsoft.com/office/powerpoint/2010/main" val="3510184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Grades</a:t>
            </a:r>
            <a:endParaRPr lang="zh-CN" altLang="en-US" dirty="0"/>
          </a:p>
        </p:txBody>
      </p:sp>
      <p:sp>
        <p:nvSpPr>
          <p:cNvPr id="3" name="内容占位符 2"/>
          <p:cNvSpPr>
            <a:spLocks noGrp="1"/>
          </p:cNvSpPr>
          <p:nvPr>
            <p:ph idx="1"/>
          </p:nvPr>
        </p:nvSpPr>
        <p:spPr/>
        <p:txBody>
          <a:bodyPr/>
          <a:lstStyle/>
          <a:p>
            <a:r>
              <a:rPr lang="en-US" altLang="zh-CN" dirty="0"/>
              <a:t>Class Participation: 30%</a:t>
            </a:r>
          </a:p>
          <a:p>
            <a:endParaRPr lang="en-US" altLang="zh-CN" dirty="0"/>
          </a:p>
          <a:p>
            <a:r>
              <a:rPr lang="en-US" altLang="zh-CN" dirty="0"/>
              <a:t>Exercise: 70%</a:t>
            </a:r>
          </a:p>
          <a:p>
            <a:pPr lvl="1"/>
            <a:r>
              <a:rPr lang="en-US" altLang="zh-CN" b="1" i="0" dirty="0">
                <a:solidFill>
                  <a:srgbClr val="000000"/>
                </a:solidFill>
                <a:effectLst/>
                <a:latin typeface="Helvetica Neue"/>
              </a:rPr>
              <a:t>Grading.</a:t>
            </a:r>
            <a:r>
              <a:rPr lang="en-US" altLang="zh-CN" b="0" i="0" dirty="0">
                <a:solidFill>
                  <a:srgbClr val="000000"/>
                </a:solidFill>
                <a:effectLst/>
                <a:latin typeface="Helvetica Neue"/>
              </a:rPr>
              <a:t>   We will determine your course grade based primarily on weekly problem sets, using class participation and staff discretion to resolve borderline situations. We will grade your problem sets for correctness, clarity, and conciseness.</a:t>
            </a:r>
            <a:endParaRPr lang="en-US" altLang="zh-CN" dirty="0"/>
          </a:p>
        </p:txBody>
      </p:sp>
    </p:spTree>
    <p:extLst>
      <p:ext uri="{BB962C8B-B14F-4D97-AF65-F5344CB8AC3E}">
        <p14:creationId xmlns:p14="http://schemas.microsoft.com/office/powerpoint/2010/main" val="2978660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Recommended Resources</a:t>
            </a:r>
            <a:endParaRPr lang="zh-CN" altLang="en-US" dirty="0"/>
          </a:p>
        </p:txBody>
      </p:sp>
      <p:sp>
        <p:nvSpPr>
          <p:cNvPr id="3" name="内容占位符 2"/>
          <p:cNvSpPr>
            <a:spLocks noGrp="1"/>
          </p:cNvSpPr>
          <p:nvPr>
            <p:ph idx="1"/>
          </p:nvPr>
        </p:nvSpPr>
        <p:spPr>
          <a:xfrm>
            <a:off x="838200" y="1825625"/>
            <a:ext cx="6377247" cy="4351338"/>
          </a:xfrm>
        </p:spPr>
        <p:txBody>
          <a:bodyPr>
            <a:normAutofit/>
          </a:bodyPr>
          <a:lstStyle/>
          <a:p>
            <a:r>
              <a:rPr lang="en-US" altLang="zh-CN" sz="2400" b="0" i="1" dirty="0">
                <a:solidFill>
                  <a:srgbClr val="000000"/>
                </a:solidFill>
                <a:effectLst/>
                <a:latin typeface="Helvetica Neue"/>
              </a:rPr>
              <a:t>Algorithm Design</a:t>
            </a:r>
            <a:r>
              <a:rPr lang="en-US" altLang="zh-CN" sz="2400" b="0" i="0" dirty="0">
                <a:solidFill>
                  <a:srgbClr val="000000"/>
                </a:solidFill>
                <a:effectLst/>
                <a:latin typeface="Helvetica Neue"/>
              </a:rPr>
              <a:t> by Jon Kleinberg and </a:t>
            </a:r>
            <a:r>
              <a:rPr lang="en-US" altLang="zh-CN" sz="2400" b="0" i="0" dirty="0" err="1">
                <a:solidFill>
                  <a:srgbClr val="000000"/>
                </a:solidFill>
                <a:effectLst/>
                <a:latin typeface="Helvetica Neue"/>
              </a:rPr>
              <a:t>Éva</a:t>
            </a:r>
            <a:r>
              <a:rPr lang="en-US" altLang="zh-CN" sz="2400" b="0" i="0" dirty="0">
                <a:solidFill>
                  <a:srgbClr val="000000"/>
                </a:solidFill>
                <a:effectLst/>
                <a:latin typeface="Helvetica Neue"/>
              </a:rPr>
              <a:t> </a:t>
            </a:r>
            <a:r>
              <a:rPr lang="en-US" altLang="zh-CN" sz="2400" b="0" i="0" dirty="0" err="1">
                <a:solidFill>
                  <a:srgbClr val="000000"/>
                </a:solidFill>
                <a:effectLst/>
                <a:latin typeface="Helvetica Neue"/>
              </a:rPr>
              <a:t>Tardos</a:t>
            </a:r>
            <a:r>
              <a:rPr lang="en-US" altLang="zh-CN" sz="2400" b="0" i="0" dirty="0">
                <a:solidFill>
                  <a:srgbClr val="000000"/>
                </a:solidFill>
                <a:effectLst/>
                <a:latin typeface="Helvetica Neue"/>
              </a:rPr>
              <a:t>. Addison-Wesley, 2005.</a:t>
            </a:r>
            <a:endParaRPr lang="en-US" altLang="zh-CN" sz="3600" b="0" i="1" dirty="0">
              <a:solidFill>
                <a:srgbClr val="000000"/>
              </a:solidFill>
              <a:effectLst/>
              <a:latin typeface="Helvetica Neue"/>
            </a:endParaRPr>
          </a:p>
          <a:p>
            <a:pPr algn="l">
              <a:buFont typeface="Arial" panose="020B0604020202020204" pitchFamily="34" charset="0"/>
              <a:buChar char="•"/>
            </a:pPr>
            <a:r>
              <a:rPr lang="en-US" altLang="zh-CN" sz="2000" b="0" i="1" dirty="0">
                <a:solidFill>
                  <a:srgbClr val="000000"/>
                </a:solidFill>
                <a:effectLst/>
                <a:latin typeface="Helvetica Neue"/>
              </a:rPr>
              <a:t>Introduction to Algorithms, Third Edition</a:t>
            </a:r>
            <a:r>
              <a:rPr lang="en-US" altLang="zh-CN" sz="2000" b="0" i="0" dirty="0">
                <a:solidFill>
                  <a:srgbClr val="000000"/>
                </a:solidFill>
                <a:effectLst/>
                <a:latin typeface="Helvetica Neue"/>
              </a:rPr>
              <a:t> by Thomas </a:t>
            </a:r>
            <a:r>
              <a:rPr lang="en-US" altLang="zh-CN" sz="2000" b="0" i="0" dirty="0" err="1">
                <a:solidFill>
                  <a:srgbClr val="000000"/>
                </a:solidFill>
                <a:effectLst/>
                <a:latin typeface="Helvetica Neue"/>
              </a:rPr>
              <a:t>Cormen</a:t>
            </a:r>
            <a:r>
              <a:rPr lang="en-US" altLang="zh-CN" sz="2000" b="0" i="0" dirty="0">
                <a:solidFill>
                  <a:srgbClr val="000000"/>
                </a:solidFill>
                <a:effectLst/>
                <a:latin typeface="Helvetica Neue"/>
              </a:rPr>
              <a:t>, Charles </a:t>
            </a:r>
            <a:r>
              <a:rPr lang="en-US" altLang="zh-CN" sz="2000" b="0" i="0" dirty="0" err="1">
                <a:solidFill>
                  <a:srgbClr val="000000"/>
                </a:solidFill>
                <a:effectLst/>
                <a:latin typeface="Helvetica Neue"/>
              </a:rPr>
              <a:t>Leiserson</a:t>
            </a:r>
            <a:r>
              <a:rPr lang="en-US" altLang="zh-CN" sz="2000" b="0" i="0" dirty="0">
                <a:solidFill>
                  <a:srgbClr val="000000"/>
                </a:solidFill>
                <a:effectLst/>
                <a:latin typeface="Helvetica Neue"/>
              </a:rPr>
              <a:t>, Ronald Rivest, and Clifford Stein. MIT Press, 2009.</a:t>
            </a:r>
          </a:p>
          <a:p>
            <a:pPr algn="l">
              <a:buFont typeface="Arial" panose="020B0604020202020204" pitchFamily="34" charset="0"/>
              <a:buChar char="•"/>
            </a:pPr>
            <a:r>
              <a:rPr lang="en-US" altLang="zh-CN" sz="2000" b="0" i="1" u="none" strike="noStrike" dirty="0">
                <a:solidFill>
                  <a:srgbClr val="1982D1"/>
                </a:solidFill>
                <a:effectLst/>
                <a:latin typeface="Helvetica Neue"/>
                <a:hlinkClick r:id="rId2"/>
              </a:rPr>
              <a:t>Algorithms</a:t>
            </a:r>
            <a:r>
              <a:rPr lang="en-US" altLang="zh-CN" sz="2000" b="0" i="0" dirty="0">
                <a:solidFill>
                  <a:srgbClr val="000000"/>
                </a:solidFill>
                <a:effectLst/>
                <a:latin typeface="Helvetica Neue"/>
              </a:rPr>
              <a:t> by Jeff Erickson.</a:t>
            </a:r>
          </a:p>
          <a:p>
            <a:pPr algn="l">
              <a:buFont typeface="Arial" panose="020B0604020202020204" pitchFamily="34" charset="0"/>
              <a:buChar char="•"/>
            </a:pPr>
            <a:r>
              <a:rPr lang="en-US" altLang="zh-CN" sz="2000" b="0" i="1" u="none" strike="noStrike" dirty="0">
                <a:solidFill>
                  <a:srgbClr val="1982D1"/>
                </a:solidFill>
                <a:effectLst/>
                <a:latin typeface="Helvetica Neue"/>
                <a:hlinkClick r:id="rId3"/>
              </a:rPr>
              <a:t>Algorithms</a:t>
            </a:r>
            <a:r>
              <a:rPr lang="en-US" altLang="zh-CN" sz="2000" b="0" i="0" dirty="0">
                <a:solidFill>
                  <a:srgbClr val="000000"/>
                </a:solidFill>
                <a:effectLst/>
                <a:latin typeface="Helvetica Neue"/>
              </a:rPr>
              <a:t> by Sanjoy Dasgupta, Christos Papadimitriou, and Umesh </a:t>
            </a:r>
            <a:r>
              <a:rPr lang="en-US" altLang="zh-CN" sz="2000" b="0" i="0" dirty="0" err="1">
                <a:solidFill>
                  <a:srgbClr val="000000"/>
                </a:solidFill>
                <a:effectLst/>
                <a:latin typeface="Helvetica Neue"/>
              </a:rPr>
              <a:t>Vazirani</a:t>
            </a:r>
            <a:r>
              <a:rPr lang="en-US" altLang="zh-CN" sz="2000" b="0" i="0" dirty="0">
                <a:solidFill>
                  <a:srgbClr val="000000"/>
                </a:solidFill>
                <a:effectLst/>
                <a:latin typeface="Helvetica Neue"/>
              </a:rPr>
              <a:t>. McGraw Hill, 2006.</a:t>
            </a:r>
          </a:p>
          <a:p>
            <a:pPr algn="l">
              <a:buFont typeface="Arial" panose="020B0604020202020204" pitchFamily="34" charset="0"/>
              <a:buChar char="•"/>
            </a:pPr>
            <a:r>
              <a:rPr lang="en-US" altLang="zh-CN" sz="2000" b="0" i="1" dirty="0">
                <a:solidFill>
                  <a:srgbClr val="000000"/>
                </a:solidFill>
                <a:effectLst/>
                <a:latin typeface="Helvetica Neue"/>
              </a:rPr>
              <a:t>Data Structures and Network Algorithms</a:t>
            </a:r>
            <a:r>
              <a:rPr lang="en-US" altLang="zh-CN" sz="2000" b="0" i="0" dirty="0">
                <a:solidFill>
                  <a:srgbClr val="000000"/>
                </a:solidFill>
                <a:effectLst/>
                <a:latin typeface="Helvetica Neue"/>
              </a:rPr>
              <a:t> by Robert </a:t>
            </a:r>
            <a:r>
              <a:rPr lang="en-US" altLang="zh-CN" sz="2000" b="0" i="0" dirty="0" err="1">
                <a:solidFill>
                  <a:srgbClr val="000000"/>
                </a:solidFill>
                <a:effectLst/>
                <a:latin typeface="Helvetica Neue"/>
              </a:rPr>
              <a:t>Tarjan</a:t>
            </a:r>
            <a:r>
              <a:rPr lang="en-US" altLang="zh-CN" sz="2000" b="0" i="0" dirty="0">
                <a:solidFill>
                  <a:srgbClr val="000000"/>
                </a:solidFill>
                <a:effectLst/>
                <a:latin typeface="Helvetica Neue"/>
              </a:rPr>
              <a:t>. Society for Industrial and Applied Mathematics, 1987.</a:t>
            </a:r>
          </a:p>
          <a:p>
            <a:pPr lvl="1"/>
            <a:endParaRPr lang="pt-BR" altLang="zh-CN" sz="1800" dirty="0"/>
          </a:p>
          <a:p>
            <a:pPr lvl="1"/>
            <a:endParaRPr lang="pt-BR" altLang="zh-CN" sz="1800" dirty="0"/>
          </a:p>
        </p:txBody>
      </p:sp>
      <p:pic>
        <p:nvPicPr>
          <p:cNvPr id="4" name="图片 3"/>
          <p:cNvPicPr>
            <a:picLocks noChangeAspect="1"/>
          </p:cNvPicPr>
          <p:nvPr/>
        </p:nvPicPr>
        <p:blipFill>
          <a:blip r:embed="rId4"/>
          <a:stretch>
            <a:fillRect/>
          </a:stretch>
        </p:blipFill>
        <p:spPr>
          <a:xfrm>
            <a:off x="7607295" y="2001294"/>
            <a:ext cx="3552381" cy="4000000"/>
          </a:xfrm>
          <a:prstGeom prst="rect">
            <a:avLst/>
          </a:prstGeom>
        </p:spPr>
      </p:pic>
    </p:spTree>
    <p:extLst>
      <p:ext uri="{BB962C8B-B14F-4D97-AF65-F5344CB8AC3E}">
        <p14:creationId xmlns:p14="http://schemas.microsoft.com/office/powerpoint/2010/main" val="1337076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Any questions</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2050" name="Picture 2" descr="Questions Image Royalty-Free Images ...">
            <a:extLst>
              <a:ext uri="{FF2B5EF4-FFF2-40B4-BE49-F238E27FC236}">
                <a16:creationId xmlns:a16="http://schemas.microsoft.com/office/drawing/2014/main" id="{49723904-E8A6-4316-A0E4-6DFB7D63D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15873"/>
            <a:ext cx="7582593" cy="5045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47145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EBVIDEO" val="ytbvideo/id/oRkNaF0QvnI"/>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296</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Helvetica Neue</vt:lpstr>
      <vt:lpstr>Microsoft Yahei</vt:lpstr>
      <vt:lpstr>Arial</vt:lpstr>
      <vt:lpstr>Calibri</vt:lpstr>
      <vt:lpstr>Calibri Light</vt:lpstr>
      <vt:lpstr>Office 主题</vt:lpstr>
      <vt:lpstr>Introduction</vt:lpstr>
      <vt:lpstr>Algorithm definitions</vt:lpstr>
      <vt:lpstr>PowerPoint Presentation</vt:lpstr>
      <vt:lpstr>Why study algorithms</vt:lpstr>
      <vt:lpstr>Grades</vt:lpstr>
      <vt:lpstr>Recommended Resources</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1351252606@qq.com</dc:creator>
  <cp:lastModifiedBy>Fan B</cp:lastModifiedBy>
  <cp:revision>7</cp:revision>
  <dcterms:created xsi:type="dcterms:W3CDTF">2020-09-11T02:24:09Z</dcterms:created>
  <dcterms:modified xsi:type="dcterms:W3CDTF">2025-09-02T03:25:13Z</dcterms:modified>
</cp:coreProperties>
</file>
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B9B8C3-79B2-2C45-95FE-A88854CBB00C}" v="22" dt="2025-11-20T02:54:19.4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2"/>
    <p:restoredTop sz="94660"/>
  </p:normalViewPr>
  <p:slideViewPr>
    <p:cSldViewPr snapToGrid="0">
      <p:cViewPr varScale="1">
        <p:scale>
          <a:sx n="98" d="100"/>
          <a:sy n="98" d="100"/>
        </p:scale>
        <p:origin x="22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D3585-62CF-3A4C-BBED-32BB438A3E39}" type="datetimeFigureOut">
              <a:t>2025/11/20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EBF377-1745-124D-8F17-A5D87F74C50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64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BF377-1745-124D-8F17-A5D87F74C508}" type="slidenum"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6878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059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73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83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337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72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84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399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813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24F0E8E-7808-468F-AC84-0D06EC45128A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79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30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0E8E-7808-468F-AC84-0D06EC45128A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67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F0E8E-7808-468F-AC84-0D06EC45128A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5D762BB-3BB3-40A5-A87D-6385759DD01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95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59301" y="1474969"/>
            <a:ext cx="2823919" cy="1868760"/>
          </a:xfrm>
        </p:spPr>
        <p:txBody>
          <a:bodyPr>
            <a:normAutofit/>
          </a:bodyPr>
          <a:lstStyle/>
          <a:p>
            <a:r>
              <a:rPr lang="en-GB" altLang="zh-CN" sz="3600"/>
              <a:t>Maximum flow problem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59302" y="3531204"/>
            <a:ext cx="2823919" cy="1610643"/>
          </a:xfrm>
        </p:spPr>
        <p:txBody>
          <a:bodyPr>
            <a:normAutofit/>
          </a:bodyPr>
          <a:lstStyle/>
          <a:p>
            <a:endParaRPr lang="zh-CN" altLang="en-US" sz="1600"/>
          </a:p>
        </p:txBody>
      </p: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1045" name="Rectangle 1044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Maximum Flow Problem with R | Henry Wang">
            <a:extLst>
              <a:ext uri="{FF2B5EF4-FFF2-40B4-BE49-F238E27FC236}">
                <a16:creationId xmlns:a16="http://schemas.microsoft.com/office/drawing/2014/main" id="{E1D8D919-DD0D-6A2E-DCB3-143850362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78415" y="1116345"/>
            <a:ext cx="5562837" cy="386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1049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11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31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30" name="Picture 33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1" name="Straight Connector 35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7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39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41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altLang="zh-CN" sz="4800"/>
              <a:t>Flow network</a:t>
            </a:r>
          </a:p>
        </p:txBody>
      </p:sp>
      <p:cxnSp>
        <p:nvCxnSpPr>
          <p:cNvPr id="39" name="Straight Connector 43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内容占位符 4" descr="图表&#10;&#10;AI 生成的内容可能不正确。">
            <a:extLst>
              <a:ext uri="{FF2B5EF4-FFF2-40B4-BE49-F238E27FC236}">
                <a16:creationId xmlns:a16="http://schemas.microsoft.com/office/drawing/2014/main" id="{ADF6250C-54B4-1C40-B02E-552D2FA48E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1" y="1201392"/>
            <a:ext cx="4960442" cy="3869144"/>
          </a:xfrm>
          <a:prstGeom prst="rect">
            <a:avLst/>
          </a:prstGeom>
        </p:spPr>
      </p:pic>
      <p:pic>
        <p:nvPicPr>
          <p:cNvPr id="41" name="Picture 45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3" name="Straight Connector 47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555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Edmonds–Karp algorithm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51579" y="2015734"/>
            <a:ext cx="5622284" cy="345061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GB" altLang="zh-CN"/>
              <a:t>Start with zero flow on all edges.</a:t>
            </a:r>
          </a:p>
          <a:p>
            <a:pPr>
              <a:lnSpc>
                <a:spcPct val="110000"/>
              </a:lnSpc>
            </a:pPr>
            <a:r>
              <a:rPr lang="en-GB" altLang="zh-CN"/>
              <a:t>Use BFS to find an </a:t>
            </a:r>
            <a:r>
              <a:rPr lang="en-GB" altLang="zh-CN" i="1"/>
              <a:t>augmented path</a:t>
            </a:r>
            <a:r>
              <a:rPr lang="en-GB" altLang="zh-CN"/>
              <a:t> where more flow can be sent.</a:t>
            </a:r>
          </a:p>
          <a:p>
            <a:pPr>
              <a:lnSpc>
                <a:spcPct val="110000"/>
              </a:lnSpc>
            </a:pPr>
            <a:r>
              <a:rPr lang="en-GB" altLang="zh-CN"/>
              <a:t>Do a </a:t>
            </a:r>
            <a:r>
              <a:rPr lang="en-GB" altLang="zh-CN" i="1"/>
              <a:t>bottleneck calculation</a:t>
            </a:r>
            <a:r>
              <a:rPr lang="en-GB" altLang="zh-CN"/>
              <a:t> to find out how much flow can be sent through that augmented path.</a:t>
            </a:r>
          </a:p>
          <a:p>
            <a:pPr>
              <a:lnSpc>
                <a:spcPct val="110000"/>
              </a:lnSpc>
            </a:pPr>
            <a:r>
              <a:rPr lang="en-GB" altLang="zh-CN"/>
              <a:t>Increase the flow found from the bottleneck calculation for each edge in the augmented path.</a:t>
            </a:r>
          </a:p>
          <a:p>
            <a:pPr>
              <a:lnSpc>
                <a:spcPct val="110000"/>
              </a:lnSpc>
            </a:pPr>
            <a:r>
              <a:rPr lang="en-GB" altLang="zh-CN"/>
              <a:t>Repeat steps 2-4 until max flow is found. This happens when a new augmented path can no longer be found.</a:t>
            </a:r>
          </a:p>
        </p:txBody>
      </p:sp>
      <p:pic>
        <p:nvPicPr>
          <p:cNvPr id="5" name="内容占位符 4" descr="图表&#10;&#10;AI 生成的内容可能不正确。">
            <a:extLst>
              <a:ext uri="{FF2B5EF4-FFF2-40B4-BE49-F238E27FC236}">
                <a16:creationId xmlns:a16="http://schemas.microsoft.com/office/drawing/2014/main" id="{87225AFE-EBED-4FBD-E2C0-15F27B03C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4139" y="2375762"/>
            <a:ext cx="3500715" cy="273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38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GB" altLang="zh-CN"/>
              <a:t>Dinitz’s algorithm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7529" y="2015734"/>
            <a:ext cx="6446334" cy="3450613"/>
          </a:xfrm>
        </p:spPr>
        <p:txBody>
          <a:bodyPr>
            <a:normAutofit fontScale="55000" lnSpcReduction="20000"/>
          </a:bodyPr>
          <a:lstStyle/>
          <a:p>
            <a:pPr fontAlgn="base"/>
            <a:r>
              <a:rPr lang="en-GB" altLang="zh-CN" sz="3200" i="1"/>
              <a:t>Initialize residual graph G as given graph.</a:t>
            </a:r>
          </a:p>
          <a:p>
            <a:pPr fontAlgn="base"/>
            <a:r>
              <a:rPr lang="en-GB" altLang="zh-CN" sz="3200" i="1"/>
              <a:t>Do BFS of G to construct a level graph (or assign levels to vertices) and also check if more flow is possible.</a:t>
            </a:r>
          </a:p>
          <a:p>
            <a:pPr lvl="1" fontAlgn="base"/>
            <a:r>
              <a:rPr lang="en-GB" altLang="zh-CN" sz="2900" i="1"/>
              <a:t>If more flow is not possible, then return</a:t>
            </a:r>
          </a:p>
          <a:p>
            <a:pPr lvl="1" fontAlgn="base"/>
            <a:r>
              <a:rPr lang="en-GB" altLang="zh-CN" sz="2900" i="1"/>
              <a:t>Send multiple flows in G using level graph until </a:t>
            </a:r>
            <a:r>
              <a:rPr lang="en-GB" altLang="zh-CN" sz="2900" b="1" i="1"/>
              <a:t>blocking flow</a:t>
            </a:r>
            <a:r>
              <a:rPr lang="en-GB" altLang="zh-CN" sz="2900" i="1"/>
              <a:t> is reached. </a:t>
            </a:r>
            <a:br>
              <a:rPr lang="en-GB" altLang="zh-CN" sz="2900" i="1"/>
            </a:br>
            <a:r>
              <a:rPr lang="en-GB" altLang="zh-CN" sz="2900" i="1"/>
              <a:t>Here </a:t>
            </a:r>
            <a:r>
              <a:rPr lang="en-GB" altLang="zh-CN" sz="2900" b="1" i="1"/>
              <a:t>using level graph</a:t>
            </a:r>
            <a:r>
              <a:rPr lang="en-GB" altLang="zh-CN" sz="2900" i="1"/>
              <a:t> means, in every flow, levels of path nodes should be 0, 1, 2...(in order) from s to t.</a:t>
            </a:r>
          </a:p>
          <a:p>
            <a:pPr marL="0" indent="0" fontAlgn="base">
              <a:buNone/>
            </a:pPr>
            <a:endParaRPr lang="en-GB" altLang="zh-CN" i="1"/>
          </a:p>
          <a:p>
            <a:pPr marL="0" indent="0" fontAlgn="base">
              <a:buNone/>
            </a:pPr>
            <a:r>
              <a:rPr lang="en-GB" altLang="zh-CN" i="1"/>
              <a:t>A flow is </a:t>
            </a:r>
            <a:r>
              <a:rPr lang="en-GB" altLang="zh-CN" b="1" i="1"/>
              <a:t>Blocking Flow</a:t>
            </a:r>
            <a:r>
              <a:rPr lang="en-GB" altLang="zh-CN" i="1"/>
              <a:t> if no more flow can be sent using level graph, i.e., no more s-t path exists such that path vertices have current levels 0, 1, 2... in order. </a:t>
            </a:r>
            <a:endParaRPr lang="zh-CN" altLang="en-US" dirty="0"/>
          </a:p>
        </p:txBody>
      </p:sp>
      <p:pic>
        <p:nvPicPr>
          <p:cNvPr id="5" name="内容占位符 4" descr="图表&#10;&#10;AI 生成的内容可能不正确。">
            <a:extLst>
              <a:ext uri="{FF2B5EF4-FFF2-40B4-BE49-F238E27FC236}">
                <a16:creationId xmlns:a16="http://schemas.microsoft.com/office/drawing/2014/main" id="{7D5337C3-BBB4-6F23-C28A-DC850F6C1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713" y="2015734"/>
            <a:ext cx="4960442" cy="386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44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597868-5B41-224E-60C5-83DC33BEE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15479-EDA7-8496-2DC4-833A900E4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529" y="804519"/>
            <a:ext cx="10427325" cy="1049235"/>
          </a:xfrm>
        </p:spPr>
        <p:txBody>
          <a:bodyPr>
            <a:normAutofit/>
          </a:bodyPr>
          <a:lstStyle/>
          <a:p>
            <a:r>
              <a:rPr lang="en-US" altLang="zh-CN" dirty="0"/>
              <a:t>Task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096A38-37B5-0784-B197-EBADBDE0A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529" y="2015734"/>
            <a:ext cx="6446334" cy="3450613"/>
          </a:xfrm>
        </p:spPr>
        <p:txBody>
          <a:bodyPr>
            <a:normAutofit/>
          </a:bodyPr>
          <a:lstStyle/>
          <a:p>
            <a:r>
              <a:rPr lang="en-US" altLang="zh-CN" dirty="0"/>
              <a:t>Implement Edmonds–Karp algorithm and Dinitz’s algorithm.</a:t>
            </a:r>
          </a:p>
          <a:p>
            <a:r>
              <a:rPr lang="en-US" altLang="zh-CN" dirty="0"/>
              <a:t>Compare the running time of the 2 solutions (using the graph on the right).</a:t>
            </a:r>
          </a:p>
          <a:p>
            <a:r>
              <a:rPr lang="en-US" altLang="zh-CN" dirty="0"/>
              <a:t>Compare their results. (value of the flow &amp; running time)</a:t>
            </a:r>
          </a:p>
        </p:txBody>
      </p:sp>
      <p:pic>
        <p:nvPicPr>
          <p:cNvPr id="5" name="内容占位符 4" descr="图表&#10;&#10;AI 生成的内容可能不正确。">
            <a:extLst>
              <a:ext uri="{FF2B5EF4-FFF2-40B4-BE49-F238E27FC236}">
                <a16:creationId xmlns:a16="http://schemas.microsoft.com/office/drawing/2014/main" id="{4E621779-4BE9-1B4D-1312-56C6BD951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713" y="2015734"/>
            <a:ext cx="4960442" cy="386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92860"/>
      </p:ext>
    </p:extLst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147</TotalTime>
  <Words>257</Words>
  <Application>Microsoft Macintosh PowerPoint</Application>
  <PresentationFormat>宽屏</PresentationFormat>
  <Paragraphs>20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Arial</vt:lpstr>
      <vt:lpstr>Gill Sans MT</vt:lpstr>
      <vt:lpstr>画廊</vt:lpstr>
      <vt:lpstr>Maximum flow problem</vt:lpstr>
      <vt:lpstr>Flow network</vt:lpstr>
      <vt:lpstr>Edmonds–Karp algorithm</vt:lpstr>
      <vt:lpstr>Dinitz’s algorithm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Coin Change</dc:title>
  <dc:creator>1351252606@qq.com</dc:creator>
  <cp:lastModifiedBy>Fan B</cp:lastModifiedBy>
  <cp:revision>4</cp:revision>
  <dcterms:created xsi:type="dcterms:W3CDTF">2021-10-07T02:35:10Z</dcterms:created>
  <dcterms:modified xsi:type="dcterms:W3CDTF">2025-11-20T02:54:50Z</dcterms:modified>
</cp:coreProperties>
</file>
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E14B9-F4B3-4B4B-BE09-CA7D4E55F049}" v="12" dt="2025-09-25T07:02:10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708"/>
  </p:normalViewPr>
  <p:slideViewPr>
    <p:cSldViewPr snapToGrid="0">
      <p:cViewPr varScale="1">
        <p:scale>
          <a:sx n="118" d="100"/>
          <a:sy n="118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B" userId="db9ed596-3ff8-44ed-9ddf-677f7b64b4c6" providerId="ADAL" clId="{EB6FE681-8D19-5C4E-AAB3-6401E0652CD5}"/>
    <pc:docChg chg="undo custSel modSld">
      <pc:chgData name="Fan B" userId="db9ed596-3ff8-44ed-9ddf-677f7b64b4c6" providerId="ADAL" clId="{EB6FE681-8D19-5C4E-AAB3-6401E0652CD5}" dt="2025-09-25T12:41:47.123" v="62" actId="20577"/>
      <pc:docMkLst>
        <pc:docMk/>
      </pc:docMkLst>
      <pc:sldChg chg="modSp mod">
        <pc:chgData name="Fan B" userId="db9ed596-3ff8-44ed-9ddf-677f7b64b4c6" providerId="ADAL" clId="{EB6FE681-8D19-5C4E-AAB3-6401E0652CD5}" dt="2025-09-25T12:38:51.537" v="40" actId="20577"/>
        <pc:sldMkLst>
          <pc:docMk/>
          <pc:sldMk cId="3594555018" sldId="257"/>
        </pc:sldMkLst>
        <pc:spChg chg="mod">
          <ac:chgData name="Fan B" userId="db9ed596-3ff8-44ed-9ddf-677f7b64b4c6" providerId="ADAL" clId="{EB6FE681-8D19-5C4E-AAB3-6401E0652CD5}" dt="2025-09-25T12:38:51.537" v="40" actId="20577"/>
          <ac:spMkLst>
            <pc:docMk/>
            <pc:sldMk cId="3594555018" sldId="257"/>
            <ac:spMk id="3" creationId="{00000000-0000-0000-0000-000000000000}"/>
          </ac:spMkLst>
        </pc:spChg>
      </pc:sldChg>
      <pc:sldChg chg="modSp mod">
        <pc:chgData name="Fan B" userId="db9ed596-3ff8-44ed-9ddf-677f7b64b4c6" providerId="ADAL" clId="{EB6FE681-8D19-5C4E-AAB3-6401E0652CD5}" dt="2025-09-25T12:40:55.378" v="50" actId="20577"/>
        <pc:sldMkLst>
          <pc:docMk/>
          <pc:sldMk cId="1988638727" sldId="259"/>
        </pc:sldMkLst>
        <pc:spChg chg="mod">
          <ac:chgData name="Fan B" userId="db9ed596-3ff8-44ed-9ddf-677f7b64b4c6" providerId="ADAL" clId="{EB6FE681-8D19-5C4E-AAB3-6401E0652CD5}" dt="2025-09-25T12:40:55.378" v="50" actId="20577"/>
          <ac:spMkLst>
            <pc:docMk/>
            <pc:sldMk cId="1988638727" sldId="259"/>
            <ac:spMk id="3" creationId="{00000000-0000-0000-0000-000000000000}"/>
          </ac:spMkLst>
        </pc:spChg>
      </pc:sldChg>
      <pc:sldChg chg="modSp mod">
        <pc:chgData name="Fan B" userId="db9ed596-3ff8-44ed-9ddf-677f7b64b4c6" providerId="ADAL" clId="{EB6FE681-8D19-5C4E-AAB3-6401E0652CD5}" dt="2025-09-25T12:41:47.123" v="62" actId="20577"/>
        <pc:sldMkLst>
          <pc:docMk/>
          <pc:sldMk cId="813448552" sldId="260"/>
        </pc:sldMkLst>
        <pc:spChg chg="mod">
          <ac:chgData name="Fan B" userId="db9ed596-3ff8-44ed-9ddf-677f7b64b4c6" providerId="ADAL" clId="{EB6FE681-8D19-5C4E-AAB3-6401E0652CD5}" dt="2025-09-25T12:41:47.123" v="62" actId="20577"/>
          <ac:spMkLst>
            <pc:docMk/>
            <pc:sldMk cId="813448552" sldId="260"/>
            <ac:spMk id="3" creationId="{061CB7F3-28F6-101D-AC0E-2FD77BF6F4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D3585-62CF-3A4C-BBED-32BB438A3E39}" type="datetimeFigureOut">
              <a:t>2025/9/25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BF377-1745-124D-8F17-A5D87F74C50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6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F377-1745-124D-8F17-A5D87F74C508}" type="slidenum"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687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05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73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3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33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72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84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39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81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79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30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7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F0E8E-7808-468F-AC84-0D06EC45128A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95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shier Japan Stock Photos - Free &amp; Royalty-Free Stock Photos from  Dreamstime">
            <a:extLst>
              <a:ext uri="{FF2B5EF4-FFF2-40B4-BE49-F238E27FC236}">
                <a16:creationId xmlns:a16="http://schemas.microsoft.com/office/drawing/2014/main" id="{253151A8-6ED7-D016-78EC-C1E1729C8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7" r="9090" b="21942"/>
          <a:stretch>
            <a:fillRect/>
          </a:stretch>
        </p:blipFill>
        <p:spPr bwMode="auto">
          <a:xfrm>
            <a:off x="2" y="10"/>
            <a:ext cx="1219169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4092ECB-D375-4A85-AD6E-85644D2A9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7" y="3064931"/>
            <a:ext cx="8293042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00526" y="3236470"/>
            <a:ext cx="6829044" cy="1252601"/>
          </a:xfrm>
        </p:spPr>
        <p:txBody>
          <a:bodyPr>
            <a:normAutofit/>
          </a:bodyPr>
          <a:lstStyle/>
          <a:p>
            <a:pPr algn="r"/>
            <a:r>
              <a:rPr lang="en-US" altLang="zh-CN" sz="4400">
                <a:solidFill>
                  <a:srgbClr val="FFFFFE"/>
                </a:solidFill>
              </a:rPr>
              <a:t>Coin Change</a:t>
            </a:r>
            <a:endParaRPr lang="zh-CN" altLang="en-US" sz="4400">
              <a:solidFill>
                <a:srgbClr val="FFFFFE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00525" y="4669144"/>
            <a:ext cx="6829043" cy="716529"/>
          </a:xfrm>
        </p:spPr>
        <p:txBody>
          <a:bodyPr>
            <a:normAutofit/>
          </a:bodyPr>
          <a:lstStyle/>
          <a:p>
            <a:pPr algn="r"/>
            <a:endParaRPr lang="zh-CN" altLang="en-US" sz="1600">
              <a:solidFill>
                <a:srgbClr val="FFFFFE"/>
              </a:solidFill>
            </a:endParaRP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B6C1711D-6DAC-4FE1-B7B6-AC8A81B8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0525" y="4666480"/>
            <a:ext cx="6829043" cy="0"/>
          </a:xfrm>
          <a:prstGeom prst="line">
            <a:avLst/>
          </a:prstGeom>
          <a:ln w="31750">
            <a:solidFill>
              <a:srgbClr val="C49B59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11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Coin Change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zh-CN"/>
              <a:t>You are given coin denominations {1, 5, 10, 25, 100}.  Your task is to pay a customer an amount of </a:t>
            </a:r>
            <a:r>
              <a:rPr lang="en-GB" altLang="zh-CN" b="1"/>
              <a:t>N = 50 </a:t>
            </a:r>
            <a:r>
              <a:rPr lang="en-GB" altLang="zh-CN"/>
              <a:t>using the fewest possible number of coins.</a:t>
            </a:r>
          </a:p>
          <a:p>
            <a:r>
              <a:rPr lang="en-GB" altLang="zh-CN"/>
              <a:t>Design and implement different algorithms to solve this problem. Compare both the </a:t>
            </a:r>
            <a:r>
              <a:rPr lang="en-GB" altLang="zh-CN" b="1"/>
              <a:t>correctness</a:t>
            </a:r>
            <a:r>
              <a:rPr lang="en-GB" altLang="zh-CN"/>
              <a:t> of the results and the </a:t>
            </a:r>
            <a:r>
              <a:rPr lang="en-GB" altLang="zh-CN" b="1"/>
              <a:t>runtime</a:t>
            </a:r>
            <a:r>
              <a:rPr lang="en-GB" altLang="zh-CN"/>
              <a:t> as N increases.</a:t>
            </a:r>
          </a:p>
          <a:p>
            <a:pPr lvl="1"/>
            <a:r>
              <a:rPr lang="en-GB" altLang="zh-CN"/>
              <a:t>Algorithm A – Brute Force (Exhaustive Search)</a:t>
            </a:r>
          </a:p>
          <a:p>
            <a:pPr lvl="1"/>
            <a:r>
              <a:rPr lang="en-GB" altLang="zh-CN"/>
              <a:t>Algorithm B – Greedy Algorithm</a:t>
            </a:r>
          </a:p>
          <a:p>
            <a:pPr lvl="1"/>
            <a:r>
              <a:rPr lang="en-GB" altLang="zh-CN"/>
              <a:t>Algorithm C (optional)</a:t>
            </a:r>
            <a:endParaRPr lang="en-GB" altLang="zh-CN" dirty="0"/>
          </a:p>
          <a:p>
            <a:pPr lvl="1"/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59455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FF6B0-C867-961A-B835-0E5123F4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Coin Change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1CB7F3-28F6-101D-AC0E-2FD77BF6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/>
              <a:t>Run each algorithm (brute force, greedy,  etc.) for various amounts:</a:t>
            </a:r>
            <a:br>
              <a:rPr lang="en-GB" altLang="zh-CN"/>
            </a:br>
            <a:r>
              <a:rPr lang="en-GB" altLang="zh-CN"/>
              <a:t>N = 10, 20, 30, 40, 50, 60</a:t>
            </a:r>
          </a:p>
          <a:p>
            <a:r>
              <a:rPr lang="en-GB" altLang="zh-CN"/>
              <a:t>Measure:</a:t>
            </a:r>
          </a:p>
          <a:p>
            <a:pPr lvl="1"/>
            <a:r>
              <a:rPr lang="en-GB" altLang="zh-CN" b="1"/>
              <a:t>Execution time</a:t>
            </a:r>
            <a:r>
              <a:rPr lang="en-GB" altLang="zh-CN"/>
              <a:t> (seconds).</a:t>
            </a:r>
          </a:p>
          <a:p>
            <a:pPr lvl="1"/>
            <a:r>
              <a:rPr lang="en-GB" altLang="zh-CN" b="1"/>
              <a:t>Number of coins</a:t>
            </a:r>
            <a:r>
              <a:rPr lang="en-GB" altLang="zh-CN"/>
              <a:t> produced.</a:t>
            </a:r>
          </a:p>
          <a:p>
            <a:r>
              <a:rPr lang="en-GB" altLang="zh-CN"/>
              <a:t>Plot the runtime curves and explain the differences.</a:t>
            </a:r>
          </a:p>
          <a:p>
            <a:pPr marL="0" indent="0">
              <a:buNone/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44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Coin Change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Given currency denominations: 1, 10, 21, 34, 70, 100, 350, 1225, 1500. </a:t>
            </a:r>
            <a:r>
              <a:rPr lang="en-GB" altLang="zh-CN"/>
              <a:t>Your task is to pay a customer an amount of </a:t>
            </a:r>
            <a:r>
              <a:rPr lang="en-GB" altLang="zh-CN" b="1"/>
              <a:t>N = 42</a:t>
            </a:r>
            <a:r>
              <a:rPr lang="en-GB" altLang="zh-CN"/>
              <a:t> using the fewest possible number of coins.</a:t>
            </a:r>
          </a:p>
          <a:p>
            <a:r>
              <a:rPr lang="en-GB" altLang="zh-CN"/>
              <a:t>Design and implement different algorithms to solve this problem. Compare both the </a:t>
            </a:r>
            <a:r>
              <a:rPr lang="en-GB" altLang="zh-CN" b="1"/>
              <a:t>correctness</a:t>
            </a:r>
            <a:r>
              <a:rPr lang="en-GB" altLang="zh-CN"/>
              <a:t> of the results and the </a:t>
            </a:r>
            <a:r>
              <a:rPr lang="en-GB" altLang="zh-CN" b="1"/>
              <a:t>runtime</a:t>
            </a:r>
            <a:r>
              <a:rPr lang="en-GB" altLang="zh-CN"/>
              <a:t> as N increases.</a:t>
            </a:r>
          </a:p>
          <a:p>
            <a:pPr lvl="1"/>
            <a:r>
              <a:rPr lang="en-GB" altLang="zh-CN"/>
              <a:t>Algorithm A – Brute Force (Exhaustive Search)</a:t>
            </a:r>
          </a:p>
          <a:p>
            <a:pPr lvl="1"/>
            <a:r>
              <a:rPr lang="en-GB" altLang="zh-CN"/>
              <a:t>Algorithm B – Greedy Algorithm</a:t>
            </a:r>
          </a:p>
          <a:p>
            <a:pPr lvl="1"/>
            <a:r>
              <a:rPr lang="en-GB" altLang="zh-CN"/>
              <a:t>Algorithm C (optional)</a:t>
            </a:r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863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Report and Submission Guidelines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Due: 2025/10/8</a:t>
            </a:r>
          </a:p>
          <a:p>
            <a:pPr marL="0" indent="0">
              <a:buNone/>
            </a:pPr>
            <a:r>
              <a:rPr lang="en-GB" altLang="zh-CN"/>
              <a:t>Students are required to prepare a written report and submit a printed copy. The report must include:</a:t>
            </a:r>
          </a:p>
          <a:p>
            <a:r>
              <a:rPr lang="en-GB" altLang="zh-CN" b="1"/>
              <a:t>Screenshots</a:t>
            </a:r>
            <a:r>
              <a:rPr lang="en-GB" altLang="zh-CN"/>
              <a:t> of program execution demonstrating your results.</a:t>
            </a:r>
          </a:p>
          <a:p>
            <a:r>
              <a:rPr lang="en-GB" altLang="zh-CN" b="1"/>
              <a:t>Figures</a:t>
            </a:r>
            <a:r>
              <a:rPr lang="en-GB" altLang="zh-CN"/>
              <a:t> such as plots or charts comparing runtime and coin counts.</a:t>
            </a:r>
          </a:p>
          <a:p>
            <a:r>
              <a:rPr lang="en-GB" altLang="zh-CN" b="1"/>
              <a:t>Source code</a:t>
            </a:r>
            <a:r>
              <a:rPr lang="en-GB" altLang="zh-CN"/>
              <a:t> (well-commented) for all implemented algorithms.</a:t>
            </a:r>
          </a:p>
          <a:p>
            <a:r>
              <a:rPr lang="en-GB" altLang="zh-CN" b="1"/>
              <a:t>Analysis</a:t>
            </a:r>
            <a:r>
              <a:rPr lang="en-GB" altLang="zh-CN"/>
              <a:t> of results, discussing correctness, efficiency, and trade-offs between the approaches.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2544225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107</TotalTime>
  <Words>296</Words>
  <Application>Microsoft Macintosh PowerPoint</Application>
  <PresentationFormat>宽屏</PresentationFormat>
  <Paragraphs>27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Arial</vt:lpstr>
      <vt:lpstr>Gill Sans MT</vt:lpstr>
      <vt:lpstr>画廊</vt:lpstr>
      <vt:lpstr>Coin Change</vt:lpstr>
      <vt:lpstr>Coin Change</vt:lpstr>
      <vt:lpstr>Coin Change</vt:lpstr>
      <vt:lpstr>Coin Change</vt:lpstr>
      <vt:lpstr>Report and Submission Guidelines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 Change</dc:title>
  <dc:creator>1351252606@qq.com</dc:creator>
  <cp:lastModifiedBy>HJ2956</cp:lastModifiedBy>
  <cp:revision>3</cp:revision>
  <dcterms:created xsi:type="dcterms:W3CDTF">2021-10-07T02:35:10Z</dcterms:created>
  <dcterms:modified xsi:type="dcterms:W3CDTF">2025-09-25T12:42:01Z</dcterms:modified>
</cp:coreProperties>
</file>
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3" r:id="rId4"/>
    <p:sldId id="258" r:id="rId5"/>
    <p:sldId id="259" r:id="rId6"/>
    <p:sldId id="284" r:id="rId7"/>
    <p:sldId id="260" r:id="rId8"/>
    <p:sldId id="261" r:id="rId9"/>
    <p:sldId id="262" r:id="rId10"/>
    <p:sldId id="263" r:id="rId11"/>
    <p:sldId id="264" r:id="rId12"/>
    <p:sldId id="265" r:id="rId13"/>
    <p:sldId id="282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33"/>
    <p:restoredTop sz="94814"/>
  </p:normalViewPr>
  <p:slideViewPr>
    <p:cSldViewPr>
      <p:cViewPr varScale="1">
        <p:scale>
          <a:sx n="122" d="100"/>
          <a:sy n="122" d="100"/>
        </p:scale>
        <p:origin x="216" y="14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D212A-50ED-AB4D-A3A8-F03BE665891C}" type="datetimeFigureOut">
              <a:t>2025/9/4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6AB50-6EBD-FB44-8A40-B4D8EB0227BB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718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6AB50-6EBD-FB44-8A40-B4D8EB0227BB}" type="slidenum"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062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867" y="475073"/>
            <a:ext cx="57175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467" y="1218991"/>
            <a:ext cx="7573645" cy="2112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21831" y="7234878"/>
            <a:ext cx="234315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mthorup@diku.dk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40930" y="1527352"/>
            <a:ext cx="3337560" cy="3832225"/>
            <a:chOff x="640930" y="1527352"/>
            <a:chExt cx="3337560" cy="3832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52"/>
              <a:ext cx="3337534" cy="38320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38300"/>
              <a:ext cx="558800" cy="6096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87059" y="1985146"/>
            <a:ext cx="4893945" cy="0"/>
          </a:xfrm>
          <a:custGeom>
            <a:avLst/>
            <a:gdLst/>
            <a:ahLst/>
            <a:cxnLst/>
            <a:rect l="l" t="t" r="r" b="b"/>
            <a:pathLst>
              <a:path w="4893945">
                <a:moveTo>
                  <a:pt x="0" y="0"/>
                </a:moveTo>
                <a:lnTo>
                  <a:pt x="4893384" y="0"/>
                </a:lnTo>
              </a:path>
            </a:pathLst>
          </a:custGeom>
          <a:ln w="143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363156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r>
              <a:rPr sz="27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700" b="1" cap="small" spc="-100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2700" b="1" cap="small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00" b="1" cap="small" spc="-13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FFFFFF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FFFFFF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FFFFFF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FFFFFF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FFFFFF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FFFFFF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FFFFFF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FFFFFF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0" y="1527340"/>
            <a:ext cx="3337560" cy="3832225"/>
            <a:chOff x="640930" y="152734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40"/>
              <a:ext cx="3337534" cy="38320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2"/>
              <a:ext cx="552411" cy="60610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7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60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7838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latin typeface="Verdana"/>
                <a:cs typeface="Verdana"/>
              </a:rPr>
              <a:t>computational</a:t>
            </a:r>
            <a:r>
              <a:rPr sz="2250" i="1" spc="-80" dirty="0">
                <a:latin typeface="Verdana"/>
                <a:cs typeface="Verdana"/>
              </a:rPr>
              <a:t> </a:t>
            </a:r>
            <a:r>
              <a:rPr sz="2250" i="1" spc="-100" dirty="0"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77A82D3-E4A3-178C-891A-008C5F963897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293915"/>
            <a:ext cx="10058400" cy="71845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https://youtu.be/aLfI3Ox8J6Q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</p:spTree>
    <p:extLst>
      <p:ext uri="{BB962C8B-B14F-4D97-AF65-F5344CB8AC3E}">
        <p14:creationId xmlns:p14="http://schemas.microsoft.com/office/powerpoint/2010/main" val="201613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4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19"/>
                </a:moveTo>
                <a:lnTo>
                  <a:pt x="8535975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A</a:t>
            </a:r>
            <a:r>
              <a:rPr spc="204" dirty="0"/>
              <a:t> </a:t>
            </a:r>
            <a:r>
              <a:rPr dirty="0"/>
              <a:t>strikingly</a:t>
            </a:r>
            <a:r>
              <a:rPr spc="204" dirty="0"/>
              <a:t> </a:t>
            </a:r>
            <a:r>
              <a:rPr dirty="0"/>
              <a:t>modern</a:t>
            </a:r>
            <a:r>
              <a:rPr spc="210" dirty="0"/>
              <a:t> </a:t>
            </a:r>
            <a:r>
              <a:rPr spc="-10" dirty="0"/>
              <a:t>thought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05431" y="6955738"/>
            <a:ext cx="12414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Analytic</a:t>
            </a:r>
            <a:r>
              <a:rPr sz="1200" b="1" spc="40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Engine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266" y="1536887"/>
            <a:ext cx="6962775" cy="15170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685" rIns="0" bIns="0" rtlCol="0">
            <a:spAutoFit/>
          </a:bodyPr>
          <a:lstStyle/>
          <a:p>
            <a:pPr marL="307975" marR="266700" indent="-157480">
              <a:lnSpc>
                <a:spcPct val="137800"/>
              </a:lnSpc>
              <a:spcBef>
                <a:spcPts val="155"/>
              </a:spcBef>
              <a:tabLst>
                <a:tab pos="3467100" algn="l"/>
              </a:tabLst>
            </a:pPr>
            <a:r>
              <a:rPr sz="1650" i="1" dirty="0">
                <a:latin typeface="Times New Roman"/>
                <a:cs typeface="Times New Roman"/>
              </a:rPr>
              <a:t>“</a:t>
            </a:r>
            <a:r>
              <a:rPr sz="1650" i="1" spc="-5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soon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</a:t>
            </a:r>
            <a:r>
              <a:rPr sz="1650" i="1" spc="-5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Analytic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Engine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exists,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will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necessarily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guide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future </a:t>
            </a:r>
            <a:r>
              <a:rPr sz="1650" i="1" dirty="0">
                <a:latin typeface="Times New Roman"/>
                <a:cs typeface="Times New Roman"/>
              </a:rPr>
              <a:t>course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of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science.</a:t>
            </a:r>
            <a:r>
              <a:rPr sz="1650" i="1" spc="36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Whenever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any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result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sought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by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its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aid,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question </a:t>
            </a:r>
            <a:r>
              <a:rPr sz="1650" i="1" dirty="0">
                <a:latin typeface="Times New Roman"/>
                <a:cs typeface="Times New Roman"/>
              </a:rPr>
              <a:t>will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arise—By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what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course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of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calculation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can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these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results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arrived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at</a:t>
            </a:r>
            <a:r>
              <a:rPr sz="1650" i="1" spc="-25" dirty="0">
                <a:latin typeface="Times New Roman"/>
                <a:cs typeface="Times New Roman"/>
              </a:rPr>
              <a:t> by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machine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shortest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time?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spc="-50" dirty="0">
                <a:latin typeface="Times New Roman"/>
                <a:cs typeface="Times New Roman"/>
              </a:rPr>
              <a:t>”</a:t>
            </a:r>
            <a:r>
              <a:rPr sz="1650" i="1" dirty="0">
                <a:latin typeface="Times New Roman"/>
                <a:cs typeface="Times New Roman"/>
              </a:rPr>
              <a:t>	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—</a:t>
            </a:r>
            <a:r>
              <a:rPr sz="1650" i="1" spc="36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Charles</a:t>
            </a:r>
            <a:r>
              <a:rPr sz="1650" i="1" spc="-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Babbage</a:t>
            </a:r>
            <a:r>
              <a:rPr sz="1650" i="1" spc="-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(1864)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00400" y="3556000"/>
            <a:ext cx="4136390" cy="3289300"/>
            <a:chOff x="3200400" y="3556000"/>
            <a:chExt cx="4136390" cy="3289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3556000"/>
              <a:ext cx="3632200" cy="328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43847" y="4965735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5" h="683895">
                  <a:moveTo>
                    <a:pt x="0" y="683412"/>
                  </a:moveTo>
                  <a:lnTo>
                    <a:pt x="6742" y="676669"/>
                  </a:lnTo>
                  <a:lnTo>
                    <a:pt x="683402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2035" y="5593847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4">
                  <a:moveTo>
                    <a:pt x="32372" y="0"/>
                  </a:moveTo>
                  <a:lnTo>
                    <a:pt x="0" y="97116"/>
                  </a:lnTo>
                  <a:lnTo>
                    <a:pt x="97116" y="64744"/>
                  </a:lnTo>
                  <a:lnTo>
                    <a:pt x="48552" y="48552"/>
                  </a:lnTo>
                  <a:lnTo>
                    <a:pt x="3237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42661" y="4595230"/>
            <a:ext cx="1814195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9530" marR="5080" indent="-37465">
              <a:lnSpc>
                <a:spcPct val="104299"/>
              </a:lnSpc>
              <a:spcBef>
                <a:spcPts val="4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how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many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times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do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you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have to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turn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crank?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1536700"/>
            <a:ext cx="1282700" cy="15113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</a:t>
            </a:r>
            <a:r>
              <a:rPr spc="-15" dirty="0"/>
              <a:t> </a:t>
            </a:r>
            <a:r>
              <a:rPr spc="-20" dirty="0"/>
              <a:t>force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131247"/>
            <a:ext cx="8116570" cy="150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146685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Brute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force.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For many nontrivial problems, there 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natural </a:t>
            </a:r>
            <a:r>
              <a:rPr sz="1800" spc="-65" dirty="0">
                <a:latin typeface="Lucida Sans Unicode"/>
                <a:cs typeface="Lucida Sans Unicode"/>
              </a:rPr>
              <a:t>brute-</a:t>
            </a:r>
            <a:r>
              <a:rPr sz="1800" spc="-10" dirty="0">
                <a:latin typeface="Lucida Sans Unicode"/>
                <a:cs typeface="Lucida Sans Unicode"/>
              </a:rPr>
              <a:t>force </a:t>
            </a:r>
            <a:r>
              <a:rPr sz="1800" dirty="0">
                <a:latin typeface="Lucida Sans Unicode"/>
                <a:cs typeface="Lucida Sans Unicode"/>
              </a:rPr>
              <a:t>search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checks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every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possible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solution.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780"/>
              </a:lnSpc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Typically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baseline="18518" dirty="0">
                <a:latin typeface="Times New Roman"/>
                <a:cs typeface="Times New Roman"/>
              </a:rPr>
              <a:t>n</a:t>
            </a:r>
            <a:r>
              <a:rPr sz="1800" i="1" spc="405" baseline="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worse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inputs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Unacceptable in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610348" y="3569489"/>
            <a:ext cx="2572385" cy="2527300"/>
            <a:chOff x="3610348" y="3569489"/>
            <a:chExt cx="2572385" cy="2527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348" y="3569489"/>
              <a:ext cx="2572081" cy="2527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98615" y="3904885"/>
              <a:ext cx="934719" cy="629920"/>
            </a:xfrm>
            <a:custGeom>
              <a:avLst/>
              <a:gdLst/>
              <a:ahLst/>
              <a:cxnLst/>
              <a:rect l="l" t="t" r="r" b="b"/>
              <a:pathLst>
                <a:path w="934720" h="629920">
                  <a:moveTo>
                    <a:pt x="169623" y="464872"/>
                  </a:moveTo>
                  <a:lnTo>
                    <a:pt x="164722" y="467919"/>
                  </a:lnTo>
                  <a:lnTo>
                    <a:pt x="175655" y="484206"/>
                  </a:lnTo>
                  <a:lnTo>
                    <a:pt x="182754" y="489229"/>
                  </a:lnTo>
                  <a:lnTo>
                    <a:pt x="191236" y="493117"/>
                  </a:lnTo>
                  <a:lnTo>
                    <a:pt x="199970" y="497257"/>
                  </a:lnTo>
                  <a:lnTo>
                    <a:pt x="207824" y="503036"/>
                  </a:lnTo>
                  <a:lnTo>
                    <a:pt x="227763" y="510708"/>
                  </a:lnTo>
                  <a:lnTo>
                    <a:pt x="247701" y="519009"/>
                  </a:lnTo>
                  <a:lnTo>
                    <a:pt x="268142" y="527058"/>
                  </a:lnTo>
                  <a:lnTo>
                    <a:pt x="289588" y="533972"/>
                  </a:lnTo>
                  <a:lnTo>
                    <a:pt x="339497" y="536179"/>
                  </a:lnTo>
                  <a:lnTo>
                    <a:pt x="364148" y="539520"/>
                  </a:lnTo>
                  <a:lnTo>
                    <a:pt x="374976" y="554210"/>
                  </a:lnTo>
                  <a:lnTo>
                    <a:pt x="383417" y="590463"/>
                  </a:lnTo>
                  <a:lnTo>
                    <a:pt x="392945" y="602610"/>
                  </a:lnTo>
                  <a:lnTo>
                    <a:pt x="401344" y="612992"/>
                  </a:lnTo>
                  <a:lnTo>
                    <a:pt x="411501" y="621861"/>
                  </a:lnTo>
                  <a:lnTo>
                    <a:pt x="426308" y="629469"/>
                  </a:lnTo>
                  <a:lnTo>
                    <a:pt x="432675" y="627850"/>
                  </a:lnTo>
                  <a:lnTo>
                    <a:pt x="483946" y="610638"/>
                  </a:lnTo>
                  <a:lnTo>
                    <a:pt x="517288" y="574154"/>
                  </a:lnTo>
                  <a:lnTo>
                    <a:pt x="535781" y="551814"/>
                  </a:lnTo>
                  <a:lnTo>
                    <a:pt x="545605" y="540697"/>
                  </a:lnTo>
                  <a:lnTo>
                    <a:pt x="560621" y="535191"/>
                  </a:lnTo>
                  <a:lnTo>
                    <a:pt x="574255" y="529937"/>
                  </a:lnTo>
                  <a:lnTo>
                    <a:pt x="587638" y="523674"/>
                  </a:lnTo>
                  <a:lnTo>
                    <a:pt x="601901" y="515142"/>
                  </a:lnTo>
                  <a:lnTo>
                    <a:pt x="641967" y="504991"/>
                  </a:lnTo>
                  <a:lnTo>
                    <a:pt x="682158" y="495471"/>
                  </a:lnTo>
                  <a:lnTo>
                    <a:pt x="720086" y="481664"/>
                  </a:lnTo>
                  <a:lnTo>
                    <a:pt x="744035" y="465103"/>
                  </a:lnTo>
                  <a:lnTo>
                    <a:pt x="171508" y="465103"/>
                  </a:lnTo>
                  <a:lnTo>
                    <a:pt x="169623" y="464872"/>
                  </a:lnTo>
                  <a:close/>
                </a:path>
                <a:path w="934720" h="629920">
                  <a:moveTo>
                    <a:pt x="463839" y="0"/>
                  </a:moveTo>
                  <a:lnTo>
                    <a:pt x="358095" y="7944"/>
                  </a:lnTo>
                  <a:lnTo>
                    <a:pt x="276415" y="15341"/>
                  </a:lnTo>
                  <a:lnTo>
                    <a:pt x="205332" y="26858"/>
                  </a:lnTo>
                  <a:lnTo>
                    <a:pt x="167822" y="49030"/>
                  </a:lnTo>
                  <a:lnTo>
                    <a:pt x="161580" y="58003"/>
                  </a:lnTo>
                  <a:lnTo>
                    <a:pt x="153328" y="66221"/>
                  </a:lnTo>
                  <a:lnTo>
                    <a:pt x="144826" y="75321"/>
                  </a:lnTo>
                  <a:lnTo>
                    <a:pt x="105179" y="94676"/>
                  </a:lnTo>
                  <a:lnTo>
                    <a:pt x="71941" y="123237"/>
                  </a:lnTo>
                  <a:lnTo>
                    <a:pt x="46997" y="159111"/>
                  </a:lnTo>
                  <a:lnTo>
                    <a:pt x="32231" y="200408"/>
                  </a:lnTo>
                  <a:lnTo>
                    <a:pt x="12607" y="229241"/>
                  </a:lnTo>
                  <a:lnTo>
                    <a:pt x="1905" y="265641"/>
                  </a:lnTo>
                  <a:lnTo>
                    <a:pt x="0" y="304058"/>
                  </a:lnTo>
                  <a:lnTo>
                    <a:pt x="6764" y="338945"/>
                  </a:lnTo>
                  <a:lnTo>
                    <a:pt x="25655" y="357523"/>
                  </a:lnTo>
                  <a:lnTo>
                    <a:pt x="45300" y="374587"/>
                  </a:lnTo>
                  <a:lnTo>
                    <a:pt x="64443" y="392661"/>
                  </a:lnTo>
                  <a:lnTo>
                    <a:pt x="81826" y="414266"/>
                  </a:lnTo>
                  <a:lnTo>
                    <a:pt x="98749" y="421768"/>
                  </a:lnTo>
                  <a:lnTo>
                    <a:pt x="117682" y="432928"/>
                  </a:lnTo>
                  <a:lnTo>
                    <a:pt x="136113" y="445852"/>
                  </a:lnTo>
                  <a:lnTo>
                    <a:pt x="151527" y="458651"/>
                  </a:lnTo>
                  <a:lnTo>
                    <a:pt x="171508" y="465103"/>
                  </a:lnTo>
                  <a:lnTo>
                    <a:pt x="744035" y="465103"/>
                  </a:lnTo>
                  <a:lnTo>
                    <a:pt x="753365" y="458651"/>
                  </a:lnTo>
                  <a:lnTo>
                    <a:pt x="767712" y="452304"/>
                  </a:lnTo>
                  <a:lnTo>
                    <a:pt x="778666" y="444192"/>
                  </a:lnTo>
                  <a:lnTo>
                    <a:pt x="789368" y="435575"/>
                  </a:lnTo>
                  <a:lnTo>
                    <a:pt x="802960" y="427715"/>
                  </a:lnTo>
                  <a:lnTo>
                    <a:pt x="835339" y="412353"/>
                  </a:lnTo>
                  <a:lnTo>
                    <a:pt x="855906" y="401656"/>
                  </a:lnTo>
                  <a:lnTo>
                    <a:pt x="870441" y="385158"/>
                  </a:lnTo>
                  <a:lnTo>
                    <a:pt x="884724" y="352394"/>
                  </a:lnTo>
                  <a:lnTo>
                    <a:pt x="907176" y="320534"/>
                  </a:lnTo>
                  <a:lnTo>
                    <a:pt x="920580" y="288170"/>
                  </a:lnTo>
                  <a:lnTo>
                    <a:pt x="928455" y="253283"/>
                  </a:lnTo>
                  <a:lnTo>
                    <a:pt x="934320" y="213857"/>
                  </a:lnTo>
                  <a:lnTo>
                    <a:pt x="924581" y="180779"/>
                  </a:lnTo>
                  <a:lnTo>
                    <a:pt x="913711" y="148961"/>
                  </a:lnTo>
                  <a:lnTo>
                    <a:pt x="899071" y="119664"/>
                  </a:lnTo>
                  <a:lnTo>
                    <a:pt x="878023" y="94151"/>
                  </a:lnTo>
                  <a:lnTo>
                    <a:pt x="853100" y="84841"/>
                  </a:lnTo>
                  <a:lnTo>
                    <a:pt x="830438" y="74144"/>
                  </a:lnTo>
                  <a:lnTo>
                    <a:pt x="809788" y="60673"/>
                  </a:lnTo>
                  <a:lnTo>
                    <a:pt x="790896" y="43041"/>
                  </a:lnTo>
                  <a:lnTo>
                    <a:pt x="743166" y="30210"/>
                  </a:lnTo>
                  <a:lnTo>
                    <a:pt x="697920" y="20273"/>
                  </a:lnTo>
                  <a:lnTo>
                    <a:pt x="653871" y="12831"/>
                  </a:lnTo>
                  <a:lnTo>
                    <a:pt x="609728" y="7482"/>
                  </a:lnTo>
                  <a:lnTo>
                    <a:pt x="564201" y="3827"/>
                  </a:lnTo>
                  <a:lnTo>
                    <a:pt x="516002" y="1466"/>
                  </a:lnTo>
                  <a:lnTo>
                    <a:pt x="463839" y="0"/>
                  </a:lnTo>
                  <a:close/>
                </a:path>
              </a:pathLst>
            </a:custGeom>
            <a:solidFill>
              <a:srgbClr val="9CA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A604D9-3E79-AC71-D3B5-D47E36439F1C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293915"/>
            <a:ext cx="10058400" cy="71845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https://youtu.be/SC5CX8drAtU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</p:spTree>
    <p:extLst>
      <p:ext uri="{BB962C8B-B14F-4D97-AF65-F5344CB8AC3E}">
        <p14:creationId xmlns:p14="http://schemas.microsoft.com/office/powerpoint/2010/main" val="300342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0" y="5435600"/>
            <a:ext cx="886951" cy="115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5078" y="5437685"/>
            <a:ext cx="907067" cy="1134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5960" y="5437685"/>
            <a:ext cx="974639" cy="11540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2408" y="5422900"/>
            <a:ext cx="982352" cy="11497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32257" y="6596177"/>
            <a:ext cx="9734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von</a:t>
            </a:r>
            <a:r>
              <a:rPr sz="1050" b="1" spc="25" dirty="0">
                <a:latin typeface="Trebuchet MS"/>
                <a:cs typeface="Trebuchet MS"/>
              </a:rPr>
              <a:t> </a:t>
            </a:r>
            <a:r>
              <a:rPr sz="1050" b="1" spc="55" dirty="0">
                <a:latin typeface="Trebuchet MS"/>
                <a:cs typeface="Trebuchet MS"/>
              </a:rPr>
              <a:t>Neumann </a:t>
            </a:r>
            <a:r>
              <a:rPr sz="1050" b="1" spc="40" dirty="0">
                <a:latin typeface="Trebuchet MS"/>
                <a:cs typeface="Trebuchet MS"/>
              </a:rPr>
              <a:t>(1953)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190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940">
              <a:lnSpc>
                <a:spcPct val="119200"/>
              </a:lnSpc>
              <a:spcBef>
                <a:spcPts val="100"/>
              </a:spcBef>
            </a:pPr>
            <a:r>
              <a:rPr sz="1050" b="1" spc="40" dirty="0">
                <a:latin typeface="Trebuchet MS"/>
                <a:cs typeface="Trebuchet MS"/>
              </a:rPr>
              <a:t>Gödel (1956)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0041" y="6596177"/>
            <a:ext cx="65976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2075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Edmonds </a:t>
            </a:r>
            <a:r>
              <a:rPr sz="1050" b="1" spc="40" dirty="0">
                <a:latin typeface="Trebuchet MS"/>
                <a:cs typeface="Trebuchet MS"/>
              </a:rPr>
              <a:t>(1965)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3693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>
              <a:lnSpc>
                <a:spcPct val="119200"/>
              </a:lnSpc>
              <a:spcBef>
                <a:spcPts val="100"/>
              </a:spcBef>
            </a:pPr>
            <a:r>
              <a:rPr sz="1050" b="1" spc="50" dirty="0">
                <a:latin typeface="Trebuchet MS"/>
                <a:cs typeface="Trebuchet MS"/>
              </a:rPr>
              <a:t>Rabin </a:t>
            </a:r>
            <a:r>
              <a:rPr sz="1050" b="1" spc="40" dirty="0">
                <a:latin typeface="Trebuchet MS"/>
                <a:cs typeface="Trebuchet MS"/>
              </a:rPr>
              <a:t>(1966)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1774" y="5437685"/>
            <a:ext cx="972814" cy="114054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58225" y="6586640"/>
            <a:ext cx="58991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marR="5080" indent="-5715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Cobham </a:t>
            </a:r>
            <a:r>
              <a:rPr sz="1050" b="1" spc="40" dirty="0">
                <a:latin typeface="Trebuchet MS"/>
                <a:cs typeface="Trebuchet MS"/>
              </a:rPr>
              <a:t>(1964)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8900" y="5456632"/>
            <a:ext cx="809077" cy="11346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87865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34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Nash </a:t>
            </a:r>
            <a:r>
              <a:rPr sz="1050" b="1" spc="40" dirty="0">
                <a:latin typeface="Trebuchet MS"/>
                <a:cs typeface="Trebuchet MS"/>
              </a:rPr>
              <a:t>(1955)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220" dirty="0"/>
              <a:t> </a:t>
            </a:r>
            <a:r>
              <a:rPr dirty="0"/>
              <a:t>running</a:t>
            </a:r>
            <a:r>
              <a:rPr spc="220" dirty="0"/>
              <a:t> </a:t>
            </a:r>
            <a:r>
              <a:rPr spc="-20" dirty="0"/>
              <a:t>time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5267" y="1131247"/>
            <a:ext cx="794004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Desirable</a:t>
            </a:r>
            <a:r>
              <a:rPr sz="18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scaling</a:t>
            </a:r>
            <a:r>
              <a:rPr sz="18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property.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When the input size doubles, the </a:t>
            </a:r>
            <a:r>
              <a:rPr sz="1800" spc="-10" dirty="0">
                <a:latin typeface="Lucida Sans Unicode"/>
                <a:cs typeface="Lucida Sans Unicode"/>
              </a:rPr>
              <a:t>algorithm </a:t>
            </a:r>
            <a:r>
              <a:rPr sz="1800" dirty="0">
                <a:latin typeface="Lucida Sans Unicode"/>
                <a:cs typeface="Lucida Sans Unicode"/>
              </a:rPr>
              <a:t>should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only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slow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down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factor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5267" y="3031097"/>
            <a:ext cx="74745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above scaling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property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holds.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65805" y="4302326"/>
            <a:ext cx="1108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200" spc="-19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1200" spc="-37" baseline="20833" dirty="0">
                <a:solidFill>
                  <a:srgbClr val="8D3124"/>
                </a:solidFill>
                <a:latin typeface="Lucida Sans Unicode"/>
                <a:cs typeface="Lucida Sans Unicode"/>
              </a:rPr>
              <a:t>d</a:t>
            </a:r>
            <a:endParaRPr sz="1200" baseline="20833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1708" y="3759102"/>
            <a:ext cx="5913755" cy="1287780"/>
          </a:xfrm>
          <a:custGeom>
            <a:avLst/>
            <a:gdLst/>
            <a:ahLst/>
            <a:cxnLst/>
            <a:rect l="l" t="t" r="r" b="b"/>
            <a:pathLst>
              <a:path w="5913755" h="1287779">
                <a:moveTo>
                  <a:pt x="0" y="0"/>
                </a:moveTo>
                <a:lnTo>
                  <a:pt x="5913188" y="0"/>
                </a:lnTo>
                <a:lnTo>
                  <a:pt x="5913188" y="1287548"/>
                </a:lnTo>
                <a:lnTo>
                  <a:pt x="0" y="1287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36989" y="3889463"/>
            <a:ext cx="52628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96215">
              <a:lnSpc>
                <a:spcPct val="133500"/>
              </a:lnSpc>
              <a:spcBef>
                <a:spcPts val="100"/>
              </a:spcBef>
            </a:pPr>
            <a:r>
              <a:rPr sz="1500" b="1" spc="50" dirty="0">
                <a:latin typeface="Trebuchet MS"/>
                <a:cs typeface="Trebuchet MS"/>
              </a:rPr>
              <a:t>There </a:t>
            </a:r>
            <a:r>
              <a:rPr sz="1500" b="1" spc="80" dirty="0">
                <a:latin typeface="Trebuchet MS"/>
                <a:cs typeface="Trebuchet MS"/>
              </a:rPr>
              <a:t>exists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constants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c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315" dirty="0">
                <a:latin typeface="Trebuchet MS"/>
                <a:cs typeface="Trebuchet MS"/>
              </a:rPr>
              <a:t>&gt;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0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90" dirty="0">
                <a:latin typeface="Trebuchet MS"/>
                <a:cs typeface="Trebuchet MS"/>
              </a:rPr>
              <a:t>and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d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315" dirty="0">
                <a:latin typeface="Trebuchet MS"/>
                <a:cs typeface="Trebuchet MS"/>
              </a:rPr>
              <a:t>&gt;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0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05" dirty="0">
                <a:latin typeface="Trebuchet MS"/>
                <a:cs typeface="Trebuchet MS"/>
              </a:rPr>
              <a:t>such</a:t>
            </a:r>
            <a:r>
              <a:rPr sz="1500" b="1" spc="55" dirty="0">
                <a:latin typeface="Trebuchet MS"/>
                <a:cs typeface="Trebuchet MS"/>
              </a:rPr>
              <a:t> </a:t>
            </a:r>
            <a:r>
              <a:rPr sz="1500" b="1" spc="-20" dirty="0">
                <a:latin typeface="Trebuchet MS"/>
                <a:cs typeface="Trebuchet MS"/>
              </a:rPr>
              <a:t>that </a:t>
            </a:r>
            <a:r>
              <a:rPr sz="1500" b="1" spc="95" dirty="0">
                <a:latin typeface="Trebuchet MS"/>
                <a:cs typeface="Trebuchet MS"/>
              </a:rPr>
              <a:t>on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every</a:t>
            </a:r>
            <a:r>
              <a:rPr sz="1500" b="1" spc="65" dirty="0">
                <a:latin typeface="Trebuchet MS"/>
                <a:cs typeface="Trebuchet MS"/>
              </a:rPr>
              <a:t> input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of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size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n,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75" dirty="0">
                <a:latin typeface="Trebuchet MS"/>
                <a:cs typeface="Trebuchet MS"/>
              </a:rPr>
              <a:t>its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95" dirty="0">
                <a:latin typeface="Trebuchet MS"/>
                <a:cs typeface="Trebuchet MS"/>
              </a:rPr>
              <a:t>running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55" dirty="0">
                <a:latin typeface="Trebuchet MS"/>
                <a:cs typeface="Trebuchet MS"/>
              </a:rPr>
              <a:t>time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114" dirty="0">
                <a:latin typeface="Trebuchet MS"/>
                <a:cs typeface="Trebuchet MS"/>
              </a:rPr>
              <a:t>is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80" dirty="0">
                <a:latin typeface="Trebuchet MS"/>
                <a:cs typeface="Trebuchet MS"/>
              </a:rPr>
              <a:t>bounded</a:t>
            </a:r>
            <a:endParaRPr sz="1500">
              <a:latin typeface="Trebuchet MS"/>
              <a:cs typeface="Trebuchet MS"/>
            </a:endParaRPr>
          </a:p>
          <a:p>
            <a:pPr marL="782955">
              <a:lnSpc>
                <a:spcPct val="100000"/>
              </a:lnSpc>
              <a:spcBef>
                <a:spcPts val="600"/>
              </a:spcBef>
            </a:pPr>
            <a:r>
              <a:rPr sz="1500" b="1" spc="90" dirty="0">
                <a:latin typeface="Trebuchet MS"/>
                <a:cs typeface="Trebuchet MS"/>
              </a:rPr>
              <a:t>by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c</a:t>
            </a:r>
            <a:r>
              <a:rPr sz="1500" b="1" spc="-110" dirty="0">
                <a:latin typeface="Trebuchet MS"/>
                <a:cs typeface="Trebuchet MS"/>
              </a:rPr>
              <a:t> </a:t>
            </a:r>
            <a:r>
              <a:rPr sz="1500" b="1" spc="90" dirty="0">
                <a:latin typeface="Trebuchet MS"/>
                <a:cs typeface="Trebuchet MS"/>
              </a:rPr>
              <a:t>n</a:t>
            </a:r>
            <a:r>
              <a:rPr sz="1500" b="1" spc="135" baseline="27777" dirty="0">
                <a:latin typeface="Trebuchet MS"/>
                <a:cs typeface="Trebuchet MS"/>
              </a:rPr>
              <a:t>d</a:t>
            </a:r>
            <a:r>
              <a:rPr sz="1500" b="1" spc="60" baseline="27777" dirty="0">
                <a:latin typeface="Trebuchet MS"/>
                <a:cs typeface="Trebuchet MS"/>
              </a:rPr>
              <a:t> </a:t>
            </a:r>
            <a:r>
              <a:rPr sz="1500" b="1" spc="55" dirty="0">
                <a:latin typeface="Trebuchet MS"/>
                <a:cs typeface="Trebuchet MS"/>
              </a:rPr>
              <a:t>primitive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70" dirty="0">
                <a:latin typeface="Trebuchet MS"/>
                <a:cs typeface="Trebuchet MS"/>
              </a:rPr>
              <a:t>computational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45" dirty="0">
                <a:latin typeface="Trebuchet MS"/>
                <a:cs typeface="Trebuchet MS"/>
              </a:rPr>
              <a:t>steps.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95701" y="4381238"/>
            <a:ext cx="454659" cy="92075"/>
            <a:chOff x="7395701" y="4381238"/>
            <a:chExt cx="454659" cy="92075"/>
          </a:xfrm>
        </p:grpSpPr>
        <p:sp>
          <p:nvSpPr>
            <p:cNvPr id="22" name="object 22"/>
            <p:cNvSpPr/>
            <p:nvPr/>
          </p:nvSpPr>
          <p:spPr>
            <a:xfrm>
              <a:off x="7454833" y="442701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>
                  <a:moveTo>
                    <a:pt x="0" y="3"/>
                  </a:moveTo>
                  <a:lnTo>
                    <a:pt x="9537" y="3"/>
                  </a:lnTo>
                  <a:lnTo>
                    <a:pt x="395283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5701" y="4381238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68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267" y="1218991"/>
            <a:ext cx="777811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We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say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efficient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polynomial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time.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54051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Justification.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sz="18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really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works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practice!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988" y="2668676"/>
            <a:ext cx="3366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low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exponents.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241" y="2168916"/>
            <a:ext cx="7847330" cy="1525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In practice,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latin typeface="Lucida Sans Unicode"/>
                <a:cs typeface="Lucida Sans Unicode"/>
              </a:rPr>
              <a:t>poly-</a:t>
            </a:r>
            <a:r>
              <a:rPr sz="1800" spc="-2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people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develop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low</a:t>
            </a:r>
            <a:endParaRPr sz="1800">
              <a:latin typeface="Lucida Sans Unicode"/>
              <a:cs typeface="Lucida Sans Unicode"/>
            </a:endParaRPr>
          </a:p>
          <a:p>
            <a:pPr marL="381000" marR="295275" indent="-343535">
              <a:lnSpc>
                <a:spcPct val="114100"/>
              </a:lnSpc>
              <a:spcBef>
                <a:spcPts val="1805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Breaking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through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exponential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barrier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brute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force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typically </a:t>
            </a:r>
            <a:r>
              <a:rPr sz="1800" dirty="0">
                <a:latin typeface="Lucida Sans Unicode"/>
                <a:cs typeface="Lucida Sans Unicode"/>
              </a:rPr>
              <a:t>exposes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crucial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problem.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4030617"/>
            <a:ext cx="710755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Some </a:t>
            </a:r>
            <a:r>
              <a:rPr sz="1800" spc="-55" dirty="0">
                <a:latin typeface="Lucida Sans Unicode"/>
                <a:cs typeface="Lucida Sans Unicode"/>
              </a:rPr>
              <a:t>poly-</a:t>
            </a:r>
            <a:r>
              <a:rPr sz="1800" spc="-20" dirty="0">
                <a:latin typeface="Lucida Sans Unicode"/>
                <a:cs typeface="Lucida Sans Unicode"/>
              </a:rPr>
              <a:t>time</a:t>
            </a:r>
            <a:r>
              <a:rPr sz="1800" dirty="0">
                <a:latin typeface="Lucida Sans Unicode"/>
                <a:cs typeface="Lucida Sans Unicode"/>
              </a:rPr>
              <a:t> algorithms do have high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constants </a:t>
            </a:r>
            <a:r>
              <a:rPr sz="1800" dirty="0">
                <a:latin typeface="Lucida Sans Unicode"/>
                <a:cs typeface="Lucida Sans Unicode"/>
              </a:rPr>
              <a:t>and/or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exponents,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and/or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useless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5205625"/>
            <a:ext cx="3065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would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you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prefer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1361" y="5151834"/>
            <a:ext cx="21107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baseline="-12345" dirty="0">
                <a:latin typeface="Times New Roman"/>
                <a:cs typeface="Times New Roman"/>
              </a:rPr>
              <a:t>20</a:t>
            </a:r>
            <a:r>
              <a:rPr sz="2700" spc="-217" baseline="-12345" dirty="0">
                <a:latin typeface="Times New Roman"/>
                <a:cs typeface="Times New Roman"/>
              </a:rPr>
              <a:t> </a:t>
            </a:r>
            <a:r>
              <a:rPr sz="2700" i="1" baseline="-12345" dirty="0">
                <a:latin typeface="Times New Roman"/>
                <a:cs typeface="Times New Roman"/>
              </a:rPr>
              <a:t>n</a:t>
            </a:r>
            <a:r>
              <a:rPr sz="1800" baseline="2314" dirty="0">
                <a:latin typeface="Times New Roman"/>
                <a:cs typeface="Times New Roman"/>
              </a:rPr>
              <a:t>100</a:t>
            </a:r>
            <a:r>
              <a:rPr sz="1800" spc="240" baseline="2314" dirty="0">
                <a:latin typeface="Times New Roman"/>
                <a:cs typeface="Times New Roman"/>
              </a:rPr>
              <a:t>  </a:t>
            </a:r>
            <a:r>
              <a:rPr sz="2700" baseline="-12345" dirty="0">
                <a:latin typeface="Lucida Sans Unicode"/>
                <a:cs typeface="Lucida Sans Unicode"/>
              </a:rPr>
              <a:t>vs.</a:t>
            </a:r>
            <a:r>
              <a:rPr sz="2700" spc="15" baseline="-12345" dirty="0">
                <a:latin typeface="Lucida Sans Unicode"/>
                <a:cs typeface="Lucida Sans Unicode"/>
              </a:rPr>
              <a:t> </a:t>
            </a:r>
            <a:r>
              <a:rPr sz="2700" i="1" baseline="-1234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0.02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2747" y="5205625"/>
            <a:ext cx="122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?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220" dirty="0"/>
              <a:t> </a:t>
            </a:r>
            <a:r>
              <a:rPr dirty="0"/>
              <a:t>running</a:t>
            </a:r>
            <a:r>
              <a:rPr spc="220" dirty="0"/>
              <a:t> </a:t>
            </a:r>
            <a:r>
              <a:rPr spc="-20" dirty="0"/>
              <a:t>time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804679" y="4741454"/>
            <a:ext cx="2384425" cy="2499360"/>
            <a:chOff x="6804679" y="4741454"/>
            <a:chExt cx="2384425" cy="2499360"/>
          </a:xfrm>
        </p:grpSpPr>
        <p:sp>
          <p:nvSpPr>
            <p:cNvPr id="12" name="object 12"/>
            <p:cNvSpPr/>
            <p:nvPr/>
          </p:nvSpPr>
          <p:spPr>
            <a:xfrm>
              <a:off x="6804679" y="4741454"/>
              <a:ext cx="2384425" cy="2499360"/>
            </a:xfrm>
            <a:custGeom>
              <a:avLst/>
              <a:gdLst/>
              <a:ahLst/>
              <a:cxnLst/>
              <a:rect l="l" t="t" r="r" b="b"/>
              <a:pathLst>
                <a:path w="2384425" h="2499359">
                  <a:moveTo>
                    <a:pt x="0" y="0"/>
                  </a:moveTo>
                  <a:lnTo>
                    <a:pt x="2384351" y="0"/>
                  </a:lnTo>
                  <a:lnTo>
                    <a:pt x="2384351" y="2498799"/>
                  </a:lnTo>
                  <a:lnTo>
                    <a:pt x="0" y="249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038" y="5257719"/>
              <a:ext cx="22919" cy="246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04679" y="4741454"/>
            <a:ext cx="2384425" cy="24993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imes New Roman"/>
              <a:cs typeface="Times New Roman"/>
            </a:endParaRPr>
          </a:p>
          <a:p>
            <a:pPr marR="54610" algn="ctr">
              <a:lnSpc>
                <a:spcPct val="100000"/>
              </a:lnSpc>
              <a:spcBef>
                <a:spcPts val="5"/>
              </a:spcBef>
            </a:pPr>
            <a:r>
              <a:rPr sz="750" b="1" dirty="0">
                <a:latin typeface="Times New Roman"/>
                <a:cs typeface="Times New Roman"/>
              </a:rPr>
              <a:t>Map</a:t>
            </a:r>
            <a:r>
              <a:rPr sz="750" b="1" spc="5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graphs</a:t>
            </a:r>
            <a:r>
              <a:rPr sz="750" b="1" spc="6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in</a:t>
            </a:r>
            <a:r>
              <a:rPr sz="750" b="1" spc="40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polynomial</a:t>
            </a:r>
            <a:r>
              <a:rPr sz="750" b="1" spc="30" dirty="0">
                <a:latin typeface="Times New Roman"/>
                <a:cs typeface="Times New Roman"/>
              </a:rPr>
              <a:t> </a:t>
            </a:r>
            <a:r>
              <a:rPr sz="750" b="1" spc="-20" dirty="0">
                <a:latin typeface="Times New Roman"/>
                <a:cs typeface="Times New Roman"/>
              </a:rPr>
              <a:t>time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750">
              <a:latin typeface="Times New Roman"/>
              <a:cs typeface="Times New Roman"/>
            </a:endParaRPr>
          </a:p>
          <a:p>
            <a:pPr marR="56515" algn="ctr">
              <a:lnSpc>
                <a:spcPct val="100000"/>
              </a:lnSpc>
              <a:spcBef>
                <a:spcPts val="5"/>
              </a:spcBef>
            </a:pPr>
            <a:r>
              <a:rPr sz="650" dirty="0">
                <a:latin typeface="Times New Roman"/>
                <a:cs typeface="Times New Roman"/>
              </a:rPr>
              <a:t>Mikkel</a:t>
            </a:r>
            <a:r>
              <a:rPr sz="650" spc="1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Thorup</a:t>
            </a:r>
            <a:endParaRPr sz="650">
              <a:latin typeface="Times New Roman"/>
              <a:cs typeface="Times New Roman"/>
            </a:endParaRPr>
          </a:p>
          <a:p>
            <a:pPr marL="128270" marR="185420" algn="ctr">
              <a:lnSpc>
                <a:spcPct val="103200"/>
              </a:lnSpc>
            </a:pPr>
            <a:r>
              <a:rPr sz="650" dirty="0">
                <a:latin typeface="Times New Roman"/>
                <a:cs typeface="Times New Roman"/>
              </a:rPr>
              <a:t>Department</a:t>
            </a:r>
            <a:r>
              <a:rPr sz="650" spc="2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of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Computer</a:t>
            </a:r>
            <a:r>
              <a:rPr sz="650" spc="3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Science,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University</a:t>
            </a:r>
            <a:r>
              <a:rPr sz="650" spc="3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of</a:t>
            </a:r>
            <a:r>
              <a:rPr sz="650" spc="15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Copenhagen</a:t>
            </a:r>
            <a:r>
              <a:rPr sz="650" spc="50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Universitetsparken</a:t>
            </a:r>
            <a:r>
              <a:rPr sz="650" spc="1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1,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DK-2100</a:t>
            </a:r>
            <a:r>
              <a:rPr sz="650" spc="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Copenhagen</a:t>
            </a:r>
            <a:r>
              <a:rPr sz="650" spc="3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East,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Denmark</a:t>
            </a:r>
            <a:r>
              <a:rPr sz="650" spc="50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  <a:hlinkClick r:id="rId3"/>
              </a:rPr>
              <a:t>mthorup@diku.dk</a:t>
            </a:r>
            <a:endParaRPr sz="650">
              <a:latin typeface="Times New Roman"/>
              <a:cs typeface="Times New Roman"/>
            </a:endParaRPr>
          </a:p>
          <a:p>
            <a:pPr marR="100965" algn="ctr">
              <a:lnSpc>
                <a:spcPct val="100000"/>
              </a:lnSpc>
              <a:spcBef>
                <a:spcPts val="545"/>
              </a:spcBef>
            </a:pPr>
            <a:r>
              <a:rPr sz="650" b="1" spc="-10" dirty="0">
                <a:latin typeface="Times New Roman"/>
                <a:cs typeface="Times New Roman"/>
              </a:rPr>
              <a:t>Abstract</a:t>
            </a:r>
            <a:endParaRPr sz="650">
              <a:latin typeface="Times New Roman"/>
              <a:cs typeface="Times New Roman"/>
            </a:endParaRPr>
          </a:p>
          <a:p>
            <a:pPr marL="269240" marR="368300" indent="87630" algn="just">
              <a:lnSpc>
                <a:spcPct val="104900"/>
              </a:lnSpc>
              <a:spcBef>
                <a:spcPts val="665"/>
              </a:spcBef>
            </a:pPr>
            <a:r>
              <a:rPr sz="550" i="1" spc="-10" dirty="0">
                <a:latin typeface="Times New Roman"/>
                <a:cs typeface="Times New Roman"/>
              </a:rPr>
              <a:t>Chen,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Grigni,</a:t>
            </a:r>
            <a:r>
              <a:rPr sz="550" i="1" spc="3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and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Papadimitriou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(WADS’97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and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STOC’98)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have</a:t>
            </a:r>
            <a:r>
              <a:rPr sz="550" i="1" spc="6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introduced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modified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notion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of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planarity,</a:t>
            </a:r>
            <a:r>
              <a:rPr sz="550" i="1" spc="8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where</a:t>
            </a:r>
            <a:r>
              <a:rPr sz="550" i="1" spc="55" dirty="0">
                <a:latin typeface="Times New Roman"/>
                <a:cs typeface="Times New Roman"/>
              </a:rPr>
              <a:t> </a:t>
            </a:r>
            <a:r>
              <a:rPr sz="550" i="1" spc="-25" dirty="0">
                <a:latin typeface="Times New Roman"/>
                <a:cs typeface="Times New Roman"/>
              </a:rPr>
              <a:t>two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faces are</a:t>
            </a:r>
            <a:r>
              <a:rPr sz="550" i="1" spc="-10" dirty="0">
                <a:latin typeface="Times New Roman"/>
                <a:cs typeface="Times New Roman"/>
              </a:rPr>
              <a:t> considered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adjacent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if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they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share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least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one </a:t>
            </a:r>
            <a:r>
              <a:rPr sz="550" i="1" spc="-10" dirty="0">
                <a:latin typeface="Times New Roman"/>
                <a:cs typeface="Times New Roman"/>
              </a:rPr>
              <a:t>point.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8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corresponding</a:t>
            </a:r>
            <a:r>
              <a:rPr sz="550" i="1" spc="5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abstract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graphs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are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called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dirty="0">
                <a:latin typeface="Times New Roman"/>
                <a:cs typeface="Times New Roman"/>
              </a:rPr>
              <a:t>map</a:t>
            </a:r>
            <a:r>
              <a:rPr sz="550" spc="80" dirty="0">
                <a:latin typeface="Times New Roman"/>
                <a:cs typeface="Times New Roman"/>
              </a:rPr>
              <a:t> </a:t>
            </a:r>
            <a:r>
              <a:rPr sz="550" spc="-10" dirty="0">
                <a:latin typeface="Times New Roman"/>
                <a:cs typeface="Times New Roman"/>
              </a:rPr>
              <a:t>graphs</a:t>
            </a:r>
            <a:r>
              <a:rPr sz="550" i="1" spc="-10" dirty="0">
                <a:latin typeface="Times New Roman"/>
                <a:cs typeface="Times New Roman"/>
              </a:rPr>
              <a:t>.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Chen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et.al.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raised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question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of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whether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map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graphs can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spc="-25" dirty="0">
                <a:latin typeface="Times New Roman"/>
                <a:cs typeface="Times New Roman"/>
              </a:rPr>
              <a:t>be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recognized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polynomial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time.</a:t>
            </a:r>
            <a:r>
              <a:rPr sz="550" i="1" spc="5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They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showed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that the</a:t>
            </a:r>
            <a:r>
              <a:rPr sz="550" i="1" spc="-10" dirty="0">
                <a:latin typeface="Times New Roman"/>
                <a:cs typeface="Times New Roman"/>
              </a:rPr>
              <a:t> decision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problem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is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NP and</a:t>
            </a:r>
            <a:r>
              <a:rPr sz="550" i="1" spc="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presented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polynomial time</a:t>
            </a:r>
            <a:r>
              <a:rPr sz="550" i="1" spc="2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algorithm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for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special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case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where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we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allow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most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4</a:t>
            </a:r>
            <a:r>
              <a:rPr sz="550" i="1" spc="-10" dirty="0">
                <a:latin typeface="Times New Roman"/>
                <a:cs typeface="Times New Roman"/>
              </a:rPr>
              <a:t> faces</a:t>
            </a:r>
            <a:r>
              <a:rPr sz="550" i="1" dirty="0">
                <a:latin typeface="Times New Roman"/>
                <a:cs typeface="Times New Roman"/>
              </a:rPr>
              <a:t> to</a:t>
            </a:r>
            <a:r>
              <a:rPr sz="550" i="1" spc="-10" dirty="0">
                <a:latin typeface="Times New Roman"/>
                <a:cs typeface="Times New Roman"/>
              </a:rPr>
              <a:t> intersect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any point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—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if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only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3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allowed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to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intersect</a:t>
            </a:r>
            <a:r>
              <a:rPr sz="550" i="1" spc="-3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point, </a:t>
            </a:r>
            <a:r>
              <a:rPr sz="550" i="1" spc="-25" dirty="0">
                <a:latin typeface="Times New Roman"/>
                <a:cs typeface="Times New Roman"/>
              </a:rPr>
              <a:t>we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get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usual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planar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graphs.</a:t>
            </a:r>
            <a:endParaRPr sz="550">
              <a:latin typeface="Times New Roman"/>
              <a:cs typeface="Times New Roman"/>
            </a:endParaRPr>
          </a:p>
          <a:p>
            <a:pPr marL="269240" marR="366395" indent="87630" algn="just">
              <a:lnSpc>
                <a:spcPts val="690"/>
              </a:lnSpc>
              <a:spcBef>
                <a:spcPts val="15"/>
              </a:spcBef>
            </a:pPr>
            <a:r>
              <a:rPr sz="550" i="1" dirty="0">
                <a:latin typeface="Times New Roman"/>
                <a:cs typeface="Times New Roman"/>
              </a:rPr>
              <a:t>Chen</a:t>
            </a:r>
            <a:r>
              <a:rPr sz="550" i="1" spc="-3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et.al. </a:t>
            </a:r>
            <a:r>
              <a:rPr sz="550" i="1" spc="-10" dirty="0">
                <a:latin typeface="Times New Roman"/>
                <a:cs typeface="Times New Roman"/>
              </a:rPr>
              <a:t>conjectured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map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graphs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can be </a:t>
            </a:r>
            <a:r>
              <a:rPr sz="550" i="1" spc="-10" dirty="0">
                <a:latin typeface="Times New Roman"/>
                <a:cs typeface="Times New Roman"/>
              </a:rPr>
              <a:t>recognized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in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polynomial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time,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and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in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this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paper,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their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conjecture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is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settled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affirmatively.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867" y="1218991"/>
            <a:ext cx="673354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  <a:tabLst>
                <a:tab pos="14395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sz="18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guarantee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18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960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Generally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captures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efficiency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Draconian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view</a:t>
            </a:r>
            <a:r>
              <a:rPr sz="1800" spc="-5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but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hard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effective</a:t>
            </a:r>
            <a:r>
              <a:rPr sz="1800" spc="-10" dirty="0">
                <a:latin typeface="Lucida Sans Unicode"/>
                <a:cs typeface="Lucida Sans Unicode"/>
              </a:rPr>
              <a:t> alternative.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267" y="2943353"/>
            <a:ext cx="831723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exponential-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widely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 </a:t>
            </a:r>
            <a:r>
              <a:rPr sz="1800" dirty="0">
                <a:latin typeface="Lucida Sans Unicode"/>
                <a:cs typeface="Lucida Sans Unicode"/>
              </a:rPr>
              <a:t>because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worst-</a:t>
            </a:r>
            <a:r>
              <a:rPr sz="1800" spc="-10" dirty="0">
                <a:latin typeface="Lucida Sans Unicode"/>
                <a:cs typeface="Lucida Sans Unicode"/>
              </a:rPr>
              <a:t>case </a:t>
            </a:r>
            <a:r>
              <a:rPr sz="1800" dirty="0">
                <a:latin typeface="Lucida Sans Unicode"/>
                <a:cs typeface="Lucida Sans Unicode"/>
              </a:rPr>
              <a:t>instances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</a:t>
            </a:r>
            <a:r>
              <a:rPr sz="1800" spc="-10" dirty="0">
                <a:latin typeface="Lucida Sans Unicode"/>
                <a:cs typeface="Lucida Sans Unicode"/>
              </a:rPr>
              <a:t> rare.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Worst-</a:t>
            </a:r>
            <a:r>
              <a:rPr dirty="0"/>
              <a:t>case</a:t>
            </a:r>
            <a:r>
              <a:rPr spc="-5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6629" y="4800600"/>
            <a:ext cx="1573670" cy="1714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3932" y="4860439"/>
            <a:ext cx="2432037" cy="16549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000" y="5054600"/>
            <a:ext cx="2908300" cy="14605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36668" y="6731609"/>
            <a:ext cx="14566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latin typeface="Trebuchet MS"/>
                <a:cs typeface="Trebuchet MS"/>
              </a:rPr>
              <a:t>simplex</a:t>
            </a:r>
            <a:r>
              <a:rPr sz="1200" b="1" spc="55" dirty="0">
                <a:latin typeface="Trebuchet MS"/>
                <a:cs typeface="Trebuchet MS"/>
              </a:rPr>
              <a:t> algorithm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4870119" y="6731609"/>
            <a:ext cx="865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Linux</a:t>
            </a:r>
            <a:r>
              <a:rPr sz="1200" b="1" spc="26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grep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9751" y="6731609"/>
            <a:ext cx="1549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30" dirty="0">
                <a:latin typeface="Trebuchet MS"/>
                <a:cs typeface="Trebuchet MS"/>
              </a:rPr>
              <a:t>k-</a:t>
            </a:r>
            <a:r>
              <a:rPr sz="1200" b="1" spc="105" dirty="0">
                <a:latin typeface="Trebuchet MS"/>
                <a:cs typeface="Trebuchet MS"/>
              </a:rPr>
              <a:t>means</a:t>
            </a:r>
            <a:r>
              <a:rPr sz="1200" b="1" spc="6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algorithm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Types</a:t>
            </a:r>
            <a:r>
              <a:rPr dirty="0"/>
              <a:t> </a:t>
            </a:r>
            <a:r>
              <a:rPr spc="60" dirty="0"/>
              <a:t>of</a:t>
            </a:r>
            <a:r>
              <a:rPr spc="5" dirty="0"/>
              <a:t> </a:t>
            </a:r>
            <a:r>
              <a:rPr spc="-10" dirty="0"/>
              <a:t>analyses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681767" y="1131247"/>
            <a:ext cx="8314055" cy="4737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4776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sz="18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guarantee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18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  <a:tabLst>
                <a:tab pos="5568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Heapsort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requires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most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-7" baseline="-694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64909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Probabilistic.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 time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randomized 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algorithm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expected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quicksort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elements 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~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ln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 marR="382270">
              <a:lnSpc>
                <a:spcPct val="132100"/>
              </a:lnSpc>
              <a:tabLst>
                <a:tab pos="556895" algn="l"/>
                <a:tab pos="145351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Amortized.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65" dirty="0">
                <a:latin typeface="Lucida Sans Unicode"/>
                <a:cs typeface="Lucida Sans Unicode"/>
              </a:rPr>
              <a:t>Worst-</a:t>
            </a:r>
            <a:r>
              <a:rPr sz="1800" spc="-30" dirty="0">
                <a:latin typeface="Lucida Sans Unicode"/>
                <a:cs typeface="Lucida Sans Unicode"/>
              </a:rPr>
              <a:t>case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 time for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 sequence </a:t>
            </a:r>
            <a:r>
              <a:rPr sz="1800" dirty="0">
                <a:latin typeface="Lucida Sans Unicode"/>
                <a:cs typeface="Lucida Sans Unicode"/>
              </a:rPr>
              <a:t>of 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spc="-10" dirty="0">
                <a:latin typeface="Lucida Sans Unicode"/>
                <a:cs typeface="Lucida Sans Unicode"/>
              </a:rPr>
              <a:t>operations.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Starting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empty stack,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push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spc="-25" dirty="0">
                <a:latin typeface="Lucida Sans Unicode"/>
                <a:cs typeface="Lucida Sans Unicode"/>
              </a:rPr>
              <a:t>pop </a:t>
            </a:r>
            <a:r>
              <a:rPr sz="1800" dirty="0">
                <a:latin typeface="Lucida Sans Unicode"/>
                <a:cs typeface="Lucida Sans Unicode"/>
              </a:rPr>
              <a:t>operations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operations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resizing</a:t>
            </a:r>
            <a:r>
              <a:rPr sz="1800" spc="-10" dirty="0">
                <a:latin typeface="Lucida Sans Unicode"/>
                <a:cs typeface="Lucida Sans Unicode"/>
              </a:rPr>
              <a:t> array.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</a:pPr>
            <a:r>
              <a:rPr sz="18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Average-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random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 marR="432434">
              <a:lnSpc>
                <a:spcPct val="132100"/>
              </a:lnSpc>
              <a:tabLst>
                <a:tab pos="5568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expected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character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performed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3-</a:t>
            </a:r>
            <a:r>
              <a:rPr sz="1800" spc="-35" dirty="0">
                <a:latin typeface="Lucida Sans Unicode"/>
                <a:cs typeface="Lucida Sans Unicode"/>
              </a:rPr>
              <a:t>way </a:t>
            </a:r>
            <a:r>
              <a:rPr sz="1800" dirty="0">
                <a:latin typeface="Lucida Sans Unicode"/>
                <a:cs typeface="Lucida Sans Unicode"/>
              </a:rPr>
              <a:t>radix quicksort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uniformly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random strings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~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ln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6655310"/>
            <a:ext cx="5579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Also.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Smoothed</a:t>
            </a:r>
            <a:r>
              <a:rPr sz="1800" spc="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analysis,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competitive</a:t>
            </a:r>
            <a:r>
              <a:rPr sz="1800" spc="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analysis,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...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17760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Why</a:t>
            </a:r>
            <a:r>
              <a:rPr spc="80" dirty="0"/>
              <a:t> </a:t>
            </a:r>
            <a:r>
              <a:rPr dirty="0"/>
              <a:t>it</a:t>
            </a:r>
            <a:r>
              <a:rPr spc="85" dirty="0"/>
              <a:t> </a:t>
            </a:r>
            <a:r>
              <a:rPr spc="-10" dirty="0"/>
              <a:t>matters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1752600"/>
            <a:ext cx="9347200" cy="4241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11</a:t>
            </a:fld>
            <a:endParaRPr spc="-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904923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latin typeface="Verdana"/>
                <a:cs typeface="Verdana"/>
              </a:rPr>
              <a:t>asymptotic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190" dirty="0">
                <a:latin typeface="Verdana"/>
                <a:cs typeface="Verdana"/>
              </a:rPr>
              <a:t>order</a:t>
            </a:r>
            <a:r>
              <a:rPr sz="2250" i="1" spc="-114" dirty="0">
                <a:latin typeface="Verdana"/>
                <a:cs typeface="Verdana"/>
              </a:rPr>
              <a:t> </a:t>
            </a:r>
            <a:r>
              <a:rPr sz="2250" i="1" spc="-170" dirty="0">
                <a:latin typeface="Verdana"/>
                <a:cs typeface="Verdana"/>
              </a:rPr>
              <a:t>of</a:t>
            </a:r>
            <a:r>
              <a:rPr sz="2250" i="1" spc="-125" dirty="0">
                <a:latin typeface="Verdana"/>
                <a:cs typeface="Verdana"/>
              </a:rPr>
              <a:t> </a:t>
            </a:r>
            <a:r>
              <a:rPr sz="2250" i="1" spc="-50" dirty="0"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25B5AF-FD71-DD25-356C-4FF8542427FF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0" y="293915"/>
            <a:ext cx="10058400" cy="71845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55600" rtlCol="0" anchor="ctr">
            <a:noAutofit/>
          </a:bodyPr>
          <a:lstStyle/>
          <a:p>
            <a:pPr algn="ctr"/>
            <a:r>
              <a:rPr kumimoji="1" lang="zh-CN" altLang="en-US" sz="20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网络视频</a:t>
            </a:r>
          </a:p>
          <a:p>
            <a:pPr algn="just"/>
            <a:endParaRPr kumimoji="1" lang="zh-CN" altLang="en-US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en-GB" altLang="zh-CN" sz="1600">
                <a:solidFill>
                  <a:srgbClr val="F8F8F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https://www.youtube.com/watch?v=XMUe3zFhM5c</a:t>
            </a: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endParaRPr kumimoji="1" lang="en-GB" altLang="zh-CN" sz="1600">
              <a:solidFill>
                <a:srgbClr val="F8F8F8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 algn="just"/>
            <a:r>
              <a:rPr kumimoji="1" lang="zh-CN" altLang="en-US" sz="1100">
                <a:solidFill>
                  <a:srgbClr val="C8C8C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温馨提示：此视频框在点击“上传手机课件”时会进行转换，用手机进行观看时则会变为可点击的视频。此视频框可被拖动移位和修改大小。</a:t>
            </a:r>
          </a:p>
        </p:txBody>
      </p:sp>
    </p:spTree>
    <p:extLst>
      <p:ext uri="{BB962C8B-B14F-4D97-AF65-F5344CB8AC3E}">
        <p14:creationId xmlns:p14="http://schemas.microsoft.com/office/powerpoint/2010/main" val="2039597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541" y="2893759"/>
            <a:ext cx="4010025" cy="827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also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4118361"/>
            <a:ext cx="7440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557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Insertion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makes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5568046"/>
            <a:ext cx="4060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80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Alternate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Big-</a:t>
            </a:r>
            <a:r>
              <a:rPr spc="105" dirty="0"/>
              <a:t>Oh</a:t>
            </a:r>
            <a:r>
              <a:rPr spc="10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92402" y="2726179"/>
            <a:ext cx="16084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50, 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32209" y="2797732"/>
            <a:ext cx="372745" cy="92075"/>
            <a:chOff x="2732209" y="2797732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2791342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2209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70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21581" y="5588381"/>
            <a:ext cx="648970" cy="414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35"/>
              </a:spcBef>
            </a:pPr>
            <a:r>
              <a:rPr sz="1550" spc="90" dirty="0">
                <a:latin typeface="Calibri"/>
                <a:cs typeface="Calibri"/>
              </a:rPr>
              <a:t>lim</a:t>
            </a:r>
            <a:r>
              <a:rPr sz="1550" spc="-85" dirty="0">
                <a:latin typeface="Calibri"/>
                <a:cs typeface="Calibri"/>
              </a:rPr>
              <a:t> </a:t>
            </a:r>
            <a:r>
              <a:rPr sz="1550" spc="30" dirty="0">
                <a:latin typeface="Calibri"/>
                <a:cs typeface="Calibri"/>
              </a:rPr>
              <a:t>sup</a:t>
            </a:r>
            <a:endParaRPr sz="1550">
              <a:latin typeface="Calibri"/>
              <a:cs typeface="Calibri"/>
            </a:endParaRPr>
          </a:p>
          <a:p>
            <a:pPr marL="111760">
              <a:lnSpc>
                <a:spcPts val="1245"/>
              </a:lnSpc>
            </a:pPr>
            <a:r>
              <a:rPr sz="1100" i="1" spc="265" dirty="0">
                <a:latin typeface="Calibri"/>
                <a:cs typeface="Calibri"/>
              </a:rPr>
              <a:t>n</a:t>
            </a:r>
            <a:r>
              <a:rPr sz="1100" i="1" spc="265" dirty="0">
                <a:latin typeface="Arial"/>
                <a:cs typeface="Arial"/>
              </a:rPr>
              <a:t>→∞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9554" y="5452221"/>
            <a:ext cx="4533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180" dirty="0">
                <a:latin typeface="Calibri"/>
                <a:cs typeface="Calibri"/>
              </a:rPr>
              <a:t>T</a:t>
            </a:r>
            <a:r>
              <a:rPr sz="1550" i="1" spc="-130" dirty="0">
                <a:latin typeface="Calibri"/>
                <a:cs typeface="Calibri"/>
              </a:rPr>
              <a:t> </a:t>
            </a:r>
            <a:r>
              <a:rPr sz="1550" spc="120" dirty="0">
                <a:latin typeface="Calibri"/>
                <a:cs typeface="Calibri"/>
              </a:rPr>
              <a:t>(</a:t>
            </a:r>
            <a:r>
              <a:rPr sz="1550" i="1" spc="120" dirty="0">
                <a:latin typeface="Calibri"/>
                <a:cs typeface="Calibri"/>
              </a:rPr>
              <a:t>n</a:t>
            </a:r>
            <a:r>
              <a:rPr sz="1550" spc="120" dirty="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72254" y="5751848"/>
            <a:ext cx="427990" cy="0"/>
          </a:xfrm>
          <a:custGeom>
            <a:avLst/>
            <a:gdLst/>
            <a:ahLst/>
            <a:cxnLst/>
            <a:rect l="l" t="t" r="r" b="b"/>
            <a:pathLst>
              <a:path w="427989">
                <a:moveTo>
                  <a:pt x="0" y="0"/>
                </a:moveTo>
                <a:lnTo>
                  <a:pt x="427827" y="0"/>
                </a:lnTo>
              </a:path>
            </a:pathLst>
          </a:custGeom>
          <a:ln w="8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72425" y="5726360"/>
            <a:ext cx="4279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305" dirty="0">
                <a:latin typeface="Calibri"/>
                <a:cs typeface="Calibri"/>
              </a:rPr>
              <a:t>f</a:t>
            </a:r>
            <a:r>
              <a:rPr sz="1550" i="1" spc="-180" dirty="0">
                <a:latin typeface="Calibri"/>
                <a:cs typeface="Calibri"/>
              </a:rPr>
              <a:t> </a:t>
            </a:r>
            <a:r>
              <a:rPr sz="1550" spc="120" dirty="0">
                <a:latin typeface="Calibri"/>
                <a:cs typeface="Calibri"/>
              </a:rPr>
              <a:t>(</a:t>
            </a:r>
            <a:r>
              <a:rPr sz="1550" i="1" spc="120" dirty="0">
                <a:latin typeface="Calibri"/>
                <a:cs typeface="Calibri"/>
              </a:rPr>
              <a:t>n</a:t>
            </a:r>
            <a:r>
              <a:rPr sz="1550" spc="120" dirty="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4883" y="5588381"/>
            <a:ext cx="5568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465" dirty="0">
                <a:latin typeface="Calibri"/>
                <a:cs typeface="Calibri"/>
              </a:rPr>
              <a:t>&lt;</a:t>
            </a:r>
            <a:r>
              <a:rPr sz="1550" i="1" spc="90" dirty="0">
                <a:latin typeface="Calibri"/>
                <a:cs typeface="Calibri"/>
              </a:rPr>
              <a:t>  </a:t>
            </a:r>
            <a:r>
              <a:rPr sz="1550" i="1" spc="25" dirty="0">
                <a:latin typeface="Verdana"/>
                <a:cs typeface="Verdana"/>
              </a:rPr>
              <a:t>∞</a:t>
            </a:r>
            <a:r>
              <a:rPr sz="1550" i="1" spc="25" dirty="0"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9" name="object 19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4467" y="1131247"/>
            <a:ext cx="8829675" cy="10217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038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R="17780" algn="r">
              <a:lnSpc>
                <a:spcPct val="100000"/>
              </a:lnSpc>
              <a:spcBef>
                <a:spcPts val="695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8" name="object 28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101535" y="2439778"/>
            <a:ext cx="288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767" y="1131247"/>
            <a:ext cx="8648700" cy="22275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55194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Equals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sign.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a set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functions, but computer scientists often </a:t>
            </a:r>
            <a:r>
              <a:rPr sz="1800" spc="-10" dirty="0">
                <a:latin typeface="Lucida Sans Unicode"/>
                <a:cs typeface="Lucida Sans Unicode"/>
              </a:rPr>
              <a:t>write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instead of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ts val="1980"/>
              </a:lnSpc>
              <a:tabLst>
                <a:tab pos="264668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Ex. </a:t>
            </a:r>
            <a:r>
              <a:rPr sz="1800" dirty="0">
                <a:latin typeface="Lucida Sans Unicode"/>
                <a:cs typeface="Lucida Sans Unicode"/>
              </a:rPr>
              <a:t>Consider</a:t>
            </a:r>
            <a:r>
              <a:rPr sz="1800" spc="30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spc="-25" dirty="0">
                <a:latin typeface="Times New Roman"/>
                <a:cs typeface="Times New Roman"/>
              </a:rPr>
              <a:t>5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25462" dirty="0">
                <a:latin typeface="Times New Roman"/>
                <a:cs typeface="Times New Roman"/>
              </a:rPr>
              <a:t>3</a:t>
            </a:r>
            <a:r>
              <a:rPr sz="1800" baseline="25462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g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2</a:t>
            </a:r>
            <a:r>
              <a:rPr sz="1800" spc="382" baseline="25462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2960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We have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spc="-2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 marL="171450">
              <a:lnSpc>
                <a:spcPts val="3135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Thus,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spc="-2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267" y="3755940"/>
            <a:ext cx="8134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966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Domain.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domain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typically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natural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241" y="3884581"/>
            <a:ext cx="6910070" cy="8966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Sometimes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restrict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natural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numbers.</a:t>
            </a:r>
            <a:endParaRPr sz="1800">
              <a:latin typeface="Lucida Sans Unicode"/>
              <a:cs typeface="Lucida Sans Unicode"/>
            </a:endParaRPr>
          </a:p>
          <a:p>
            <a:pPr marL="381000">
              <a:lnSpc>
                <a:spcPct val="100000"/>
              </a:lnSpc>
              <a:spcBef>
                <a:spcPts val="484"/>
              </a:spcBef>
            </a:pPr>
            <a:r>
              <a:rPr sz="1800" dirty="0">
                <a:latin typeface="Lucida Sans Unicode"/>
                <a:cs typeface="Lucida Sans Unicode"/>
              </a:rPr>
              <a:t>Other times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dirty="0">
                <a:latin typeface="Lucida Sans Unicode"/>
                <a:cs typeface="Lucida Sans Unicode"/>
              </a:rPr>
              <a:t> extend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the </a:t>
            </a:r>
            <a:r>
              <a:rPr sz="1800" spc="-10" dirty="0">
                <a:latin typeface="Lucida Sans Unicode"/>
                <a:cs typeface="Lucida Sans Unicode"/>
              </a:rPr>
              <a:t>reals.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5117881"/>
            <a:ext cx="818134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73939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Nonnegative</a:t>
            </a:r>
            <a:r>
              <a:rPr sz="1800" spc="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functions.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When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85" dirty="0">
                <a:latin typeface="Lucida Sans Unicode"/>
                <a:cs typeface="Lucida Sans Unicode"/>
              </a:rPr>
              <a:t>big-</a:t>
            </a:r>
            <a:r>
              <a:rPr sz="1800" spc="-60" dirty="0">
                <a:latin typeface="Lucida Sans Unicode"/>
                <a:cs typeface="Lucida Sans Unicode"/>
              </a:rPr>
              <a:t>Oh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notation,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assume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the </a:t>
            </a:r>
            <a:r>
              <a:rPr sz="1800" dirty="0">
                <a:latin typeface="Lucida Sans Unicode"/>
                <a:cs typeface="Lucida Sans Unicode"/>
              </a:rPr>
              <a:t>functions</a:t>
            </a:r>
            <a:r>
              <a:rPr sz="1800" spc="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involved</a:t>
            </a:r>
            <a:r>
              <a:rPr sz="1800" spc="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5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(asymptotically)</a:t>
            </a:r>
            <a:r>
              <a:rPr sz="1800" spc="6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nonnegative.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6655310"/>
            <a:ext cx="6232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114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OK to abuse notation; not OK to misuse </a:t>
            </a:r>
            <a:r>
              <a:rPr sz="1800" spc="-25" dirty="0">
                <a:latin typeface="Lucida Sans Unicode"/>
                <a:cs typeface="Lucida Sans Unicode"/>
              </a:rPr>
              <a:t>it.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Notational</a:t>
            </a:r>
            <a:r>
              <a:rPr spc="95" dirty="0"/>
              <a:t> </a:t>
            </a:r>
            <a:r>
              <a:rPr spc="-25" dirty="0"/>
              <a:t>abuses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Big-</a:t>
            </a:r>
            <a:r>
              <a:rPr spc="60" dirty="0"/>
              <a:t>Omega</a:t>
            </a:r>
            <a:r>
              <a:rPr spc="11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2531337"/>
            <a:ext cx="332867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both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Ω(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893759"/>
            <a:ext cx="414718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3</a:t>
            </a:r>
            <a:r>
              <a:rPr sz="1800" spc="217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267" y="4030617"/>
            <a:ext cx="795274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7303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compare-</a:t>
            </a:r>
            <a:r>
              <a:rPr sz="1800" spc="-60" dirty="0">
                <a:latin typeface="Lucida Sans Unicode"/>
                <a:cs typeface="Lucida Sans Unicode"/>
              </a:rPr>
              <a:t>based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requires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worst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case.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5480302"/>
            <a:ext cx="797496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78320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Meaningless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statement.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compare-</a:t>
            </a:r>
            <a:r>
              <a:rPr sz="1800" spc="-60" dirty="0">
                <a:latin typeface="Lucida Sans Unicode"/>
                <a:cs typeface="Lucida Sans Unicode"/>
              </a:rPr>
              <a:t>based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requires </a:t>
            </a:r>
            <a:r>
              <a:rPr sz="1800" dirty="0">
                <a:latin typeface="Lucida Sans Unicode"/>
                <a:cs typeface="Lucida Sans Unicode"/>
              </a:rPr>
              <a:t>at least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O(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 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worst </a:t>
            </a:r>
            <a:r>
              <a:rPr sz="1800" spc="-10" dirty="0">
                <a:latin typeface="Lucida Sans Unicode"/>
                <a:cs typeface="Lucida Sans Unicode"/>
              </a:rPr>
              <a:t>case.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9134" y="2735717"/>
            <a:ext cx="16084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32, 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48942" y="2807270"/>
            <a:ext cx="372745" cy="92075"/>
            <a:chOff x="4448942" y="2807270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4508074" y="2853049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48942" y="280727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8"/>
                  </a:lnTo>
                  <a:lnTo>
                    <a:pt x="91559" y="91558"/>
                  </a:lnTo>
                  <a:lnTo>
                    <a:pt x="68670" y="45778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4467" y="1131247"/>
            <a:ext cx="8670925" cy="10217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801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Lower</a:t>
            </a:r>
            <a:r>
              <a:rPr sz="1800" spc="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R="17780" algn="r">
              <a:lnSpc>
                <a:spcPct val="100000"/>
              </a:lnSpc>
              <a:spcBef>
                <a:spcPts val="695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3" name="object 23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095263" y="2439778"/>
            <a:ext cx="4533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Big-</a:t>
            </a:r>
            <a:r>
              <a:rPr dirty="0"/>
              <a:t>Theta</a:t>
            </a:r>
            <a:r>
              <a:rPr spc="-10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131247"/>
            <a:ext cx="8406765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90"/>
              </a:spcBef>
              <a:tabLst>
                <a:tab pos="174117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Tight</a:t>
            </a:r>
            <a:r>
              <a:rPr sz="18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2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 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2893759"/>
            <a:ext cx="3554729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4843204"/>
            <a:ext cx="7974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03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Mergesort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makes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0352" y="2726179"/>
            <a:ext cx="22987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spc="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32, c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800" spc="1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50,</a:t>
            </a:r>
            <a:r>
              <a:rPr sz="1800" spc="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22672" y="2797732"/>
            <a:ext cx="372745" cy="92075"/>
            <a:chOff x="2722672" y="2797732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2781804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72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8" y="0"/>
                  </a:moveTo>
                  <a:lnTo>
                    <a:pt x="0" y="45779"/>
                  </a:lnTo>
                  <a:lnTo>
                    <a:pt x="91558" y="91559"/>
                  </a:lnTo>
                  <a:lnTo>
                    <a:pt x="68668" y="45779"/>
                  </a:lnTo>
                  <a:lnTo>
                    <a:pt x="9155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82751" y="1027955"/>
                  </a:lnTo>
                  <a:lnTo>
                    <a:pt x="281426" y="869459"/>
                  </a:lnTo>
                  <a:lnTo>
                    <a:pt x="521652" y="745820"/>
                  </a:lnTo>
                  <a:lnTo>
                    <a:pt x="729059" y="772012"/>
                  </a:lnTo>
                  <a:lnTo>
                    <a:pt x="999672" y="741440"/>
                  </a:lnTo>
                  <a:lnTo>
                    <a:pt x="1346928" y="466055"/>
                  </a:lnTo>
                  <a:lnTo>
                    <a:pt x="1646474" y="1506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77781" y="2986559"/>
              <a:ext cx="0" cy="629920"/>
            </a:xfrm>
            <a:custGeom>
              <a:avLst/>
              <a:gdLst/>
              <a:ahLst/>
              <a:cxnLst/>
              <a:rect l="l" t="t" r="r" b="b"/>
              <a:pathLst>
                <a:path h="629920">
                  <a:moveTo>
                    <a:pt x="0" y="0"/>
                  </a:moveTo>
                  <a:lnTo>
                    <a:pt x="0" y="629481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67907" y="2643299"/>
              <a:ext cx="1774189" cy="641985"/>
            </a:xfrm>
            <a:custGeom>
              <a:avLst/>
              <a:gdLst/>
              <a:ahLst/>
              <a:cxnLst/>
              <a:rect l="l" t="t" r="r" b="b"/>
              <a:pathLst>
                <a:path w="1774190" h="641985">
                  <a:moveTo>
                    <a:pt x="0" y="472439"/>
                  </a:moveTo>
                  <a:lnTo>
                    <a:pt x="73632" y="496166"/>
                  </a:lnTo>
                  <a:lnTo>
                    <a:pt x="242007" y="549106"/>
                  </a:lnTo>
                  <a:lnTo>
                    <a:pt x="426343" y="603892"/>
                  </a:lnTo>
                  <a:lnTo>
                    <a:pt x="547860" y="633157"/>
                  </a:lnTo>
                  <a:lnTo>
                    <a:pt x="597303" y="637995"/>
                  </a:lnTo>
                  <a:lnTo>
                    <a:pt x="662036" y="641249"/>
                  </a:lnTo>
                  <a:lnTo>
                    <a:pt x="699067" y="641412"/>
                  </a:lnTo>
                  <a:lnTo>
                    <a:pt x="738640" y="640137"/>
                  </a:lnTo>
                  <a:lnTo>
                    <a:pt x="780327" y="637076"/>
                  </a:lnTo>
                  <a:lnTo>
                    <a:pt x="823700" y="631880"/>
                  </a:lnTo>
                  <a:lnTo>
                    <a:pt x="868333" y="624203"/>
                  </a:lnTo>
                  <a:lnTo>
                    <a:pt x="913798" y="613695"/>
                  </a:lnTo>
                  <a:lnTo>
                    <a:pt x="959669" y="600011"/>
                  </a:lnTo>
                  <a:lnTo>
                    <a:pt x="1005518" y="582802"/>
                  </a:lnTo>
                  <a:lnTo>
                    <a:pt x="1050917" y="561720"/>
                  </a:lnTo>
                  <a:lnTo>
                    <a:pt x="1095441" y="536418"/>
                  </a:lnTo>
                  <a:lnTo>
                    <a:pt x="1138662" y="506548"/>
                  </a:lnTo>
                  <a:lnTo>
                    <a:pt x="1180152" y="471762"/>
                  </a:lnTo>
                  <a:lnTo>
                    <a:pt x="1219485" y="431713"/>
                  </a:lnTo>
                  <a:lnTo>
                    <a:pt x="1256233" y="386054"/>
                  </a:lnTo>
                  <a:lnTo>
                    <a:pt x="1289970" y="334435"/>
                  </a:lnTo>
                  <a:lnTo>
                    <a:pt x="1320268" y="276511"/>
                  </a:lnTo>
                  <a:lnTo>
                    <a:pt x="1343625" y="234550"/>
                  </a:lnTo>
                  <a:lnTo>
                    <a:pt x="1370139" y="201016"/>
                  </a:lnTo>
                  <a:lnTo>
                    <a:pt x="1399474" y="174550"/>
                  </a:lnTo>
                  <a:lnTo>
                    <a:pt x="1465260" y="137393"/>
                  </a:lnTo>
                  <a:lnTo>
                    <a:pt x="1501038" y="123987"/>
                  </a:lnTo>
                  <a:lnTo>
                    <a:pt x="1538292" y="112220"/>
                  </a:lnTo>
                  <a:lnTo>
                    <a:pt x="1576684" y="100733"/>
                  </a:lnTo>
                  <a:lnTo>
                    <a:pt x="1615879" y="88170"/>
                  </a:lnTo>
                  <a:lnTo>
                    <a:pt x="1655540" y="73172"/>
                  </a:lnTo>
                  <a:lnTo>
                    <a:pt x="1695331" y="54383"/>
                  </a:lnTo>
                  <a:lnTo>
                    <a:pt x="1734915" y="304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02422" y="2086894"/>
            <a:ext cx="288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80867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44430" y="2477927"/>
            <a:ext cx="555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baseline="-6944" dirty="0">
                <a:latin typeface="Times New Roman"/>
                <a:cs typeface="Times New Roman"/>
              </a:rPr>
              <a:t>1</a:t>
            </a:r>
            <a:r>
              <a:rPr sz="1200" spc="142" baseline="-6944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52939" y="1855728"/>
            <a:ext cx="1793239" cy="1198880"/>
          </a:xfrm>
          <a:custGeom>
            <a:avLst/>
            <a:gdLst/>
            <a:ahLst/>
            <a:cxnLst/>
            <a:rect l="l" t="t" r="r" b="b"/>
            <a:pathLst>
              <a:path w="1793240" h="1198880">
                <a:moveTo>
                  <a:pt x="1793031" y="0"/>
                </a:moveTo>
                <a:lnTo>
                  <a:pt x="1749716" y="53945"/>
                </a:lnTo>
                <a:lnTo>
                  <a:pt x="1651343" y="176264"/>
                </a:lnTo>
                <a:lnTo>
                  <a:pt x="1545271" y="307677"/>
                </a:lnTo>
                <a:lnTo>
                  <a:pt x="1478857" y="388905"/>
                </a:lnTo>
                <a:lnTo>
                  <a:pt x="1469438" y="400231"/>
                </a:lnTo>
                <a:lnTo>
                  <a:pt x="1456851" y="415618"/>
                </a:lnTo>
                <a:lnTo>
                  <a:pt x="1422844" y="457301"/>
                </a:lnTo>
                <a:lnTo>
                  <a:pt x="1378181" y="511398"/>
                </a:lnTo>
                <a:lnTo>
                  <a:pt x="1352275" y="542303"/>
                </a:lnTo>
                <a:lnTo>
                  <a:pt x="1324208" y="575352"/>
                </a:lnTo>
                <a:lnTo>
                  <a:pt x="1294151" y="610226"/>
                </a:lnTo>
                <a:lnTo>
                  <a:pt x="1262270" y="646606"/>
                </a:lnTo>
                <a:lnTo>
                  <a:pt x="1228734" y="684172"/>
                </a:lnTo>
                <a:lnTo>
                  <a:pt x="1193712" y="722603"/>
                </a:lnTo>
                <a:lnTo>
                  <a:pt x="1157371" y="761582"/>
                </a:lnTo>
                <a:lnTo>
                  <a:pt x="1119879" y="800787"/>
                </a:lnTo>
                <a:lnTo>
                  <a:pt x="1081404" y="839900"/>
                </a:lnTo>
                <a:lnTo>
                  <a:pt x="1042116" y="878600"/>
                </a:lnTo>
                <a:lnTo>
                  <a:pt x="1002181" y="916569"/>
                </a:lnTo>
                <a:lnTo>
                  <a:pt x="961769" y="953486"/>
                </a:lnTo>
                <a:lnTo>
                  <a:pt x="921047" y="989033"/>
                </a:lnTo>
                <a:lnTo>
                  <a:pt x="880183" y="1022888"/>
                </a:lnTo>
                <a:lnTo>
                  <a:pt x="839345" y="1054734"/>
                </a:lnTo>
                <a:lnTo>
                  <a:pt x="798703" y="1084250"/>
                </a:lnTo>
                <a:lnTo>
                  <a:pt x="758423" y="1111116"/>
                </a:lnTo>
                <a:lnTo>
                  <a:pt x="718674" y="1135013"/>
                </a:lnTo>
                <a:lnTo>
                  <a:pt x="679624" y="1155622"/>
                </a:lnTo>
                <a:lnTo>
                  <a:pt x="641442" y="1172623"/>
                </a:lnTo>
                <a:lnTo>
                  <a:pt x="604295" y="1185696"/>
                </a:lnTo>
                <a:lnTo>
                  <a:pt x="533779" y="1198779"/>
                </a:lnTo>
                <a:lnTo>
                  <a:pt x="500748" y="1198151"/>
                </a:lnTo>
                <a:lnTo>
                  <a:pt x="439976" y="1180956"/>
                </a:lnTo>
                <a:lnTo>
                  <a:pt x="387382" y="1140380"/>
                </a:lnTo>
                <a:lnTo>
                  <a:pt x="348446" y="1097585"/>
                </a:lnTo>
                <a:lnTo>
                  <a:pt x="312636" y="1059734"/>
                </a:lnTo>
                <a:lnTo>
                  <a:pt x="279159" y="1027455"/>
                </a:lnTo>
                <a:lnTo>
                  <a:pt x="247221" y="1001373"/>
                </a:lnTo>
                <a:lnTo>
                  <a:pt x="184780" y="970312"/>
                </a:lnTo>
                <a:lnTo>
                  <a:pt x="152691" y="966586"/>
                </a:lnTo>
                <a:lnTo>
                  <a:pt x="118962" y="971566"/>
                </a:lnTo>
                <a:lnTo>
                  <a:pt x="82800" y="985878"/>
                </a:lnTo>
                <a:lnTo>
                  <a:pt x="43411" y="1010149"/>
                </a:lnTo>
                <a:lnTo>
                  <a:pt x="0" y="1045007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53966" y="1762623"/>
            <a:ext cx="555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baseline="-6944" dirty="0">
                <a:latin typeface="Times New Roman"/>
                <a:cs typeface="Times New Roman"/>
              </a:rPr>
              <a:t>2</a:t>
            </a:r>
            <a:r>
              <a:rPr sz="1200" spc="142" baseline="-6944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Useful</a:t>
            </a:r>
            <a:r>
              <a:rPr spc="-35" dirty="0"/>
              <a:t> </a:t>
            </a:r>
            <a:r>
              <a:rPr spc="-20" dirty="0"/>
              <a:t>facts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16503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717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25" dirty="0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1943833"/>
            <a:ext cx="8049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6545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definition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limit, there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39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such such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endParaRPr sz="1800" baseline="-185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2541" y="3256180"/>
            <a:ext cx="7878445" cy="827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  <a:tabLst>
                <a:tab pos="5742305" algn="l"/>
              </a:tabLst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Thus,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1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g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5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implies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g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  <a:tabLst>
                <a:tab pos="1562735" algn="l"/>
                <a:tab pos="2343150" algn="l"/>
                <a:tab pos="6354445" algn="l"/>
              </a:tabLst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spc="-10" dirty="0">
                <a:latin typeface="Lucida Sans Unicode"/>
                <a:cs typeface="Lucida Sans Unicode"/>
              </a:rPr>
              <a:t>Similarly,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≥</a:t>
            </a:r>
            <a:r>
              <a:rPr sz="1800" dirty="0">
                <a:latin typeface="Times New Roman"/>
                <a:cs typeface="Times New Roman"/>
              </a:rPr>
              <a:t>	½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1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g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59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implies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Ω(</a:t>
            </a:r>
            <a:r>
              <a:rPr sz="1800" i="1" spc="-10" dirty="0">
                <a:latin typeface="Times New Roman"/>
                <a:cs typeface="Times New Roman"/>
              </a:rPr>
              <a:t>g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267" y="4843204"/>
            <a:ext cx="165036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717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Proposition.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25" dirty="0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26040" y="1234631"/>
            <a:ext cx="461645" cy="384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85090">
              <a:lnSpc>
                <a:spcPts val="1695"/>
              </a:lnSpc>
              <a:spcBef>
                <a:spcPts val="125"/>
              </a:spcBef>
            </a:pPr>
            <a:r>
              <a:rPr sz="1600" spc="65" dirty="0">
                <a:latin typeface="Calibri"/>
                <a:cs typeface="Calibri"/>
              </a:rPr>
              <a:t>lim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095"/>
              </a:lnSpc>
            </a:pPr>
            <a:r>
              <a:rPr sz="1100" i="1" spc="290" dirty="0">
                <a:latin typeface="Calibri"/>
                <a:cs typeface="Calibri"/>
              </a:rPr>
              <a:t>n</a:t>
            </a:r>
            <a:r>
              <a:rPr sz="1100" i="1" spc="290" dirty="0">
                <a:latin typeface="Arial"/>
                <a:cs typeface="Arial"/>
              </a:rPr>
              <a:t>→∞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0179" y="1094887"/>
            <a:ext cx="43815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i="1" spc="310" dirty="0">
                <a:latin typeface="Calibri"/>
                <a:cs typeface="Calibri"/>
              </a:rPr>
              <a:t>f</a:t>
            </a:r>
            <a:r>
              <a:rPr sz="1600" i="1" spc="-185" dirty="0">
                <a:latin typeface="Calibri"/>
                <a:cs typeface="Calibri"/>
              </a:rPr>
              <a:t> </a:t>
            </a:r>
            <a:r>
              <a:rPr sz="1600" spc="120" dirty="0">
                <a:latin typeface="Calibri"/>
                <a:cs typeface="Calibri"/>
              </a:rPr>
              <a:t>(</a:t>
            </a:r>
            <a:r>
              <a:rPr sz="1600" i="1" spc="120" dirty="0">
                <a:latin typeface="Calibri"/>
                <a:cs typeface="Calibri"/>
              </a:rPr>
              <a:t>n</a:t>
            </a:r>
            <a:r>
              <a:rPr sz="1600" spc="12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92879" y="1402065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>
                <a:moveTo>
                  <a:pt x="0" y="0"/>
                </a:moveTo>
                <a:lnTo>
                  <a:pt x="412616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88984" y="1376241"/>
            <a:ext cx="420370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i="1" spc="90" dirty="0">
                <a:latin typeface="Calibri"/>
                <a:cs typeface="Calibri"/>
              </a:rPr>
              <a:t>g</a:t>
            </a:r>
            <a:r>
              <a:rPr sz="1600" spc="90" dirty="0">
                <a:latin typeface="Calibri"/>
                <a:cs typeface="Calibri"/>
              </a:rPr>
              <a:t>(</a:t>
            </a:r>
            <a:r>
              <a:rPr sz="1600" i="1" spc="90" dirty="0">
                <a:latin typeface="Calibri"/>
                <a:cs typeface="Calibri"/>
              </a:rPr>
              <a:t>n</a:t>
            </a:r>
            <a:r>
              <a:rPr sz="1600" spc="9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33898" y="1234631"/>
            <a:ext cx="39433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470" dirty="0">
                <a:latin typeface="Calibri"/>
                <a:cs typeface="Calibri"/>
              </a:rPr>
              <a:t>=</a:t>
            </a:r>
            <a:r>
              <a:rPr sz="1600" spc="90" dirty="0">
                <a:latin typeface="Calibri"/>
                <a:cs typeface="Calibri"/>
              </a:rPr>
              <a:t>  </a:t>
            </a:r>
            <a:r>
              <a:rPr sz="1600" i="1" spc="-50" dirty="0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8669" y="1218991"/>
            <a:ext cx="2617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705" baseline="1736" dirty="0">
                <a:latin typeface="Calibri"/>
                <a:cs typeface="Calibri"/>
              </a:rPr>
              <a:t>&gt;</a:t>
            </a:r>
            <a:r>
              <a:rPr sz="2400" i="1" spc="142" baseline="1736" dirty="0">
                <a:latin typeface="Calibri"/>
                <a:cs typeface="Calibri"/>
              </a:rPr>
              <a:t>  </a:t>
            </a:r>
            <a:r>
              <a:rPr sz="2400" baseline="1736" dirty="0">
                <a:latin typeface="Calibri"/>
                <a:cs typeface="Calibri"/>
              </a:rPr>
              <a:t>0</a:t>
            </a:r>
            <a:r>
              <a:rPr sz="2400" spc="-89" baseline="1736" dirty="0">
                <a:latin typeface="Calibri"/>
                <a:cs typeface="Calibri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, then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g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61233" y="2697465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24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34941" y="2697465"/>
            <a:ext cx="412750" cy="0"/>
          </a:xfrm>
          <a:custGeom>
            <a:avLst/>
            <a:gdLst/>
            <a:ahLst/>
            <a:cxnLst/>
            <a:rect l="l" t="t" r="r" b="b"/>
            <a:pathLst>
              <a:path w="412750">
                <a:moveTo>
                  <a:pt x="0" y="0"/>
                </a:moveTo>
                <a:lnTo>
                  <a:pt x="412268" y="0"/>
                </a:lnTo>
              </a:path>
            </a:pathLst>
          </a:custGeom>
          <a:ln w="8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48533" y="2356815"/>
            <a:ext cx="1111250" cy="5886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685800" indent="-673100">
              <a:lnSpc>
                <a:spcPct val="100000"/>
              </a:lnSpc>
              <a:spcBef>
                <a:spcPts val="390"/>
              </a:spcBef>
              <a:buFont typeface="Calibri"/>
              <a:buAutoNum type="arabicPlain"/>
              <a:tabLst>
                <a:tab pos="685800" algn="l"/>
              </a:tabLst>
            </a:pPr>
            <a:r>
              <a:rPr sz="1600" i="1" spc="310" dirty="0">
                <a:latin typeface="Calibri"/>
                <a:cs typeface="Calibri"/>
              </a:rPr>
              <a:t>f</a:t>
            </a:r>
            <a:r>
              <a:rPr sz="1600" i="1" spc="-185" dirty="0">
                <a:latin typeface="Calibri"/>
                <a:cs typeface="Calibri"/>
              </a:rPr>
              <a:t> </a:t>
            </a:r>
            <a:r>
              <a:rPr sz="1600" spc="120" dirty="0">
                <a:latin typeface="Calibri"/>
                <a:cs typeface="Calibri"/>
              </a:rPr>
              <a:t>(</a:t>
            </a:r>
            <a:r>
              <a:rPr sz="1600" i="1" spc="120" dirty="0">
                <a:latin typeface="Calibri"/>
                <a:cs typeface="Calibri"/>
              </a:rPr>
              <a:t>n</a:t>
            </a:r>
            <a:r>
              <a:rPr sz="1600" spc="12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694690" indent="-681990">
              <a:lnSpc>
                <a:spcPct val="100000"/>
              </a:lnSpc>
              <a:spcBef>
                <a:spcPts val="295"/>
              </a:spcBef>
              <a:buFont typeface="Calibri"/>
              <a:buAutoNum type="arabicPlain"/>
              <a:tabLst>
                <a:tab pos="694690" algn="l"/>
              </a:tabLst>
            </a:pPr>
            <a:r>
              <a:rPr sz="1600" i="1" spc="90" dirty="0">
                <a:latin typeface="Calibri"/>
                <a:cs typeface="Calibri"/>
              </a:rPr>
              <a:t>g</a:t>
            </a:r>
            <a:r>
              <a:rPr sz="1600" spc="90" dirty="0">
                <a:latin typeface="Calibri"/>
                <a:cs typeface="Calibri"/>
              </a:rPr>
              <a:t>(</a:t>
            </a:r>
            <a:r>
              <a:rPr sz="1600" i="1" spc="90" dirty="0">
                <a:latin typeface="Calibri"/>
                <a:cs typeface="Calibri"/>
              </a:rPr>
              <a:t>n</a:t>
            </a:r>
            <a:r>
              <a:rPr sz="1600" spc="90" dirty="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12770" y="2530031"/>
            <a:ext cx="1595755" cy="273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5055" algn="l"/>
              </a:tabLst>
            </a:pPr>
            <a:r>
              <a:rPr sz="1600" i="1" dirty="0">
                <a:latin typeface="Calibri"/>
                <a:cs typeface="Calibri"/>
              </a:rPr>
              <a:t>c</a:t>
            </a:r>
            <a:r>
              <a:rPr sz="1600" i="1" spc="114" dirty="0">
                <a:latin typeface="Calibri"/>
                <a:cs typeface="Calibri"/>
              </a:rPr>
              <a:t>  </a:t>
            </a:r>
            <a:r>
              <a:rPr sz="1600" i="1" spc="420" dirty="0">
                <a:latin typeface="Calibri"/>
                <a:cs typeface="Calibri"/>
              </a:rPr>
              <a:t>&lt;</a:t>
            </a:r>
            <a:r>
              <a:rPr sz="1600" i="1" dirty="0">
                <a:latin typeface="Calibri"/>
                <a:cs typeface="Calibri"/>
              </a:rPr>
              <a:t>	</a:t>
            </a:r>
            <a:r>
              <a:rPr sz="1600" i="1" spc="470" dirty="0">
                <a:latin typeface="Calibri"/>
                <a:cs typeface="Calibri"/>
              </a:rPr>
              <a:t>&lt;</a:t>
            </a:r>
            <a:r>
              <a:rPr sz="1600" i="1" spc="95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c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9078" y="4881881"/>
            <a:ext cx="467995" cy="3943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6360">
              <a:lnSpc>
                <a:spcPts val="1739"/>
              </a:lnSpc>
              <a:spcBef>
                <a:spcPts val="114"/>
              </a:spcBef>
            </a:pPr>
            <a:r>
              <a:rPr sz="1650" spc="55" dirty="0">
                <a:latin typeface="Calibri"/>
                <a:cs typeface="Calibri"/>
              </a:rPr>
              <a:t>lim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ts val="1140"/>
              </a:lnSpc>
            </a:pPr>
            <a:r>
              <a:rPr sz="1150" i="1" spc="275" dirty="0">
                <a:latin typeface="Calibri"/>
                <a:cs typeface="Calibri"/>
              </a:rPr>
              <a:t>n</a:t>
            </a:r>
            <a:r>
              <a:rPr sz="1150" i="1" spc="275" dirty="0">
                <a:latin typeface="Arial"/>
                <a:cs typeface="Arial"/>
              </a:rPr>
              <a:t>→∞</a:t>
            </a:r>
            <a:endParaRPr sz="1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20451" y="4738555"/>
            <a:ext cx="443865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i="1" spc="310" dirty="0">
                <a:latin typeface="Calibri"/>
                <a:cs typeface="Calibri"/>
              </a:rPr>
              <a:t>f</a:t>
            </a:r>
            <a:r>
              <a:rPr sz="1650" i="1" spc="-195" dirty="0">
                <a:latin typeface="Calibri"/>
                <a:cs typeface="Calibri"/>
              </a:rPr>
              <a:t> </a:t>
            </a:r>
            <a:r>
              <a:rPr sz="1650" spc="114" dirty="0">
                <a:latin typeface="Calibri"/>
                <a:cs typeface="Calibri"/>
              </a:rPr>
              <a:t>(</a:t>
            </a:r>
            <a:r>
              <a:rPr sz="1650" i="1" spc="114" dirty="0">
                <a:latin typeface="Calibri"/>
                <a:cs typeface="Calibri"/>
              </a:rPr>
              <a:t>n</a:t>
            </a:r>
            <a:r>
              <a:rPr sz="1650" spc="114" dirty="0">
                <a:latin typeface="Calibri"/>
                <a:cs typeface="Calibri"/>
              </a:rPr>
              <a:t>)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33151" y="5053283"/>
            <a:ext cx="418465" cy="0"/>
          </a:xfrm>
          <a:custGeom>
            <a:avLst/>
            <a:gdLst/>
            <a:ahLst/>
            <a:cxnLst/>
            <a:rect l="l" t="t" r="r" b="b"/>
            <a:pathLst>
              <a:path w="418464">
                <a:moveTo>
                  <a:pt x="0" y="0"/>
                </a:moveTo>
                <a:lnTo>
                  <a:pt x="418003" y="0"/>
                </a:lnTo>
              </a:path>
            </a:pathLst>
          </a:custGeom>
          <a:ln w="84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029372" y="5027122"/>
            <a:ext cx="426084" cy="2800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50" i="1" spc="85" dirty="0">
                <a:latin typeface="Calibri"/>
                <a:cs typeface="Calibri"/>
              </a:rPr>
              <a:t>g</a:t>
            </a:r>
            <a:r>
              <a:rPr sz="1650" spc="85" dirty="0">
                <a:latin typeface="Calibri"/>
                <a:cs typeface="Calibri"/>
              </a:rPr>
              <a:t>(</a:t>
            </a:r>
            <a:r>
              <a:rPr sz="1650" i="1" spc="85" dirty="0">
                <a:latin typeface="Calibri"/>
                <a:cs typeface="Calibri"/>
              </a:rPr>
              <a:t>n</a:t>
            </a:r>
            <a:r>
              <a:rPr sz="1650" spc="85" dirty="0">
                <a:latin typeface="Calibri"/>
                <a:cs typeface="Calibri"/>
              </a:rPr>
              <a:t>)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3555999" y="4843204"/>
            <a:ext cx="26993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spc="690" baseline="-5050" dirty="0">
                <a:latin typeface="Calibri"/>
                <a:cs typeface="Calibri"/>
              </a:rPr>
              <a:t>=</a:t>
            </a:r>
            <a:r>
              <a:rPr sz="2475" spc="127" baseline="-5050" dirty="0">
                <a:latin typeface="Calibri"/>
                <a:cs typeface="Calibri"/>
              </a:rPr>
              <a:t>  </a:t>
            </a:r>
            <a:r>
              <a:rPr sz="2475" baseline="-5050" dirty="0">
                <a:latin typeface="Calibri"/>
                <a:cs typeface="Calibri"/>
              </a:rPr>
              <a:t>0</a:t>
            </a:r>
            <a:r>
              <a:rPr sz="2475" spc="209" baseline="-5050" dirty="0">
                <a:latin typeface="Calibri"/>
                <a:cs typeface="Calibri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then </a:t>
            </a:r>
            <a:r>
              <a:rPr sz="1800" i="1" dirty="0">
                <a:latin typeface="Times New Roman"/>
                <a:cs typeface="Times New Roman"/>
              </a:rPr>
              <a:t>f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g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Asymptotic</a:t>
            </a:r>
            <a:r>
              <a:rPr spc="50" dirty="0"/>
              <a:t> </a:t>
            </a:r>
            <a:r>
              <a:rPr dirty="0"/>
              <a:t>bounds</a:t>
            </a:r>
            <a:r>
              <a:rPr spc="50" dirty="0"/>
              <a:t> </a:t>
            </a:r>
            <a:r>
              <a:rPr spc="75" dirty="0"/>
              <a:t>for</a:t>
            </a:r>
            <a:r>
              <a:rPr spc="55" dirty="0"/>
              <a:t> </a:t>
            </a:r>
            <a:r>
              <a:rPr dirty="0"/>
              <a:t>some</a:t>
            </a:r>
            <a:r>
              <a:rPr spc="50" dirty="0"/>
              <a:t> </a:t>
            </a:r>
            <a:r>
              <a:rPr dirty="0"/>
              <a:t>common</a:t>
            </a:r>
            <a:r>
              <a:rPr spc="55" dirty="0"/>
              <a:t> </a:t>
            </a:r>
            <a:r>
              <a:rPr spc="-10" dirty="0"/>
              <a:t>functions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218991"/>
            <a:ext cx="8108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89405" algn="l"/>
                <a:tab pos="473456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Let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225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18518" dirty="0">
                <a:latin typeface="Times New Roman"/>
                <a:cs typeface="Times New Roman"/>
              </a:rPr>
              <a:t>1 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… +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i="1" baseline="-18518" dirty="0">
                <a:latin typeface="Times New Roman"/>
                <a:cs typeface="Times New Roman"/>
              </a:rPr>
              <a:t>d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i="1" spc="-37" baseline="23148" dirty="0">
                <a:latin typeface="Times New Roman"/>
                <a:cs typeface="Times New Roman"/>
              </a:rPr>
              <a:t>d</a:t>
            </a:r>
            <a:r>
              <a:rPr sz="1800" i="1" baseline="23148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with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i="1" baseline="-18518" dirty="0">
                <a:latin typeface="Times New Roman"/>
                <a:cs typeface="Times New Roman"/>
              </a:rPr>
              <a:t>d</a:t>
            </a:r>
            <a:r>
              <a:rPr sz="1800" i="1" spc="705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4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.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Then,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i="1" spc="-15" baseline="23148" dirty="0">
                <a:latin typeface="Times New Roman"/>
                <a:cs typeface="Times New Roman"/>
              </a:rPr>
              <a:t>d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1943833"/>
            <a:ext cx="30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9867" y="3031097"/>
            <a:ext cx="64897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0431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Logarithms.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Θ(log</a:t>
            </a:r>
            <a:r>
              <a:rPr sz="1800" i="1" baseline="-18518" dirty="0">
                <a:latin typeface="Times New Roman"/>
                <a:cs typeface="Times New Roman"/>
              </a:rPr>
              <a:t>a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dirty="0">
                <a:latin typeface="Times New Roman"/>
                <a:cs typeface="Times New Roman"/>
              </a:rPr>
              <a:t>Θ(log</a:t>
            </a:r>
            <a:r>
              <a:rPr sz="1800" i="1" baseline="-18518" dirty="0">
                <a:latin typeface="Times New Roman"/>
                <a:cs typeface="Times New Roman"/>
              </a:rPr>
              <a:t>b</a:t>
            </a:r>
            <a:r>
              <a:rPr sz="1800" i="1" spc="7" baseline="-18518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b</a:t>
            </a:r>
            <a:r>
              <a:rPr sz="1800" i="1" spc="4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867" y="4118361"/>
            <a:ext cx="6618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1376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Logarithms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every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d</a:t>
            </a:r>
            <a:r>
              <a:rPr sz="1800" i="1" spc="4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0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40" dirty="0">
                <a:latin typeface="Times New Roman"/>
                <a:cs typeface="Times New Roman"/>
              </a:rPr>
              <a:t> </a:t>
            </a:r>
            <a:r>
              <a:rPr sz="1800" i="1" spc="-37" baseline="23148" dirty="0">
                <a:latin typeface="Times New Roman"/>
                <a:cs typeface="Times New Roman"/>
              </a:rPr>
              <a:t>d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5568046"/>
            <a:ext cx="65424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04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Exponentials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and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polynomials.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every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i="1" spc="3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1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every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i="1" spc="-50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51286" y="5568046"/>
            <a:ext cx="17329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55625" algn="l"/>
              </a:tabLst>
            </a:pPr>
            <a:r>
              <a:rPr sz="1800" dirty="0">
                <a:latin typeface="Times New Roman"/>
                <a:cs typeface="Times New Roman"/>
              </a:rPr>
              <a:t>&gt; </a:t>
            </a:r>
            <a:r>
              <a:rPr sz="1800" spc="-25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,</a:t>
            </a:r>
            <a:r>
              <a:rPr sz="1800" dirty="0"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baseline="23148" dirty="0">
                <a:latin typeface="Times New Roman"/>
                <a:cs typeface="Times New Roman"/>
              </a:rPr>
              <a:t>d</a:t>
            </a:r>
            <a:r>
              <a:rPr sz="1800" i="1" spc="225" baseline="23148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i="1" spc="-37" baseline="23148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267" y="6292889"/>
            <a:ext cx="3086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92211" y="3003120"/>
            <a:ext cx="1974214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96520">
              <a:lnSpc>
                <a:spcPct val="104299"/>
              </a:lnSpc>
              <a:spcBef>
                <a:spcPts val="4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no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need</a:t>
            </a:r>
            <a:r>
              <a:rPr sz="12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2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specify</a:t>
            </a:r>
            <a:r>
              <a:rPr sz="12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base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(assuming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constant)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90559" y="3167750"/>
            <a:ext cx="403225" cy="92075"/>
            <a:chOff x="7290559" y="3167750"/>
            <a:chExt cx="403225" cy="92075"/>
          </a:xfrm>
        </p:grpSpPr>
        <p:sp>
          <p:nvSpPr>
            <p:cNvPr id="13" name="object 13"/>
            <p:cNvSpPr/>
            <p:nvPr/>
          </p:nvSpPr>
          <p:spPr>
            <a:xfrm>
              <a:off x="7349691" y="3213526"/>
              <a:ext cx="344170" cy="0"/>
            </a:xfrm>
            <a:custGeom>
              <a:avLst/>
              <a:gdLst/>
              <a:ahLst/>
              <a:cxnLst/>
              <a:rect l="l" t="t" r="r" b="b"/>
              <a:pathLst>
                <a:path w="344170">
                  <a:moveTo>
                    <a:pt x="0" y="2"/>
                  </a:moveTo>
                  <a:lnTo>
                    <a:pt x="9537" y="2"/>
                  </a:lnTo>
                  <a:lnTo>
                    <a:pt x="343727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90559" y="316775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68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32927" y="1918248"/>
            <a:ext cx="477520" cy="40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ts val="1780"/>
              </a:lnSpc>
              <a:spcBef>
                <a:spcPts val="100"/>
              </a:spcBef>
            </a:pPr>
            <a:r>
              <a:rPr sz="1700" spc="45" dirty="0">
                <a:latin typeface="Calibri"/>
                <a:cs typeface="Calibri"/>
              </a:rPr>
              <a:t>lim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ts val="1180"/>
              </a:lnSpc>
            </a:pPr>
            <a:r>
              <a:rPr sz="1200" i="1" spc="265" dirty="0">
                <a:latin typeface="Calibri"/>
                <a:cs typeface="Calibri"/>
              </a:rPr>
              <a:t>n</a:t>
            </a:r>
            <a:r>
              <a:rPr sz="1200" i="1" spc="265" dirty="0">
                <a:latin typeface="Arial"/>
                <a:cs typeface="Arial"/>
              </a:rPr>
              <a:t>→∞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1049" y="1771875"/>
            <a:ext cx="21075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700" i="1" dirty="0">
                <a:latin typeface="Calibri"/>
                <a:cs typeface="Calibri"/>
              </a:rPr>
              <a:t>a</a:t>
            </a:r>
            <a:r>
              <a:rPr sz="1800" baseline="-11574" dirty="0">
                <a:latin typeface="Roboto"/>
                <a:cs typeface="Roboto"/>
              </a:rPr>
              <a:t>0</a:t>
            </a:r>
            <a:r>
              <a:rPr sz="1800" spc="262" baseline="-11574" dirty="0">
                <a:latin typeface="Roboto"/>
                <a:cs typeface="Roboto"/>
              </a:rPr>
              <a:t> </a:t>
            </a:r>
            <a:r>
              <a:rPr sz="1700" spc="465" dirty="0">
                <a:latin typeface="Calibri"/>
                <a:cs typeface="Calibri"/>
              </a:rPr>
              <a:t>+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i="1" spc="80" dirty="0">
                <a:latin typeface="Calibri"/>
                <a:cs typeface="Calibri"/>
              </a:rPr>
              <a:t>a</a:t>
            </a:r>
            <a:r>
              <a:rPr sz="1800" spc="120" baseline="-11574" dirty="0">
                <a:latin typeface="Roboto"/>
                <a:cs typeface="Roboto"/>
              </a:rPr>
              <a:t>1</a:t>
            </a:r>
            <a:r>
              <a:rPr sz="1700" i="1" spc="80" dirty="0">
                <a:latin typeface="Calibri"/>
                <a:cs typeface="Calibri"/>
              </a:rPr>
              <a:t>n</a:t>
            </a:r>
            <a:r>
              <a:rPr sz="1700" i="1" dirty="0">
                <a:latin typeface="Calibri"/>
                <a:cs typeface="Calibri"/>
              </a:rPr>
              <a:t> </a:t>
            </a:r>
            <a:r>
              <a:rPr sz="1700" spc="465" dirty="0">
                <a:latin typeface="Calibri"/>
                <a:cs typeface="Calibri"/>
              </a:rPr>
              <a:t>+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i="1" spc="180" dirty="0">
                <a:latin typeface="Calibri"/>
                <a:cs typeface="Calibri"/>
              </a:rPr>
              <a:t>..</a:t>
            </a:r>
            <a:r>
              <a:rPr sz="1700" i="1" spc="-95" dirty="0">
                <a:latin typeface="Calibri"/>
                <a:cs typeface="Calibri"/>
              </a:rPr>
              <a:t> </a:t>
            </a:r>
            <a:r>
              <a:rPr sz="1700" i="1" dirty="0">
                <a:latin typeface="Calibri"/>
                <a:cs typeface="Calibri"/>
              </a:rPr>
              <a:t>.</a:t>
            </a:r>
            <a:r>
              <a:rPr sz="1700" i="1" spc="10" dirty="0">
                <a:latin typeface="Calibri"/>
                <a:cs typeface="Calibri"/>
              </a:rPr>
              <a:t> </a:t>
            </a:r>
            <a:r>
              <a:rPr sz="1700" spc="465" dirty="0">
                <a:latin typeface="Calibri"/>
                <a:cs typeface="Calibri"/>
              </a:rPr>
              <a:t>+</a:t>
            </a:r>
            <a:r>
              <a:rPr sz="1700" dirty="0">
                <a:latin typeface="Calibri"/>
                <a:cs typeface="Calibri"/>
              </a:rPr>
              <a:t> </a:t>
            </a:r>
            <a:r>
              <a:rPr sz="1700" i="1" spc="85" dirty="0">
                <a:latin typeface="Calibri"/>
                <a:cs typeface="Calibri"/>
              </a:rPr>
              <a:t>a</a:t>
            </a:r>
            <a:r>
              <a:rPr sz="1800" i="1" spc="127" baseline="-11574" dirty="0">
                <a:latin typeface="Calibri"/>
                <a:cs typeface="Calibri"/>
              </a:rPr>
              <a:t>d</a:t>
            </a:r>
            <a:r>
              <a:rPr sz="1700" i="1" spc="85" dirty="0">
                <a:latin typeface="Calibri"/>
                <a:cs typeface="Calibri"/>
              </a:rPr>
              <a:t>n</a:t>
            </a:r>
            <a:r>
              <a:rPr sz="1800" i="1" spc="127" baseline="27777" dirty="0">
                <a:latin typeface="Calibri"/>
                <a:cs typeface="Calibri"/>
              </a:rPr>
              <a:t>d</a:t>
            </a:r>
            <a:endParaRPr sz="1800" baseline="27777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019149" y="2093239"/>
            <a:ext cx="2042160" cy="0"/>
          </a:xfrm>
          <a:custGeom>
            <a:avLst/>
            <a:gdLst/>
            <a:ahLst/>
            <a:cxnLst/>
            <a:rect l="l" t="t" r="r" b="b"/>
            <a:pathLst>
              <a:path w="2042160">
                <a:moveTo>
                  <a:pt x="0" y="0"/>
                </a:moveTo>
                <a:lnTo>
                  <a:pt x="2042031" y="0"/>
                </a:lnTo>
              </a:path>
            </a:pathLst>
          </a:custGeom>
          <a:ln w="86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912283" y="2066792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90" dirty="0">
                <a:latin typeface="Calibri"/>
                <a:cs typeface="Calibri"/>
              </a:rPr>
              <a:t>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41998" y="2069159"/>
            <a:ext cx="115570" cy="207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i="1" spc="40" dirty="0">
                <a:latin typeface="Calibri"/>
                <a:cs typeface="Calibri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9064" y="1918248"/>
            <a:ext cx="10960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61035" algn="l"/>
              </a:tabLst>
            </a:pPr>
            <a:r>
              <a:rPr sz="1700" spc="465" dirty="0">
                <a:latin typeface="Calibri"/>
                <a:cs typeface="Calibri"/>
              </a:rPr>
              <a:t>=</a:t>
            </a:r>
            <a:r>
              <a:rPr sz="1700" spc="85" dirty="0">
                <a:latin typeface="Calibri"/>
                <a:cs typeface="Calibri"/>
              </a:rPr>
              <a:t>  </a:t>
            </a:r>
            <a:r>
              <a:rPr sz="1700" i="1" spc="15" dirty="0">
                <a:latin typeface="Calibri"/>
                <a:cs typeface="Calibri"/>
              </a:rPr>
              <a:t>a</a:t>
            </a:r>
            <a:r>
              <a:rPr sz="1800" i="1" spc="22" baseline="-11574" dirty="0">
                <a:latin typeface="Calibri"/>
                <a:cs typeface="Calibri"/>
              </a:rPr>
              <a:t>d</a:t>
            </a:r>
            <a:r>
              <a:rPr sz="1800" i="1" baseline="-11574" dirty="0">
                <a:latin typeface="Calibri"/>
                <a:cs typeface="Calibri"/>
              </a:rPr>
              <a:t>	</a:t>
            </a:r>
            <a:r>
              <a:rPr sz="1700" i="1" spc="465" dirty="0">
                <a:latin typeface="Calibri"/>
                <a:cs typeface="Calibri"/>
              </a:rPr>
              <a:t>&gt;</a:t>
            </a:r>
            <a:r>
              <a:rPr sz="1700" i="1" spc="85" dirty="0">
                <a:latin typeface="Calibri"/>
                <a:cs typeface="Calibri"/>
              </a:rPr>
              <a:t>  </a:t>
            </a:r>
            <a:r>
              <a:rPr sz="1700" spc="-50" dirty="0">
                <a:latin typeface="Calibri"/>
                <a:cs typeface="Calibri"/>
              </a:rPr>
              <a:t>0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8521" y="5980291"/>
            <a:ext cx="307975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700" i="1" spc="150" baseline="-20061" dirty="0">
                <a:latin typeface="Calibri"/>
                <a:cs typeface="Calibri"/>
              </a:rPr>
              <a:t>n</a:t>
            </a:r>
            <a:r>
              <a:rPr sz="1250" i="1" spc="100" dirty="0">
                <a:latin typeface="Calibri"/>
                <a:cs typeface="Calibri"/>
              </a:rPr>
              <a:t>d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06621" y="6400425"/>
            <a:ext cx="243204" cy="0"/>
          </a:xfrm>
          <a:custGeom>
            <a:avLst/>
            <a:gdLst/>
            <a:ahLst/>
            <a:cxnLst/>
            <a:rect l="l" t="t" r="r" b="b"/>
            <a:pathLst>
              <a:path w="243205">
                <a:moveTo>
                  <a:pt x="0" y="0"/>
                </a:moveTo>
                <a:lnTo>
                  <a:pt x="243001" y="0"/>
                </a:lnTo>
              </a:path>
            </a:pathLst>
          </a:custGeom>
          <a:ln w="90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898950" y="6373254"/>
            <a:ext cx="128270" cy="299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i="1" spc="135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4" name="object 24"/>
          <p:cNvSpPr txBox="1"/>
          <p:nvPr/>
        </p:nvSpPr>
        <p:spPr>
          <a:xfrm>
            <a:off x="2007993" y="6375746"/>
            <a:ext cx="13843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i="1" spc="195" dirty="0">
                <a:latin typeface="Calibri"/>
                <a:cs typeface="Calibri"/>
              </a:rPr>
              <a:t>n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89732" y="6216892"/>
            <a:ext cx="1443990" cy="42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2075">
              <a:lnSpc>
                <a:spcPts val="1895"/>
              </a:lnSpc>
              <a:spcBef>
                <a:spcPts val="90"/>
              </a:spcBef>
              <a:tabLst>
                <a:tab pos="1013460" algn="l"/>
              </a:tabLst>
            </a:pPr>
            <a:r>
              <a:rPr sz="1800" spc="40" dirty="0">
                <a:latin typeface="Calibri"/>
                <a:cs typeface="Calibri"/>
              </a:rPr>
              <a:t>lim</a:t>
            </a:r>
            <a:r>
              <a:rPr sz="1800" dirty="0">
                <a:latin typeface="Calibri"/>
                <a:cs typeface="Calibri"/>
              </a:rPr>
              <a:t>	</a:t>
            </a:r>
            <a:r>
              <a:rPr sz="1800" spc="484" dirty="0">
                <a:latin typeface="Calibri"/>
                <a:cs typeface="Calibri"/>
              </a:rPr>
              <a:t>=</a:t>
            </a:r>
            <a:r>
              <a:rPr sz="1800" spc="85" dirty="0">
                <a:latin typeface="Calibri"/>
                <a:cs typeface="Calibri"/>
              </a:rPr>
              <a:t>  </a:t>
            </a:r>
            <a:r>
              <a:rPr sz="1800" spc="-5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235"/>
              </a:lnSpc>
            </a:pPr>
            <a:r>
              <a:rPr sz="1250" i="1" spc="290" dirty="0">
                <a:latin typeface="Calibri"/>
                <a:cs typeface="Calibri"/>
              </a:rPr>
              <a:t>n</a:t>
            </a:r>
            <a:r>
              <a:rPr sz="1250" i="1" spc="290" dirty="0">
                <a:latin typeface="Arial"/>
                <a:cs typeface="Arial"/>
              </a:rPr>
              <a:t>→∞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Big-</a:t>
            </a:r>
            <a:r>
              <a:rPr spc="105" dirty="0"/>
              <a:t>Oh</a:t>
            </a:r>
            <a:r>
              <a:rPr spc="215" dirty="0"/>
              <a:t> </a:t>
            </a:r>
            <a:r>
              <a:rPr dirty="0"/>
              <a:t>notation</a:t>
            </a:r>
            <a:r>
              <a:rPr spc="215" dirty="0"/>
              <a:t> </a:t>
            </a:r>
            <a:r>
              <a:rPr dirty="0"/>
              <a:t>with</a:t>
            </a:r>
            <a:r>
              <a:rPr spc="220" dirty="0"/>
              <a:t> </a:t>
            </a:r>
            <a:r>
              <a:rPr dirty="0"/>
              <a:t>multiple</a:t>
            </a:r>
            <a:r>
              <a:rPr spc="21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69067" y="1131247"/>
            <a:ext cx="8398510" cy="328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 marR="447040">
              <a:lnSpc>
                <a:spcPct val="132100"/>
              </a:lnSpc>
              <a:spcBef>
                <a:spcPts val="100"/>
              </a:spcBef>
              <a:tabLst>
                <a:tab pos="187578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7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225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 </a:t>
            </a:r>
            <a:r>
              <a:rPr sz="1800" spc="-150" dirty="0">
                <a:latin typeface="Times New Roman"/>
                <a:cs typeface="Times New Roman"/>
              </a:rPr>
              <a:t>·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39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m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88900">
              <a:lnSpc>
                <a:spcPts val="1980"/>
              </a:lnSpc>
              <a:tabLst>
                <a:tab pos="6419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32</a:t>
            </a:r>
            <a:r>
              <a:rPr sz="1800" i="1" dirty="0">
                <a:latin typeface="Times New Roman"/>
                <a:cs typeface="Times New Roman"/>
              </a:rPr>
              <a:t>mn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225" baseline="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17</a:t>
            </a:r>
            <a:r>
              <a:rPr sz="1800" i="1" dirty="0">
                <a:latin typeface="Times New Roman"/>
                <a:cs typeface="Times New Roman"/>
              </a:rPr>
              <a:t>mn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10" dirty="0">
                <a:latin typeface="Times New Roman"/>
                <a:cs typeface="Times New Roman"/>
              </a:rPr>
              <a:t>32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0833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2960"/>
              </a:lnSpc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spc="-5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both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mn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217" baseline="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18518" dirty="0">
                <a:latin typeface="Times New Roman"/>
                <a:cs typeface="Times New Roman"/>
              </a:rPr>
              <a:t>3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mn</a:t>
            </a:r>
            <a:r>
              <a:rPr sz="1800" spc="-15" baseline="18518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84150">
              <a:lnSpc>
                <a:spcPts val="3135"/>
              </a:lnSpc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18518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mn</a:t>
            </a:r>
            <a:r>
              <a:rPr sz="1800" spc="-15" baseline="18518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88900" marR="43180">
              <a:lnSpc>
                <a:spcPct val="132100"/>
              </a:lnSpc>
              <a:spcBef>
                <a:spcPts val="2645"/>
              </a:spcBef>
              <a:tabLst>
                <a:tab pos="18065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50" dirty="0">
                <a:latin typeface="Lucida Sans Unicode"/>
                <a:cs typeface="Lucida Sans Unicode"/>
              </a:rPr>
              <a:t>Breadth-</a:t>
            </a:r>
            <a:r>
              <a:rPr sz="1800" spc="-10" dirty="0">
                <a:latin typeface="Lucida Sans Unicode"/>
                <a:cs typeface="Lucida Sans Unicode"/>
              </a:rPr>
              <a:t>first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search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m</a:t>
            </a:r>
            <a:r>
              <a:rPr sz="1800" i="1" spc="-1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+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shortest </a:t>
            </a:r>
            <a:r>
              <a:rPr sz="1800" dirty="0">
                <a:latin typeface="Lucida Sans Unicode"/>
                <a:cs typeface="Lucida Sans Unicode"/>
              </a:rPr>
              <a:t>path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i="1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digraph.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2.4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904923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latin typeface="Verdana"/>
                <a:cs typeface="Verdana"/>
              </a:rPr>
              <a:t>survey</a:t>
            </a:r>
            <a:r>
              <a:rPr sz="2250" i="1" spc="-135" dirty="0">
                <a:latin typeface="Verdana"/>
                <a:cs typeface="Verdana"/>
              </a:rPr>
              <a:t> </a:t>
            </a:r>
            <a:r>
              <a:rPr sz="2250" i="1" spc="-170" dirty="0">
                <a:latin typeface="Verdana"/>
                <a:cs typeface="Verdana"/>
              </a:rPr>
              <a:t>of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275" dirty="0">
                <a:latin typeface="Verdana"/>
                <a:cs typeface="Verdana"/>
              </a:rPr>
              <a:t>common</a:t>
            </a:r>
            <a:r>
              <a:rPr sz="2250" i="1" spc="-125" dirty="0">
                <a:latin typeface="Verdana"/>
                <a:cs typeface="Verdana"/>
              </a:rPr>
              <a:t> </a:t>
            </a:r>
            <a:r>
              <a:rPr sz="2250" i="1" spc="-200" dirty="0">
                <a:latin typeface="Verdana"/>
                <a:cs typeface="Verdana"/>
              </a:rPr>
              <a:t>running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300" dirty="0"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spc="45" dirty="0"/>
              <a:t> </a:t>
            </a:r>
            <a:r>
              <a:rPr spc="-20" dirty="0"/>
              <a:t>time:</a:t>
            </a:r>
            <a:r>
              <a:rPr dirty="0"/>
              <a:t>	</a:t>
            </a:r>
            <a:r>
              <a:rPr spc="65" dirty="0"/>
              <a:t>O(n)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788987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51003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proportional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input</a:t>
            </a:r>
            <a:r>
              <a:rPr sz="1800" spc="-10" dirty="0">
                <a:latin typeface="Lucida Sans Unicode"/>
                <a:cs typeface="Lucida Sans Unicode"/>
              </a:rPr>
              <a:t> size.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31184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Computing the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maximum.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Compute maximum 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…, </a:t>
            </a:r>
            <a:r>
              <a:rPr sz="1800" i="1" spc="-25" dirty="0">
                <a:latin typeface="Times New Roman"/>
                <a:cs typeface="Times New Roman"/>
              </a:rPr>
              <a:t>a</a:t>
            </a:r>
            <a:r>
              <a:rPr sz="1800" i="1" spc="-37" baseline="-18518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46981" y="3040405"/>
            <a:ext cx="2823210" cy="1831339"/>
          </a:xfrm>
          <a:custGeom>
            <a:avLst/>
            <a:gdLst/>
            <a:ahLst/>
            <a:cxnLst/>
            <a:rect l="l" t="t" r="r" b="b"/>
            <a:pathLst>
              <a:path w="2823210" h="1831339">
                <a:moveTo>
                  <a:pt x="0" y="0"/>
                </a:moveTo>
                <a:lnTo>
                  <a:pt x="2823071" y="0"/>
                </a:lnTo>
                <a:lnTo>
                  <a:pt x="2823071" y="1831182"/>
                </a:lnTo>
                <a:lnTo>
                  <a:pt x="0" y="1831182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42780" y="2989555"/>
            <a:ext cx="1913889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latin typeface="Lucida Console"/>
                <a:cs typeface="Lucida Console"/>
              </a:rPr>
              <a:t>max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Lucida Console"/>
                <a:cs typeface="Lucida Console"/>
              </a:rPr>
              <a:t>a</a:t>
            </a:r>
            <a:r>
              <a:rPr sz="1500" spc="-37" baseline="-16666" dirty="0">
                <a:latin typeface="Lucida Console"/>
                <a:cs typeface="Lucida Console"/>
              </a:rPr>
              <a:t>1</a:t>
            </a:r>
            <a:endParaRPr sz="1500" baseline="-16666">
              <a:latin typeface="Lucida Console"/>
              <a:cs typeface="Lucida Console"/>
            </a:endParaRPr>
          </a:p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i = 2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687271" y="3657174"/>
            <a:ext cx="765810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R="68580" algn="r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spc="-25" dirty="0">
                <a:latin typeface="Lucida Console"/>
                <a:cs typeface="Lucida Console"/>
              </a:rPr>
              <a:t>(a</a:t>
            </a:r>
            <a:r>
              <a:rPr sz="1500" spc="-37" baseline="-16666" dirty="0">
                <a:latin typeface="Lucida Console"/>
                <a:cs typeface="Lucida Console"/>
              </a:rPr>
              <a:t>i</a:t>
            </a:r>
            <a:endParaRPr sz="1500" baseline="-16666">
              <a:latin typeface="Lucida Console"/>
              <a:cs typeface="Lucida Console"/>
            </a:endParaRPr>
          </a:p>
          <a:p>
            <a:pPr marR="30480" algn="r">
              <a:lnSpc>
                <a:spcPct val="100000"/>
              </a:lnSpc>
              <a:spcBef>
                <a:spcPts val="980"/>
              </a:spcBef>
            </a:pPr>
            <a:r>
              <a:rPr sz="1500" spc="-25" dirty="0">
                <a:latin typeface="Lucida Console"/>
                <a:cs typeface="Lucida Console"/>
              </a:rPr>
              <a:t>max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2806" y="3657174"/>
            <a:ext cx="765810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latin typeface="Lucida Console"/>
                <a:cs typeface="Lucida Console"/>
              </a:rPr>
              <a:t>&gt; </a:t>
            </a:r>
            <a:r>
              <a:rPr sz="1500" spc="-20" dirty="0">
                <a:latin typeface="Lucida Console"/>
                <a:cs typeface="Lucida Console"/>
              </a:rPr>
              <a:t>max)</a:t>
            </a:r>
            <a:endParaRPr sz="1500">
              <a:latin typeface="Lucida Console"/>
              <a:cs typeface="Lucida Console"/>
            </a:endParaRPr>
          </a:p>
          <a:p>
            <a:pPr marL="76200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Lucida Console"/>
                <a:cs typeface="Lucida Console"/>
              </a:rPr>
              <a:t>a</a:t>
            </a:r>
            <a:r>
              <a:rPr sz="1500" spc="-37" baseline="-16666" dirty="0">
                <a:latin typeface="Lucida Console"/>
                <a:cs typeface="Lucida Console"/>
              </a:rPr>
              <a:t>i</a:t>
            </a:r>
            <a:endParaRPr sz="1500" baseline="-16666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8180" y="4486928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spc="45" dirty="0"/>
              <a:t> </a:t>
            </a:r>
            <a:r>
              <a:rPr spc="-20" dirty="0"/>
              <a:t>time:</a:t>
            </a:r>
            <a:r>
              <a:rPr dirty="0"/>
              <a:t>	</a:t>
            </a:r>
            <a:r>
              <a:rPr spc="65" dirty="0"/>
              <a:t>O(n)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131247"/>
            <a:ext cx="840295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93853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Merge.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Combine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i="1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baseline="-17676" dirty="0">
                <a:latin typeface="Times New Roman"/>
                <a:cs typeface="Times New Roman"/>
              </a:rPr>
              <a:t>1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baseline="-17676" dirty="0">
                <a:latin typeface="Times New Roman"/>
                <a:cs typeface="Times New Roman"/>
              </a:rPr>
              <a:t>2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…,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i="1" baseline="-17676" dirty="0">
                <a:latin typeface="Times New Roman"/>
                <a:cs typeface="Times New Roman"/>
              </a:rPr>
              <a:t>n</a:t>
            </a:r>
            <a:r>
              <a:rPr sz="1650" i="1" spc="202" baseline="-1767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i="1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baseline="-17676" dirty="0">
                <a:latin typeface="Times New Roman"/>
                <a:cs typeface="Times New Roman"/>
              </a:rPr>
              <a:t>1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baseline="-17676" dirty="0">
                <a:latin typeface="Times New Roman"/>
                <a:cs typeface="Times New Roman"/>
              </a:rPr>
              <a:t>2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…,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i="1" baseline="-17676" dirty="0">
                <a:latin typeface="Times New Roman"/>
                <a:cs typeface="Times New Roman"/>
              </a:rPr>
              <a:t>n</a:t>
            </a:r>
            <a:r>
              <a:rPr sz="1650" i="1" spc="442" baseline="-17676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sorted whole.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6205145"/>
            <a:ext cx="712343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86042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4005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After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length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output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increases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4240" y="3528721"/>
            <a:ext cx="7801609" cy="208915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i = 1, j =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while </a:t>
            </a:r>
            <a:r>
              <a:rPr sz="1500" dirty="0">
                <a:latin typeface="Lucida Console"/>
                <a:cs typeface="Lucida Console"/>
              </a:rPr>
              <a:t>(both lists are nonempty)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sz="1500" spc="-5" dirty="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(a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Symbol"/>
                <a:cs typeface="Symbol"/>
              </a:rPr>
              <a:t>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b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dirty="0">
                <a:latin typeface="Lucida Console"/>
                <a:cs typeface="Lucida Console"/>
              </a:rPr>
              <a:t>) append a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to</a:t>
            </a:r>
            <a:r>
              <a:rPr sz="1500" spc="-5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output list and increment </a:t>
            </a:r>
            <a:r>
              <a:rPr sz="1500" spc="-50" dirty="0">
                <a:latin typeface="Lucida Console"/>
                <a:cs typeface="Lucida Console"/>
              </a:rPr>
              <a:t>i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  <a:tabLst>
                <a:tab pos="1984375" algn="l"/>
              </a:tabLst>
            </a:pPr>
            <a:r>
              <a:rPr sz="1500" spc="-20" dirty="0">
                <a:solidFill>
                  <a:srgbClr val="0048AA"/>
                </a:solidFill>
                <a:latin typeface="Lucida Console"/>
                <a:cs typeface="Lucida Console"/>
              </a:rPr>
              <a:t>else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append b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to output list and increment </a:t>
            </a:r>
            <a:r>
              <a:rPr sz="1500" spc="-50" dirty="0">
                <a:latin typeface="Lucida Console"/>
                <a:cs typeface="Lucida Console"/>
              </a:rPr>
              <a:t>j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latin typeface="Lucida Console"/>
                <a:cs typeface="Lucida Console"/>
              </a:rPr>
              <a:t>append remainder of nonempty list to output </a:t>
            </a:r>
            <a:r>
              <a:rPr sz="1500" spc="-20" dirty="0">
                <a:latin typeface="Lucida Console"/>
                <a:cs typeface="Lucida Console"/>
              </a:rPr>
              <a:t>list</a:t>
            </a:r>
            <a:endParaRPr sz="1500">
              <a:latin typeface="Lucida Console"/>
              <a:cs typeface="Lucida Consol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984" y="1914568"/>
            <a:ext cx="3704750" cy="11546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35718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9650" algn="l"/>
              </a:tabLst>
            </a:pPr>
            <a:r>
              <a:rPr dirty="0"/>
              <a:t>Linearithmic</a:t>
            </a:r>
            <a:r>
              <a:rPr spc="40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95" dirty="0"/>
              <a:t>O(n</a:t>
            </a:r>
            <a:r>
              <a:rPr spc="70" dirty="0"/>
              <a:t> </a:t>
            </a:r>
            <a:r>
              <a:rPr spc="80" dirty="0"/>
              <a:t>log</a:t>
            </a:r>
            <a:r>
              <a:rPr spc="70" dirty="0"/>
              <a:t> </a:t>
            </a:r>
            <a:r>
              <a:rPr spc="-25" dirty="0"/>
              <a:t>n)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7712075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92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Arises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divide-</a:t>
            </a:r>
            <a:r>
              <a:rPr sz="1800" spc="-60" dirty="0">
                <a:latin typeface="Lucida Sans Unicode"/>
                <a:cs typeface="Lucida Sans Unicode"/>
              </a:rPr>
              <a:t>and-</a:t>
            </a:r>
            <a:r>
              <a:rPr sz="1800" spc="-40" dirty="0">
                <a:latin typeface="Lucida Sans Unicode"/>
                <a:cs typeface="Lucida Sans Unicode"/>
              </a:rPr>
              <a:t>conquer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algorithms.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02298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Sorting.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Mergesort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heapsort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perform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compares.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67" y="3305774"/>
            <a:ext cx="8392795" cy="1837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2100"/>
              </a:lnSpc>
              <a:spcBef>
                <a:spcPts val="100"/>
              </a:spcBef>
              <a:tabLst>
                <a:tab pos="276098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Largest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empty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interval.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25" dirty="0">
                <a:latin typeface="Lucida Sans Unicode"/>
                <a:cs typeface="Lucida Sans Unicode"/>
              </a:rPr>
              <a:t>stamps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i="1" spc="419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copies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a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arrive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server,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largest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interval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copies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arrive?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 marR="465455">
              <a:lnSpc>
                <a:spcPct val="132100"/>
              </a:lnSpc>
              <a:tabLst>
                <a:tab pos="23437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25" dirty="0">
                <a:latin typeface="Lucida Sans Unicode"/>
                <a:cs typeface="Lucida Sans Unicode"/>
              </a:rPr>
              <a:t>stamps.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Scan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order, </a:t>
            </a:r>
            <a:r>
              <a:rPr sz="1800" dirty="0">
                <a:latin typeface="Lucida Sans Unicode"/>
                <a:cs typeface="Lucida Sans Unicode"/>
              </a:rPr>
              <a:t>identifying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gap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between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successive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10" dirty="0">
                <a:latin typeface="Lucida Sans Unicode"/>
                <a:cs typeface="Lucida Sans Unicode"/>
              </a:rPr>
              <a:t>stamps.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2448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94864" algn="l"/>
              </a:tabLst>
            </a:pPr>
            <a:r>
              <a:rPr spc="55" dirty="0"/>
              <a:t>Quadratic</a:t>
            </a:r>
            <a:r>
              <a:rPr spc="95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65" dirty="0"/>
              <a:t>O(n</a:t>
            </a:r>
            <a:r>
              <a:rPr sz="2100" spc="97" baseline="27777" dirty="0"/>
              <a:t>2</a:t>
            </a:r>
            <a:r>
              <a:rPr sz="2100" spc="65" dirty="0"/>
              <a:t>)</a:t>
            </a:r>
            <a:endParaRPr sz="21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94467" y="1218991"/>
            <a:ext cx="8446135" cy="211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5441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 marR="55880">
              <a:lnSpc>
                <a:spcPct val="132100"/>
              </a:lnSpc>
              <a:tabLst>
                <a:tab pos="26587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Closest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pair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points.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list 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 in the plane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 …, 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spc="-20" dirty="0">
                <a:latin typeface="Times New Roman"/>
                <a:cs typeface="Times New Roman"/>
              </a:rPr>
              <a:t>y</a:t>
            </a:r>
            <a:r>
              <a:rPr sz="1800" i="1" spc="-30" baseline="-18518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closest.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181737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Try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points.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6655310"/>
            <a:ext cx="8373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9474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seems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inevitable, but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just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 illusion.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[see</a:t>
            </a:r>
            <a:r>
              <a:rPr sz="18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Chapter </a:t>
            </a:r>
            <a:r>
              <a:rPr sz="18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5]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3955" y="3686618"/>
            <a:ext cx="4711700" cy="273748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min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(x</a:t>
            </a:r>
            <a:r>
              <a:rPr sz="1500" baseline="-16666" dirty="0">
                <a:latin typeface="Lucida Console"/>
                <a:cs typeface="Lucida Console"/>
              </a:rPr>
              <a:t>1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x</a:t>
            </a:r>
            <a:r>
              <a:rPr sz="1500" baseline="-16666" dirty="0">
                <a:latin typeface="Lucida Console"/>
                <a:cs typeface="Lucida Console"/>
              </a:rPr>
              <a:t>2</a:t>
            </a:r>
            <a:r>
              <a:rPr sz="1500" dirty="0">
                <a:latin typeface="Lucida Console"/>
                <a:cs typeface="Lucida Console"/>
              </a:rPr>
              <a:t>)</a:t>
            </a:r>
            <a:r>
              <a:rPr sz="1500" baseline="19444" dirty="0">
                <a:latin typeface="Lucida Console"/>
                <a:cs typeface="Lucida Console"/>
              </a:rPr>
              <a:t>2</a:t>
            </a:r>
            <a:r>
              <a:rPr sz="1500" spc="442" baseline="19444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+ (y</a:t>
            </a:r>
            <a:r>
              <a:rPr sz="1500" baseline="-16666" dirty="0">
                <a:latin typeface="Lucida Console"/>
                <a:cs typeface="Lucida Console"/>
              </a:rPr>
              <a:t>1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</a:t>
            </a:r>
            <a:r>
              <a:rPr sz="1500" spc="-20" dirty="0">
                <a:latin typeface="Lucida Console"/>
                <a:cs typeface="Lucida Console"/>
              </a:rPr>
              <a:t>y</a:t>
            </a:r>
            <a:r>
              <a:rPr sz="1500" spc="-30" baseline="-16666" dirty="0">
                <a:latin typeface="Lucida Console"/>
                <a:cs typeface="Lucida Console"/>
              </a:rPr>
              <a:t>2</a:t>
            </a:r>
            <a:r>
              <a:rPr sz="1500" spc="-20" dirty="0">
                <a:latin typeface="Lucida Console"/>
                <a:cs typeface="Lucida Console"/>
              </a:rPr>
              <a:t>)</a:t>
            </a:r>
            <a:r>
              <a:rPr sz="1500" spc="-30" baseline="19444" dirty="0">
                <a:latin typeface="Lucida Console"/>
                <a:cs typeface="Lucida Console"/>
              </a:rPr>
              <a:t>2</a:t>
            </a:r>
            <a:endParaRPr sz="1500" baseline="19444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i = 1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j = i+1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latin typeface="Lucida Console"/>
                <a:cs typeface="Lucida Console"/>
              </a:rPr>
              <a:t>d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(x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x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dirty="0">
                <a:latin typeface="Lucida Console"/>
                <a:cs typeface="Lucida Console"/>
              </a:rPr>
              <a:t>)</a:t>
            </a:r>
            <a:r>
              <a:rPr sz="1500" baseline="19444" dirty="0">
                <a:latin typeface="Lucida Console"/>
                <a:cs typeface="Lucida Console"/>
              </a:rPr>
              <a:t>2</a:t>
            </a:r>
            <a:r>
              <a:rPr sz="1500" spc="442" baseline="19444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+ (y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</a:t>
            </a:r>
            <a:r>
              <a:rPr sz="1500" spc="-20" dirty="0">
                <a:latin typeface="Lucida Console"/>
                <a:cs typeface="Lucida Console"/>
              </a:rPr>
              <a:t>y</a:t>
            </a:r>
            <a:r>
              <a:rPr sz="1500" spc="-30" baseline="-16666" dirty="0">
                <a:latin typeface="Lucida Console"/>
                <a:cs typeface="Lucida Console"/>
              </a:rPr>
              <a:t>j</a:t>
            </a:r>
            <a:r>
              <a:rPr sz="1500" spc="-20" dirty="0">
                <a:latin typeface="Lucida Console"/>
                <a:cs typeface="Lucida Console"/>
              </a:rPr>
              <a:t>)</a:t>
            </a:r>
            <a:r>
              <a:rPr sz="1500" spc="-30" baseline="19444" dirty="0">
                <a:latin typeface="Lucida Console"/>
                <a:cs typeface="Lucida Console"/>
              </a:rPr>
              <a:t>2</a:t>
            </a:r>
            <a:endParaRPr sz="1500" baseline="19444">
              <a:latin typeface="Lucida Console"/>
              <a:cs typeface="Lucida Console"/>
            </a:endParaRPr>
          </a:p>
          <a:p>
            <a:pPr marL="1266825" marR="2402840" indent="-344805">
              <a:lnSpc>
                <a:spcPct val="137700"/>
              </a:lnSpc>
              <a:spcBef>
                <a:spcPts val="3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(d &lt; </a:t>
            </a:r>
            <a:r>
              <a:rPr sz="1500" spc="-20" dirty="0">
                <a:latin typeface="Lucida Console"/>
                <a:cs typeface="Lucida Console"/>
              </a:rPr>
              <a:t>min) </a:t>
            </a:r>
            <a:r>
              <a:rPr sz="1500" dirty="0">
                <a:latin typeface="Lucida Console"/>
                <a:cs typeface="Lucida Console"/>
              </a:rPr>
              <a:t>min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Console"/>
                <a:cs typeface="Lucida Console"/>
              </a:rPr>
              <a:t>d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2815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52575" algn="l"/>
              </a:tabLst>
            </a:pPr>
            <a:r>
              <a:rPr dirty="0"/>
              <a:t>Cubic</a:t>
            </a:r>
            <a:r>
              <a:rPr spc="80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65" dirty="0"/>
              <a:t>O(n</a:t>
            </a:r>
            <a:r>
              <a:rPr sz="2100" spc="97" baseline="27777" dirty="0"/>
              <a:t>3</a:t>
            </a:r>
            <a:r>
              <a:rPr sz="2100" spc="65" dirty="0"/>
              <a:t>)</a:t>
            </a:r>
            <a:endParaRPr sz="21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474470" algn="l"/>
              </a:tabLst>
            </a:pPr>
            <a:r>
              <a:rPr dirty="0">
                <a:solidFill>
                  <a:srgbClr val="0048AA"/>
                </a:solidFill>
              </a:rPr>
              <a:t>Cubic </a:t>
            </a:r>
            <a:r>
              <a:rPr spc="-10" dirty="0">
                <a:solidFill>
                  <a:srgbClr val="0048AA"/>
                </a:solidFill>
              </a:rPr>
              <a:t>time.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Enumerate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triples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elements.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pc="-10" dirty="0"/>
          </a:p>
          <a:p>
            <a:pPr marL="63500">
              <a:lnSpc>
                <a:spcPct val="100000"/>
              </a:lnSpc>
              <a:tabLst>
                <a:tab pos="2022475" algn="l"/>
              </a:tabLst>
            </a:pPr>
            <a:r>
              <a:rPr dirty="0">
                <a:solidFill>
                  <a:srgbClr val="0048AA"/>
                </a:solidFill>
              </a:rPr>
              <a:t>Set</a:t>
            </a:r>
            <a:r>
              <a:rPr spc="-30" dirty="0">
                <a:solidFill>
                  <a:srgbClr val="0048AA"/>
                </a:solidFill>
              </a:rPr>
              <a:t> </a:t>
            </a:r>
            <a:r>
              <a:rPr spc="-10" dirty="0">
                <a:solidFill>
                  <a:srgbClr val="0048AA"/>
                </a:solidFill>
              </a:rPr>
              <a:t>disjointness.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Given</a:t>
            </a:r>
            <a:r>
              <a:rPr spc="15" dirty="0"/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130" dirty="0">
                <a:latin typeface="Times New Roman"/>
                <a:cs typeface="Times New Roman"/>
              </a:rPr>
              <a:t> </a:t>
            </a:r>
            <a:r>
              <a:rPr dirty="0"/>
              <a:t>sets</a:t>
            </a:r>
            <a:r>
              <a:rPr spc="15" dirty="0"/>
              <a:t> </a:t>
            </a:r>
            <a:r>
              <a:rPr i="1" dirty="0">
                <a:latin typeface="Times New Roman"/>
                <a:cs typeface="Times New Roman"/>
              </a:rPr>
              <a:t>S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i="1" spc="427" baseline="-18518" dirty="0">
                <a:latin typeface="Times New Roman"/>
                <a:cs typeface="Times New Roman"/>
              </a:rPr>
              <a:t> </a:t>
            </a:r>
            <a:r>
              <a:rPr sz="1800" dirty="0"/>
              <a:t>each</a:t>
            </a:r>
            <a:r>
              <a:rPr sz="1800" spc="15" dirty="0"/>
              <a:t> </a:t>
            </a:r>
            <a:r>
              <a:rPr sz="1800" dirty="0"/>
              <a:t>of</a:t>
            </a:r>
            <a:r>
              <a:rPr sz="1800" spc="15" dirty="0"/>
              <a:t> </a:t>
            </a:r>
            <a:r>
              <a:rPr sz="1800" dirty="0"/>
              <a:t>which</a:t>
            </a:r>
            <a:r>
              <a:rPr sz="1800" spc="15" dirty="0"/>
              <a:t> </a:t>
            </a:r>
            <a:r>
              <a:rPr sz="1800" dirty="0"/>
              <a:t>is</a:t>
            </a:r>
            <a:r>
              <a:rPr sz="1800" spc="20" dirty="0"/>
              <a:t> </a:t>
            </a:r>
            <a:r>
              <a:rPr sz="1800" dirty="0"/>
              <a:t>a</a:t>
            </a:r>
            <a:r>
              <a:rPr sz="1800" spc="15" dirty="0"/>
              <a:t> </a:t>
            </a:r>
            <a:r>
              <a:rPr sz="1800" dirty="0"/>
              <a:t>subset</a:t>
            </a:r>
            <a:r>
              <a:rPr sz="1800" spc="15" dirty="0"/>
              <a:t> </a:t>
            </a:r>
            <a:r>
              <a:rPr sz="1800" spc="-25" dirty="0"/>
              <a:t>of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dirty="0">
                <a:latin typeface="Times New Roman"/>
                <a:cs typeface="Times New Roman"/>
              </a:rPr>
              <a:t>1,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2, …,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is there</a:t>
            </a:r>
            <a:r>
              <a:rPr spc="-5" dirty="0"/>
              <a:t> </a:t>
            </a:r>
            <a:r>
              <a:rPr dirty="0"/>
              <a:t>some</a:t>
            </a:r>
            <a:r>
              <a:rPr spc="-5" dirty="0"/>
              <a:t> </a:t>
            </a:r>
            <a:r>
              <a:rPr dirty="0"/>
              <a:t>pair of</a:t>
            </a:r>
            <a:r>
              <a:rPr spc="-5" dirty="0"/>
              <a:t> </a:t>
            </a:r>
            <a:r>
              <a:rPr dirty="0"/>
              <a:t>these which</a:t>
            </a:r>
            <a:r>
              <a:rPr spc="-5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spc="-10" dirty="0"/>
              <a:t>disjoint?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pc="-10" dirty="0"/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817370" algn="l"/>
              </a:tabLst>
            </a:pPr>
            <a:r>
              <a:rPr dirty="0">
                <a:solidFill>
                  <a:srgbClr val="0048AA"/>
                </a:solidFill>
              </a:rPr>
              <a:t>O(n</a:t>
            </a:r>
            <a:r>
              <a:rPr sz="1800" baseline="20833" dirty="0">
                <a:solidFill>
                  <a:srgbClr val="0048AA"/>
                </a:solidFill>
              </a:rPr>
              <a:t>3</a:t>
            </a:r>
            <a:r>
              <a:rPr sz="1800" dirty="0">
                <a:solidFill>
                  <a:srgbClr val="0048AA"/>
                </a:solidFill>
              </a:rPr>
              <a:t>)</a:t>
            </a:r>
            <a:r>
              <a:rPr sz="1800" spc="-15" dirty="0">
                <a:solidFill>
                  <a:srgbClr val="0048AA"/>
                </a:solidFill>
              </a:rPr>
              <a:t> </a:t>
            </a:r>
            <a:r>
              <a:rPr sz="1800" spc="-10" dirty="0">
                <a:solidFill>
                  <a:srgbClr val="0048AA"/>
                </a:solidFill>
              </a:rPr>
              <a:t>solution.</a:t>
            </a:r>
            <a:r>
              <a:rPr sz="1800" dirty="0">
                <a:solidFill>
                  <a:srgbClr val="0048AA"/>
                </a:solidFill>
              </a:rPr>
              <a:t>	</a:t>
            </a:r>
            <a:r>
              <a:rPr sz="1800" dirty="0"/>
              <a:t>For</a:t>
            </a:r>
            <a:r>
              <a:rPr sz="1800" spc="-5" dirty="0"/>
              <a:t> </a:t>
            </a:r>
            <a:r>
              <a:rPr sz="1800" dirty="0"/>
              <a:t>each</a:t>
            </a:r>
            <a:r>
              <a:rPr sz="1800" spc="-5" dirty="0"/>
              <a:t> </a:t>
            </a:r>
            <a:r>
              <a:rPr sz="1800" dirty="0"/>
              <a:t>pair of</a:t>
            </a:r>
            <a:r>
              <a:rPr sz="1800" spc="-5" dirty="0"/>
              <a:t> </a:t>
            </a:r>
            <a:r>
              <a:rPr sz="1800" dirty="0"/>
              <a:t>sets,</a:t>
            </a:r>
            <a:r>
              <a:rPr sz="1800" spc="-5" dirty="0"/>
              <a:t> </a:t>
            </a:r>
            <a:r>
              <a:rPr sz="1800" dirty="0"/>
              <a:t>determine if</a:t>
            </a:r>
            <a:r>
              <a:rPr sz="1800" spc="-5" dirty="0"/>
              <a:t> </a:t>
            </a:r>
            <a:r>
              <a:rPr sz="1800" dirty="0"/>
              <a:t>they</a:t>
            </a:r>
            <a:r>
              <a:rPr sz="1800" spc="-5" dirty="0"/>
              <a:t> </a:t>
            </a:r>
            <a:r>
              <a:rPr sz="1800" dirty="0"/>
              <a:t>are </a:t>
            </a:r>
            <a:r>
              <a:rPr sz="1800" spc="-10" dirty="0"/>
              <a:t>disjoint.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1415836" y="3854476"/>
            <a:ext cx="7077075" cy="32048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set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 marR="3313429" indent="-344805">
              <a:lnSpc>
                <a:spcPts val="2850"/>
              </a:lnSpc>
              <a:spcBef>
                <a:spcPts val="2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other set S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element p of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710"/>
              </a:spcBef>
            </a:pPr>
            <a:r>
              <a:rPr sz="1500" dirty="0">
                <a:latin typeface="Lucida Console"/>
                <a:cs typeface="Lucida Console"/>
              </a:rPr>
              <a:t>determine whether p also belongs to </a:t>
            </a:r>
            <a:r>
              <a:rPr sz="1500" spc="-25" dirty="0">
                <a:latin typeface="Lucida Console"/>
                <a:cs typeface="Lucida Console"/>
              </a:rPr>
              <a:t>S</a:t>
            </a:r>
            <a:r>
              <a:rPr sz="1500" spc="-37" baseline="-16666" dirty="0">
                <a:latin typeface="Lucida Console"/>
                <a:cs typeface="Lucida Console"/>
              </a:rPr>
              <a:t>j</a:t>
            </a:r>
            <a:endParaRPr sz="1500" baseline="-16666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9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(no element of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belongs to </a:t>
            </a:r>
            <a:r>
              <a:rPr sz="1500" spc="-25" dirty="0">
                <a:latin typeface="Lucida Console"/>
                <a:cs typeface="Lucida Console"/>
              </a:rPr>
              <a:t>S</a:t>
            </a:r>
            <a:r>
              <a:rPr sz="1500" spc="-37" baseline="-16666" dirty="0">
                <a:latin typeface="Lucida Console"/>
                <a:cs typeface="Lucida Console"/>
              </a:rPr>
              <a:t>j</a:t>
            </a:r>
            <a:r>
              <a:rPr sz="1500" spc="-25" dirty="0"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latin typeface="Lucida Console"/>
                <a:cs typeface="Lucida Console"/>
              </a:rPr>
              <a:t>report that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and S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are </a:t>
            </a:r>
            <a:r>
              <a:rPr sz="1500" spc="-10" dirty="0">
                <a:latin typeface="Lucida Console"/>
                <a:cs typeface="Lucida Console"/>
              </a:rPr>
              <a:t>disjoint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962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188210" algn="l"/>
              </a:tabLst>
            </a:pPr>
            <a:r>
              <a:rPr dirty="0"/>
              <a:t>Polynomial</a:t>
            </a:r>
            <a:r>
              <a:rPr spc="185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50" dirty="0"/>
              <a:t>O(n</a:t>
            </a:r>
            <a:r>
              <a:rPr sz="2100" spc="75" baseline="27777" dirty="0"/>
              <a:t>k</a:t>
            </a:r>
            <a:r>
              <a:rPr sz="2100" spc="50" dirty="0"/>
              <a:t>)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815241" y="5068287"/>
            <a:ext cx="662368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Check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whether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independent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65" dirty="0">
                <a:latin typeface="Times New Roman"/>
                <a:cs typeface="Times New Roman"/>
              </a:rPr>
              <a:t>)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5430708"/>
            <a:ext cx="390525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Number of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element subsets</a:t>
            </a:r>
            <a:r>
              <a:rPr sz="1800" spc="-170" dirty="0">
                <a:latin typeface="Lucida Sans Unicode"/>
                <a:cs typeface="Lucida Sans Unicode"/>
              </a:rPr>
              <a:t> 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414" y="2908153"/>
            <a:ext cx="5226685" cy="199390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subset S of k nodes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 marR="391160">
              <a:lnSpc>
                <a:spcPct val="133500"/>
              </a:lnSpc>
              <a:spcBef>
                <a:spcPts val="75"/>
              </a:spcBef>
            </a:pPr>
            <a:r>
              <a:rPr sz="1500" dirty="0">
                <a:latin typeface="Lucida Console"/>
                <a:cs typeface="Lucida Console"/>
              </a:rPr>
              <a:t>check whether S in an independent </a:t>
            </a:r>
            <a:r>
              <a:rPr sz="1500" spc="-25" dirty="0">
                <a:latin typeface="Lucida Console"/>
                <a:cs typeface="Lucida Console"/>
              </a:rPr>
              <a:t>set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(S is an independent </a:t>
            </a:r>
            <a:r>
              <a:rPr sz="1500" spc="-20" dirty="0">
                <a:latin typeface="Lucida Console"/>
                <a:cs typeface="Lucida Console"/>
              </a:rPr>
              <a:t>set)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Lucida Console"/>
                <a:cs typeface="Lucida Console"/>
              </a:rPr>
              <a:t>report S is an independent </a:t>
            </a:r>
            <a:r>
              <a:rPr sz="1500" spc="-25" dirty="0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15978" y="6297915"/>
            <a:ext cx="196215" cy="317500"/>
            <a:chOff x="2915978" y="6297915"/>
            <a:chExt cx="196215" cy="317500"/>
          </a:xfrm>
        </p:grpSpPr>
        <p:sp>
          <p:nvSpPr>
            <p:cNvPr id="8" name="object 8"/>
            <p:cNvSpPr/>
            <p:nvPr/>
          </p:nvSpPr>
          <p:spPr>
            <a:xfrm>
              <a:off x="2946637" y="6348479"/>
              <a:ext cx="156210" cy="257175"/>
            </a:xfrm>
            <a:custGeom>
              <a:avLst/>
              <a:gdLst/>
              <a:ahLst/>
              <a:cxnLst/>
              <a:rect l="l" t="t" r="r" b="b"/>
              <a:pathLst>
                <a:path w="156210" h="257175">
                  <a:moveTo>
                    <a:pt x="0" y="0"/>
                  </a:moveTo>
                  <a:lnTo>
                    <a:pt x="4944" y="8155"/>
                  </a:lnTo>
                  <a:lnTo>
                    <a:pt x="155835" y="25700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5978" y="6297915"/>
              <a:ext cx="86995" cy="102235"/>
            </a:xfrm>
            <a:custGeom>
              <a:avLst/>
              <a:gdLst/>
              <a:ahLst/>
              <a:cxnLst/>
              <a:rect l="l" t="t" r="r" b="b"/>
              <a:pathLst>
                <a:path w="86994" h="102235">
                  <a:moveTo>
                    <a:pt x="0" y="0"/>
                  </a:moveTo>
                  <a:lnTo>
                    <a:pt x="8324" y="102026"/>
                  </a:lnTo>
                  <a:lnTo>
                    <a:pt x="35603" y="58718"/>
                  </a:lnTo>
                  <a:lnTo>
                    <a:pt x="86616" y="54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15241" y="5793129"/>
            <a:ext cx="3634104" cy="1293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217" baseline="18518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baseline="18518" dirty="0">
                <a:latin typeface="Times New Roman"/>
                <a:cs typeface="Times New Roman"/>
              </a:rPr>
              <a:t>k</a:t>
            </a:r>
            <a:r>
              <a:rPr sz="1800" i="1" spc="225" baseline="18518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/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!) =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i="1" spc="-15" baseline="18518" dirty="0">
                <a:latin typeface="Times New Roman"/>
                <a:cs typeface="Times New Roman"/>
              </a:rPr>
              <a:t>k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265680" marR="30480" indent="-105410">
              <a:lnSpc>
                <a:spcPct val="104299"/>
              </a:lnSpc>
              <a:spcBef>
                <a:spcPts val="5"/>
              </a:spcBef>
            </a:pPr>
            <a:r>
              <a:rPr sz="12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k=17,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but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not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practical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167" y="1131247"/>
            <a:ext cx="8163559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307911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 set of size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graph,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nodes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no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joined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edge?</a:t>
            </a:r>
            <a:endParaRPr sz="1800">
              <a:latin typeface="Lucida Sans Unicode"/>
              <a:cs typeface="Lucida Sans Unicode"/>
            </a:endParaRPr>
          </a:p>
          <a:p>
            <a:pPr marR="894715" algn="r">
              <a:lnSpc>
                <a:spcPts val="1175"/>
              </a:lnSpc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k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79705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k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nodes.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635" y="1538136"/>
            <a:ext cx="235657" cy="26907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69397" y="5503857"/>
            <a:ext cx="145415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3900"/>
              </a:lnSpc>
              <a:spcBef>
                <a:spcPts val="100"/>
              </a:spcBef>
            </a:pPr>
            <a:r>
              <a:rPr sz="1550" i="1" spc="85" dirty="0">
                <a:latin typeface="Calibri"/>
                <a:cs typeface="Calibri"/>
              </a:rPr>
              <a:t>n </a:t>
            </a:r>
            <a:r>
              <a:rPr sz="1550" i="1" spc="60" dirty="0">
                <a:latin typeface="Calibri"/>
                <a:cs typeface="Calibri"/>
              </a:rPr>
              <a:t>k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8905" y="5391215"/>
            <a:ext cx="17208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latin typeface="Arial MT"/>
                <a:cs typeface="Arial MT"/>
              </a:rPr>
              <a:t> 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6108" y="5669573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390" dirty="0">
                <a:latin typeface="Calibri"/>
                <a:cs typeface="Calibri"/>
              </a:rPr>
              <a:t>=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5487" y="5536040"/>
            <a:ext cx="306895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35" dirty="0">
                <a:latin typeface="Calibri"/>
                <a:cs typeface="Calibri"/>
              </a:rPr>
              <a:t>n</a:t>
            </a:r>
            <a:r>
              <a:rPr sz="1550" spc="135" dirty="0">
                <a:latin typeface="Calibri"/>
                <a:cs typeface="Calibri"/>
              </a:rPr>
              <a:t>(</a:t>
            </a:r>
            <a:r>
              <a:rPr sz="1550" i="1" spc="135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95" dirty="0">
                <a:latin typeface="Calibri"/>
                <a:cs typeface="Calibri"/>
              </a:rPr>
              <a:t>1)(</a:t>
            </a:r>
            <a:r>
              <a:rPr sz="1550" i="1" spc="95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spc="60" dirty="0">
                <a:latin typeface="Calibri"/>
                <a:cs typeface="Calibri"/>
              </a:rPr>
              <a:t>2)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dirty="0">
                <a:latin typeface="Verdana"/>
                <a:cs typeface="Verdana"/>
              </a:rPr>
              <a:t>··</a:t>
            </a:r>
            <a:r>
              <a:rPr sz="1550" i="1" spc="-280" dirty="0">
                <a:latin typeface="Verdana"/>
                <a:cs typeface="Verdana"/>
              </a:rPr>
              <a:t> </a:t>
            </a:r>
            <a:r>
              <a:rPr sz="1550" i="1" spc="-135" dirty="0">
                <a:latin typeface="Verdana"/>
                <a:cs typeface="Verdana"/>
              </a:rPr>
              <a:t>·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130" dirty="0">
                <a:latin typeface="Calibri"/>
                <a:cs typeface="Calibri"/>
              </a:rPr>
              <a:t>(</a:t>
            </a:r>
            <a:r>
              <a:rPr sz="1550" i="1" spc="130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i="1" spc="110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spc="440" dirty="0">
                <a:latin typeface="Calibri"/>
                <a:cs typeface="Calibri"/>
              </a:rPr>
              <a:t>+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35" dirty="0">
                <a:latin typeface="Calibri"/>
                <a:cs typeface="Calibri"/>
              </a:rPr>
              <a:t>1)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48187" y="5830329"/>
            <a:ext cx="3043555" cy="0"/>
          </a:xfrm>
          <a:custGeom>
            <a:avLst/>
            <a:gdLst/>
            <a:ahLst/>
            <a:cxnLst/>
            <a:rect l="l" t="t" r="r" b="b"/>
            <a:pathLst>
              <a:path w="3043554">
                <a:moveTo>
                  <a:pt x="0" y="0"/>
                </a:moveTo>
                <a:lnTo>
                  <a:pt x="3043471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85342" y="5805087"/>
            <a:ext cx="216979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35" dirty="0">
                <a:latin typeface="Calibri"/>
                <a:cs typeface="Calibri"/>
              </a:rPr>
              <a:t>k</a:t>
            </a:r>
            <a:r>
              <a:rPr sz="1550" spc="135" dirty="0">
                <a:latin typeface="Calibri"/>
                <a:cs typeface="Calibri"/>
              </a:rPr>
              <a:t>(</a:t>
            </a:r>
            <a:r>
              <a:rPr sz="1550" i="1" spc="135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90" dirty="0">
                <a:latin typeface="Calibri"/>
                <a:cs typeface="Calibri"/>
              </a:rPr>
              <a:t>1)(</a:t>
            </a:r>
            <a:r>
              <a:rPr sz="1550" i="1" spc="90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60" dirty="0">
                <a:latin typeface="Calibri"/>
                <a:cs typeface="Calibri"/>
              </a:rPr>
              <a:t>2)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dirty="0">
                <a:latin typeface="Verdana"/>
                <a:cs typeface="Verdana"/>
              </a:rPr>
              <a:t>··</a:t>
            </a:r>
            <a:r>
              <a:rPr sz="1550" i="1" spc="-280" dirty="0">
                <a:latin typeface="Verdana"/>
                <a:cs typeface="Verdana"/>
              </a:rPr>
              <a:t> </a:t>
            </a:r>
            <a:r>
              <a:rPr sz="1550" i="1" spc="-135" dirty="0">
                <a:latin typeface="Verdana"/>
                <a:cs typeface="Verdana"/>
              </a:rPr>
              <a:t>·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-50" dirty="0"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3455" y="5669573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-50" dirty="0">
                <a:latin typeface="Verdana"/>
                <a:cs typeface="Verdana"/>
              </a:rPr>
              <a:t>≤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15533" y="5830329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433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77434" y="5360815"/>
            <a:ext cx="280670" cy="70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30480" indent="-26034">
              <a:lnSpc>
                <a:spcPct val="144200"/>
              </a:lnSpc>
              <a:spcBef>
                <a:spcPts val="95"/>
              </a:spcBef>
            </a:pPr>
            <a:r>
              <a:rPr sz="2325" i="1" spc="202" baseline="-19713" dirty="0">
                <a:latin typeface="Calibri"/>
                <a:cs typeface="Calibri"/>
              </a:rPr>
              <a:t>n</a:t>
            </a:r>
            <a:r>
              <a:rPr sz="1050" i="1" spc="135" dirty="0">
                <a:latin typeface="Calibri"/>
                <a:cs typeface="Calibri"/>
              </a:rPr>
              <a:t>k </a:t>
            </a:r>
            <a:r>
              <a:rPr sz="1550" i="1" spc="-25" dirty="0">
                <a:latin typeface="Calibri"/>
                <a:cs typeface="Calibri"/>
              </a:rPr>
              <a:t>k</a:t>
            </a:r>
            <a:r>
              <a:rPr sz="1550" spc="-25" dirty="0">
                <a:latin typeface="Calibri"/>
                <a:cs typeface="Calibri"/>
              </a:rPr>
              <a:t>!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285" dirty="0"/>
              <a:t> </a:t>
            </a:r>
            <a:r>
              <a:rPr spc="-20" dirty="0"/>
              <a:t>time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07167" y="1131247"/>
            <a:ext cx="764476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20618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 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set.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graph,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cardinality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an </a:t>
            </a:r>
            <a:r>
              <a:rPr sz="1800" dirty="0">
                <a:latin typeface="Lucida Sans Unicode"/>
                <a:cs typeface="Lucida Sans Unicode"/>
              </a:rPr>
              <a:t>independent </a:t>
            </a:r>
            <a:r>
              <a:rPr sz="1800" spc="-20" dirty="0">
                <a:latin typeface="Lucida Sans Unicode"/>
                <a:cs typeface="Lucida Sans Unicode"/>
              </a:rPr>
              <a:t>set?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209232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spc="-15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n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10" dirty="0">
                <a:latin typeface="Lucida Sans Unicode"/>
                <a:cs typeface="Lucida Sans Unicode"/>
              </a:rPr>
              <a:t> subsets.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9684" y="3038711"/>
            <a:ext cx="6743065" cy="237490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S*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Symbol"/>
                <a:cs typeface="Symbol"/>
              </a:rPr>
              <a:t></a:t>
            </a:r>
            <a:endParaRPr sz="1500">
              <a:latin typeface="Symbol"/>
              <a:cs typeface="Symbol"/>
            </a:endParaRPr>
          </a:p>
          <a:p>
            <a:pPr marL="233679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subset S of nodes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Lucida Console"/>
                <a:cs typeface="Lucida Console"/>
              </a:rPr>
              <a:t>check whether S in an independent </a:t>
            </a:r>
            <a:r>
              <a:rPr sz="1500" spc="-25" dirty="0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922655" marR="989330" indent="-344805">
              <a:lnSpc>
                <a:spcPct val="133500"/>
              </a:lnSpc>
              <a:spcBef>
                <a:spcPts val="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(S is largest independent set seen so </a:t>
            </a:r>
            <a:r>
              <a:rPr sz="1500" spc="-20" dirty="0">
                <a:latin typeface="Lucida Console"/>
                <a:cs typeface="Lucida Console"/>
              </a:rPr>
              <a:t>far) </a:t>
            </a:r>
            <a:r>
              <a:rPr sz="1500" dirty="0">
                <a:latin typeface="Lucida Console"/>
                <a:cs typeface="Lucida Console"/>
              </a:rPr>
              <a:t>update S*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Console"/>
                <a:cs typeface="Lucida Console"/>
              </a:rPr>
              <a:t>S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Sublinear</a:t>
            </a:r>
            <a:r>
              <a:rPr spc="215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805751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8352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Search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sorted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array.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array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numbers,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given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 the </a:t>
            </a:r>
            <a:r>
              <a:rPr sz="1800" spc="-10" dirty="0">
                <a:latin typeface="Lucida Sans Unicode"/>
                <a:cs typeface="Lucida Sans Unicode"/>
              </a:rPr>
              <a:t>array?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209168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O(log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n)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Binary</a:t>
            </a:r>
            <a:r>
              <a:rPr sz="1800" spc="5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search.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5343" y="3086397"/>
            <a:ext cx="5121910" cy="2575560"/>
          </a:xfrm>
          <a:custGeom>
            <a:avLst/>
            <a:gdLst/>
            <a:ahLst/>
            <a:cxnLst/>
            <a:rect l="l" t="t" r="r" b="b"/>
            <a:pathLst>
              <a:path w="5121909" h="2575560">
                <a:moveTo>
                  <a:pt x="0" y="0"/>
                </a:moveTo>
                <a:lnTo>
                  <a:pt x="5121584" y="0"/>
                </a:lnTo>
                <a:lnTo>
                  <a:pt x="5121584" y="2575098"/>
                </a:lnTo>
                <a:lnTo>
                  <a:pt x="0" y="257509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69243" y="3054622"/>
            <a:ext cx="2998470" cy="133223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r>
              <a:rPr sz="1500" dirty="0">
                <a:latin typeface="Lucida Console"/>
                <a:cs typeface="Lucida Console"/>
              </a:rPr>
              <a:t>lo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Sans Unicode"/>
                <a:cs typeface="Lucida Sans Unicode"/>
              </a:rPr>
              <a:t>1</a:t>
            </a:r>
            <a:r>
              <a:rPr sz="1500" dirty="0">
                <a:latin typeface="Symbol"/>
                <a:cs typeface="Symbol"/>
              </a:rPr>
              <a:t>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Lucida Console"/>
                <a:cs typeface="Lucida Console"/>
              </a:rPr>
              <a:t>hi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Sans Unicode"/>
                <a:cs typeface="Lucida Sans Unicode"/>
              </a:rPr>
              <a:t>n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while</a:t>
            </a:r>
            <a:r>
              <a:rPr sz="1500" spc="-10" dirty="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(lo </a:t>
            </a:r>
            <a:r>
              <a:rPr sz="1500" spc="315" dirty="0">
                <a:latin typeface="Microsoft Sans Serif"/>
                <a:cs typeface="Microsoft Sans Serif"/>
              </a:rPr>
              <a:t>≤</a:t>
            </a:r>
            <a:r>
              <a:rPr sz="1500" spc="50" dirty="0">
                <a:latin typeface="Microsoft Sans Serif"/>
                <a:cs typeface="Microsoft Sans Serif"/>
              </a:rPr>
              <a:t>  </a:t>
            </a:r>
            <a:r>
              <a:rPr sz="1500" dirty="0">
                <a:latin typeface="Lucida Console"/>
                <a:cs typeface="Lucida Console"/>
              </a:rPr>
              <a:t>hi)</a:t>
            </a:r>
            <a:r>
              <a:rPr sz="1500" spc="5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latin typeface="Lucida Console"/>
                <a:cs typeface="Lucida Console"/>
              </a:rPr>
              <a:t>mid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(lo + hi) / </a:t>
            </a:r>
            <a:r>
              <a:rPr sz="1500" spc="-50" dirty="0">
                <a:latin typeface="Lucida Console"/>
                <a:cs typeface="Lucida Console"/>
              </a:rPr>
              <a:t>2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525"/>
              </a:spcBef>
              <a:tabLst>
                <a:tab pos="1263015" algn="l"/>
              </a:tabLst>
            </a:pPr>
            <a:r>
              <a:rPr sz="1500" spc="-25" dirty="0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(x &lt; A[mid]) </a:t>
            </a:r>
            <a:r>
              <a:rPr sz="1500" spc="-25" dirty="0">
                <a:latin typeface="Lucida Console"/>
                <a:cs typeface="Lucida Console"/>
              </a:rPr>
              <a:t>hi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369661" y="4056049"/>
            <a:ext cx="1120140" cy="63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mid -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mid +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3734" y="4370783"/>
            <a:ext cx="265430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9299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else if </a:t>
            </a:r>
            <a:r>
              <a:rPr sz="1500" dirty="0">
                <a:latin typeface="Lucida Console"/>
                <a:cs typeface="Lucida Console"/>
              </a:rPr>
              <a:t>(x &gt; A[mid]) </a:t>
            </a:r>
            <a:r>
              <a:rPr sz="1500" spc="-25" dirty="0">
                <a:latin typeface="Lucida Console"/>
                <a:cs typeface="Lucida Console"/>
              </a:rPr>
              <a:t>lo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else return </a:t>
            </a:r>
            <a:r>
              <a:rPr sz="1500" spc="-25" dirty="0">
                <a:latin typeface="Lucida Console"/>
                <a:cs typeface="Lucida Console"/>
              </a:rPr>
              <a:t>yes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9243" y="4971640"/>
            <a:ext cx="1046480" cy="5600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return </a:t>
            </a:r>
            <a:r>
              <a:rPr sz="1500" spc="-25" dirty="0">
                <a:latin typeface="Lucida Console"/>
                <a:cs typeface="Lucida Console"/>
              </a:rPr>
              <a:t>no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aLfI3Ox8J6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SC5CX8drAtU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EBVIDEO" val="ytbvideo/id/XMUe3zFhM5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2925</Words>
  <Application>Microsoft Macintosh PowerPoint</Application>
  <PresentationFormat>自定义</PresentationFormat>
  <Paragraphs>337</Paragraphs>
  <Slides>29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等线</vt:lpstr>
      <vt:lpstr>Microsoft Yahei</vt:lpstr>
      <vt:lpstr>Arial MT</vt:lpstr>
      <vt:lpstr>MS PGothic</vt:lpstr>
      <vt:lpstr>Arial</vt:lpstr>
      <vt:lpstr>Calibri</vt:lpstr>
      <vt:lpstr>Lucida Console</vt:lpstr>
      <vt:lpstr>Lucida Sans Unicode</vt:lpstr>
      <vt:lpstr>Microsoft Sans Serif</vt:lpstr>
      <vt:lpstr>Roboto</vt:lpstr>
      <vt:lpstr>Symbol</vt:lpstr>
      <vt:lpstr>Tahoma</vt:lpstr>
      <vt:lpstr>Times New Roman</vt:lpstr>
      <vt:lpstr>Trebuchet MS</vt:lpstr>
      <vt:lpstr>Verdana</vt:lpstr>
      <vt:lpstr>Office Theme</vt:lpstr>
      <vt:lpstr>2. Algorithm Analysis</vt:lpstr>
      <vt:lpstr>2. Algorithm Analysis</vt:lpstr>
      <vt:lpstr>PowerPoint 演示文稿</vt:lpstr>
      <vt:lpstr>A strikingly modern thought</vt:lpstr>
      <vt:lpstr>Brute force</vt:lpstr>
      <vt:lpstr>PowerPoint 演示文稿</vt:lpstr>
      <vt:lpstr>Polynomial running time</vt:lpstr>
      <vt:lpstr>Polynomial running time</vt:lpstr>
      <vt:lpstr>Worst-case analysis</vt:lpstr>
      <vt:lpstr>Types of analyses</vt:lpstr>
      <vt:lpstr>Why it matters</vt:lpstr>
      <vt:lpstr>2. Algorithm Analysis</vt:lpstr>
      <vt:lpstr>PowerPoint 演示文稿</vt:lpstr>
      <vt:lpstr>Big-Oh notation</vt:lpstr>
      <vt:lpstr>Notational abuses</vt:lpstr>
      <vt:lpstr>Big-Omega notation</vt:lpstr>
      <vt:lpstr>Big-Theta notation</vt:lpstr>
      <vt:lpstr>Useful facts</vt:lpstr>
      <vt:lpstr>Asymptotic bounds for some common functions</vt:lpstr>
      <vt:lpstr>Big-Oh notation with multiple variables</vt:lpstr>
      <vt:lpstr>2. Algorithm Analysis</vt:lpstr>
      <vt:lpstr>Linear time: O(n)</vt:lpstr>
      <vt:lpstr>Linear time: O(n)</vt:lpstr>
      <vt:lpstr>Linearithmic time: O(n log n)</vt:lpstr>
      <vt:lpstr>Quadratic time: O(n2)</vt:lpstr>
      <vt:lpstr>Cubic time: O(n3)</vt:lpstr>
      <vt:lpstr>Polynomial time: O(nk)</vt:lpstr>
      <vt:lpstr>Exponential time</vt:lpstr>
      <vt:lpstr>Sublinear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Kevin Wayne</dc:creator>
  <cp:keywords>analysis of algorithms, big-Oh notation</cp:keywords>
  <cp:lastModifiedBy>Fan B</cp:lastModifiedBy>
  <cp:revision>2</cp:revision>
  <dcterms:created xsi:type="dcterms:W3CDTF">2025-09-02T03:05:59Z</dcterms:created>
  <dcterms:modified xsi:type="dcterms:W3CDTF">2025-09-04T10:22:33Z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2013-09-08T00:00:00Z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2025-09-02T00:00:00Z</vt:filetime>
  </property>
  <property fmtid="{D5CDD505-2E9C-101B-9397-08002B2CF9AE}" pid="5" name="Producer">
    <vt:lpwstr>Mac OS X 10.8.4 Quartz PDFContext</vt:lpwstr>
  </property>
</Properties>
</file>
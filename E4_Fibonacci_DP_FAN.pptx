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D4DF6-8071-9548-9199-00A5C7C31999}" v="5" dt="2025-11-06T02:35:51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8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6B4B7-5345-4577-900A-6A630580455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2D512-27D8-4E5C-A87D-F7D50619A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56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2D512-27D8-4E5C-A87D-F7D50619AC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77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2D512-27D8-4E5C-A87D-F7D50619AC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21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2D512-27D8-4E5C-A87D-F7D50619AC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57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7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6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82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75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02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4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0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40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84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45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85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2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Fibonacci Sequence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387CAEA6-F17B-4C00-DE07-1109463FE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zh-CN"/>
              <a:t>FAN BI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5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3287C-AD65-6456-E710-792E04C2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9C78FC-36B2-8849-010A-8E958A48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altLang="zh-CN" sz="3600"/>
              <a:t>What is Fibonacci sequence?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Fibonacci Sequence? – TecAdmin">
            <a:extLst>
              <a:ext uri="{FF2B5EF4-FFF2-40B4-BE49-F238E27FC236}">
                <a16:creationId xmlns:a16="http://schemas.microsoft.com/office/drawing/2014/main" id="{3C835EFD-F430-2F4A-D377-0DD08D258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8374" y="1286287"/>
            <a:ext cx="6282919" cy="352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65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4723405" y="3716712"/>
            <a:ext cx="5024221" cy="600502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019868" y="3712191"/>
            <a:ext cx="2565779" cy="60050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solution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330" y="3855174"/>
            <a:ext cx="7590000" cy="360000"/>
          </a:xfrm>
          <a:prstGeom prst="rect">
            <a:avLst/>
          </a:prstGeom>
        </p:spPr>
      </p:pic>
      <p:sp>
        <p:nvSpPr>
          <p:cNvPr id="8" name="AutoShape 4"/>
          <p:cNvSpPr>
            <a:spLocks/>
          </p:cNvSpPr>
          <p:nvPr/>
        </p:nvSpPr>
        <p:spPr bwMode="auto">
          <a:xfrm>
            <a:off x="4797425" y="2982710"/>
            <a:ext cx="1368425" cy="503237"/>
          </a:xfrm>
          <a:prstGeom prst="borderCallout2">
            <a:avLst>
              <a:gd name="adj1" fmla="val 22713"/>
              <a:gd name="adj2" fmla="val -5569"/>
              <a:gd name="adj3" fmla="val 22713"/>
              <a:gd name="adj4" fmla="val -81324"/>
              <a:gd name="adj5" fmla="val 141818"/>
              <a:gd name="adj6" fmla="val -118747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200" b="1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Base case</a:t>
            </a:r>
          </a:p>
        </p:txBody>
      </p:sp>
      <p:sp>
        <p:nvSpPr>
          <p:cNvPr id="11" name="AutoShape 7"/>
          <p:cNvSpPr>
            <a:spLocks/>
          </p:cNvSpPr>
          <p:nvPr/>
        </p:nvSpPr>
        <p:spPr bwMode="auto">
          <a:xfrm>
            <a:off x="9031880" y="4719694"/>
            <a:ext cx="1790700" cy="504825"/>
          </a:xfrm>
          <a:prstGeom prst="borderCallout2">
            <a:avLst>
              <a:gd name="adj1" fmla="val 22644"/>
              <a:gd name="adj2" fmla="val -4255"/>
              <a:gd name="adj3" fmla="val 22644"/>
              <a:gd name="adj4" fmla="val -63120"/>
              <a:gd name="adj5" fmla="val -76411"/>
              <a:gd name="adj6" fmla="val -89603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200" b="1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General case</a:t>
            </a:r>
          </a:p>
        </p:txBody>
      </p:sp>
    </p:spTree>
    <p:extLst>
      <p:ext uri="{BB962C8B-B14F-4D97-AF65-F5344CB8AC3E}">
        <p14:creationId xmlns:p14="http://schemas.microsoft.com/office/powerpoint/2010/main" val="388183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solution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558" y="1949995"/>
            <a:ext cx="7590000" cy="360000"/>
          </a:xfrm>
          <a:prstGeom prst="rect">
            <a:avLst/>
          </a:prstGeo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671364" y="2826671"/>
            <a:ext cx="8180387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 dirty="0">
                <a:latin typeface="Arial" pitchFamily="34" charset="0"/>
              </a:rPr>
              <a:t>Main Idea:</a:t>
            </a: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dirty="0">
                <a:latin typeface="Arial" pitchFamily="34" charset="0"/>
              </a:rPr>
              <a:t>        </a:t>
            </a:r>
            <a:r>
              <a:rPr lang="en-US" altLang="zh-TW" sz="2800" b="1" dirty="0">
                <a:latin typeface="Times New Roman" pitchFamily="18" charset="0"/>
              </a:rPr>
              <a:t>a</a:t>
            </a:r>
            <a:r>
              <a:rPr lang="en-US" altLang="zh-TW" sz="2800" b="1" baseline="-25000" dirty="0">
                <a:latin typeface="Times New Roman" pitchFamily="18" charset="0"/>
              </a:rPr>
              <a:t>0</a:t>
            </a:r>
            <a:r>
              <a:rPr lang="en-US" altLang="zh-TW" sz="2800" b="1" dirty="0">
                <a:latin typeface="Times New Roman" pitchFamily="18" charset="0"/>
              </a:rPr>
              <a:t> + a</a:t>
            </a:r>
            <a:r>
              <a:rPr lang="en-US" altLang="zh-TW" sz="2800" b="1" baseline="-25000" dirty="0">
                <a:latin typeface="Times New Roman" pitchFamily="18" charset="0"/>
              </a:rPr>
              <a:t>1</a:t>
            </a:r>
            <a:r>
              <a:rPr lang="en-US" altLang="zh-TW" sz="2800" b="1" dirty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a</a:t>
            </a:r>
            <a:r>
              <a:rPr lang="en-US" altLang="zh-TW" sz="2800" b="1" baseline="-25000" dirty="0">
                <a:latin typeface="Times New Roman" pitchFamily="18" charset="0"/>
                <a:sym typeface="Wingdings 3" pitchFamily="18" charset="2"/>
              </a:rPr>
              <a:t>2</a:t>
            </a: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b="1" dirty="0">
                <a:latin typeface="Times New Roman" pitchFamily="18" charset="0"/>
              </a:rPr>
              <a:t>                a</a:t>
            </a:r>
            <a:r>
              <a:rPr lang="en-US" altLang="zh-TW" sz="2800" b="1" baseline="-25000" dirty="0">
                <a:latin typeface="Times New Roman" pitchFamily="18" charset="0"/>
              </a:rPr>
              <a:t>1</a:t>
            </a:r>
            <a:r>
              <a:rPr lang="en-US" altLang="zh-TW" sz="2800" b="1" dirty="0">
                <a:latin typeface="Times New Roman" pitchFamily="18" charset="0"/>
              </a:rPr>
              <a:t>  +  a</a:t>
            </a:r>
            <a:r>
              <a:rPr lang="en-US" altLang="zh-TW" sz="2800" b="1" baseline="-25000" dirty="0">
                <a:latin typeface="Times New Roman" pitchFamily="18" charset="0"/>
              </a:rPr>
              <a:t>2</a:t>
            </a:r>
            <a:r>
              <a:rPr lang="en-US" altLang="zh-TW" sz="2800" b="1" dirty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a</a:t>
            </a:r>
            <a:r>
              <a:rPr lang="en-US" altLang="zh-TW" sz="2800" b="1" baseline="-25000" dirty="0">
                <a:latin typeface="Times New Roman" pitchFamily="18" charset="0"/>
                <a:sym typeface="Wingdings 3" pitchFamily="18" charset="2"/>
              </a:rPr>
              <a:t>3</a:t>
            </a: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b="1" dirty="0">
                <a:latin typeface="Times New Roman" pitchFamily="18" charset="0"/>
              </a:rPr>
              <a:t>                          a</a:t>
            </a:r>
            <a:r>
              <a:rPr lang="en-US" altLang="zh-TW" sz="2800" b="1" baseline="-25000" dirty="0">
                <a:latin typeface="Times New Roman" pitchFamily="18" charset="0"/>
              </a:rPr>
              <a:t>2</a:t>
            </a:r>
            <a:r>
              <a:rPr lang="en-US" altLang="zh-TW" sz="2800" b="1" dirty="0">
                <a:latin typeface="Times New Roman" pitchFamily="18" charset="0"/>
              </a:rPr>
              <a:t>  +  a</a:t>
            </a:r>
            <a:r>
              <a:rPr lang="en-US" altLang="zh-TW" sz="2800" b="1" baseline="-25000" dirty="0">
                <a:latin typeface="Times New Roman" pitchFamily="18" charset="0"/>
              </a:rPr>
              <a:t>3</a:t>
            </a:r>
            <a:r>
              <a:rPr lang="en-US" altLang="zh-TW" sz="2800" b="1" dirty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a</a:t>
            </a:r>
            <a:r>
              <a:rPr lang="en-US" altLang="zh-TW" sz="2800" b="1" baseline="-25000" dirty="0">
                <a:latin typeface="Times New Roman" pitchFamily="18" charset="0"/>
                <a:sym typeface="Wingdings 3" pitchFamily="18" charset="2"/>
              </a:rPr>
              <a:t>4</a:t>
            </a: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b="1" dirty="0">
                <a:latin typeface="Times New Roman" pitchFamily="18" charset="0"/>
              </a:rPr>
              <a:t>                                    a</a:t>
            </a:r>
            <a:r>
              <a:rPr lang="en-US" altLang="zh-TW" sz="2800" b="1" baseline="-25000" dirty="0">
                <a:latin typeface="Times New Roman" pitchFamily="18" charset="0"/>
              </a:rPr>
              <a:t>3</a:t>
            </a:r>
            <a:r>
              <a:rPr lang="en-US" altLang="zh-TW" sz="2800" b="1" dirty="0">
                <a:latin typeface="Times New Roman" pitchFamily="18" charset="0"/>
              </a:rPr>
              <a:t>  +  a</a:t>
            </a:r>
            <a:r>
              <a:rPr lang="en-US" altLang="zh-TW" sz="2800" b="1" baseline="-25000" dirty="0">
                <a:latin typeface="Times New Roman" pitchFamily="18" charset="0"/>
              </a:rPr>
              <a:t>4</a:t>
            </a:r>
            <a:r>
              <a:rPr lang="en-US" altLang="zh-TW" sz="2800" b="1" dirty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a</a:t>
            </a:r>
            <a:r>
              <a:rPr lang="en-US" altLang="zh-TW" sz="2800" b="1" baseline="-25000" dirty="0">
                <a:latin typeface="Times New Roman" pitchFamily="18" charset="0"/>
                <a:sym typeface="Wingdings 3" pitchFamily="18" charset="2"/>
              </a:rPr>
              <a:t>5</a:t>
            </a:r>
            <a:endParaRPr lang="en-US" altLang="zh-TW" sz="2800" b="1" dirty="0">
              <a:latin typeface="Times New Roman" pitchFamily="18" charset="0"/>
              <a:sym typeface="Wingdings 3" pitchFamily="18" charset="2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6483158" y="3606133"/>
            <a:ext cx="971550" cy="10985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kumimoji="1" lang="en-US" altLang="zh-CN" sz="6600" b="1">
                <a:solidFill>
                  <a:schemeClr val="hlink"/>
                </a:solidFill>
                <a:latin typeface="Times New Roman" pitchFamily="18" charset="0"/>
                <a:sym typeface="Wingdings" pitchFamily="2" charset="2"/>
              </a:rPr>
              <a:t></a:t>
            </a:r>
          </a:p>
        </p:txBody>
      </p: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7364220" y="3822033"/>
            <a:ext cx="2192338" cy="588963"/>
            <a:chOff x="3948" y="2968"/>
            <a:chExt cx="1381" cy="371"/>
          </a:xfrm>
        </p:grpSpPr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3948" y="2968"/>
              <a:ext cx="131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TW" altLang="en-US" sz="2800" b="1" dirty="0"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 </a:t>
              </a:r>
              <a:r>
                <a:rPr kumimoji="1" lang="en-US" altLang="zh-TW" sz="2800" b="1" dirty="0" err="1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a</a:t>
              </a:r>
              <a:r>
                <a:rPr kumimoji="1" lang="en-US" altLang="zh-TW" sz="2800" b="1" baseline="-25000" dirty="0" err="1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p</a:t>
              </a:r>
              <a:r>
                <a:rPr kumimoji="1" lang="en-US" altLang="zh-TW" sz="2800" b="1" dirty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 + </a:t>
              </a:r>
              <a:r>
                <a:rPr kumimoji="1" lang="en-US" altLang="zh-TW" sz="2800" b="1" dirty="0" err="1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a</a:t>
              </a:r>
              <a:r>
                <a:rPr kumimoji="1" lang="en-US" altLang="zh-TW" sz="2800" b="1" baseline="-25000" dirty="0" err="1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q</a:t>
              </a:r>
              <a:r>
                <a:rPr kumimoji="1" lang="en-US" altLang="zh-TW" sz="2800" b="1" dirty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  </a:t>
              </a:r>
              <a:r>
                <a:rPr kumimoji="1" lang="en-US" altLang="zh-TW" sz="2800" b="1" dirty="0" err="1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a</a:t>
              </a:r>
              <a:r>
                <a:rPr kumimoji="1" lang="en-US" altLang="zh-TW" sz="2800" b="1" baseline="-25000" dirty="0" err="1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r</a:t>
              </a:r>
              <a:endParaRPr kumimoji="1" lang="en-US" altLang="zh-TW" sz="2800" b="1" baseline="-25000" dirty="0">
                <a:solidFill>
                  <a:srgbClr val="0000FF"/>
                </a:solidFill>
                <a:latin typeface="Times New Roman" pitchFamily="18" charset="0"/>
                <a:ea typeface="新細明體" pitchFamily="18" charset="-120"/>
                <a:cs typeface="Arial" pitchFamily="34" charset="0"/>
                <a:sym typeface="Wingdings 3" pitchFamily="18" charset="2"/>
              </a:endParaRPr>
            </a:p>
          </p:txBody>
        </p:sp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3969" y="2976"/>
              <a:ext cx="1360" cy="3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98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Rectangle 2054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2080" name="Picture 2056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81" name="Straight Connector 2058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Straight Connector 2060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83" name="Rectangle 2062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4" name="Rectangle 2064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altLang="zh-CN" sz="4100"/>
              <a:t>Dynamic programming solution</a:t>
            </a:r>
          </a:p>
        </p:txBody>
      </p:sp>
      <p:cxnSp>
        <p:nvCxnSpPr>
          <p:cNvPr id="2085" name="Straight Connector 2066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ynamic Programming - From Basics To Advanced (+Examples) // Unstop">
            <a:extLst>
              <a:ext uri="{FF2B5EF4-FFF2-40B4-BE49-F238E27FC236}">
                <a16:creationId xmlns:a16="http://schemas.microsoft.com/office/drawing/2014/main" id="{18303F34-4068-45E8-28F0-33C79095C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1480416"/>
            <a:ext cx="4960442" cy="331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2068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87" name="Straight Connector 2070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63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 the 3 solutions for Fibonacci number</a:t>
            </a:r>
          </a:p>
          <a:p>
            <a:endParaRPr lang="en-US" altLang="zh-CN" dirty="0"/>
          </a:p>
          <a:p>
            <a:r>
              <a:rPr lang="en-US" altLang="zh-CN" dirty="0"/>
              <a:t>Compare the running time of the 3 solutions</a:t>
            </a:r>
          </a:p>
          <a:p>
            <a:pPr lvl="1"/>
            <a:r>
              <a:rPr lang="en-US" altLang="zh-CN" dirty="0"/>
              <a:t>e.g., compare the running time of fib(10), fib(20), fib(30), fib(40)</a:t>
            </a:r>
          </a:p>
          <a:p>
            <a:endParaRPr lang="en-US" altLang="zh-CN" dirty="0"/>
          </a:p>
          <a:p>
            <a:r>
              <a:rPr lang="en-US" altLang="zh-CN" dirty="0"/>
              <a:t>Which algorithm is fast?</a:t>
            </a:r>
          </a:p>
        </p:txBody>
      </p:sp>
    </p:spTree>
    <p:extLst>
      <p:ext uri="{BB962C8B-B14F-4D97-AF65-F5344CB8AC3E}">
        <p14:creationId xmlns:p14="http://schemas.microsoft.com/office/powerpoint/2010/main" val="2996624265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111</TotalTime>
  <Words>103</Words>
  <Application>Microsoft Macintosh PowerPoint</Application>
  <PresentationFormat>宽屏</PresentationFormat>
  <Paragraphs>25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Times New Roman</vt:lpstr>
      <vt:lpstr>Wingdings</vt:lpstr>
      <vt:lpstr>画廊</vt:lpstr>
      <vt:lpstr>Fibonacci Sequence</vt:lpstr>
      <vt:lpstr>What is Fibonacci sequence?</vt:lpstr>
      <vt:lpstr>Recursive solution</vt:lpstr>
      <vt:lpstr>Iterative solution</vt:lpstr>
      <vt:lpstr>Dynamic programming solution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Fibonacci number</dc:title>
  <dc:creator>1351252606@qq.com</dc:creator>
  <cp:lastModifiedBy>Fan B</cp:lastModifiedBy>
  <cp:revision>7</cp:revision>
  <dcterms:created xsi:type="dcterms:W3CDTF">2021-09-09T00:54:15Z</dcterms:created>
  <dcterms:modified xsi:type="dcterms:W3CDTF">2025-11-06T02:57:04Z</dcterms:modified>
</cp:coreProperties>
</file>
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43"/>
    <p:restoredTop sz="94673"/>
  </p:normalViewPr>
  <p:slideViewPr>
    <p:cSldViewPr>
      <p:cViewPr varScale="1">
        <p:scale>
          <a:sx n="113" d="100"/>
          <a:sy n="113" d="100"/>
        </p:scale>
        <p:origin x="1616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4426C7-6FBA-4C4E-81E1-4A4958CCB9A3}" type="datetimeFigureOut">
              <a:t>2025/10/28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FF5C7-D6F1-5549-8E16-B4F1ED6B0EA9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061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FF5C7-D6F1-5549-8E16-B4F1ED6B0EA9}" type="slidenum"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8146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pPr marL="7493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pPr marL="7493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pPr marL="7493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pPr marL="7493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pPr marL="7493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14300"/>
            <a:ext cx="10058400" cy="7543800"/>
          </a:xfrm>
          <a:custGeom>
            <a:avLst/>
            <a:gdLst/>
            <a:ahLst/>
            <a:cxnLst/>
            <a:rect l="l" t="t" r="r" b="b"/>
            <a:pathLst>
              <a:path w="10058400" h="7543800">
                <a:moveTo>
                  <a:pt x="0" y="0"/>
                </a:moveTo>
                <a:lnTo>
                  <a:pt x="10058400" y="0"/>
                </a:lnTo>
                <a:lnTo>
                  <a:pt x="10058400" y="7543800"/>
                </a:lnTo>
                <a:lnTo>
                  <a:pt x="0" y="7543800"/>
                </a:lnTo>
                <a:lnTo>
                  <a:pt x="0" y="0"/>
                </a:lnTo>
                <a:close/>
              </a:path>
            </a:pathLst>
          </a:custGeom>
          <a:solidFill>
            <a:srgbClr val="005493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38472" y="880446"/>
            <a:ext cx="8791575" cy="635"/>
          </a:xfrm>
          <a:custGeom>
            <a:avLst/>
            <a:gdLst/>
            <a:ahLst/>
            <a:cxnLst/>
            <a:rect l="l" t="t" r="r" b="b"/>
            <a:pathLst>
              <a:path w="8791575" h="634">
                <a:moveTo>
                  <a:pt x="0" y="20"/>
                </a:moveTo>
                <a:lnTo>
                  <a:pt x="8791271" y="0"/>
                </a:lnTo>
              </a:path>
            </a:pathLst>
          </a:custGeom>
          <a:ln w="98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5950" y="376634"/>
            <a:ext cx="5654675" cy="355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48394" y="3239404"/>
            <a:ext cx="6842759" cy="172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552775" y="7338618"/>
            <a:ext cx="238125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pPr marL="7493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s.princeton.edu/~wayne/kleinberg-tardos" TargetMode="Externa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7543800"/>
          </a:xfrm>
          <a:custGeom>
            <a:avLst/>
            <a:gdLst/>
            <a:ahLst/>
            <a:cxnLst/>
            <a:rect l="l" t="t" r="r" b="b"/>
            <a:pathLst>
              <a:path w="10058400" h="7543800">
                <a:moveTo>
                  <a:pt x="0" y="0"/>
                </a:moveTo>
                <a:lnTo>
                  <a:pt x="10058400" y="0"/>
                </a:lnTo>
                <a:lnTo>
                  <a:pt x="10058400" y="7543800"/>
                </a:lnTo>
                <a:lnTo>
                  <a:pt x="0" y="7543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08118" y="1460500"/>
            <a:ext cx="3437890" cy="3948429"/>
            <a:chOff x="508118" y="1460500"/>
            <a:chExt cx="3437890" cy="3948429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118" y="1460500"/>
              <a:ext cx="3437352" cy="394821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25800" y="1574800"/>
              <a:ext cx="571500" cy="6350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63531" y="5627219"/>
            <a:ext cx="3742054" cy="8788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3370" marR="354965" indent="471805">
              <a:lnSpc>
                <a:spcPct val="135000"/>
              </a:lnSpc>
              <a:spcBef>
                <a:spcPts val="90"/>
              </a:spcBef>
            </a:pP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Lecture</a:t>
            </a:r>
            <a:r>
              <a:rPr sz="1050" b="1" spc="10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slides</a:t>
            </a:r>
            <a:r>
              <a:rPr sz="1050" b="1" spc="10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by</a:t>
            </a:r>
            <a:r>
              <a:rPr sz="1050" b="1" spc="10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Kevin</a:t>
            </a:r>
            <a:r>
              <a:rPr sz="1050" b="1" spc="10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spc="-20" dirty="0">
                <a:solidFill>
                  <a:srgbClr val="FFFFFF"/>
                </a:solidFill>
                <a:latin typeface="Lucida Sans"/>
                <a:cs typeface="Lucida Sans"/>
              </a:rPr>
              <a:t>Wayne </a:t>
            </a: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Copyright</a:t>
            </a:r>
            <a:r>
              <a:rPr sz="1050" b="1" spc="12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©</a:t>
            </a:r>
            <a:r>
              <a:rPr sz="1050" b="1" spc="12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2005</a:t>
            </a:r>
            <a:r>
              <a:rPr sz="1050" b="1" spc="13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spc="60" dirty="0">
                <a:solidFill>
                  <a:srgbClr val="FFFFFF"/>
                </a:solidFill>
                <a:latin typeface="Lucida Sans"/>
                <a:cs typeface="Lucida Sans"/>
              </a:rPr>
              <a:t>Pearson-</a:t>
            </a: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Addison</a:t>
            </a:r>
            <a:r>
              <a:rPr sz="1050" b="1" spc="12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Lucida Sans"/>
                <a:cs typeface="Lucida Sans"/>
              </a:rPr>
              <a:t>Wesley</a:t>
            </a:r>
            <a:endParaRPr sz="1050">
              <a:latin typeface="Lucida Sans"/>
              <a:cs typeface="Lucida Sans"/>
            </a:endParaRPr>
          </a:p>
          <a:p>
            <a:pPr marL="730885">
              <a:lnSpc>
                <a:spcPct val="100000"/>
              </a:lnSpc>
              <a:spcBef>
                <a:spcPts val="445"/>
              </a:spcBef>
            </a:pP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Copyright</a:t>
            </a:r>
            <a:r>
              <a:rPr sz="1050" b="1" spc="11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©</a:t>
            </a:r>
            <a:r>
              <a:rPr sz="1050" b="1" spc="11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2013</a:t>
            </a:r>
            <a:r>
              <a:rPr sz="1050" b="1" spc="114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Kevin</a:t>
            </a:r>
            <a:r>
              <a:rPr sz="1050" b="1" spc="11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spc="-20" dirty="0">
                <a:solidFill>
                  <a:srgbClr val="FFFFFF"/>
                </a:solidFill>
                <a:latin typeface="Lucida Sans"/>
                <a:cs typeface="Lucida Sans"/>
              </a:rPr>
              <a:t>Wayne</a:t>
            </a:r>
            <a:endParaRPr sz="10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850" b="1" spc="95" dirty="0">
                <a:solidFill>
                  <a:srgbClr val="FFFFFF"/>
                </a:solidFill>
                <a:latin typeface="Lucida Sans"/>
                <a:cs typeface="Lucida Sans"/>
                <a:hlinkClick r:id="rId5"/>
              </a:rPr>
              <a:t>http://www.cs.princeton.edu/~wayne/kleinberg-</a:t>
            </a:r>
            <a:r>
              <a:rPr sz="850" b="1" spc="65" dirty="0">
                <a:solidFill>
                  <a:srgbClr val="FFFFFF"/>
                </a:solidFill>
                <a:latin typeface="Lucida Sans"/>
                <a:cs typeface="Lucida Sans"/>
                <a:hlinkClick r:id="rId5"/>
              </a:rPr>
              <a:t>tardos </a:t>
            </a:r>
            <a:endParaRPr sz="850">
              <a:latin typeface="Lucida Sans"/>
              <a:cs typeface="Lucida San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69276" y="1931490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726" y="0"/>
                </a:lnTo>
              </a:path>
            </a:pathLst>
          </a:custGeom>
          <a:ln w="1473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86531" y="7291784"/>
            <a:ext cx="2299335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solidFill>
                  <a:srgbClr val="FFFFFF"/>
                </a:solidFill>
                <a:latin typeface="Lucida Sans Unicode"/>
                <a:cs typeface="Lucida Sans Unicode"/>
              </a:rPr>
              <a:t>Last</a:t>
            </a:r>
            <a:r>
              <a:rPr sz="9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FFFFFF"/>
                </a:solidFill>
                <a:latin typeface="Lucida Sans Unicode"/>
                <a:cs typeface="Lucida Sans Unicode"/>
              </a:rPr>
              <a:t>updated</a:t>
            </a:r>
            <a:r>
              <a:rPr sz="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FFFFFF"/>
                </a:solidFill>
                <a:latin typeface="Lucida Sans Unicode"/>
                <a:cs typeface="Lucida Sans Unicode"/>
              </a:rPr>
              <a:t>on</a:t>
            </a:r>
            <a:r>
              <a:rPr sz="9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FFFFFF"/>
                </a:solidFill>
                <a:latin typeface="Lucida Sans Unicode"/>
                <a:cs typeface="Lucida Sans Unicode"/>
              </a:rPr>
              <a:t>Mar</a:t>
            </a:r>
            <a:r>
              <a:rPr sz="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FFFFFF"/>
                </a:solidFill>
                <a:latin typeface="Lucida Sans Unicode"/>
                <a:cs typeface="Lucida Sans Unicode"/>
              </a:rPr>
              <a:t>14,</a:t>
            </a:r>
            <a:r>
              <a:rPr sz="9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FFFFFF"/>
                </a:solidFill>
                <a:latin typeface="Lucida Sans Unicode"/>
                <a:cs typeface="Lucida Sans Unicode"/>
              </a:rPr>
              <a:t>2014,</a:t>
            </a:r>
            <a:r>
              <a:rPr sz="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FFFFFF"/>
                </a:solidFill>
                <a:latin typeface="Lucida Sans Unicode"/>
                <a:cs typeface="Lucida Sans Unicode"/>
              </a:rPr>
              <a:t>5:36</a:t>
            </a:r>
            <a:r>
              <a:rPr sz="9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PM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495898" y="1358894"/>
            <a:ext cx="4392930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39115" algn="l"/>
              </a:tabLst>
            </a:pPr>
            <a:r>
              <a:rPr sz="2750" b="1" cap="small" spc="75" dirty="0">
                <a:solidFill>
                  <a:srgbClr val="FFFFFF"/>
                </a:solidFill>
                <a:latin typeface="Century Gothic"/>
                <a:cs typeface="Century Gothic"/>
              </a:rPr>
              <a:t>1.</a:t>
            </a:r>
            <a:r>
              <a:rPr sz="2750" b="1" cap="small" dirty="0">
                <a:solidFill>
                  <a:srgbClr val="FFFFFF"/>
                </a:solidFill>
                <a:latin typeface="Century Gothic"/>
                <a:cs typeface="Century Gothic"/>
              </a:rPr>
              <a:t>	Representative</a:t>
            </a:r>
            <a:r>
              <a:rPr sz="2750" b="1" cap="small" spc="85" dirty="0">
                <a:solidFill>
                  <a:srgbClr val="FFFFFF"/>
                </a:solidFill>
                <a:latin typeface="Century Gothic"/>
                <a:cs typeface="Century Gothic"/>
              </a:rPr>
              <a:t>  </a:t>
            </a:r>
            <a:r>
              <a:rPr sz="2750" b="1" cap="small" spc="-10" dirty="0">
                <a:solidFill>
                  <a:srgbClr val="FFFFFF"/>
                </a:solidFill>
                <a:latin typeface="Century Gothic"/>
                <a:cs typeface="Century Gothic"/>
              </a:rPr>
              <a:t>Problems</a:t>
            </a:r>
            <a:endParaRPr sz="275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5898" y="2066125"/>
            <a:ext cx="3735704" cy="1007744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57175" indent="-244475">
              <a:lnSpc>
                <a:spcPct val="100000"/>
              </a:lnSpc>
              <a:spcBef>
                <a:spcPts val="1200"/>
              </a:spcBef>
              <a:buFont typeface="Lucida Sans Unicode"/>
              <a:buChar char="‣"/>
              <a:tabLst>
                <a:tab pos="257175" algn="l"/>
              </a:tabLst>
            </a:pPr>
            <a:r>
              <a:rPr sz="2300" i="1" dirty="0">
                <a:solidFill>
                  <a:srgbClr val="FFFFFF"/>
                </a:solidFill>
                <a:latin typeface="Calibri"/>
                <a:cs typeface="Calibri"/>
              </a:rPr>
              <a:t>stable</a:t>
            </a:r>
            <a:r>
              <a:rPr sz="2300" i="1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10" dirty="0">
                <a:solidFill>
                  <a:srgbClr val="FFFFFF"/>
                </a:solidFill>
                <a:latin typeface="Calibri"/>
                <a:cs typeface="Calibri"/>
              </a:rPr>
              <a:t>matching</a:t>
            </a:r>
            <a:endParaRPr sz="23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spcBef>
                <a:spcPts val="1110"/>
              </a:spcBef>
              <a:buFont typeface="Lucida Sans Unicode"/>
              <a:buChar char="‣"/>
              <a:tabLst>
                <a:tab pos="257175" algn="l"/>
              </a:tabLst>
            </a:pPr>
            <a:r>
              <a:rPr sz="2300" i="1" dirty="0">
                <a:solidFill>
                  <a:srgbClr val="FFFFFF"/>
                </a:solidFill>
                <a:latin typeface="Calibri"/>
                <a:cs typeface="Calibri"/>
              </a:rPr>
              <a:t>five</a:t>
            </a:r>
            <a:r>
              <a:rPr sz="2300" i="1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dirty="0">
                <a:solidFill>
                  <a:srgbClr val="FFFFFF"/>
                </a:solidFill>
                <a:latin typeface="Calibri"/>
                <a:cs typeface="Calibri"/>
              </a:rPr>
              <a:t>representative</a:t>
            </a:r>
            <a:r>
              <a:rPr sz="2300" i="1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10" dirty="0">
                <a:solidFill>
                  <a:srgbClr val="FFFFFF"/>
                </a:solidFill>
                <a:latin typeface="Calibri"/>
                <a:cs typeface="Calibri"/>
              </a:rPr>
              <a:t>problems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7543800"/>
          </a:xfrm>
          <a:custGeom>
            <a:avLst/>
            <a:gdLst/>
            <a:ahLst/>
            <a:cxnLst/>
            <a:rect l="l" t="t" r="r" b="b"/>
            <a:pathLst>
              <a:path w="10058400" h="7543800">
                <a:moveTo>
                  <a:pt x="0" y="0"/>
                </a:moveTo>
                <a:lnTo>
                  <a:pt x="10058400" y="0"/>
                </a:lnTo>
                <a:lnTo>
                  <a:pt x="10058400" y="7543800"/>
                </a:lnTo>
                <a:lnTo>
                  <a:pt x="0" y="7543800"/>
                </a:lnTo>
                <a:lnTo>
                  <a:pt x="0" y="0"/>
                </a:lnTo>
                <a:close/>
              </a:path>
            </a:pathLst>
          </a:custGeom>
          <a:solidFill>
            <a:srgbClr val="005493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08118" y="1460500"/>
            <a:ext cx="3437890" cy="3948429"/>
            <a:chOff x="508118" y="1460500"/>
            <a:chExt cx="3437890" cy="39484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8118" y="1460500"/>
              <a:ext cx="3437352" cy="394821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25800" y="1577873"/>
              <a:ext cx="565741" cy="6286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4469305" y="1931490"/>
            <a:ext cx="5039360" cy="0"/>
          </a:xfrm>
          <a:custGeom>
            <a:avLst/>
            <a:gdLst/>
            <a:ahLst/>
            <a:cxnLst/>
            <a:rect l="l" t="t" r="r" b="b"/>
            <a:pathLst>
              <a:path w="5039359">
                <a:moveTo>
                  <a:pt x="0" y="0"/>
                </a:moveTo>
                <a:lnTo>
                  <a:pt x="5039019" y="0"/>
                </a:lnTo>
              </a:path>
            </a:pathLst>
          </a:custGeom>
          <a:ln w="19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75146" y="5494242"/>
            <a:ext cx="1114425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cap="small" dirty="0">
                <a:latin typeface="Lucida Sans"/>
                <a:cs typeface="Lucida Sans"/>
              </a:rPr>
              <a:t>Section</a:t>
            </a:r>
            <a:r>
              <a:rPr sz="1550" b="1" cap="small" spc="-85" dirty="0">
                <a:latin typeface="Lucida Sans"/>
                <a:cs typeface="Lucida Sans"/>
              </a:rPr>
              <a:t> </a:t>
            </a:r>
            <a:r>
              <a:rPr sz="1550" b="1" cap="small" spc="-40" dirty="0">
                <a:latin typeface="Lucida Sans"/>
                <a:cs typeface="Lucida Sans"/>
              </a:rPr>
              <a:t>1.1</a:t>
            </a:r>
            <a:endParaRPr sz="155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495898" y="1358894"/>
            <a:ext cx="4392930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39115" algn="l"/>
              </a:tabLst>
            </a:pPr>
            <a:r>
              <a:rPr sz="2750" b="1" cap="small" spc="75" dirty="0">
                <a:latin typeface="Century Gothic"/>
                <a:cs typeface="Century Gothic"/>
              </a:rPr>
              <a:t>1.</a:t>
            </a:r>
            <a:r>
              <a:rPr sz="2750" b="1" cap="small" dirty="0">
                <a:latin typeface="Century Gothic"/>
                <a:cs typeface="Century Gothic"/>
              </a:rPr>
              <a:t>	Representative</a:t>
            </a:r>
            <a:r>
              <a:rPr sz="2750" b="1" cap="small" spc="85" dirty="0">
                <a:latin typeface="Century Gothic"/>
                <a:cs typeface="Century Gothic"/>
              </a:rPr>
              <a:t>  </a:t>
            </a:r>
            <a:r>
              <a:rPr sz="2750" b="1" cap="small" spc="-10" dirty="0">
                <a:latin typeface="Century Gothic"/>
                <a:cs typeface="Century Gothic"/>
              </a:rPr>
              <a:t>Problems</a:t>
            </a:r>
            <a:endParaRPr sz="275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5898" y="2066125"/>
            <a:ext cx="3735704" cy="1007744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57175" indent="-244475">
              <a:lnSpc>
                <a:spcPct val="100000"/>
              </a:lnSpc>
              <a:spcBef>
                <a:spcPts val="1200"/>
              </a:spcBef>
              <a:buFont typeface="Lucida Sans Unicode"/>
              <a:buChar char="‣"/>
              <a:tabLst>
                <a:tab pos="257175" algn="l"/>
              </a:tabLst>
            </a:pPr>
            <a:r>
              <a:rPr sz="2300" i="1" dirty="0">
                <a:latin typeface="Calibri"/>
                <a:cs typeface="Calibri"/>
              </a:rPr>
              <a:t>stable</a:t>
            </a:r>
            <a:r>
              <a:rPr sz="2300" i="1" spc="150" dirty="0">
                <a:latin typeface="Calibri"/>
                <a:cs typeface="Calibri"/>
              </a:rPr>
              <a:t> </a:t>
            </a:r>
            <a:r>
              <a:rPr sz="2300" i="1" spc="-10" dirty="0">
                <a:latin typeface="Calibri"/>
                <a:cs typeface="Calibri"/>
              </a:rPr>
              <a:t>matching</a:t>
            </a:r>
            <a:endParaRPr sz="23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spcBef>
                <a:spcPts val="1110"/>
              </a:spcBef>
              <a:buFont typeface="Lucida Sans Unicode"/>
              <a:buChar char="‣"/>
              <a:tabLst>
                <a:tab pos="257175" algn="l"/>
              </a:tabLst>
            </a:pPr>
            <a:r>
              <a:rPr sz="2300" i="1" dirty="0">
                <a:solidFill>
                  <a:srgbClr val="D5D5D5"/>
                </a:solidFill>
                <a:latin typeface="Calibri"/>
                <a:cs typeface="Calibri"/>
              </a:rPr>
              <a:t>five</a:t>
            </a:r>
            <a:r>
              <a:rPr sz="2300" i="1" spc="165" dirty="0">
                <a:solidFill>
                  <a:srgbClr val="D5D5D5"/>
                </a:solidFill>
                <a:latin typeface="Calibri"/>
                <a:cs typeface="Calibri"/>
              </a:rPr>
              <a:t> </a:t>
            </a:r>
            <a:r>
              <a:rPr sz="2300" i="1" dirty="0">
                <a:solidFill>
                  <a:srgbClr val="D5D5D5"/>
                </a:solidFill>
                <a:latin typeface="Calibri"/>
                <a:cs typeface="Calibri"/>
              </a:rPr>
              <a:t>representative</a:t>
            </a:r>
            <a:r>
              <a:rPr sz="2300" i="1" spc="165" dirty="0">
                <a:solidFill>
                  <a:srgbClr val="D5D5D5"/>
                </a:solidFill>
                <a:latin typeface="Calibri"/>
                <a:cs typeface="Calibri"/>
              </a:rPr>
              <a:t> </a:t>
            </a:r>
            <a:r>
              <a:rPr sz="2300" i="1" spc="-10" dirty="0">
                <a:solidFill>
                  <a:srgbClr val="D5D5D5"/>
                </a:solidFill>
                <a:latin typeface="Calibri"/>
                <a:cs typeface="Calibri"/>
              </a:rPr>
              <a:t>problems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7543800"/>
          </a:xfrm>
          <a:custGeom>
            <a:avLst/>
            <a:gdLst/>
            <a:ahLst/>
            <a:cxnLst/>
            <a:rect l="l" t="t" r="r" b="b"/>
            <a:pathLst>
              <a:path w="10058400" h="7543800">
                <a:moveTo>
                  <a:pt x="0" y="0"/>
                </a:moveTo>
                <a:lnTo>
                  <a:pt x="10058400" y="0"/>
                </a:lnTo>
                <a:lnTo>
                  <a:pt x="10058400" y="7543800"/>
                </a:lnTo>
                <a:lnTo>
                  <a:pt x="0" y="7543800"/>
                </a:lnTo>
                <a:lnTo>
                  <a:pt x="0" y="0"/>
                </a:lnTo>
                <a:close/>
              </a:path>
            </a:pathLst>
          </a:custGeom>
          <a:solidFill>
            <a:srgbClr val="005493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5" dirty="0"/>
              <a:t>Matching</a:t>
            </a:r>
            <a:r>
              <a:rPr spc="70" dirty="0"/>
              <a:t> </a:t>
            </a:r>
            <a:r>
              <a:rPr spc="-70" dirty="0"/>
              <a:t>med-</a:t>
            </a:r>
            <a:r>
              <a:rPr dirty="0"/>
              <a:t>school</a:t>
            </a:r>
            <a:r>
              <a:rPr spc="75" dirty="0"/>
              <a:t> </a:t>
            </a:r>
            <a:r>
              <a:rPr spc="-30" dirty="0"/>
              <a:t>students</a:t>
            </a:r>
            <a:r>
              <a:rPr spc="80" dirty="0"/>
              <a:t> </a:t>
            </a:r>
            <a:r>
              <a:rPr dirty="0"/>
              <a:t>to</a:t>
            </a:r>
            <a:r>
              <a:rPr spc="80" dirty="0"/>
              <a:t> </a:t>
            </a:r>
            <a:r>
              <a:rPr spc="-10" dirty="0"/>
              <a:t>hospitals</a:t>
            </a:r>
          </a:p>
        </p:txBody>
      </p:sp>
      <p:sp>
        <p:nvSpPr>
          <p:cNvPr id="4" name="object 4"/>
          <p:cNvSpPr/>
          <p:nvPr/>
        </p:nvSpPr>
        <p:spPr>
          <a:xfrm>
            <a:off x="638472" y="880446"/>
            <a:ext cx="8791575" cy="635"/>
          </a:xfrm>
          <a:custGeom>
            <a:avLst/>
            <a:gdLst/>
            <a:ahLst/>
            <a:cxnLst/>
            <a:rect l="l" t="t" r="r" b="b"/>
            <a:pathLst>
              <a:path w="8791575" h="634">
                <a:moveTo>
                  <a:pt x="0" y="20"/>
                </a:moveTo>
                <a:lnTo>
                  <a:pt x="8791271" y="0"/>
                </a:lnTo>
              </a:path>
            </a:pathLst>
          </a:custGeom>
          <a:ln w="98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2450" y="1052436"/>
            <a:ext cx="8877935" cy="3786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 marR="68580">
              <a:lnSpc>
                <a:spcPct val="132400"/>
              </a:lnSpc>
              <a:spcBef>
                <a:spcPts val="95"/>
              </a:spcBef>
              <a:tabLst>
                <a:tab pos="812800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Goal.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Given a set of preferences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among hospitals and med-school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students, </a:t>
            </a:r>
            <a:r>
              <a:rPr sz="1850" dirty="0">
                <a:latin typeface="Lucida Sans"/>
                <a:cs typeface="Lucida Sans"/>
              </a:rPr>
              <a:t>design</a:t>
            </a:r>
            <a:r>
              <a:rPr sz="1850" spc="-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-25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self-reinforcing</a:t>
            </a:r>
            <a:r>
              <a:rPr sz="1850" spc="-2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admissions</a:t>
            </a:r>
            <a:r>
              <a:rPr sz="1850" spc="-2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process.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50">
              <a:latin typeface="Lucida Sans"/>
              <a:cs typeface="Lucida Sans"/>
            </a:endParaRPr>
          </a:p>
          <a:p>
            <a:pPr marL="76200">
              <a:lnSpc>
                <a:spcPts val="2030"/>
              </a:lnSpc>
              <a:tabLst>
                <a:tab pos="1812925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Unstable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pair: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student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x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hospital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y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are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unstable</a:t>
            </a:r>
            <a:r>
              <a:rPr sz="1850" spc="-1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spc="-25" dirty="0">
                <a:latin typeface="Lucida Sans"/>
                <a:cs typeface="Lucida Sans"/>
              </a:rPr>
              <a:t>if:</a:t>
            </a:r>
            <a:endParaRPr sz="1850">
              <a:latin typeface="Lucida Sans"/>
              <a:cs typeface="Lucida Sans"/>
            </a:endParaRPr>
          </a:p>
          <a:p>
            <a:pPr marL="173990">
              <a:lnSpc>
                <a:spcPts val="305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i="1" dirty="0">
                <a:latin typeface="Times New Roman"/>
                <a:cs typeface="Times New Roman"/>
              </a:rPr>
              <a:t>x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y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its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assigned</a:t>
            </a:r>
            <a:r>
              <a:rPr sz="1850" spc="-10" dirty="0">
                <a:latin typeface="Lucida Sans"/>
                <a:cs typeface="Lucida Sans"/>
              </a:rPr>
              <a:t> hospital.</a:t>
            </a:r>
            <a:endParaRPr sz="1850">
              <a:latin typeface="Lucida Sans"/>
              <a:cs typeface="Lucida Sans"/>
            </a:endParaRPr>
          </a:p>
          <a:p>
            <a:pPr marL="173990">
              <a:lnSpc>
                <a:spcPts val="324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i="1" dirty="0">
                <a:latin typeface="Times New Roman"/>
                <a:cs typeface="Times New Roman"/>
              </a:rPr>
              <a:t>y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x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one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its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admitted</a:t>
            </a:r>
            <a:r>
              <a:rPr sz="1850" spc="-10" dirty="0">
                <a:latin typeface="Lucida Sans"/>
                <a:cs typeface="Lucida Sans"/>
              </a:rPr>
              <a:t> students.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850">
              <a:latin typeface="Lucida Sans"/>
              <a:cs typeface="Lucida Sans"/>
            </a:endParaRPr>
          </a:p>
          <a:p>
            <a:pPr marL="76200">
              <a:lnSpc>
                <a:spcPts val="2030"/>
              </a:lnSpc>
              <a:tabLst>
                <a:tab pos="2384425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Stable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assignment.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Assignment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no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unstable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pairs.</a:t>
            </a:r>
            <a:endParaRPr sz="1850">
              <a:latin typeface="Lucida Sans"/>
              <a:cs typeface="Lucida Sans"/>
            </a:endParaRPr>
          </a:p>
          <a:p>
            <a:pPr marL="173990">
              <a:lnSpc>
                <a:spcPts val="305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Natural and desirable </a:t>
            </a:r>
            <a:r>
              <a:rPr sz="1850" spc="-10" dirty="0">
                <a:latin typeface="Lucida Sans"/>
                <a:cs typeface="Lucida Sans"/>
              </a:rPr>
              <a:t>condition.</a:t>
            </a:r>
            <a:endParaRPr sz="1850">
              <a:latin typeface="Lucida Sans"/>
              <a:cs typeface="Lucida Sans"/>
            </a:endParaRPr>
          </a:p>
          <a:p>
            <a:pPr marL="1739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Individual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self-interest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prevents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any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hospital–student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side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deal.</a:t>
            </a:r>
            <a:endParaRPr sz="1850">
              <a:latin typeface="Lucida Sans"/>
              <a:cs typeface="Lucida San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2700" y="5168900"/>
            <a:ext cx="3048000" cy="20701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9200" y="5181600"/>
            <a:ext cx="2768600" cy="20574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Stable</a:t>
            </a:r>
            <a:r>
              <a:rPr spc="165" dirty="0"/>
              <a:t> </a:t>
            </a:r>
            <a:r>
              <a:rPr dirty="0"/>
              <a:t>matching</a:t>
            </a:r>
            <a:r>
              <a:rPr spc="165" dirty="0"/>
              <a:t> </a:t>
            </a:r>
            <a:r>
              <a:rPr spc="35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7850" y="1142804"/>
            <a:ext cx="8881110" cy="145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ts val="2030"/>
              </a:lnSpc>
              <a:spcBef>
                <a:spcPts val="105"/>
              </a:spcBef>
              <a:tabLst>
                <a:tab pos="787400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Goal.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Given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set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men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set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women,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find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"suitable"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matching.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05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Participants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rank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members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opposite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spc="-20" dirty="0">
                <a:latin typeface="Lucida Sans"/>
                <a:cs typeface="Lucida Sans"/>
              </a:rPr>
              <a:t>sex.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29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lists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women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order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preference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from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best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worst.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woman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lists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men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order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preference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from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best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worst.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2032" y="4374454"/>
            <a:ext cx="61277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favorite</a:t>
            </a:r>
            <a:endParaRPr sz="1200">
              <a:latin typeface="Lucida Sans"/>
              <a:cs typeface="Lucida San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45080" y="4681832"/>
            <a:ext cx="94615" cy="285115"/>
            <a:chOff x="2045080" y="4681832"/>
            <a:chExt cx="94615" cy="285115"/>
          </a:xfrm>
        </p:grpSpPr>
        <p:sp>
          <p:nvSpPr>
            <p:cNvPr id="6" name="object 6"/>
            <p:cNvSpPr/>
            <p:nvPr/>
          </p:nvSpPr>
          <p:spPr>
            <a:xfrm>
              <a:off x="2092224" y="4681832"/>
              <a:ext cx="0" cy="224154"/>
            </a:xfrm>
            <a:custGeom>
              <a:avLst/>
              <a:gdLst/>
              <a:ahLst/>
              <a:cxnLst/>
              <a:rect l="l" t="t" r="r" b="b"/>
              <a:pathLst>
                <a:path h="224154">
                  <a:moveTo>
                    <a:pt x="0" y="223956"/>
                  </a:moveTo>
                  <a:lnTo>
                    <a:pt x="0" y="214133"/>
                  </a:lnTo>
                  <a:lnTo>
                    <a:pt x="0" y="0"/>
                  </a:lnTo>
                </a:path>
              </a:pathLst>
            </a:custGeom>
            <a:ln w="19645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45080" y="4872393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0" y="0"/>
                  </a:moveTo>
                  <a:lnTo>
                    <a:pt x="47142" y="94297"/>
                  </a:lnTo>
                  <a:lnTo>
                    <a:pt x="82510" y="23571"/>
                  </a:lnTo>
                  <a:lnTo>
                    <a:pt x="47142" y="23571"/>
                  </a:lnTo>
                  <a:lnTo>
                    <a:pt x="0" y="0"/>
                  </a:lnTo>
                  <a:close/>
                </a:path>
                <a:path w="94614" h="94614">
                  <a:moveTo>
                    <a:pt x="94297" y="0"/>
                  </a:moveTo>
                  <a:lnTo>
                    <a:pt x="47142" y="23571"/>
                  </a:lnTo>
                  <a:lnTo>
                    <a:pt x="82510" y="23571"/>
                  </a:lnTo>
                  <a:lnTo>
                    <a:pt x="94297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67941" y="5104206"/>
          <a:ext cx="3996054" cy="1767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2122926" y="7026572"/>
            <a:ext cx="193865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Lucida Sans"/>
                <a:cs typeface="Lucida Sans"/>
              </a:rPr>
              <a:t>men's</a:t>
            </a:r>
            <a:r>
              <a:rPr sz="1400" b="1" spc="-35" dirty="0">
                <a:latin typeface="Lucida Sans"/>
                <a:cs typeface="Lucida Sans"/>
              </a:rPr>
              <a:t> </a:t>
            </a:r>
            <a:r>
              <a:rPr sz="1400" b="1" spc="-10" dirty="0">
                <a:latin typeface="Lucida Sans"/>
                <a:cs typeface="Lucida Sans"/>
              </a:rPr>
              <a:t>preference</a:t>
            </a:r>
            <a:r>
              <a:rPr sz="1400" b="1" spc="-35" dirty="0">
                <a:latin typeface="Lucida Sans"/>
                <a:cs typeface="Lucida Sans"/>
              </a:rPr>
              <a:t> </a:t>
            </a:r>
            <a:r>
              <a:rPr sz="1400" b="1" spc="-20" dirty="0">
                <a:latin typeface="Lucida Sans"/>
                <a:cs typeface="Lucida Sans"/>
              </a:rPr>
              <a:t>list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20664" y="4374454"/>
            <a:ext cx="102108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least</a:t>
            </a:r>
            <a:r>
              <a:rPr sz="1200" spc="9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favorite</a:t>
            </a:r>
            <a:endParaRPr sz="1200">
              <a:latin typeface="Lucida Sans"/>
              <a:cs typeface="Lucida San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960495" y="4681832"/>
            <a:ext cx="94615" cy="285115"/>
            <a:chOff x="3960495" y="4681832"/>
            <a:chExt cx="94615" cy="285115"/>
          </a:xfrm>
        </p:grpSpPr>
        <p:sp>
          <p:nvSpPr>
            <p:cNvPr id="12" name="object 12"/>
            <p:cNvSpPr/>
            <p:nvPr/>
          </p:nvSpPr>
          <p:spPr>
            <a:xfrm>
              <a:off x="4007641" y="4681832"/>
              <a:ext cx="0" cy="224154"/>
            </a:xfrm>
            <a:custGeom>
              <a:avLst/>
              <a:gdLst/>
              <a:ahLst/>
              <a:cxnLst/>
              <a:rect l="l" t="t" r="r" b="b"/>
              <a:pathLst>
                <a:path h="224154">
                  <a:moveTo>
                    <a:pt x="0" y="223956"/>
                  </a:moveTo>
                  <a:lnTo>
                    <a:pt x="0" y="214133"/>
                  </a:lnTo>
                  <a:lnTo>
                    <a:pt x="0" y="0"/>
                  </a:lnTo>
                </a:path>
              </a:pathLst>
            </a:custGeom>
            <a:ln w="19645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60495" y="4872393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0" y="0"/>
                  </a:moveTo>
                  <a:lnTo>
                    <a:pt x="47142" y="94297"/>
                  </a:lnTo>
                  <a:lnTo>
                    <a:pt x="82510" y="23571"/>
                  </a:lnTo>
                  <a:lnTo>
                    <a:pt x="47142" y="23571"/>
                  </a:lnTo>
                  <a:lnTo>
                    <a:pt x="0" y="0"/>
                  </a:lnTo>
                  <a:close/>
                </a:path>
                <a:path w="94614" h="94614">
                  <a:moveTo>
                    <a:pt x="94297" y="0"/>
                  </a:moveTo>
                  <a:lnTo>
                    <a:pt x="47142" y="23571"/>
                  </a:lnTo>
                  <a:lnTo>
                    <a:pt x="82510" y="23571"/>
                  </a:lnTo>
                  <a:lnTo>
                    <a:pt x="94297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376933" y="4374454"/>
            <a:ext cx="61277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favorite</a:t>
            </a:r>
            <a:endParaRPr sz="1200">
              <a:latin typeface="Lucida Sans"/>
              <a:cs typeface="Lucida San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612610" y="4681832"/>
            <a:ext cx="94615" cy="334010"/>
            <a:chOff x="6612610" y="4681832"/>
            <a:chExt cx="94615" cy="334010"/>
          </a:xfrm>
        </p:grpSpPr>
        <p:sp>
          <p:nvSpPr>
            <p:cNvPr id="16" name="object 16"/>
            <p:cNvSpPr/>
            <p:nvPr/>
          </p:nvSpPr>
          <p:spPr>
            <a:xfrm>
              <a:off x="6659756" y="4681832"/>
              <a:ext cx="0" cy="273685"/>
            </a:xfrm>
            <a:custGeom>
              <a:avLst/>
              <a:gdLst/>
              <a:ahLst/>
              <a:cxnLst/>
              <a:rect l="l" t="t" r="r" b="b"/>
              <a:pathLst>
                <a:path h="273685">
                  <a:moveTo>
                    <a:pt x="0" y="273069"/>
                  </a:moveTo>
                  <a:lnTo>
                    <a:pt x="0" y="263247"/>
                  </a:lnTo>
                  <a:lnTo>
                    <a:pt x="0" y="0"/>
                  </a:lnTo>
                </a:path>
              </a:pathLst>
            </a:custGeom>
            <a:ln w="19645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2610" y="4921504"/>
              <a:ext cx="94297" cy="94297"/>
            </a:xfrm>
            <a:prstGeom prst="rect">
              <a:avLst/>
            </a:prstGeom>
          </p:spPr>
        </p:pic>
      </p:grp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5235473" y="5104206"/>
          <a:ext cx="3996054" cy="1767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6559334" y="7026572"/>
            <a:ext cx="22040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Lucida Sans"/>
                <a:cs typeface="Lucida Sans"/>
              </a:rPr>
              <a:t>women's</a:t>
            </a:r>
            <a:r>
              <a:rPr sz="1400" b="1" spc="-10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preference</a:t>
            </a:r>
            <a:r>
              <a:rPr sz="1400" b="1" spc="-100" dirty="0">
                <a:latin typeface="Lucida Sans"/>
                <a:cs typeface="Lucida Sans"/>
              </a:rPr>
              <a:t> </a:t>
            </a:r>
            <a:r>
              <a:rPr sz="1400" b="1" spc="-20" dirty="0">
                <a:latin typeface="Lucida Sans"/>
                <a:cs typeface="Lucida Sans"/>
              </a:rPr>
              <a:t>list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86073" y="4374454"/>
            <a:ext cx="102108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least</a:t>
            </a:r>
            <a:r>
              <a:rPr sz="1200" spc="9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favorite</a:t>
            </a:r>
            <a:endParaRPr sz="1200">
              <a:latin typeface="Lucida Sans"/>
              <a:cs typeface="Lucida San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528037" y="4681832"/>
            <a:ext cx="94615" cy="334010"/>
            <a:chOff x="8528037" y="4681832"/>
            <a:chExt cx="94615" cy="334010"/>
          </a:xfrm>
        </p:grpSpPr>
        <p:sp>
          <p:nvSpPr>
            <p:cNvPr id="22" name="object 22"/>
            <p:cNvSpPr/>
            <p:nvPr/>
          </p:nvSpPr>
          <p:spPr>
            <a:xfrm>
              <a:off x="8575173" y="4681832"/>
              <a:ext cx="0" cy="273685"/>
            </a:xfrm>
            <a:custGeom>
              <a:avLst/>
              <a:gdLst/>
              <a:ahLst/>
              <a:cxnLst/>
              <a:rect l="l" t="t" r="r" b="b"/>
              <a:pathLst>
                <a:path h="273685">
                  <a:moveTo>
                    <a:pt x="0" y="273069"/>
                  </a:moveTo>
                  <a:lnTo>
                    <a:pt x="0" y="263247"/>
                  </a:lnTo>
                  <a:lnTo>
                    <a:pt x="0" y="0"/>
                  </a:lnTo>
                </a:path>
              </a:pathLst>
            </a:custGeom>
            <a:ln w="19645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28037" y="4921504"/>
              <a:ext cx="94284" cy="94297"/>
            </a:xfrm>
            <a:prstGeom prst="rect">
              <a:avLst/>
            </a:prstGeom>
          </p:spPr>
        </p:pic>
      </p:grp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Perfect</a:t>
            </a:r>
            <a:r>
              <a:rPr spc="-105" dirty="0"/>
              <a:t> </a:t>
            </a:r>
            <a:r>
              <a:rPr spc="-10" dirty="0"/>
              <a:t>matching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14134" y="7032443"/>
            <a:ext cx="3591560" cy="233679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400" b="1" dirty="0">
                <a:latin typeface="Lucida Sans"/>
                <a:cs typeface="Lucida Sans"/>
              </a:rPr>
              <a:t>a</a:t>
            </a:r>
            <a:r>
              <a:rPr sz="1400" b="1" spc="-25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perfect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matching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S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spc="204" dirty="0">
                <a:latin typeface="Lucida Sans"/>
                <a:cs typeface="Lucida Sans"/>
              </a:rPr>
              <a:t>=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{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X–C,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Y–B,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Z–A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spc="-50" dirty="0">
                <a:latin typeface="Lucida Sans"/>
                <a:cs typeface="Lucida Sans"/>
              </a:rPr>
              <a:t>}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77850" y="1142804"/>
            <a:ext cx="8531225" cy="1801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ts val="2030"/>
              </a:lnSpc>
              <a:spcBef>
                <a:spcPts val="105"/>
              </a:spcBef>
              <a:tabLst>
                <a:tab pos="668020" algn="l"/>
                <a:tab pos="979805" algn="l"/>
              </a:tabLst>
            </a:pP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Def.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spc="-50" dirty="0">
                <a:latin typeface="Lucida Sans"/>
                <a:cs typeface="Lucida Sans"/>
              </a:rPr>
              <a:t>A</a:t>
            </a:r>
            <a:r>
              <a:rPr sz="1850" dirty="0">
                <a:latin typeface="Lucida Sans"/>
                <a:cs typeface="Lucida Sans"/>
              </a:rPr>
              <a:t>	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matching</a:t>
            </a:r>
            <a:r>
              <a:rPr sz="1850" spc="-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 a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set of ordered pairs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dirty="0">
                <a:latin typeface="Times New Roman"/>
                <a:cs typeface="Times New Roman"/>
              </a:rPr>
              <a:t>–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with </a:t>
            </a:r>
            <a:r>
              <a:rPr sz="1850" i="1" dirty="0">
                <a:latin typeface="Times New Roman"/>
                <a:cs typeface="Times New Roman"/>
              </a:rPr>
              <a:t>m </a:t>
            </a:r>
            <a:r>
              <a:rPr sz="1850" dirty="0">
                <a:latin typeface="Symbol"/>
                <a:cs typeface="Symbol"/>
              </a:rPr>
              <a:t>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 </a:t>
            </a:r>
            <a:r>
              <a:rPr sz="1850" dirty="0">
                <a:latin typeface="Lucida Sans"/>
                <a:cs typeface="Lucida Sans"/>
              </a:rPr>
              <a:t>and </a:t>
            </a:r>
            <a:r>
              <a:rPr sz="1850" i="1" dirty="0">
                <a:latin typeface="Times New Roman"/>
                <a:cs typeface="Times New Roman"/>
              </a:rPr>
              <a:t>w </a:t>
            </a:r>
            <a:r>
              <a:rPr sz="1850" dirty="0">
                <a:latin typeface="Symbol"/>
                <a:cs typeface="Symbol"/>
              </a:rPr>
              <a:t>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Lucida Sans"/>
                <a:cs typeface="Lucida Sans"/>
              </a:rPr>
              <a:t>s.t.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050"/>
              </a:lnSpc>
            </a:pPr>
            <a:r>
              <a:rPr sz="4425" baseline="-7532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 </a:t>
            </a:r>
            <a:r>
              <a:rPr sz="1850" dirty="0">
                <a:latin typeface="Symbol"/>
                <a:cs typeface="Symbol"/>
              </a:rPr>
              <a:t>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appears in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at most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one pair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S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240"/>
              </a:lnSpc>
            </a:pPr>
            <a:r>
              <a:rPr sz="4425" baseline="-7532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woman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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appears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at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most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one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pair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S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850">
              <a:latin typeface="Lucida Sans"/>
              <a:cs typeface="Lucida Sans"/>
            </a:endParaRPr>
          </a:p>
          <a:p>
            <a:pPr marL="50800">
              <a:lnSpc>
                <a:spcPct val="100000"/>
              </a:lnSpc>
              <a:tabLst>
                <a:tab pos="668020" algn="l"/>
              </a:tabLst>
            </a:pP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Def.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A matching </a:t>
            </a:r>
            <a:r>
              <a:rPr sz="1850" i="1" dirty="0">
                <a:latin typeface="Times New Roman"/>
                <a:cs typeface="Times New Roman"/>
              </a:rPr>
              <a:t>S </a:t>
            </a:r>
            <a:r>
              <a:rPr sz="1850" dirty="0">
                <a:latin typeface="Lucida Sans"/>
                <a:cs typeface="Lucida Sans"/>
              </a:rPr>
              <a:t>is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perfect </a:t>
            </a:r>
            <a:r>
              <a:rPr sz="1850" dirty="0">
                <a:latin typeface="Lucida Sans"/>
                <a:cs typeface="Lucida Sans"/>
              </a:rPr>
              <a:t>if </a:t>
            </a:r>
            <a:r>
              <a:rPr sz="1850" spc="-10" dirty="0">
                <a:latin typeface="Times New Roman"/>
                <a:cs typeface="Times New Roman"/>
              </a:rPr>
              <a:t>|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i="1" spc="-1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| = </a:t>
            </a:r>
            <a:r>
              <a:rPr sz="1850" spc="-10" dirty="0">
                <a:latin typeface="Times New Roman"/>
                <a:cs typeface="Times New Roman"/>
              </a:rPr>
              <a:t>|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-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| = </a:t>
            </a:r>
            <a:r>
              <a:rPr sz="1850" spc="-10" dirty="0">
                <a:latin typeface="Times New Roman"/>
                <a:cs typeface="Times New Roman"/>
              </a:rPr>
              <a:t>|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-1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| = </a:t>
            </a:r>
            <a:r>
              <a:rPr sz="1850" i="1" spc="-25" dirty="0">
                <a:latin typeface="Times New Roman"/>
                <a:cs typeface="Times New Roman"/>
              </a:rPr>
              <a:t>n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67941" y="5104206"/>
          <a:ext cx="3996054" cy="1767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235473" y="5104206"/>
          <a:ext cx="3996054" cy="1767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Unstable</a:t>
            </a:r>
            <a:r>
              <a:rPr spc="125" dirty="0"/>
              <a:t> </a:t>
            </a:r>
            <a:r>
              <a:rPr spc="60" dirty="0"/>
              <a:t>pair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7850" y="1142804"/>
            <a:ext cx="8821420" cy="1801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ts val="2030"/>
              </a:lnSpc>
              <a:spcBef>
                <a:spcPts val="105"/>
              </a:spcBef>
              <a:tabLst>
                <a:tab pos="668020" algn="l"/>
              </a:tabLst>
            </a:pP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Def.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Given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perfect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dirty="0">
                <a:latin typeface="Lucida Sans"/>
                <a:cs typeface="Lucida Sans"/>
              </a:rPr>
              <a:t>,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woman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are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unstable</a:t>
            </a:r>
            <a:r>
              <a:rPr sz="1850" spc="1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spc="-25" dirty="0">
                <a:latin typeface="Lucida Sans"/>
                <a:cs typeface="Lucida Sans"/>
              </a:rPr>
              <a:t>if: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05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his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current</a:t>
            </a:r>
            <a:r>
              <a:rPr sz="1850" spc="-10" dirty="0">
                <a:latin typeface="Lucida Sans"/>
                <a:cs typeface="Lucida Sans"/>
              </a:rPr>
              <a:t> partner.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24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her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current</a:t>
            </a:r>
            <a:r>
              <a:rPr sz="1850" spc="-10" dirty="0">
                <a:latin typeface="Lucida Sans"/>
                <a:cs typeface="Lucida Sans"/>
              </a:rPr>
              <a:t> partner.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850">
              <a:latin typeface="Lucida Sans"/>
              <a:cs typeface="Lucida Sans"/>
            </a:endParaRPr>
          </a:p>
          <a:p>
            <a:pPr marL="50800">
              <a:lnSpc>
                <a:spcPct val="100000"/>
              </a:lnSpc>
              <a:tabLst>
                <a:tab pos="1363345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Key</a:t>
            </a:r>
            <a:r>
              <a:rPr sz="1850" spc="9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point.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An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unstable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pair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m–w</a:t>
            </a:r>
            <a:r>
              <a:rPr sz="1850" i="1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could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improve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partner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by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joint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action.</a:t>
            </a:r>
            <a:endParaRPr sz="1850">
              <a:latin typeface="Lucida Sans"/>
              <a:cs typeface="Lucida San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67941" y="5104206"/>
          <a:ext cx="3996054" cy="1767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005493">
                        <a:alpha val="32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235473" y="5104206"/>
          <a:ext cx="3996054" cy="1767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005493">
                        <a:alpha val="32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622651" y="5536400"/>
            <a:ext cx="972819" cy="442595"/>
          </a:xfrm>
          <a:custGeom>
            <a:avLst/>
            <a:gdLst/>
            <a:ahLst/>
            <a:cxnLst/>
            <a:rect l="l" t="t" r="r" b="b"/>
            <a:pathLst>
              <a:path w="972820" h="442595">
                <a:moveTo>
                  <a:pt x="0" y="0"/>
                </a:moveTo>
                <a:lnTo>
                  <a:pt x="972438" y="0"/>
                </a:lnTo>
                <a:lnTo>
                  <a:pt x="972438" y="442023"/>
                </a:lnTo>
                <a:lnTo>
                  <a:pt x="0" y="442023"/>
                </a:lnTo>
                <a:lnTo>
                  <a:pt x="0" y="0"/>
                </a:lnTo>
                <a:close/>
              </a:path>
            </a:pathLst>
          </a:custGeom>
          <a:solidFill>
            <a:srgbClr val="005493">
              <a:alpha val="32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17742" y="5988253"/>
            <a:ext cx="972819" cy="442595"/>
          </a:xfrm>
          <a:custGeom>
            <a:avLst/>
            <a:gdLst/>
            <a:ahLst/>
            <a:cxnLst/>
            <a:rect l="l" t="t" r="r" b="b"/>
            <a:pathLst>
              <a:path w="972820" h="442595">
                <a:moveTo>
                  <a:pt x="0" y="0"/>
                </a:moveTo>
                <a:lnTo>
                  <a:pt x="972438" y="0"/>
                </a:lnTo>
                <a:lnTo>
                  <a:pt x="972438" y="442010"/>
                </a:lnTo>
                <a:lnTo>
                  <a:pt x="0" y="442010"/>
                </a:lnTo>
                <a:lnTo>
                  <a:pt x="0" y="0"/>
                </a:lnTo>
                <a:close/>
              </a:path>
            </a:pathLst>
          </a:custGeom>
          <a:solidFill>
            <a:srgbClr val="005493">
              <a:alpha val="32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149437" y="7026572"/>
            <a:ext cx="35210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Lucida Sans"/>
                <a:cs typeface="Lucida Sans"/>
              </a:rPr>
              <a:t>Bertha</a:t>
            </a:r>
            <a:r>
              <a:rPr sz="1400" b="1" spc="-45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and</a:t>
            </a:r>
            <a:r>
              <a:rPr sz="1400" b="1" spc="-4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Xavier</a:t>
            </a:r>
            <a:r>
              <a:rPr sz="1400" b="1" spc="-45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are</a:t>
            </a:r>
            <a:r>
              <a:rPr sz="1400" b="1" spc="-4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an</a:t>
            </a:r>
            <a:r>
              <a:rPr sz="1400" b="1" spc="-4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unstable</a:t>
            </a:r>
            <a:r>
              <a:rPr sz="1400" b="1" spc="-45" dirty="0">
                <a:latin typeface="Lucida Sans"/>
                <a:cs typeface="Lucida Sans"/>
              </a:rPr>
              <a:t> </a:t>
            </a:r>
            <a:r>
              <a:rPr sz="1400" b="1" spc="-20" dirty="0">
                <a:latin typeface="Lucida Sans"/>
                <a:cs typeface="Lucida Sans"/>
              </a:rPr>
              <a:t>pair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15487" y="7338618"/>
            <a:ext cx="100330" cy="16573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900" spc="-50" dirty="0">
                <a:latin typeface="Lucida Sans"/>
                <a:cs typeface="Lucida Sans"/>
              </a:rPr>
              <a:t>6</a:t>
            </a:r>
            <a:endParaRPr sz="9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Stable</a:t>
            </a:r>
            <a:r>
              <a:rPr spc="165" dirty="0"/>
              <a:t> </a:t>
            </a:r>
            <a:r>
              <a:rPr dirty="0"/>
              <a:t>matching</a:t>
            </a:r>
            <a:r>
              <a:rPr spc="165" dirty="0"/>
              <a:t> </a:t>
            </a:r>
            <a:r>
              <a:rPr spc="35" dirty="0"/>
              <a:t>problem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90550" y="1142804"/>
            <a:ext cx="8331200" cy="2203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55320" algn="l"/>
              </a:tabLst>
            </a:pP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Def.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stable</a:t>
            </a:r>
            <a:r>
              <a:rPr sz="1850" spc="1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matching</a:t>
            </a:r>
            <a:r>
              <a:rPr sz="1850" spc="1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perfect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no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unstable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pairs.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50">
              <a:latin typeface="Lucida Sans"/>
              <a:cs typeface="Lucida Sans"/>
            </a:endParaRPr>
          </a:p>
          <a:p>
            <a:pPr marL="38100">
              <a:lnSpc>
                <a:spcPct val="100000"/>
              </a:lnSpc>
              <a:tabLst>
                <a:tab pos="3124835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Stable matching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problem.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Given the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preference lists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 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men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spc="-25" dirty="0">
                <a:latin typeface="Lucida Sans"/>
                <a:cs typeface="Lucida Sans"/>
              </a:rPr>
              <a:t>and</a:t>
            </a:r>
            <a:endParaRPr sz="1850">
              <a:latin typeface="Lucida Sans"/>
              <a:cs typeface="Lucida Sans"/>
            </a:endParaRPr>
          </a:p>
          <a:p>
            <a:pPr marL="38100">
              <a:lnSpc>
                <a:spcPts val="2030"/>
              </a:lnSpc>
              <a:spcBef>
                <a:spcPts val="720"/>
              </a:spcBef>
            </a:pP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women,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find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stable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(if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one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exists).</a:t>
            </a:r>
            <a:endParaRPr sz="1850">
              <a:latin typeface="Lucida Sans"/>
              <a:cs typeface="Lucida Sans"/>
            </a:endParaRPr>
          </a:p>
          <a:p>
            <a:pPr marL="135890">
              <a:lnSpc>
                <a:spcPts val="305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Natural,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desirable,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self-reinforcing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condition.</a:t>
            </a:r>
            <a:endParaRPr sz="1850">
              <a:latin typeface="Lucida Sans"/>
              <a:cs typeface="Lucida Sans"/>
            </a:endParaRPr>
          </a:p>
          <a:p>
            <a:pPr marL="1358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Individual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self-interest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prevents</a:t>
            </a:r>
            <a:r>
              <a:rPr sz="1850" spc="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any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man–woman</a:t>
            </a:r>
            <a:r>
              <a:rPr sz="1850" spc="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pair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from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eloping.</a:t>
            </a:r>
            <a:endParaRPr sz="1850">
              <a:latin typeface="Lucida Sans"/>
              <a:cs typeface="Lucida San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67941" y="5104206"/>
          <a:ext cx="3996054" cy="1767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235473" y="5104206"/>
          <a:ext cx="3996054" cy="1767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114134" y="7026572"/>
            <a:ext cx="359156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Lucida Sans"/>
                <a:cs typeface="Lucida Sans"/>
              </a:rPr>
              <a:t>a</a:t>
            </a:r>
            <a:r>
              <a:rPr sz="1400" b="1" spc="-25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perfect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matching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S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spc="204" dirty="0">
                <a:latin typeface="Lucida Sans"/>
                <a:cs typeface="Lucida Sans"/>
              </a:rPr>
              <a:t>=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{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X–A,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Y–B,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Z–C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spc="-50" dirty="0">
                <a:latin typeface="Lucida Sans"/>
                <a:cs typeface="Lucida Sans"/>
              </a:rPr>
              <a:t>}</a:t>
            </a:r>
            <a:endParaRPr sz="14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Stable</a:t>
            </a:r>
            <a:r>
              <a:rPr spc="185" dirty="0"/>
              <a:t> </a:t>
            </a:r>
            <a:r>
              <a:rPr dirty="0"/>
              <a:t>roommate</a:t>
            </a:r>
            <a:r>
              <a:rPr spc="195" dirty="0"/>
              <a:t> </a:t>
            </a:r>
            <a:r>
              <a:rPr spc="35" dirty="0"/>
              <a:t>problem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90550" y="1052436"/>
            <a:ext cx="6642100" cy="229362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15"/>
              </a:spcBef>
              <a:tabLst>
                <a:tab pos="444500" algn="l"/>
              </a:tabLst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Q.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Do</a:t>
            </a:r>
            <a:r>
              <a:rPr sz="1850" spc="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stable</a:t>
            </a:r>
            <a:r>
              <a:rPr sz="1850" spc="4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matchings</a:t>
            </a:r>
            <a:r>
              <a:rPr sz="1850" spc="4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always</a:t>
            </a:r>
            <a:r>
              <a:rPr sz="1850" spc="4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exist?</a:t>
            </a:r>
            <a:endParaRPr sz="1850">
              <a:latin typeface="Lucida Sans"/>
              <a:cs typeface="Lucida Sans"/>
            </a:endParaRPr>
          </a:p>
          <a:p>
            <a:pPr marL="38100">
              <a:lnSpc>
                <a:spcPct val="100000"/>
              </a:lnSpc>
              <a:spcBef>
                <a:spcPts val="720"/>
              </a:spcBef>
              <a:tabLst>
                <a:tab pos="424180" algn="l"/>
              </a:tabLst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A.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Not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obvious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priori.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50">
              <a:latin typeface="Lucida Sans"/>
              <a:cs typeface="Lucida Sans"/>
            </a:endParaRPr>
          </a:p>
          <a:p>
            <a:pPr marL="38100">
              <a:lnSpc>
                <a:spcPts val="2030"/>
              </a:lnSpc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Stable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roommate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problem.</a:t>
            </a:r>
            <a:endParaRPr sz="1850">
              <a:latin typeface="Lucida Sans"/>
              <a:cs typeface="Lucida Sans"/>
            </a:endParaRPr>
          </a:p>
          <a:p>
            <a:pPr marL="135890">
              <a:lnSpc>
                <a:spcPts val="305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Times New Roman"/>
                <a:cs typeface="Times New Roman"/>
              </a:rPr>
              <a:t>2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people;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each person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ranks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others from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1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 </a:t>
            </a:r>
            <a:r>
              <a:rPr sz="1850" dirty="0">
                <a:latin typeface="Times New Roman"/>
                <a:cs typeface="Times New Roman"/>
              </a:rPr>
              <a:t>2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-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– </a:t>
            </a:r>
            <a:r>
              <a:rPr sz="1850" spc="-25" dirty="0">
                <a:latin typeface="Times New Roman"/>
                <a:cs typeface="Times New Roman"/>
              </a:rPr>
              <a:t>1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  <a:p>
            <a:pPr marL="1358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Assign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roommate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pairs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so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that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no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unstable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pairs.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5950" y="6741714"/>
            <a:ext cx="882015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27505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Observation.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Stable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need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not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exist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stable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roommate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problem.</a:t>
            </a:r>
            <a:endParaRPr sz="1850">
              <a:latin typeface="Lucida Sans"/>
              <a:cs typeface="Lucida San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601088" y="3699573"/>
          <a:ext cx="3996054" cy="2209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Adam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B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D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Bob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D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Chris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B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D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Doofus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B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383711" y="4494943"/>
            <a:ext cx="864235" cy="1037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i="1" dirty="0">
                <a:latin typeface="Times New Roman"/>
                <a:cs typeface="Times New Roman"/>
              </a:rPr>
              <a:t>A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i="1" dirty="0">
                <a:latin typeface="Times New Roman"/>
                <a:cs typeface="Times New Roman"/>
              </a:rPr>
              <a:t>B</a:t>
            </a:r>
            <a:r>
              <a:rPr sz="1550" dirty="0">
                <a:latin typeface="Lucida Sans"/>
                <a:cs typeface="Lucida Sans"/>
              </a:rPr>
              <a:t>,</a:t>
            </a:r>
            <a:r>
              <a:rPr sz="1550" spc="-35" dirty="0">
                <a:latin typeface="Lucida Sans"/>
                <a:cs typeface="Lucida Sans"/>
              </a:rPr>
              <a:t> </a:t>
            </a:r>
            <a:r>
              <a:rPr sz="1550" i="1" spc="-25" dirty="0">
                <a:latin typeface="Times New Roman"/>
                <a:cs typeface="Times New Roman"/>
              </a:rPr>
              <a:t>C</a:t>
            </a:r>
            <a:r>
              <a:rPr sz="1550" spc="-25" dirty="0">
                <a:latin typeface="Times New Roman"/>
                <a:cs typeface="Times New Roman"/>
              </a:rPr>
              <a:t>–</a:t>
            </a:r>
            <a:r>
              <a:rPr sz="1550" i="1" spc="-25" dirty="0">
                <a:latin typeface="Times New Roman"/>
                <a:cs typeface="Times New Roman"/>
              </a:rPr>
              <a:t>D</a:t>
            </a:r>
            <a:endParaRPr sz="155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1155"/>
              </a:spcBef>
            </a:pPr>
            <a:r>
              <a:rPr sz="1550" i="1" dirty="0">
                <a:latin typeface="Times New Roman"/>
                <a:cs typeface="Times New Roman"/>
              </a:rPr>
              <a:t>A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i="1" dirty="0">
                <a:latin typeface="Times New Roman"/>
                <a:cs typeface="Times New Roman"/>
              </a:rPr>
              <a:t>C</a:t>
            </a:r>
            <a:r>
              <a:rPr sz="1550" dirty="0">
                <a:latin typeface="Lucida Sans"/>
                <a:cs typeface="Lucida Sans"/>
              </a:rPr>
              <a:t>,</a:t>
            </a:r>
            <a:r>
              <a:rPr sz="1550" spc="-35" dirty="0">
                <a:latin typeface="Lucida Sans"/>
                <a:cs typeface="Lucida Sans"/>
              </a:rPr>
              <a:t> </a:t>
            </a:r>
            <a:r>
              <a:rPr sz="1550" i="1" spc="-25" dirty="0">
                <a:latin typeface="Times New Roman"/>
                <a:cs typeface="Times New Roman"/>
              </a:rPr>
              <a:t>B</a:t>
            </a:r>
            <a:r>
              <a:rPr sz="1550" spc="-25" dirty="0">
                <a:latin typeface="Times New Roman"/>
                <a:cs typeface="Times New Roman"/>
              </a:rPr>
              <a:t>–</a:t>
            </a:r>
            <a:r>
              <a:rPr sz="1550" i="1" spc="-25" dirty="0">
                <a:latin typeface="Times New Roman"/>
                <a:cs typeface="Times New Roman"/>
              </a:rPr>
              <a:t>D</a:t>
            </a:r>
            <a:endParaRPr sz="15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1235"/>
              </a:spcBef>
            </a:pPr>
            <a:r>
              <a:rPr sz="1550" i="1" dirty="0">
                <a:latin typeface="Times New Roman"/>
                <a:cs typeface="Times New Roman"/>
              </a:rPr>
              <a:t>A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i="1" dirty="0">
                <a:latin typeface="Times New Roman"/>
                <a:cs typeface="Times New Roman"/>
              </a:rPr>
              <a:t>D</a:t>
            </a:r>
            <a:r>
              <a:rPr sz="1550" dirty="0">
                <a:latin typeface="Lucida Sans"/>
                <a:cs typeface="Lucida Sans"/>
              </a:rPr>
              <a:t>,</a:t>
            </a:r>
            <a:r>
              <a:rPr sz="1550" spc="-35" dirty="0">
                <a:latin typeface="Lucida Sans"/>
                <a:cs typeface="Lucida Sans"/>
              </a:rPr>
              <a:t> </a:t>
            </a:r>
            <a:r>
              <a:rPr sz="1550" i="1" spc="-25" dirty="0">
                <a:latin typeface="Times New Roman"/>
                <a:cs typeface="Times New Roman"/>
              </a:rPr>
              <a:t>B</a:t>
            </a:r>
            <a:r>
              <a:rPr sz="1550" spc="-25" dirty="0">
                <a:latin typeface="Times New Roman"/>
                <a:cs typeface="Times New Roman"/>
              </a:rPr>
              <a:t>–</a:t>
            </a:r>
            <a:r>
              <a:rPr sz="1550" i="1" spc="-25" dirty="0">
                <a:latin typeface="Times New Roman"/>
                <a:cs typeface="Times New Roman"/>
              </a:rPr>
              <a:t>C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41392" y="4494943"/>
            <a:ext cx="1571625" cy="1037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dirty="0">
                <a:latin typeface="Symbol"/>
                <a:cs typeface="Symbol"/>
              </a:rPr>
              <a:t></a:t>
            </a:r>
            <a:r>
              <a:rPr sz="1550" spc="90" dirty="0">
                <a:latin typeface="Times New Roman"/>
                <a:cs typeface="Times New Roman"/>
              </a:rPr>
              <a:t>  </a:t>
            </a:r>
            <a:r>
              <a:rPr sz="1550" i="1" dirty="0">
                <a:latin typeface="Times New Roman"/>
                <a:cs typeface="Times New Roman"/>
              </a:rPr>
              <a:t>B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i="1" dirty="0">
                <a:latin typeface="Times New Roman"/>
                <a:cs typeface="Times New Roman"/>
              </a:rPr>
              <a:t>C</a:t>
            </a:r>
            <a:r>
              <a:rPr sz="1550" i="1" spc="9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Lucida Sans"/>
                <a:cs typeface="Lucida Sans"/>
              </a:rPr>
              <a:t>unstable</a:t>
            </a:r>
            <a:endParaRPr sz="1550">
              <a:latin typeface="Lucida Sans"/>
              <a:cs typeface="Lucida Sans"/>
            </a:endParaRPr>
          </a:p>
          <a:p>
            <a:pPr marL="17145">
              <a:lnSpc>
                <a:spcPct val="100000"/>
              </a:lnSpc>
              <a:spcBef>
                <a:spcPts val="1155"/>
              </a:spcBef>
            </a:pPr>
            <a:r>
              <a:rPr sz="1550" dirty="0">
                <a:latin typeface="Symbol"/>
                <a:cs typeface="Symbol"/>
              </a:rPr>
              <a:t></a:t>
            </a:r>
            <a:r>
              <a:rPr sz="1550" spc="90" dirty="0">
                <a:latin typeface="Times New Roman"/>
                <a:cs typeface="Times New Roman"/>
              </a:rPr>
              <a:t>  </a:t>
            </a:r>
            <a:r>
              <a:rPr sz="1550" i="1" dirty="0">
                <a:latin typeface="Times New Roman"/>
                <a:cs typeface="Times New Roman"/>
              </a:rPr>
              <a:t>A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i="1" dirty="0">
                <a:latin typeface="Times New Roman"/>
                <a:cs typeface="Times New Roman"/>
              </a:rPr>
              <a:t>B</a:t>
            </a:r>
            <a:r>
              <a:rPr sz="1550" i="1" spc="9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Lucida Sans"/>
                <a:cs typeface="Lucida Sans"/>
              </a:rPr>
              <a:t>unstable</a:t>
            </a:r>
            <a:endParaRPr sz="1550">
              <a:latin typeface="Lucida Sans"/>
              <a:cs typeface="Lucida Sans"/>
            </a:endParaRPr>
          </a:p>
          <a:p>
            <a:pPr marL="13335">
              <a:lnSpc>
                <a:spcPct val="100000"/>
              </a:lnSpc>
              <a:spcBef>
                <a:spcPts val="1235"/>
              </a:spcBef>
            </a:pPr>
            <a:r>
              <a:rPr sz="1550" dirty="0">
                <a:latin typeface="Symbol"/>
                <a:cs typeface="Symbol"/>
              </a:rPr>
              <a:t></a:t>
            </a:r>
            <a:r>
              <a:rPr sz="1550" spc="90" dirty="0">
                <a:latin typeface="Times New Roman"/>
                <a:cs typeface="Times New Roman"/>
              </a:rPr>
              <a:t>  </a:t>
            </a:r>
            <a:r>
              <a:rPr sz="1550" i="1" dirty="0">
                <a:latin typeface="Times New Roman"/>
                <a:cs typeface="Times New Roman"/>
              </a:rPr>
              <a:t>A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i="1" dirty="0">
                <a:latin typeface="Times New Roman"/>
                <a:cs typeface="Times New Roman"/>
              </a:rPr>
              <a:t>C</a:t>
            </a:r>
            <a:r>
              <a:rPr sz="1550" i="1" spc="9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Lucida Sans"/>
                <a:cs typeface="Lucida Sans"/>
              </a:rPr>
              <a:t>unstable</a:t>
            </a:r>
            <a:endParaRPr sz="155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12674" y="4119061"/>
            <a:ext cx="239458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dirty="0">
                <a:solidFill>
                  <a:srgbClr val="8D3124"/>
                </a:solidFill>
                <a:latin typeface="Lucida Sans"/>
                <a:cs typeface="Lucida Sans"/>
              </a:rPr>
              <a:t>no</a:t>
            </a:r>
            <a:r>
              <a:rPr sz="1200" b="1" spc="10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b="1" dirty="0">
                <a:solidFill>
                  <a:srgbClr val="8D3124"/>
                </a:solidFill>
                <a:latin typeface="Lucida Sans"/>
                <a:cs typeface="Lucida Sans"/>
              </a:rPr>
              <a:t>perfect</a:t>
            </a:r>
            <a:r>
              <a:rPr sz="1200" b="1" spc="11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b="1" dirty="0">
                <a:solidFill>
                  <a:srgbClr val="8D3124"/>
                </a:solidFill>
                <a:latin typeface="Lucida Sans"/>
                <a:cs typeface="Lucida Sans"/>
              </a:rPr>
              <a:t>matching</a:t>
            </a:r>
            <a:r>
              <a:rPr sz="1200" b="1" spc="10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b="1" dirty="0">
                <a:solidFill>
                  <a:srgbClr val="8D3124"/>
                </a:solidFill>
                <a:latin typeface="Lucida Sans"/>
                <a:cs typeface="Lucida Sans"/>
              </a:rPr>
              <a:t>is</a:t>
            </a:r>
            <a:r>
              <a:rPr sz="1200" b="1" spc="11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b="1" spc="-10" dirty="0">
                <a:solidFill>
                  <a:srgbClr val="8D3124"/>
                </a:solidFill>
                <a:latin typeface="Lucida Sans"/>
                <a:cs typeface="Lucida Sans"/>
              </a:rPr>
              <a:t>stable</a:t>
            </a:r>
            <a:endParaRPr sz="12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Gale-Shapley</a:t>
            </a:r>
            <a:r>
              <a:rPr spc="145" dirty="0"/>
              <a:t> </a:t>
            </a:r>
            <a:r>
              <a:rPr spc="50" dirty="0"/>
              <a:t>deferred</a:t>
            </a:r>
            <a:r>
              <a:rPr spc="155" dirty="0"/>
              <a:t> </a:t>
            </a:r>
            <a:r>
              <a:rPr dirty="0"/>
              <a:t>acceptance</a:t>
            </a:r>
            <a:r>
              <a:rPr spc="160" dirty="0"/>
              <a:t> </a:t>
            </a:r>
            <a:r>
              <a:rPr spc="35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82264" y="1725218"/>
            <a:ext cx="7672070" cy="5786120"/>
            <a:chOff x="982264" y="1725218"/>
            <a:chExt cx="7672070" cy="5786120"/>
          </a:xfrm>
        </p:grpSpPr>
        <p:sp>
          <p:nvSpPr>
            <p:cNvPr id="4" name="object 4"/>
            <p:cNvSpPr/>
            <p:nvPr/>
          </p:nvSpPr>
          <p:spPr>
            <a:xfrm>
              <a:off x="982264" y="1725218"/>
              <a:ext cx="7672070" cy="5786120"/>
            </a:xfrm>
            <a:custGeom>
              <a:avLst/>
              <a:gdLst/>
              <a:ahLst/>
              <a:cxnLst/>
              <a:rect l="l" t="t" r="r" b="b"/>
              <a:pathLst>
                <a:path w="7672070" h="5786120">
                  <a:moveTo>
                    <a:pt x="0" y="0"/>
                  </a:moveTo>
                  <a:lnTo>
                    <a:pt x="7671489" y="0"/>
                  </a:lnTo>
                  <a:lnTo>
                    <a:pt x="7671489" y="5785540"/>
                  </a:lnTo>
                  <a:lnTo>
                    <a:pt x="0" y="5785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8185" y="2364678"/>
              <a:ext cx="7033259" cy="0"/>
            </a:xfrm>
            <a:custGeom>
              <a:avLst/>
              <a:gdLst/>
              <a:ahLst/>
              <a:cxnLst/>
              <a:rect l="l" t="t" r="r" b="b"/>
              <a:pathLst>
                <a:path w="7033259">
                  <a:moveTo>
                    <a:pt x="0" y="0"/>
                  </a:moveTo>
                  <a:lnTo>
                    <a:pt x="70330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15950" y="1142804"/>
            <a:ext cx="7463790" cy="6005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dirty="0">
                <a:latin typeface="Lucida Sans"/>
                <a:cs typeface="Lucida Sans"/>
              </a:rPr>
              <a:t>An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intuitive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method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that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guarantees</a:t>
            </a:r>
            <a:r>
              <a:rPr sz="1850" spc="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find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stable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matching.</a:t>
            </a:r>
            <a:endParaRPr sz="1850">
              <a:latin typeface="Lucida Sans"/>
              <a:cs typeface="Lucida Sans"/>
            </a:endParaRPr>
          </a:p>
          <a:p>
            <a:pPr marL="591820" marR="1781810">
              <a:lnSpc>
                <a:spcPct val="188100"/>
              </a:lnSpc>
              <a:spcBef>
                <a:spcPts val="2010"/>
              </a:spcBef>
            </a:pPr>
            <a:r>
              <a:rPr sz="1850" dirty="0">
                <a:solidFill>
                  <a:srgbClr val="003F83"/>
                </a:solidFill>
                <a:latin typeface="Times New Roman"/>
                <a:cs typeface="Times New Roman"/>
              </a:rPr>
              <a:t>G</a:t>
            </a: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ALE</a:t>
            </a:r>
            <a:r>
              <a:rPr sz="1850" dirty="0">
                <a:solidFill>
                  <a:srgbClr val="003F83"/>
                </a:solidFill>
                <a:latin typeface="Times New Roman"/>
                <a:cs typeface="Times New Roman"/>
              </a:rPr>
              <a:t>–S</a:t>
            </a: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HAPLEY</a:t>
            </a:r>
            <a:r>
              <a:rPr sz="1450" spc="-5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(</a:t>
            </a:r>
            <a:r>
              <a:rPr sz="1850" i="1" spc="-10" dirty="0">
                <a:latin typeface="Times New Roman"/>
                <a:cs typeface="Times New Roman"/>
              </a:rPr>
              <a:t>preference</a:t>
            </a:r>
            <a:r>
              <a:rPr sz="1850" i="1" dirty="0">
                <a:latin typeface="Times New Roman"/>
                <a:cs typeface="Times New Roman"/>
              </a:rPr>
              <a:t> lists for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men and </a:t>
            </a:r>
            <a:r>
              <a:rPr sz="1850" i="1" spc="-10" dirty="0">
                <a:latin typeface="Times New Roman"/>
                <a:cs typeface="Times New Roman"/>
              </a:rPr>
              <a:t>women</a:t>
            </a:r>
            <a:r>
              <a:rPr sz="1850" spc="-10" dirty="0">
                <a:latin typeface="Times New Roman"/>
                <a:cs typeface="Times New Roman"/>
              </a:rPr>
              <a:t>) </a:t>
            </a:r>
            <a:r>
              <a:rPr sz="1850" dirty="0">
                <a:solidFill>
                  <a:srgbClr val="003F83"/>
                </a:solidFill>
                <a:latin typeface="Times New Roman"/>
                <a:cs typeface="Times New Roman"/>
              </a:rPr>
              <a:t>I</a:t>
            </a: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NITIALIZE</a:t>
            </a:r>
            <a:r>
              <a:rPr sz="1450" spc="39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i="1" spc="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empty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matching.</a:t>
            </a:r>
            <a:endParaRPr sz="1850">
              <a:latin typeface="Times New Roman"/>
              <a:cs typeface="Times New Roman"/>
            </a:endParaRPr>
          </a:p>
          <a:p>
            <a:pPr marL="591820">
              <a:lnSpc>
                <a:spcPct val="100000"/>
              </a:lnSpc>
              <a:spcBef>
                <a:spcPts val="955"/>
              </a:spcBef>
            </a:pP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WHILE</a:t>
            </a:r>
            <a:r>
              <a:rPr sz="1450" spc="35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(some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man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is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unmatched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hasn't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proposed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every</a:t>
            </a:r>
            <a:r>
              <a:rPr sz="1850" spc="-10" dirty="0">
                <a:latin typeface="Times New Roman"/>
                <a:cs typeface="Times New Roman"/>
              </a:rPr>
              <a:t> woman)</a:t>
            </a:r>
            <a:endParaRPr sz="1850">
              <a:latin typeface="Times New Roman"/>
              <a:cs typeface="Times New Roman"/>
            </a:endParaRPr>
          </a:p>
          <a:p>
            <a:pPr marL="827405">
              <a:lnSpc>
                <a:spcPct val="100000"/>
              </a:lnSpc>
              <a:spcBef>
                <a:spcPts val="950"/>
              </a:spcBef>
            </a:pP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43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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first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woman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dirty="0">
                <a:latin typeface="Times New Roman"/>
                <a:cs typeface="Times New Roman"/>
              </a:rPr>
              <a:t>'s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list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whom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has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not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yet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proposed.</a:t>
            </a:r>
            <a:endParaRPr sz="1850">
              <a:latin typeface="Times New Roman"/>
              <a:cs typeface="Times New Roman"/>
            </a:endParaRPr>
          </a:p>
          <a:p>
            <a:pPr marL="827405">
              <a:lnSpc>
                <a:spcPct val="100000"/>
              </a:lnSpc>
              <a:spcBef>
                <a:spcPts val="1025"/>
              </a:spcBef>
            </a:pP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IF</a:t>
            </a:r>
            <a:r>
              <a:rPr sz="1450" spc="37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w </a:t>
            </a:r>
            <a:r>
              <a:rPr sz="1850" dirty="0">
                <a:latin typeface="Times New Roman"/>
                <a:cs typeface="Times New Roman"/>
              </a:rPr>
              <a:t>is </a:t>
            </a:r>
            <a:r>
              <a:rPr sz="1850" spc="-10" dirty="0">
                <a:latin typeface="Times New Roman"/>
                <a:cs typeface="Times New Roman"/>
              </a:rPr>
              <a:t>unmatched)</a:t>
            </a:r>
            <a:endParaRPr sz="1850">
              <a:latin typeface="Times New Roman"/>
              <a:cs typeface="Times New Roman"/>
            </a:endParaRPr>
          </a:p>
          <a:p>
            <a:pPr marL="1122045">
              <a:lnSpc>
                <a:spcPct val="100000"/>
              </a:lnSpc>
              <a:spcBef>
                <a:spcPts val="955"/>
              </a:spcBef>
            </a:pPr>
            <a:r>
              <a:rPr sz="1850" dirty="0">
                <a:latin typeface="Times New Roman"/>
                <a:cs typeface="Times New Roman"/>
              </a:rPr>
              <a:t>Add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pair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dirty="0">
                <a:latin typeface="Times New Roman"/>
                <a:cs typeface="Times New Roman"/>
              </a:rPr>
              <a:t>–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matching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S</a:t>
            </a:r>
            <a:r>
              <a:rPr sz="1850" spc="-25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  <a:p>
            <a:pPr marL="1122045" marR="2232025" indent="-265430">
              <a:lnSpc>
                <a:spcPct val="142800"/>
              </a:lnSpc>
            </a:pP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ELSE</a:t>
            </a:r>
            <a:r>
              <a:rPr sz="1450" spc="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IF</a:t>
            </a:r>
            <a:r>
              <a:rPr sz="1450" spc="37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w </a:t>
            </a:r>
            <a:r>
              <a:rPr sz="1850" dirty="0">
                <a:latin typeface="Times New Roman"/>
                <a:cs typeface="Times New Roman"/>
              </a:rPr>
              <a:t>prefers </a:t>
            </a:r>
            <a:r>
              <a:rPr sz="1850" i="1" dirty="0">
                <a:latin typeface="Times New Roman"/>
                <a:cs typeface="Times New Roman"/>
              </a:rPr>
              <a:t>m </a:t>
            </a:r>
            <a:r>
              <a:rPr sz="1850" dirty="0">
                <a:latin typeface="Times New Roman"/>
                <a:cs typeface="Times New Roman"/>
              </a:rPr>
              <a:t>to her current partner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m</a:t>
            </a:r>
            <a:r>
              <a:rPr sz="1850" b="1" spc="-25" dirty="0">
                <a:latin typeface="Times New Roman"/>
                <a:cs typeface="Times New Roman"/>
              </a:rPr>
              <a:t>'</a:t>
            </a:r>
            <a:r>
              <a:rPr sz="1850" spc="-25" dirty="0">
                <a:latin typeface="Times New Roman"/>
                <a:cs typeface="Times New Roman"/>
              </a:rPr>
              <a:t>) </a:t>
            </a:r>
            <a:r>
              <a:rPr sz="1850" dirty="0">
                <a:latin typeface="Times New Roman"/>
                <a:cs typeface="Times New Roman"/>
              </a:rPr>
              <a:t>Remove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pair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m'</a:t>
            </a:r>
            <a:r>
              <a:rPr sz="1850" dirty="0">
                <a:latin typeface="Times New Roman"/>
                <a:cs typeface="Times New Roman"/>
              </a:rPr>
              <a:t>–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from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matching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S</a:t>
            </a:r>
            <a:r>
              <a:rPr sz="1850" spc="-25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  <a:p>
            <a:pPr marL="1122045">
              <a:lnSpc>
                <a:spcPct val="100000"/>
              </a:lnSpc>
              <a:spcBef>
                <a:spcPts val="950"/>
              </a:spcBef>
            </a:pPr>
            <a:r>
              <a:rPr sz="1850" dirty="0">
                <a:latin typeface="Times New Roman"/>
                <a:cs typeface="Times New Roman"/>
              </a:rPr>
              <a:t>Add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pair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dirty="0">
                <a:latin typeface="Times New Roman"/>
                <a:cs typeface="Times New Roman"/>
              </a:rPr>
              <a:t>–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matching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S</a:t>
            </a:r>
            <a:r>
              <a:rPr sz="1850" spc="-25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  <a:p>
            <a:pPr marL="857250">
              <a:lnSpc>
                <a:spcPct val="100000"/>
              </a:lnSpc>
              <a:spcBef>
                <a:spcPts val="965"/>
              </a:spcBef>
            </a:pPr>
            <a:r>
              <a:rPr sz="1450" spc="-20" dirty="0">
                <a:solidFill>
                  <a:srgbClr val="003F83"/>
                </a:solidFill>
                <a:latin typeface="Times New Roman"/>
                <a:cs typeface="Times New Roman"/>
              </a:rPr>
              <a:t>ELSE</a:t>
            </a:r>
            <a:endParaRPr sz="1450">
              <a:latin typeface="Times New Roman"/>
              <a:cs typeface="Times New Roman"/>
            </a:endParaRPr>
          </a:p>
          <a:p>
            <a:pPr marL="1122045">
              <a:lnSpc>
                <a:spcPct val="100000"/>
              </a:lnSpc>
              <a:spcBef>
                <a:spcPts val="955"/>
              </a:spcBef>
            </a:pP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rejects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m</a:t>
            </a:r>
            <a:r>
              <a:rPr sz="1850" spc="-25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89"/>
              </a:spcBef>
            </a:pPr>
            <a:endParaRPr sz="1850">
              <a:latin typeface="Times New Roman"/>
              <a:cs typeface="Times New Roman"/>
            </a:endParaRPr>
          </a:p>
          <a:p>
            <a:pPr marL="591820">
              <a:lnSpc>
                <a:spcPct val="100000"/>
              </a:lnSpc>
              <a:spcBef>
                <a:spcPts val="5"/>
              </a:spcBef>
            </a:pP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RETURN</a:t>
            </a:r>
            <a:r>
              <a:rPr sz="1450" spc="10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stable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matching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S</a:t>
            </a:r>
            <a:r>
              <a:rPr sz="1850" spc="-25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08185" y="7276003"/>
            <a:ext cx="7033259" cy="0"/>
          </a:xfrm>
          <a:custGeom>
            <a:avLst/>
            <a:gdLst/>
            <a:ahLst/>
            <a:cxnLst/>
            <a:rect l="l" t="t" r="r" b="b"/>
            <a:pathLst>
              <a:path w="7033259">
                <a:moveTo>
                  <a:pt x="0" y="0"/>
                </a:moveTo>
                <a:lnTo>
                  <a:pt x="703301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31173" y="1305877"/>
            <a:ext cx="577164" cy="53042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5950" y="376634"/>
            <a:ext cx="4145279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33675" algn="l"/>
              </a:tabLst>
            </a:pPr>
            <a:r>
              <a:rPr dirty="0"/>
              <a:t>Proof</a:t>
            </a:r>
            <a:r>
              <a:rPr spc="95" dirty="0"/>
              <a:t> </a:t>
            </a:r>
            <a:r>
              <a:rPr spc="65" dirty="0"/>
              <a:t>of</a:t>
            </a:r>
            <a:r>
              <a:rPr spc="90" dirty="0"/>
              <a:t> </a:t>
            </a:r>
            <a:r>
              <a:rPr spc="-10" dirty="0"/>
              <a:t>correctness:</a:t>
            </a:r>
            <a:r>
              <a:rPr dirty="0"/>
              <a:t>	</a:t>
            </a:r>
            <a:r>
              <a:rPr spc="-10" dirty="0"/>
              <a:t>termination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77850" y="1142804"/>
            <a:ext cx="8722360" cy="2921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1889760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Observation</a:t>
            </a:r>
            <a:r>
              <a:rPr sz="1850" spc="10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1.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Men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propose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 women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decreasing order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preference.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850">
              <a:latin typeface="Lucida Sans"/>
              <a:cs typeface="Lucida Sans"/>
            </a:endParaRPr>
          </a:p>
          <a:p>
            <a:pPr marL="50800" marR="17780">
              <a:lnSpc>
                <a:spcPct val="132400"/>
              </a:lnSpc>
              <a:tabLst>
                <a:tab pos="1889760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Observation</a:t>
            </a:r>
            <a:r>
              <a:rPr sz="1850" spc="10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2.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Once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woman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matched,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she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never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becomes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unmatched; </a:t>
            </a:r>
            <a:r>
              <a:rPr sz="1850" dirty="0">
                <a:latin typeface="Lucida Sans"/>
                <a:cs typeface="Lucida Sans"/>
              </a:rPr>
              <a:t>she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only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"trades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spc="-20" dirty="0">
                <a:latin typeface="Lucida Sans"/>
                <a:cs typeface="Lucida Sans"/>
              </a:rPr>
              <a:t>up."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850">
              <a:latin typeface="Lucida Sans"/>
              <a:cs typeface="Lucida Sans"/>
            </a:endParaRPr>
          </a:p>
          <a:p>
            <a:pPr marL="50800" marR="473075">
              <a:lnSpc>
                <a:spcPct val="132400"/>
              </a:lnSpc>
              <a:tabLst>
                <a:tab pos="490855" algn="l"/>
                <a:tab pos="923925" algn="l"/>
                <a:tab pos="4445000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Claim.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Algorithm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terminates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after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at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most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-145" dirty="0">
                <a:latin typeface="Times New Roman"/>
                <a:cs typeface="Times New Roman"/>
              </a:rPr>
              <a:t> </a:t>
            </a:r>
            <a:r>
              <a:rPr sz="1800" baseline="20833" dirty="0">
                <a:latin typeface="Times New Roman"/>
                <a:cs typeface="Times New Roman"/>
              </a:rPr>
              <a:t>2</a:t>
            </a:r>
            <a:r>
              <a:rPr sz="1800" spc="450" baseline="20833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iterations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while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loop. 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Pf.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time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through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while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loop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proposes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new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woman. </a:t>
            </a:r>
            <a:r>
              <a:rPr sz="1850" dirty="0">
                <a:latin typeface="Lucida Sans"/>
                <a:cs typeface="Lucida Sans"/>
              </a:rPr>
              <a:t>There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are only 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-155" dirty="0">
                <a:latin typeface="Times New Roman"/>
                <a:cs typeface="Times New Roman"/>
              </a:rPr>
              <a:t> </a:t>
            </a:r>
            <a:r>
              <a:rPr sz="1800" baseline="20833" dirty="0">
                <a:latin typeface="Times New Roman"/>
                <a:cs typeface="Times New Roman"/>
              </a:rPr>
              <a:t>2</a:t>
            </a:r>
            <a:r>
              <a:rPr sz="1800" spc="427" baseline="20833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possible </a:t>
            </a:r>
            <a:r>
              <a:rPr sz="1850" spc="-10" dirty="0">
                <a:latin typeface="Lucida Sans"/>
                <a:cs typeface="Lucida Sans"/>
              </a:rPr>
              <a:t>proposals.</a:t>
            </a:r>
            <a:r>
              <a:rPr sz="1850" dirty="0">
                <a:latin typeface="Lucida Sans"/>
                <a:cs typeface="Lucida Sans"/>
              </a:rPr>
              <a:t>	</a:t>
            </a:r>
            <a:r>
              <a:rPr sz="1850" spc="-50" dirty="0">
                <a:latin typeface="Lucida Sans Unicode"/>
                <a:cs typeface="Lucida Sans Unicode"/>
              </a:rPr>
              <a:t>▪</a:t>
            </a:r>
            <a:endParaRPr sz="1850">
              <a:latin typeface="Lucida Sans Unicode"/>
              <a:cs typeface="Lucida Sans Unicode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20600" y="4867401"/>
          <a:ext cx="3446145" cy="19011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4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75" spc="-37" baseline="-13227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700">
                        <a:latin typeface="Lucida Sans"/>
                        <a:cs typeface="Lucida Sans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75" spc="-37" baseline="-13227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700">
                        <a:latin typeface="Lucida Sans"/>
                        <a:cs typeface="Lucida Sans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75" spc="-37" baseline="-13227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700">
                        <a:latin typeface="Lucida Sans"/>
                        <a:cs typeface="Lucida Sans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75" spc="-37" baseline="-13227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4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th</a:t>
                      </a:r>
                      <a:endParaRPr sz="700">
                        <a:latin typeface="Lucida Sans"/>
                        <a:cs typeface="Lucida Sans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75" spc="-37" baseline="-13227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5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th</a:t>
                      </a:r>
                      <a:endParaRPr sz="700">
                        <a:latin typeface="Lucida Sans"/>
                        <a:cs typeface="Lucida Sans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Victor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B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D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E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8A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Wyatt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B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D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8A8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E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Xavier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D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B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8A8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E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Yancey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D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B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8A8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E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2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Zeus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B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D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8A8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E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100273" y="4867401"/>
          <a:ext cx="3445510" cy="19011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4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75" spc="-37" baseline="-13227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700">
                        <a:latin typeface="Lucida Sans"/>
                        <a:cs typeface="Lucida Sans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75" spc="-37" baseline="-13227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700">
                        <a:latin typeface="Lucida Sans"/>
                        <a:cs typeface="Lucida Sans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75" spc="-37" baseline="-13227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700">
                        <a:latin typeface="Lucida Sans"/>
                        <a:cs typeface="Lucida Sans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75" spc="-37" baseline="-13227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4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th</a:t>
                      </a:r>
                      <a:endParaRPr sz="700">
                        <a:latin typeface="Lucida Sans"/>
                        <a:cs typeface="Lucida Sans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75" spc="-37" baseline="-13227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5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th</a:t>
                      </a:r>
                      <a:endParaRPr sz="700">
                        <a:latin typeface="Lucida Sans"/>
                        <a:cs typeface="Lucida Sans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Amy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W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8A8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X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Y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Z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V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Bertha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X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8A8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Y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Z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V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W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Clare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Y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8A8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Z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V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W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X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Diane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Z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8A8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V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W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X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Y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Erika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V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8A8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W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X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Y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Z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927636" y="6967635"/>
            <a:ext cx="247967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spc="90" dirty="0">
                <a:latin typeface="Lucida Sans"/>
                <a:cs typeface="Lucida Sans"/>
              </a:rPr>
              <a:t>n(n-</a:t>
            </a:r>
            <a:r>
              <a:rPr sz="1200" b="1" spc="95" dirty="0">
                <a:latin typeface="Lucida Sans"/>
                <a:cs typeface="Lucida Sans"/>
              </a:rPr>
              <a:t>1)</a:t>
            </a:r>
            <a:r>
              <a:rPr sz="1200" b="1" spc="60" dirty="0">
                <a:latin typeface="Lucida Sans"/>
                <a:cs typeface="Lucida Sans"/>
              </a:rPr>
              <a:t> </a:t>
            </a:r>
            <a:r>
              <a:rPr sz="1200" b="1" spc="220" dirty="0">
                <a:latin typeface="Lucida Sans"/>
                <a:cs typeface="Lucida Sans"/>
              </a:rPr>
              <a:t>+</a:t>
            </a:r>
            <a:r>
              <a:rPr sz="1200" b="1" spc="70" dirty="0">
                <a:latin typeface="Lucida Sans"/>
                <a:cs typeface="Lucida Sans"/>
              </a:rPr>
              <a:t> </a:t>
            </a:r>
            <a:r>
              <a:rPr sz="1200" b="1" spc="50" dirty="0">
                <a:latin typeface="Lucida Sans"/>
                <a:cs typeface="Lucida Sans"/>
              </a:rPr>
              <a:t>1</a:t>
            </a:r>
            <a:r>
              <a:rPr sz="1200" b="1" spc="65" dirty="0">
                <a:latin typeface="Lucida Sans"/>
                <a:cs typeface="Lucida Sans"/>
              </a:rPr>
              <a:t> </a:t>
            </a:r>
            <a:r>
              <a:rPr sz="1200" b="1" dirty="0">
                <a:latin typeface="Lucida Sans"/>
                <a:cs typeface="Lucida Sans"/>
              </a:rPr>
              <a:t>proposals</a:t>
            </a:r>
            <a:r>
              <a:rPr sz="1200" b="1" spc="70" dirty="0">
                <a:latin typeface="Lucida Sans"/>
                <a:cs typeface="Lucida Sans"/>
              </a:rPr>
              <a:t> </a:t>
            </a:r>
            <a:r>
              <a:rPr sz="1200" b="1" spc="-10" dirty="0">
                <a:latin typeface="Lucida Sans"/>
                <a:cs typeface="Lucida Sans"/>
              </a:rPr>
              <a:t>required</a:t>
            </a:r>
            <a:endParaRPr sz="12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5950" y="376634"/>
            <a:ext cx="4005579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33675" algn="l"/>
              </a:tabLst>
            </a:pPr>
            <a:r>
              <a:rPr dirty="0"/>
              <a:t>Proof</a:t>
            </a:r>
            <a:r>
              <a:rPr spc="95" dirty="0"/>
              <a:t> </a:t>
            </a:r>
            <a:r>
              <a:rPr spc="65" dirty="0"/>
              <a:t>of</a:t>
            </a:r>
            <a:r>
              <a:rPr spc="90" dirty="0"/>
              <a:t> </a:t>
            </a:r>
            <a:r>
              <a:rPr spc="-10" dirty="0"/>
              <a:t>correctness:</a:t>
            </a:r>
            <a:r>
              <a:rPr dirty="0"/>
              <a:t>	</a:t>
            </a:r>
            <a:r>
              <a:rPr spc="-10" dirty="0"/>
              <a:t>perfection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15950" y="1052436"/>
            <a:ext cx="7769859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2400"/>
              </a:lnSpc>
              <a:spcBef>
                <a:spcPts val="95"/>
              </a:spcBef>
              <a:tabLst>
                <a:tab pos="452755" algn="l"/>
                <a:tab pos="885825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Claim.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Gale-Shapley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matching,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all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men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women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get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matched. 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Pf.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solidFill>
                  <a:srgbClr val="606060"/>
                </a:solidFill>
                <a:latin typeface="Lucida Sans"/>
                <a:cs typeface="Lucida Sans"/>
              </a:rPr>
              <a:t>[by</a:t>
            </a:r>
            <a:r>
              <a:rPr sz="1850" spc="80" dirty="0">
                <a:solidFill>
                  <a:srgbClr val="606060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606060"/>
                </a:solidFill>
                <a:latin typeface="Lucida Sans"/>
                <a:cs typeface="Lucida Sans"/>
              </a:rPr>
              <a:t>contradiction]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7791" y="2262586"/>
            <a:ext cx="328930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dirty="0">
                <a:latin typeface="Lucida Sans"/>
                <a:cs typeface="Lucida Sans"/>
              </a:rPr>
              <a:t>termination of GS </a:t>
            </a:r>
            <a:r>
              <a:rPr sz="1850" spc="-10" dirty="0">
                <a:latin typeface="Lucida Sans"/>
                <a:cs typeface="Lucida Sans"/>
              </a:rPr>
              <a:t>algorithm.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776" y="1747879"/>
            <a:ext cx="8039100" cy="1224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Suppose, for sake of contradiction, that Zeus is not matched </a:t>
            </a:r>
            <a:r>
              <a:rPr sz="1850" spc="-20" dirty="0">
                <a:latin typeface="Lucida Sans"/>
                <a:cs typeface="Lucida Sans"/>
              </a:rPr>
              <a:t>upon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850">
              <a:latin typeface="Lucida Sans"/>
              <a:cs typeface="Lucida Sans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Then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some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woman,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say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Amy</a:t>
            </a:r>
            <a:r>
              <a:rPr sz="1850" spc="5" dirty="0">
                <a:latin typeface="Lucida Sans"/>
                <a:cs typeface="Lucida Sans"/>
              </a:rPr>
              <a:t>,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not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matched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upon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termination.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6076" y="2867662"/>
            <a:ext cx="7869555" cy="851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ts val="3240"/>
              </a:lnSpc>
              <a:spcBef>
                <a:spcPts val="120"/>
              </a:spcBef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By</a:t>
            </a:r>
            <a:r>
              <a:rPr sz="1850" spc="6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Observation</a:t>
            </a:r>
            <a:r>
              <a:rPr sz="1850" spc="6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2,</a:t>
            </a:r>
            <a:r>
              <a:rPr sz="1850" spc="6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Amy</a:t>
            </a:r>
            <a:r>
              <a:rPr sz="1850" spc="6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was</a:t>
            </a:r>
            <a:r>
              <a:rPr sz="1850" spc="6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never</a:t>
            </a:r>
            <a:r>
              <a:rPr sz="1850" spc="6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proposed</a:t>
            </a:r>
            <a:r>
              <a:rPr sz="1850" spc="60" dirty="0">
                <a:latin typeface="Lucida Sans"/>
                <a:cs typeface="Lucida Sans"/>
              </a:rPr>
              <a:t> </a:t>
            </a:r>
            <a:r>
              <a:rPr sz="1850" spc="-25" dirty="0">
                <a:latin typeface="Lucida Sans"/>
                <a:cs typeface="Lucida Sans"/>
              </a:rPr>
              <a:t>to.</a:t>
            </a:r>
            <a:endParaRPr sz="1850">
              <a:latin typeface="Lucida Sans"/>
              <a:cs typeface="Lucida Sans"/>
            </a:endParaRPr>
          </a:p>
          <a:p>
            <a:pPr marL="50800">
              <a:lnSpc>
                <a:spcPts val="3240"/>
              </a:lnSpc>
              <a:tabLst>
                <a:tab pos="7698740" algn="l"/>
              </a:tabLst>
            </a:pPr>
            <a:r>
              <a:rPr sz="4425" baseline="-5649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But,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Zeus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proposes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everyone,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since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ends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up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unmatched.</a:t>
            </a:r>
            <a:r>
              <a:rPr sz="1850" dirty="0">
                <a:latin typeface="Lucida Sans"/>
                <a:cs typeface="Lucida Sans"/>
              </a:rPr>
              <a:t>	</a:t>
            </a:r>
            <a:r>
              <a:rPr sz="1850" spc="-50" dirty="0">
                <a:latin typeface="Lucida Sans Unicode"/>
                <a:cs typeface="Lucida Sans Unicode"/>
              </a:rPr>
              <a:t>▪</a:t>
            </a:r>
            <a:endParaRPr sz="18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5950" y="376634"/>
            <a:ext cx="3696335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33675" algn="l"/>
              </a:tabLst>
            </a:pPr>
            <a:r>
              <a:rPr dirty="0"/>
              <a:t>Proof</a:t>
            </a:r>
            <a:r>
              <a:rPr spc="95" dirty="0"/>
              <a:t> </a:t>
            </a:r>
            <a:r>
              <a:rPr spc="65" dirty="0"/>
              <a:t>of</a:t>
            </a:r>
            <a:r>
              <a:rPr spc="90" dirty="0"/>
              <a:t> </a:t>
            </a:r>
            <a:r>
              <a:rPr spc="-10" dirty="0"/>
              <a:t>correctness:</a:t>
            </a:r>
            <a:r>
              <a:rPr dirty="0"/>
              <a:t>	</a:t>
            </a:r>
            <a:r>
              <a:rPr spc="-10" dirty="0"/>
              <a:t>stability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950" y="1142804"/>
            <a:ext cx="708787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85825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Claim.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Gale-Shapley matching, there are no unstable </a:t>
            </a:r>
            <a:r>
              <a:rPr sz="1850" spc="-10" dirty="0">
                <a:latin typeface="Lucida Sans"/>
                <a:cs typeface="Lucida Sans"/>
              </a:rPr>
              <a:t>pairs.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5950" y="1516065"/>
            <a:ext cx="719010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52755" algn="l"/>
              </a:tabLst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Pf.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Suppose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 GS matching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dirty="0">
                <a:latin typeface="Times New Roman"/>
                <a:cs typeface="Times New Roman"/>
              </a:rPr>
              <a:t>*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does not contain the pair </a:t>
            </a:r>
            <a:r>
              <a:rPr sz="1850" i="1" spc="-20" dirty="0">
                <a:latin typeface="Times New Roman"/>
                <a:cs typeface="Times New Roman"/>
              </a:rPr>
              <a:t>A</a:t>
            </a:r>
            <a:r>
              <a:rPr sz="1850" spc="-20" dirty="0">
                <a:latin typeface="Times New Roman"/>
                <a:cs typeface="Times New Roman"/>
              </a:rPr>
              <a:t>–</a:t>
            </a:r>
            <a:r>
              <a:rPr sz="1850" i="1" spc="-20" dirty="0">
                <a:latin typeface="Times New Roman"/>
                <a:cs typeface="Times New Roman"/>
              </a:rPr>
              <a:t>Z</a:t>
            </a:r>
            <a:r>
              <a:rPr sz="1850" spc="-20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776" y="1648552"/>
            <a:ext cx="4483735" cy="92265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0"/>
              </a:spcBef>
              <a:tabLst>
                <a:tab pos="1407160" algn="l"/>
              </a:tabLst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Case </a:t>
            </a:r>
            <a:r>
              <a:rPr sz="1850" spc="-25" dirty="0">
                <a:latin typeface="Lucida Sans"/>
                <a:cs typeface="Lucida Sans"/>
              </a:rPr>
              <a:t>1:</a:t>
            </a:r>
            <a:r>
              <a:rPr sz="1850" dirty="0">
                <a:latin typeface="Lucida Sans"/>
                <a:cs typeface="Lucida Sans"/>
              </a:rPr>
              <a:t>	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never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proposed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A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  <a:p>
            <a:pPr marL="540385">
              <a:lnSpc>
                <a:spcPct val="100000"/>
              </a:lnSpc>
              <a:spcBef>
                <a:spcPts val="500"/>
              </a:spcBef>
              <a:tabLst>
                <a:tab pos="922019" algn="l"/>
              </a:tabLst>
            </a:pPr>
            <a:r>
              <a:rPr sz="1850" spc="-50" dirty="0">
                <a:latin typeface="Symbol"/>
                <a:cs typeface="Symbol"/>
              </a:rPr>
              <a:t>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his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partner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B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A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6781" y="2635847"/>
            <a:ext cx="189865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3700" algn="l"/>
              </a:tabLst>
            </a:pPr>
            <a:r>
              <a:rPr sz="1850" spc="-50" dirty="0">
                <a:latin typeface="Symbol"/>
                <a:cs typeface="Symbol"/>
              </a:rPr>
              <a:t>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dirty="0">
                <a:latin typeface="Times New Roman"/>
                <a:cs typeface="Times New Roman"/>
              </a:rPr>
              <a:t>–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 </a:t>
            </a:r>
            <a:r>
              <a:rPr sz="1850" spc="-10" dirty="0">
                <a:latin typeface="Lucida Sans"/>
                <a:cs typeface="Lucida Sans"/>
              </a:rPr>
              <a:t>stable.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776" y="2768335"/>
            <a:ext cx="4645660" cy="92265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0"/>
              </a:spcBef>
              <a:tabLst>
                <a:tab pos="1407160" algn="l"/>
              </a:tabLst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Case </a:t>
            </a:r>
            <a:r>
              <a:rPr sz="1850" spc="-25" dirty="0">
                <a:latin typeface="Lucida Sans"/>
                <a:cs typeface="Lucida Sans"/>
              </a:rPr>
              <a:t>2:</a:t>
            </a:r>
            <a:r>
              <a:rPr sz="1850" dirty="0">
                <a:latin typeface="Lucida Sans"/>
                <a:cs typeface="Lucida Sans"/>
              </a:rPr>
              <a:t>	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proposed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A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  <a:p>
            <a:pPr marL="540385">
              <a:lnSpc>
                <a:spcPct val="100000"/>
              </a:lnSpc>
              <a:spcBef>
                <a:spcPts val="500"/>
              </a:spcBef>
              <a:tabLst>
                <a:tab pos="922019" algn="l"/>
              </a:tabLst>
            </a:pPr>
            <a:r>
              <a:rPr sz="1850" spc="-50" dirty="0">
                <a:latin typeface="Symbol"/>
                <a:cs typeface="Symbol"/>
              </a:rPr>
              <a:t>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rejected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(right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spc="55" dirty="0">
                <a:latin typeface="Lucida Sans"/>
                <a:cs typeface="Lucida Sans"/>
              </a:rPr>
              <a:t>away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or</a:t>
            </a:r>
            <a:r>
              <a:rPr sz="1850" spc="-10" dirty="0">
                <a:latin typeface="Lucida Sans"/>
                <a:cs typeface="Lucida Sans"/>
              </a:rPr>
              <a:t> later)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6781" y="3665260"/>
            <a:ext cx="3956685" cy="77216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  <a:tabLst>
                <a:tab pos="393700" algn="l"/>
              </a:tabLst>
            </a:pPr>
            <a:r>
              <a:rPr sz="1850" spc="-50" dirty="0">
                <a:latin typeface="Symbol"/>
                <a:cs typeface="Symbol"/>
              </a:rPr>
              <a:t>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her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partner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Y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Z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393700" algn="l"/>
              </a:tabLst>
            </a:pPr>
            <a:r>
              <a:rPr sz="1850" spc="-50" dirty="0">
                <a:latin typeface="Symbol"/>
                <a:cs typeface="Symbol"/>
              </a:rPr>
              <a:t>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dirty="0">
                <a:latin typeface="Times New Roman"/>
                <a:cs typeface="Times New Roman"/>
              </a:rPr>
              <a:t>–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 </a:t>
            </a:r>
            <a:r>
              <a:rPr sz="1850" spc="-10" dirty="0">
                <a:latin typeface="Lucida Sans"/>
                <a:cs typeface="Lucida Sans"/>
              </a:rPr>
              <a:t>stable.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6076" y="4360704"/>
            <a:ext cx="4860925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  <a:tabLst>
                <a:tab pos="4702810" algn="l"/>
              </a:tabLst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either case,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 pair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dirty="0">
                <a:latin typeface="Times New Roman"/>
                <a:cs typeface="Times New Roman"/>
              </a:rPr>
              <a:t>–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stable.</a:t>
            </a:r>
            <a:r>
              <a:rPr sz="1850" dirty="0">
                <a:latin typeface="Lucida Sans"/>
                <a:cs typeface="Lucida Sans"/>
              </a:rPr>
              <a:t>	</a:t>
            </a:r>
            <a:r>
              <a:rPr sz="1850" spc="-50" dirty="0">
                <a:latin typeface="Lucida Sans Unicode"/>
                <a:cs typeface="Lucida Sans Unicode"/>
              </a:rPr>
              <a:t>▪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92453" y="2130085"/>
            <a:ext cx="1308100" cy="61722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 indent="43815">
              <a:lnSpc>
                <a:spcPct val="107400"/>
              </a:lnSpc>
              <a:spcBef>
                <a:spcPts val="30"/>
              </a:spcBef>
            </a:pP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men</a:t>
            </a:r>
            <a:r>
              <a:rPr sz="1200" spc="9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propose</a:t>
            </a:r>
            <a:r>
              <a:rPr sz="1200" spc="9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8D3124"/>
                </a:solidFill>
                <a:latin typeface="Lucida Sans"/>
                <a:cs typeface="Lucida Sans"/>
              </a:rPr>
              <a:t>in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decreasing</a:t>
            </a:r>
            <a:r>
              <a:rPr sz="1200" spc="16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20" dirty="0">
                <a:solidFill>
                  <a:srgbClr val="8D3124"/>
                </a:solidFill>
                <a:latin typeface="Lucida Sans"/>
                <a:cs typeface="Lucida Sans"/>
              </a:rPr>
              <a:t>order</a:t>
            </a:r>
            <a:endParaRPr sz="1200">
              <a:latin typeface="Lucida Sans"/>
              <a:cs typeface="Lucida Sans"/>
            </a:endParaRPr>
          </a:p>
          <a:p>
            <a:pPr marL="147955">
              <a:lnSpc>
                <a:spcPct val="100000"/>
              </a:lnSpc>
              <a:spcBef>
                <a:spcPts val="185"/>
              </a:spcBef>
            </a:pP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of</a:t>
            </a:r>
            <a:r>
              <a:rPr sz="1200" spc="4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preference</a:t>
            </a:r>
            <a:endParaRPr sz="1200">
              <a:latin typeface="Lucida Sans"/>
              <a:cs typeface="Lucida San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278259" y="2411056"/>
            <a:ext cx="468630" cy="94615"/>
            <a:chOff x="5278259" y="2411056"/>
            <a:chExt cx="468630" cy="94615"/>
          </a:xfrm>
        </p:grpSpPr>
        <p:sp>
          <p:nvSpPr>
            <p:cNvPr id="12" name="object 12"/>
            <p:cNvSpPr/>
            <p:nvPr/>
          </p:nvSpPr>
          <p:spPr>
            <a:xfrm>
              <a:off x="5339150" y="2458200"/>
              <a:ext cx="407670" cy="0"/>
            </a:xfrm>
            <a:custGeom>
              <a:avLst/>
              <a:gdLst/>
              <a:ahLst/>
              <a:cxnLst/>
              <a:rect l="l" t="t" r="r" b="b"/>
              <a:pathLst>
                <a:path w="407670">
                  <a:moveTo>
                    <a:pt x="0" y="0"/>
                  </a:moveTo>
                  <a:lnTo>
                    <a:pt x="9822" y="0"/>
                  </a:lnTo>
                  <a:lnTo>
                    <a:pt x="407590" y="0"/>
                  </a:lnTo>
                </a:path>
              </a:pathLst>
            </a:custGeom>
            <a:ln w="19645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78259" y="2411056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94297" y="0"/>
                  </a:moveTo>
                  <a:lnTo>
                    <a:pt x="0" y="47155"/>
                  </a:lnTo>
                  <a:lnTo>
                    <a:pt x="94297" y="94297"/>
                  </a:lnTo>
                  <a:lnTo>
                    <a:pt x="70726" y="47155"/>
                  </a:lnTo>
                  <a:lnTo>
                    <a:pt x="94297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812811" y="3804745"/>
            <a:ext cx="1656714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women</a:t>
            </a:r>
            <a:r>
              <a:rPr sz="1200" spc="15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only</a:t>
            </a:r>
            <a:r>
              <a:rPr sz="1200" spc="15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trade</a:t>
            </a:r>
            <a:r>
              <a:rPr sz="1200" spc="15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35" dirty="0">
                <a:solidFill>
                  <a:srgbClr val="8D3124"/>
                </a:solidFill>
                <a:latin typeface="Lucida Sans"/>
                <a:cs typeface="Lucida Sans"/>
              </a:rPr>
              <a:t>up</a:t>
            </a:r>
            <a:endParaRPr sz="1200">
              <a:latin typeface="Lucida Sans"/>
              <a:cs typeface="Lucida San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295036" y="3891000"/>
            <a:ext cx="431800" cy="94615"/>
            <a:chOff x="5295036" y="3891000"/>
            <a:chExt cx="431800" cy="94615"/>
          </a:xfrm>
        </p:grpSpPr>
        <p:sp>
          <p:nvSpPr>
            <p:cNvPr id="16" name="object 16"/>
            <p:cNvSpPr/>
            <p:nvPr/>
          </p:nvSpPr>
          <p:spPr>
            <a:xfrm>
              <a:off x="5355927" y="3938149"/>
              <a:ext cx="370840" cy="0"/>
            </a:xfrm>
            <a:custGeom>
              <a:avLst/>
              <a:gdLst/>
              <a:ahLst/>
              <a:cxnLst/>
              <a:rect l="l" t="t" r="r" b="b"/>
              <a:pathLst>
                <a:path w="370839">
                  <a:moveTo>
                    <a:pt x="0" y="0"/>
                  </a:moveTo>
                  <a:lnTo>
                    <a:pt x="9822" y="0"/>
                  </a:lnTo>
                  <a:lnTo>
                    <a:pt x="370677" y="0"/>
                  </a:lnTo>
                </a:path>
              </a:pathLst>
            </a:custGeom>
            <a:ln w="19645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95036" y="3891000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94297" y="0"/>
                  </a:moveTo>
                  <a:lnTo>
                    <a:pt x="0" y="47155"/>
                  </a:lnTo>
                  <a:lnTo>
                    <a:pt x="94297" y="94297"/>
                  </a:lnTo>
                  <a:lnTo>
                    <a:pt x="70713" y="47155"/>
                  </a:lnTo>
                  <a:lnTo>
                    <a:pt x="94297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231390" y="2988652"/>
            <a:ext cx="933450" cy="14935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841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sz="1550" i="1" dirty="0">
                <a:latin typeface="Times New Roman"/>
                <a:cs typeface="Times New Roman"/>
              </a:rPr>
              <a:t>A</a:t>
            </a:r>
            <a:r>
              <a:rPr sz="1550" i="1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i="1" spc="-60" dirty="0">
                <a:latin typeface="Times New Roman"/>
                <a:cs typeface="Times New Roman"/>
              </a:rPr>
              <a:t>Y</a:t>
            </a: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550" i="1" dirty="0">
                <a:latin typeface="Times New Roman"/>
                <a:cs typeface="Times New Roman"/>
              </a:rPr>
              <a:t>B</a:t>
            </a:r>
            <a:r>
              <a:rPr sz="1550" i="1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i="1" spc="-60" dirty="0">
                <a:latin typeface="Times New Roman"/>
                <a:cs typeface="Times New Roman"/>
              </a:rPr>
              <a:t>Z</a:t>
            </a: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550" spc="-660" dirty="0">
                <a:latin typeface="Lucida Sans Unicode"/>
                <a:cs typeface="Lucida Sans Unicode"/>
              </a:rPr>
              <a:t>⋮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9" name="object 19"/>
          <p:cNvSpPr txBox="1"/>
          <p:nvPr/>
        </p:nvSpPr>
        <p:spPr>
          <a:xfrm>
            <a:off x="7572930" y="4610196"/>
            <a:ext cx="212344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spc="95" dirty="0">
                <a:latin typeface="Lucida Sans"/>
                <a:cs typeface="Lucida Sans"/>
              </a:rPr>
              <a:t>Gale-</a:t>
            </a:r>
            <a:r>
              <a:rPr sz="1200" b="1" dirty="0">
                <a:latin typeface="Lucida Sans"/>
                <a:cs typeface="Lucida Sans"/>
              </a:rPr>
              <a:t>Shapley</a:t>
            </a:r>
            <a:r>
              <a:rPr sz="1200" b="1" spc="175" dirty="0">
                <a:latin typeface="Lucida Sans"/>
                <a:cs typeface="Lucida Sans"/>
              </a:rPr>
              <a:t> </a:t>
            </a:r>
            <a:r>
              <a:rPr sz="1200" b="1" dirty="0">
                <a:latin typeface="Lucida Sans"/>
                <a:cs typeface="Lucida Sans"/>
              </a:rPr>
              <a:t>matching</a:t>
            </a:r>
            <a:r>
              <a:rPr sz="1200" b="1" spc="180" dirty="0">
                <a:latin typeface="Lucida Sans"/>
                <a:cs typeface="Lucida Sans"/>
              </a:rPr>
              <a:t> </a:t>
            </a:r>
            <a:r>
              <a:rPr sz="1200" b="1" spc="-25" dirty="0">
                <a:latin typeface="Lucida Sans"/>
                <a:cs typeface="Lucida Sans"/>
              </a:rPr>
              <a:t>S*</a:t>
            </a:r>
            <a:endParaRPr sz="12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950" y="1052436"/>
            <a:ext cx="8794115" cy="3011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2400"/>
              </a:lnSpc>
              <a:spcBef>
                <a:spcPts val="95"/>
              </a:spcBef>
              <a:tabLst>
                <a:tab pos="3099435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Stable matching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problem.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Given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men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women,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their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preferences, </a:t>
            </a:r>
            <a:r>
              <a:rPr sz="1850" dirty="0">
                <a:latin typeface="Lucida Sans"/>
                <a:cs typeface="Lucida Sans"/>
              </a:rPr>
              <a:t>find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 stable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 if one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exists.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850">
              <a:latin typeface="Lucida Sans"/>
              <a:cs typeface="Lucida Sans"/>
            </a:endParaRPr>
          </a:p>
          <a:p>
            <a:pPr marL="12700" marR="611505">
              <a:lnSpc>
                <a:spcPct val="132400"/>
              </a:lnSpc>
              <a:tabLst>
                <a:tab pos="1250315" algn="l"/>
                <a:tab pos="3686175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Theorem.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solidFill>
                  <a:srgbClr val="606060"/>
                </a:solidFill>
                <a:latin typeface="Lucida Sans"/>
                <a:cs typeface="Lucida Sans"/>
              </a:rPr>
              <a:t>[Gale-Shapley</a:t>
            </a:r>
            <a:r>
              <a:rPr sz="1850" spc="114" dirty="0">
                <a:solidFill>
                  <a:srgbClr val="606060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606060"/>
                </a:solidFill>
                <a:latin typeface="Lucida Sans"/>
                <a:cs typeface="Lucida Sans"/>
              </a:rPr>
              <a:t>1962]</a:t>
            </a:r>
            <a:r>
              <a:rPr sz="1850" dirty="0">
                <a:solidFill>
                  <a:srgbClr val="606060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The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Gale-Shapley</a:t>
            </a:r>
            <a:r>
              <a:rPr sz="1850" spc="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algorithm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guarantees </a:t>
            </a:r>
            <a:r>
              <a:rPr sz="1850" dirty="0">
                <a:latin typeface="Lucida Sans"/>
                <a:cs typeface="Lucida Sans"/>
              </a:rPr>
              <a:t>to find a stable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 for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any</a:t>
            </a:r>
            <a:r>
              <a:rPr sz="1850" spc="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problem </a:t>
            </a:r>
            <a:r>
              <a:rPr sz="1850" spc="-10" dirty="0">
                <a:latin typeface="Lucida Sans"/>
                <a:cs typeface="Lucida Sans"/>
              </a:rPr>
              <a:t>instance.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tabLst>
                <a:tab pos="493395" algn="l"/>
              </a:tabLst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Q.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How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implement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GS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algorithm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efficiently?</a:t>
            </a: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493395" algn="l"/>
              </a:tabLst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Q.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If there are multiple stable matchings, which one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does GS </a:t>
            </a:r>
            <a:r>
              <a:rPr sz="1850" spc="-10" dirty="0">
                <a:latin typeface="Lucida Sans"/>
                <a:cs typeface="Lucida Sans"/>
              </a:rPr>
              <a:t>find?</a:t>
            </a:r>
            <a:endParaRPr sz="1850">
              <a:latin typeface="Lucida Sans"/>
              <a:cs typeface="Lucida San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67507" y="4642815"/>
            <a:ext cx="4518660" cy="2770505"/>
            <a:chOff x="2767507" y="4642815"/>
            <a:chExt cx="4518660" cy="2770505"/>
          </a:xfrm>
        </p:grpSpPr>
        <p:sp>
          <p:nvSpPr>
            <p:cNvPr id="5" name="object 5"/>
            <p:cNvSpPr/>
            <p:nvPr/>
          </p:nvSpPr>
          <p:spPr>
            <a:xfrm>
              <a:off x="2767507" y="4642815"/>
              <a:ext cx="4518660" cy="2770505"/>
            </a:xfrm>
            <a:custGeom>
              <a:avLst/>
              <a:gdLst/>
              <a:ahLst/>
              <a:cxnLst/>
              <a:rect l="l" t="t" r="r" b="b"/>
              <a:pathLst>
                <a:path w="4518659" h="2770504">
                  <a:moveTo>
                    <a:pt x="0" y="0"/>
                  </a:moveTo>
                  <a:lnTo>
                    <a:pt x="4518418" y="0"/>
                  </a:lnTo>
                  <a:lnTo>
                    <a:pt x="4518418" y="2770498"/>
                  </a:lnTo>
                  <a:lnTo>
                    <a:pt x="0" y="2770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45853" y="4742929"/>
              <a:ext cx="4256201" cy="250891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Efficient</a:t>
            </a:r>
            <a:r>
              <a:rPr spc="-8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63550" y="1142804"/>
            <a:ext cx="8544560" cy="5562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5"/>
              </a:spcBef>
              <a:tabLst>
                <a:tab pos="3182620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Efficient</a:t>
            </a:r>
            <a:r>
              <a:rPr sz="1850" spc="-3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implementation.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We</a:t>
            </a:r>
            <a:r>
              <a:rPr sz="1850" spc="-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describe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O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-155" dirty="0">
                <a:latin typeface="Times New Roman"/>
                <a:cs typeface="Times New Roman"/>
              </a:rPr>
              <a:t> </a:t>
            </a:r>
            <a:r>
              <a:rPr sz="1800" baseline="20833" dirty="0">
                <a:latin typeface="Times New Roman"/>
                <a:cs typeface="Times New Roman"/>
              </a:rPr>
              <a:t>2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time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implementation.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50">
              <a:latin typeface="Lucida Sans"/>
              <a:cs typeface="Lucida Sans"/>
            </a:endParaRPr>
          </a:p>
          <a:p>
            <a:pPr marL="165100">
              <a:lnSpc>
                <a:spcPts val="2030"/>
              </a:lnSpc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Representing</a:t>
            </a:r>
            <a:r>
              <a:rPr sz="1850" spc="-1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men</a:t>
            </a:r>
            <a:r>
              <a:rPr sz="1850" spc="-1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and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 women.</a:t>
            </a:r>
            <a:endParaRPr sz="1850">
              <a:latin typeface="Lucida Sans"/>
              <a:cs typeface="Lucida Sans"/>
            </a:endParaRPr>
          </a:p>
          <a:p>
            <a:pPr marL="262890">
              <a:lnSpc>
                <a:spcPts val="305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Assume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men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are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named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1,</a:t>
            </a:r>
            <a:r>
              <a:rPr sz="1850" spc="-10" dirty="0">
                <a:latin typeface="Times New Roman"/>
                <a:cs typeface="Times New Roman"/>
              </a:rPr>
              <a:t> …, </a:t>
            </a:r>
            <a:r>
              <a:rPr sz="1850" i="1" spc="-25" dirty="0">
                <a:latin typeface="Times New Roman"/>
                <a:cs typeface="Times New Roman"/>
              </a:rPr>
              <a:t>n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  <a:p>
            <a:pPr marL="262890">
              <a:lnSpc>
                <a:spcPts val="324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Assume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women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are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named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1</a:t>
            </a:r>
            <a:r>
              <a:rPr sz="1850" i="1" dirty="0">
                <a:latin typeface="Times New Roman"/>
                <a:cs typeface="Times New Roman"/>
              </a:rPr>
              <a:t>'</a:t>
            </a:r>
            <a:r>
              <a:rPr sz="1850" dirty="0">
                <a:latin typeface="Times New Roman"/>
                <a:cs typeface="Times New Roman"/>
              </a:rPr>
              <a:t>, …, </a:t>
            </a:r>
            <a:r>
              <a:rPr sz="1850" i="1" spc="-25" dirty="0">
                <a:latin typeface="Times New Roman"/>
                <a:cs typeface="Times New Roman"/>
              </a:rPr>
              <a:t>n'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850">
              <a:latin typeface="Lucida Sans"/>
              <a:cs typeface="Lucida Sans"/>
            </a:endParaRPr>
          </a:p>
          <a:p>
            <a:pPr marL="165100">
              <a:lnSpc>
                <a:spcPts val="2030"/>
              </a:lnSpc>
              <a:spcBef>
                <a:spcPts val="5"/>
              </a:spcBef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Representing</a:t>
            </a:r>
            <a:r>
              <a:rPr sz="1850" spc="-30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the</a:t>
            </a: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matching.</a:t>
            </a:r>
            <a:endParaRPr sz="1850">
              <a:latin typeface="Lucida Sans"/>
              <a:cs typeface="Lucida Sans"/>
            </a:endParaRPr>
          </a:p>
          <a:p>
            <a:pPr marL="262890">
              <a:lnSpc>
                <a:spcPts val="305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Maintain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list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free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men</a:t>
            </a:r>
            <a:r>
              <a:rPr sz="1850" spc="-5" dirty="0">
                <a:latin typeface="Lucida Sans"/>
                <a:cs typeface="Lucida Sans"/>
              </a:rPr>
              <a:t> (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stack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or</a:t>
            </a:r>
            <a:r>
              <a:rPr sz="1850" spc="-10" dirty="0">
                <a:latin typeface="Lucida Sans"/>
                <a:cs typeface="Lucida Sans"/>
              </a:rPr>
              <a:t> queue).</a:t>
            </a:r>
            <a:endParaRPr sz="1850">
              <a:latin typeface="Lucida Sans"/>
              <a:cs typeface="Lucida Sans"/>
            </a:endParaRPr>
          </a:p>
          <a:p>
            <a:pPr marL="262890">
              <a:lnSpc>
                <a:spcPts val="324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Maintain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two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arrays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wife</a:t>
            </a:r>
            <a:r>
              <a:rPr sz="1850" dirty="0">
                <a:latin typeface="Times New Roman"/>
                <a:cs typeface="Times New Roman"/>
              </a:rPr>
              <a:t>[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spc="75" dirty="0">
                <a:latin typeface="Times New Roman"/>
                <a:cs typeface="Times New Roman"/>
              </a:rPr>
              <a:t>]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i="1" spc="-10" dirty="0">
                <a:latin typeface="Times New Roman"/>
                <a:cs typeface="Times New Roman"/>
              </a:rPr>
              <a:t>husband</a:t>
            </a:r>
            <a:r>
              <a:rPr sz="1850" spc="-10" dirty="0">
                <a:latin typeface="Times New Roman"/>
                <a:cs typeface="Times New Roman"/>
              </a:rPr>
              <a:t>[</a:t>
            </a:r>
            <a:r>
              <a:rPr sz="1850" i="1" spc="-10" dirty="0">
                <a:latin typeface="Times New Roman"/>
                <a:cs typeface="Times New Roman"/>
              </a:rPr>
              <a:t>w</a:t>
            </a:r>
            <a:r>
              <a:rPr sz="1850" spc="-10" dirty="0">
                <a:latin typeface="Times New Roman"/>
                <a:cs typeface="Times New Roman"/>
              </a:rPr>
              <a:t>]</a:t>
            </a:r>
            <a:r>
              <a:rPr sz="1850" spc="-10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  <a:p>
            <a:pPr marL="626745">
              <a:lnSpc>
                <a:spcPct val="100000"/>
              </a:lnSpc>
              <a:spcBef>
                <a:spcPts val="495"/>
              </a:spcBef>
              <a:tabLst>
                <a:tab pos="871855" algn="l"/>
              </a:tabLst>
            </a:pPr>
            <a:r>
              <a:rPr sz="2775" spc="52" baseline="3003" dirty="0">
                <a:latin typeface="PMingLiU"/>
                <a:cs typeface="PMingLiU"/>
              </a:rPr>
              <a:t>-</a:t>
            </a:r>
            <a:r>
              <a:rPr sz="2775" baseline="3003" dirty="0">
                <a:latin typeface="PMingLiU"/>
                <a:cs typeface="PMingLiU"/>
              </a:rPr>
              <a:t>	</a:t>
            </a:r>
            <a:r>
              <a:rPr sz="1850" dirty="0">
                <a:latin typeface="Lucida Sans"/>
                <a:cs typeface="Lucida Sans"/>
              </a:rPr>
              <a:t>if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matched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dirty="0">
                <a:latin typeface="Lucida Sans"/>
                <a:cs typeface="Lucida Sans"/>
              </a:rPr>
              <a:t>,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wife</a:t>
            </a:r>
            <a:r>
              <a:rPr sz="1850" dirty="0">
                <a:latin typeface="Times New Roman"/>
                <a:cs typeface="Times New Roman"/>
              </a:rPr>
              <a:t>[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dirty="0">
                <a:latin typeface="Times New Roman"/>
                <a:cs typeface="Times New Roman"/>
              </a:rPr>
              <a:t>] =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husband</a:t>
            </a:r>
            <a:r>
              <a:rPr sz="1850" dirty="0">
                <a:latin typeface="Times New Roman"/>
                <a:cs typeface="Times New Roman"/>
              </a:rPr>
              <a:t>[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dirty="0">
                <a:latin typeface="Times New Roman"/>
                <a:cs typeface="Times New Roman"/>
              </a:rPr>
              <a:t>]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 </a:t>
            </a:r>
            <a:r>
              <a:rPr sz="1850" i="1" spc="-50" dirty="0">
                <a:latin typeface="Times New Roman"/>
                <a:cs typeface="Times New Roman"/>
              </a:rPr>
              <a:t>m</a:t>
            </a:r>
            <a:endParaRPr sz="1850">
              <a:latin typeface="Times New Roman"/>
              <a:cs typeface="Times New Roman"/>
            </a:endParaRPr>
          </a:p>
          <a:p>
            <a:pPr marL="871855">
              <a:lnSpc>
                <a:spcPct val="100000"/>
              </a:lnSpc>
              <a:spcBef>
                <a:spcPts val="720"/>
              </a:spcBef>
            </a:pPr>
            <a:r>
              <a:rPr sz="1850" dirty="0">
                <a:latin typeface="Lucida Sans"/>
                <a:cs typeface="Lucida Sans"/>
              </a:rPr>
              <a:t>set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entry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0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if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unmatched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50">
              <a:latin typeface="Lucida Sans"/>
              <a:cs typeface="Lucida Sans"/>
            </a:endParaRPr>
          </a:p>
          <a:p>
            <a:pPr marL="165100">
              <a:lnSpc>
                <a:spcPts val="2030"/>
              </a:lnSpc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Men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proposing.</a:t>
            </a:r>
            <a:endParaRPr sz="1850">
              <a:latin typeface="Lucida Sans"/>
              <a:cs typeface="Lucida Sans"/>
            </a:endParaRPr>
          </a:p>
          <a:p>
            <a:pPr marL="262890">
              <a:lnSpc>
                <a:spcPts val="305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man,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maintain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list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women,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ordered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by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preference.</a:t>
            </a:r>
            <a:endParaRPr sz="1850">
              <a:latin typeface="Lucida Sans"/>
              <a:cs typeface="Lucida Sans"/>
            </a:endParaRPr>
          </a:p>
          <a:p>
            <a:pPr marL="2628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man,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maintain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pointer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woman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list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next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proposal.</a:t>
            </a:r>
            <a:endParaRPr sz="18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Efficient</a:t>
            </a:r>
            <a:r>
              <a:rPr spc="105" dirty="0"/>
              <a:t> </a:t>
            </a:r>
            <a:r>
              <a:rPr dirty="0"/>
              <a:t>implementation</a:t>
            </a:r>
            <a:r>
              <a:rPr spc="105" dirty="0"/>
              <a:t> </a:t>
            </a:r>
            <a:r>
              <a:rPr spc="-10" dirty="0"/>
              <a:t>(continued)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77850" y="1142804"/>
            <a:ext cx="7631430" cy="145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ts val="2030"/>
              </a:lnSpc>
              <a:spcBef>
                <a:spcPts val="105"/>
              </a:spcBef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Women</a:t>
            </a:r>
            <a:r>
              <a:rPr sz="1850" spc="-9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rejecting/accepting.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05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Does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woman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b="1" i="1" spc="25" dirty="0">
                <a:latin typeface="Times New Roman"/>
                <a:cs typeface="Times New Roman"/>
              </a:rPr>
              <a:t>' </a:t>
            </a:r>
            <a:r>
              <a:rPr sz="1850" spc="-50" dirty="0">
                <a:latin typeface="Lucida Sans"/>
                <a:cs typeface="Lucida Sans"/>
              </a:rPr>
              <a:t>?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29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woman,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create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inverse</a:t>
            </a:r>
            <a:r>
              <a:rPr sz="1850" spc="1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preference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list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spc="-20" dirty="0">
                <a:latin typeface="Lucida Sans"/>
                <a:cs typeface="Lucida Sans"/>
              </a:rPr>
              <a:t>men.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24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Constant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time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access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query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after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O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spc="65" dirty="0">
                <a:latin typeface="Times New Roman"/>
                <a:cs typeface="Times New Roman"/>
              </a:rPr>
              <a:t>) </a:t>
            </a:r>
            <a:r>
              <a:rPr sz="1850" spc="-10" dirty="0">
                <a:latin typeface="Lucida Sans"/>
                <a:cs typeface="Lucida Sans"/>
              </a:rPr>
              <a:t>preprocessing.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80500" y="5626773"/>
            <a:ext cx="3320415" cy="72707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0" rIns="0" bIns="0" rtlCol="0">
            <a:spAutoFit/>
          </a:bodyPr>
          <a:lstStyle/>
          <a:p>
            <a:pPr marL="575945" marR="370840" indent="-354965">
              <a:lnSpc>
                <a:spcPct val="128899"/>
              </a:lnSpc>
            </a:pPr>
            <a:r>
              <a:rPr sz="1550" dirty="0">
                <a:solidFill>
                  <a:srgbClr val="0048AA"/>
                </a:solidFill>
                <a:latin typeface="Lucida Sans Typewriter"/>
                <a:cs typeface="Lucida Sans Typewriter"/>
              </a:rPr>
              <a:t>for</a:t>
            </a:r>
            <a:r>
              <a:rPr sz="1550" spc="-20" dirty="0">
                <a:solidFill>
                  <a:srgbClr val="0048AA"/>
                </a:solidFill>
                <a:latin typeface="Lucida Sans Typewriter"/>
                <a:cs typeface="Lucida Sans Typewriter"/>
              </a:rPr>
              <a:t> </a:t>
            </a:r>
            <a:r>
              <a:rPr sz="1550" dirty="0">
                <a:latin typeface="Lucida Sans Typewriter"/>
                <a:cs typeface="Lucida Sans Typewriter"/>
              </a:rPr>
              <a:t>i</a:t>
            </a:r>
            <a:r>
              <a:rPr sz="1550" spc="-20" dirty="0">
                <a:latin typeface="Lucida Sans Typewriter"/>
                <a:cs typeface="Lucida Sans Typewriter"/>
              </a:rPr>
              <a:t> </a:t>
            </a:r>
            <a:r>
              <a:rPr sz="1550" dirty="0">
                <a:latin typeface="Lucida Sans Typewriter"/>
                <a:cs typeface="Lucida Sans Typewriter"/>
              </a:rPr>
              <a:t>=</a:t>
            </a:r>
            <a:r>
              <a:rPr sz="1550" spc="-20" dirty="0">
                <a:latin typeface="Lucida Sans Typewriter"/>
                <a:cs typeface="Lucida Sans Typewriter"/>
              </a:rPr>
              <a:t> </a:t>
            </a:r>
            <a:r>
              <a:rPr sz="1550" dirty="0">
                <a:latin typeface="Lucida Sans Typewriter"/>
                <a:cs typeface="Lucida Sans Typewriter"/>
              </a:rPr>
              <a:t>1</a:t>
            </a:r>
            <a:r>
              <a:rPr sz="1550" spc="-20" dirty="0">
                <a:latin typeface="Lucida Sans Typewriter"/>
                <a:cs typeface="Lucida Sans Typewriter"/>
              </a:rPr>
              <a:t> </a:t>
            </a:r>
            <a:r>
              <a:rPr sz="1550" dirty="0">
                <a:latin typeface="Lucida Sans Typewriter"/>
                <a:cs typeface="Lucida Sans Typewriter"/>
              </a:rPr>
              <a:t>to</a:t>
            </a:r>
            <a:r>
              <a:rPr sz="1550" spc="-20" dirty="0">
                <a:latin typeface="Lucida Sans Typewriter"/>
                <a:cs typeface="Lucida Sans Typewriter"/>
              </a:rPr>
              <a:t> </a:t>
            </a:r>
            <a:r>
              <a:rPr sz="1550" spc="-50" dirty="0">
                <a:latin typeface="Lucida Sans Typewriter"/>
                <a:cs typeface="Lucida Sans Typewriter"/>
              </a:rPr>
              <a:t>n </a:t>
            </a:r>
            <a:r>
              <a:rPr sz="1550" dirty="0">
                <a:latin typeface="Lucida Sans Typewriter"/>
                <a:cs typeface="Lucida Sans Typewriter"/>
              </a:rPr>
              <a:t>inverse[pref[i]]</a:t>
            </a:r>
            <a:r>
              <a:rPr sz="1550" spc="-85" dirty="0">
                <a:latin typeface="Lucida Sans Typewriter"/>
                <a:cs typeface="Lucida Sans Typewriter"/>
              </a:rPr>
              <a:t> </a:t>
            </a:r>
            <a:r>
              <a:rPr sz="1550" dirty="0">
                <a:latin typeface="Lucida Sans Typewriter"/>
                <a:cs typeface="Lucida Sans Typewriter"/>
              </a:rPr>
              <a:t>=</a:t>
            </a:r>
            <a:r>
              <a:rPr sz="1550" spc="-85" dirty="0">
                <a:latin typeface="Lucida Sans Typewriter"/>
                <a:cs typeface="Lucida Sans Typewriter"/>
              </a:rPr>
              <a:t> </a:t>
            </a:r>
            <a:r>
              <a:rPr sz="1550" spc="-50" dirty="0">
                <a:latin typeface="Lucida Sans Typewriter"/>
                <a:cs typeface="Lucida Sans Typewriter"/>
              </a:rPr>
              <a:t>i</a:t>
            </a:r>
            <a:endParaRPr sz="1550">
              <a:latin typeface="Lucida Sans Typewriter"/>
              <a:cs typeface="Lucida Sans Typewriter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6038" y="3431483"/>
            <a:ext cx="47498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spc="-10" dirty="0">
                <a:latin typeface="Lucida Sans"/>
                <a:cs typeface="Lucida Sans"/>
              </a:rPr>
              <a:t>pref[]</a:t>
            </a:r>
            <a:endParaRPr sz="1200">
              <a:latin typeface="Lucida Sans"/>
              <a:cs typeface="Lucida Sans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686494" y="3239404"/>
          <a:ext cx="6767192" cy="1722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2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1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14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21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508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225"/>
                        </a:lnSpc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1225"/>
                        </a:lnSpc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4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th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ts val="1225"/>
                        </a:lnSpc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5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th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ts val="1225"/>
                        </a:lnSpc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6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th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1225"/>
                        </a:lnSpc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7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th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ts val="1225"/>
                        </a:lnSpc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8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th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830"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8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8895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400" spc="-5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8895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7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8895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1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8895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4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8895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5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8895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400" spc="-5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6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8895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2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8895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9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6405" marR="24130" indent="196850">
                        <a:lnSpc>
                          <a:spcPts val="1780"/>
                        </a:lnSpc>
                        <a:spcBef>
                          <a:spcPts val="35"/>
                        </a:spcBef>
                      </a:pPr>
                      <a:r>
                        <a:rPr sz="140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woman</a:t>
                      </a:r>
                      <a:r>
                        <a:rPr sz="1400" spc="-3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40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prefers</a:t>
                      </a:r>
                      <a:r>
                        <a:rPr sz="1400" spc="-25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40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man</a:t>
                      </a:r>
                      <a:r>
                        <a:rPr sz="1400" spc="-3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40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1400" spc="-25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40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to</a:t>
                      </a:r>
                      <a:r>
                        <a:rPr sz="1400" spc="-3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400" spc="-5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6 </a:t>
                      </a:r>
                      <a:r>
                        <a:rPr sz="140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since</a:t>
                      </a:r>
                      <a:r>
                        <a:rPr sz="1400" spc="2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200" dirty="0">
                          <a:solidFill>
                            <a:srgbClr val="8D3124"/>
                          </a:solidFill>
                          <a:latin typeface="Lucida Sans Typewriter"/>
                          <a:cs typeface="Lucida Sans Typewriter"/>
                        </a:rPr>
                        <a:t>inverse[3]</a:t>
                      </a:r>
                      <a:r>
                        <a:rPr sz="1200" spc="70" dirty="0">
                          <a:solidFill>
                            <a:srgbClr val="8D3124"/>
                          </a:solidFill>
                          <a:latin typeface="Lucida Sans Typewriter"/>
                          <a:cs typeface="Lucida Sans Typewriter"/>
                        </a:rPr>
                        <a:t> </a:t>
                      </a:r>
                      <a:r>
                        <a:rPr sz="1200" dirty="0">
                          <a:solidFill>
                            <a:srgbClr val="8D3124"/>
                          </a:solidFill>
                          <a:latin typeface="Lucida Sans Typewriter"/>
                          <a:cs typeface="Lucida Sans Typewriter"/>
                        </a:rPr>
                        <a:t>&lt;</a:t>
                      </a:r>
                      <a:r>
                        <a:rPr sz="1200" spc="65" dirty="0">
                          <a:solidFill>
                            <a:srgbClr val="8D3124"/>
                          </a:solidFill>
                          <a:latin typeface="Lucida Sans Typewriter"/>
                          <a:cs typeface="Lucida Sans Typewriter"/>
                        </a:rPr>
                        <a:t> </a:t>
                      </a:r>
                      <a:r>
                        <a:rPr sz="1200" spc="-10" dirty="0">
                          <a:solidFill>
                            <a:srgbClr val="8D3124"/>
                          </a:solidFill>
                          <a:latin typeface="Lucida Sans Typewriter"/>
                          <a:cs typeface="Lucida Sans Typewriter"/>
                        </a:rPr>
                        <a:t>inverse[6]</a:t>
                      </a:r>
                      <a:endParaRPr sz="12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44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6223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1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699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2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699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3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699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4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699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5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699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6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699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7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699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4620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8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699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4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th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381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8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th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381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100" spc="-37" baseline="-13888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381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5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th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381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6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th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381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100" spc="-37" baseline="-13888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7</a:t>
                      </a:r>
                      <a:r>
                        <a:rPr sz="900" spc="-25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th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381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381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04775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381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562159" y="4590549"/>
            <a:ext cx="73469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spc="-10" dirty="0">
                <a:latin typeface="Lucida Sans"/>
                <a:cs typeface="Lucida Sans"/>
              </a:rPr>
              <a:t>inverse[]</a:t>
            </a:r>
            <a:endParaRPr sz="12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Understanding</a:t>
            </a:r>
            <a:r>
              <a:rPr spc="204" dirty="0"/>
              <a:t> </a:t>
            </a:r>
            <a:r>
              <a:rPr dirty="0"/>
              <a:t>the</a:t>
            </a:r>
            <a:r>
              <a:rPr spc="22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34079" y="7032443"/>
            <a:ext cx="7951470" cy="233679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400" b="1" dirty="0">
                <a:latin typeface="Lucida Sans"/>
                <a:cs typeface="Lucida Sans"/>
              </a:rPr>
              <a:t>an</a:t>
            </a:r>
            <a:r>
              <a:rPr sz="1400" b="1" spc="-15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instance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with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two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stable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matching:</a:t>
            </a:r>
            <a:r>
              <a:rPr sz="1400" b="1" spc="425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M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04" dirty="0">
                <a:latin typeface="Lucida Sans"/>
                <a:cs typeface="Lucida Sans"/>
              </a:rPr>
              <a:t>=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{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29" dirty="0">
                <a:latin typeface="Lucida Sans"/>
                <a:cs typeface="Lucida Sans"/>
              </a:rPr>
              <a:t>A-</a:t>
            </a:r>
            <a:r>
              <a:rPr sz="1400" b="1" dirty="0">
                <a:latin typeface="Lucida Sans"/>
                <a:cs typeface="Lucida Sans"/>
              </a:rPr>
              <a:t>X,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20" dirty="0">
                <a:latin typeface="Lucida Sans"/>
                <a:cs typeface="Lucida Sans"/>
              </a:rPr>
              <a:t>B-</a:t>
            </a:r>
            <a:r>
              <a:rPr sz="1400" b="1" dirty="0">
                <a:latin typeface="Lucida Sans"/>
                <a:cs typeface="Lucida Sans"/>
              </a:rPr>
              <a:t>Y,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25" dirty="0">
                <a:latin typeface="Lucida Sans"/>
                <a:cs typeface="Lucida Sans"/>
              </a:rPr>
              <a:t>C-</a:t>
            </a:r>
            <a:r>
              <a:rPr sz="1400" b="1" dirty="0">
                <a:latin typeface="Lucida Sans"/>
                <a:cs typeface="Lucida Sans"/>
              </a:rPr>
              <a:t>Z</a:t>
            </a:r>
            <a:r>
              <a:rPr sz="1400" b="1" spc="-15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}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and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M'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04" dirty="0">
                <a:latin typeface="Lucida Sans"/>
                <a:cs typeface="Lucida Sans"/>
              </a:rPr>
              <a:t>=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{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29" dirty="0">
                <a:latin typeface="Lucida Sans"/>
                <a:cs typeface="Lucida Sans"/>
              </a:rPr>
              <a:t>A-</a:t>
            </a:r>
            <a:r>
              <a:rPr sz="1400" b="1" dirty="0">
                <a:latin typeface="Lucida Sans"/>
                <a:cs typeface="Lucida Sans"/>
              </a:rPr>
              <a:t>Y,</a:t>
            </a:r>
            <a:r>
              <a:rPr sz="1400" b="1" spc="-15" dirty="0">
                <a:latin typeface="Lucida Sans"/>
                <a:cs typeface="Lucida Sans"/>
              </a:rPr>
              <a:t> </a:t>
            </a:r>
            <a:r>
              <a:rPr sz="1400" b="1" spc="220" dirty="0">
                <a:latin typeface="Lucida Sans"/>
                <a:cs typeface="Lucida Sans"/>
              </a:rPr>
              <a:t>B-</a:t>
            </a:r>
            <a:r>
              <a:rPr sz="1400" b="1" dirty="0">
                <a:latin typeface="Lucida Sans"/>
                <a:cs typeface="Lucida Sans"/>
              </a:rPr>
              <a:t>X,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25" dirty="0">
                <a:latin typeface="Lucida Sans"/>
                <a:cs typeface="Lucida Sans"/>
              </a:rPr>
              <a:t>C-</a:t>
            </a:r>
            <a:r>
              <a:rPr sz="1400" b="1" dirty="0">
                <a:latin typeface="Lucida Sans"/>
                <a:cs typeface="Lucida Sans"/>
              </a:rPr>
              <a:t>Z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-50" dirty="0">
                <a:latin typeface="Lucida Sans"/>
                <a:cs typeface="Lucida Sans"/>
              </a:rPr>
              <a:t>}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90550" y="1142804"/>
            <a:ext cx="8161655" cy="1083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ts val="2030"/>
              </a:lnSpc>
              <a:spcBef>
                <a:spcPts val="105"/>
              </a:spcBef>
            </a:pP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given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problem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instance,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there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may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several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stable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matchings.</a:t>
            </a:r>
            <a:endParaRPr sz="1850">
              <a:latin typeface="Lucida Sans"/>
              <a:cs typeface="Lucida Sans"/>
            </a:endParaRPr>
          </a:p>
          <a:p>
            <a:pPr marL="135890">
              <a:lnSpc>
                <a:spcPts val="305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Do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all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executions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GS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algorithm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yield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same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stable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matching?</a:t>
            </a:r>
            <a:endParaRPr sz="1850">
              <a:latin typeface="Lucida Sans"/>
              <a:cs typeface="Lucida Sans"/>
            </a:endParaRPr>
          </a:p>
          <a:p>
            <a:pPr marL="1358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If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so,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which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spc="-20" dirty="0">
                <a:latin typeface="Lucida Sans"/>
                <a:cs typeface="Lucida Sans"/>
              </a:rPr>
              <a:t>one?</a:t>
            </a:r>
            <a:endParaRPr sz="1850">
              <a:latin typeface="Lucida Sans"/>
              <a:cs typeface="Lucida San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67941" y="5104206"/>
          <a:ext cx="3919220" cy="17678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235473" y="5104206"/>
          <a:ext cx="3919220" cy="17678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Understanding</a:t>
            </a:r>
            <a:r>
              <a:rPr spc="204" dirty="0"/>
              <a:t> </a:t>
            </a:r>
            <a:r>
              <a:rPr dirty="0"/>
              <a:t>the</a:t>
            </a:r>
            <a:r>
              <a:rPr spc="22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34079" y="7032443"/>
            <a:ext cx="7951470" cy="233679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400" b="1" dirty="0">
                <a:latin typeface="Lucida Sans"/>
                <a:cs typeface="Lucida Sans"/>
              </a:rPr>
              <a:t>an</a:t>
            </a:r>
            <a:r>
              <a:rPr sz="1400" b="1" spc="-15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instance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with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two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stable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matching:</a:t>
            </a:r>
            <a:r>
              <a:rPr sz="1400" b="1" spc="425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M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04" dirty="0">
                <a:latin typeface="Lucida Sans"/>
                <a:cs typeface="Lucida Sans"/>
              </a:rPr>
              <a:t>=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{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29" dirty="0">
                <a:latin typeface="Lucida Sans"/>
                <a:cs typeface="Lucida Sans"/>
              </a:rPr>
              <a:t>A-</a:t>
            </a:r>
            <a:r>
              <a:rPr sz="1400" b="1" dirty="0">
                <a:latin typeface="Lucida Sans"/>
                <a:cs typeface="Lucida Sans"/>
              </a:rPr>
              <a:t>X,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20" dirty="0">
                <a:latin typeface="Lucida Sans"/>
                <a:cs typeface="Lucida Sans"/>
              </a:rPr>
              <a:t>B-</a:t>
            </a:r>
            <a:r>
              <a:rPr sz="1400" b="1" dirty="0">
                <a:latin typeface="Lucida Sans"/>
                <a:cs typeface="Lucida Sans"/>
              </a:rPr>
              <a:t>Y,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25" dirty="0">
                <a:latin typeface="Lucida Sans"/>
                <a:cs typeface="Lucida Sans"/>
              </a:rPr>
              <a:t>C-</a:t>
            </a:r>
            <a:r>
              <a:rPr sz="1400" b="1" dirty="0">
                <a:latin typeface="Lucida Sans"/>
                <a:cs typeface="Lucida Sans"/>
              </a:rPr>
              <a:t>Z</a:t>
            </a:r>
            <a:r>
              <a:rPr sz="1400" b="1" spc="-15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}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and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M'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04" dirty="0">
                <a:latin typeface="Lucida Sans"/>
                <a:cs typeface="Lucida Sans"/>
              </a:rPr>
              <a:t>=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{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29" dirty="0">
                <a:latin typeface="Lucida Sans"/>
                <a:cs typeface="Lucida Sans"/>
              </a:rPr>
              <a:t>A-</a:t>
            </a:r>
            <a:r>
              <a:rPr sz="1400" b="1" dirty="0">
                <a:latin typeface="Lucida Sans"/>
                <a:cs typeface="Lucida Sans"/>
              </a:rPr>
              <a:t>Y,</a:t>
            </a:r>
            <a:r>
              <a:rPr sz="1400" b="1" spc="-15" dirty="0">
                <a:latin typeface="Lucida Sans"/>
                <a:cs typeface="Lucida Sans"/>
              </a:rPr>
              <a:t> </a:t>
            </a:r>
            <a:r>
              <a:rPr sz="1400" b="1" spc="220" dirty="0">
                <a:latin typeface="Lucida Sans"/>
                <a:cs typeface="Lucida Sans"/>
              </a:rPr>
              <a:t>B-</a:t>
            </a:r>
            <a:r>
              <a:rPr sz="1400" b="1" dirty="0">
                <a:latin typeface="Lucida Sans"/>
                <a:cs typeface="Lucida Sans"/>
              </a:rPr>
              <a:t>X,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25" dirty="0">
                <a:latin typeface="Lucida Sans"/>
                <a:cs typeface="Lucida Sans"/>
              </a:rPr>
              <a:t>C-</a:t>
            </a:r>
            <a:r>
              <a:rPr sz="1400" b="1" dirty="0">
                <a:latin typeface="Lucida Sans"/>
                <a:cs typeface="Lucida Sans"/>
              </a:rPr>
              <a:t>Z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-50" dirty="0">
                <a:latin typeface="Lucida Sans"/>
                <a:cs typeface="Lucida Sans"/>
              </a:rPr>
              <a:t>}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15950" y="1052436"/>
            <a:ext cx="7924800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2400"/>
              </a:lnSpc>
              <a:spcBef>
                <a:spcPts val="95"/>
              </a:spcBef>
              <a:tabLst>
                <a:tab pos="629920" algn="l"/>
              </a:tabLst>
            </a:pP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Def.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Woman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valid</a:t>
            </a:r>
            <a:r>
              <a:rPr sz="1850" spc="-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partner</a:t>
            </a:r>
            <a:r>
              <a:rPr sz="1850" spc="-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if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there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exists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some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stable </a:t>
            </a:r>
            <a:r>
              <a:rPr sz="1850" dirty="0">
                <a:latin typeface="Lucida Sans"/>
                <a:cs typeface="Lucida Sans"/>
              </a:rPr>
              <a:t>matching in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which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are </a:t>
            </a:r>
            <a:r>
              <a:rPr sz="1850" spc="-10" dirty="0">
                <a:latin typeface="Lucida Sans"/>
                <a:cs typeface="Lucida Sans"/>
              </a:rPr>
              <a:t>matched.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7850" y="2635847"/>
            <a:ext cx="6402070" cy="145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ts val="2030"/>
              </a:lnSpc>
              <a:spcBef>
                <a:spcPts val="105"/>
              </a:spcBef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Ex.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05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Both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Amy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Bertha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are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valid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partners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Xavier.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29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Both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Amy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Bertha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are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valid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partners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Yancey.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Clare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only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valid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partner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Zeus.</a:t>
            </a:r>
            <a:endParaRPr sz="1850">
              <a:latin typeface="Lucida Sans"/>
              <a:cs typeface="Lucida San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67941" y="5104206"/>
          <a:ext cx="3919220" cy="17678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235473" y="5104206"/>
          <a:ext cx="3919220" cy="17678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Understanding</a:t>
            </a:r>
            <a:r>
              <a:rPr spc="204" dirty="0"/>
              <a:t> </a:t>
            </a:r>
            <a:r>
              <a:rPr dirty="0"/>
              <a:t>the</a:t>
            </a:r>
            <a:r>
              <a:rPr spc="22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77850" y="1052436"/>
            <a:ext cx="7988300" cy="3385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30480">
              <a:lnSpc>
                <a:spcPct val="132400"/>
              </a:lnSpc>
              <a:spcBef>
                <a:spcPts val="95"/>
              </a:spcBef>
              <a:tabLst>
                <a:tab pos="668020" algn="l"/>
              </a:tabLst>
            </a:pP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Def.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Woman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valid</a:t>
            </a:r>
            <a:r>
              <a:rPr sz="1850" spc="-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partner</a:t>
            </a:r>
            <a:r>
              <a:rPr sz="1850" spc="-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if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there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exists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some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stable </a:t>
            </a:r>
            <a:r>
              <a:rPr sz="1850" dirty="0">
                <a:latin typeface="Lucida Sans"/>
                <a:cs typeface="Lucida Sans"/>
              </a:rPr>
              <a:t>matching in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which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are </a:t>
            </a:r>
            <a:r>
              <a:rPr sz="1850" spc="-10" dirty="0">
                <a:latin typeface="Lucida Sans"/>
                <a:cs typeface="Lucida Sans"/>
              </a:rPr>
              <a:t>matched.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50">
              <a:latin typeface="Lucida Sans"/>
              <a:cs typeface="Lucida Sans"/>
            </a:endParaRPr>
          </a:p>
          <a:p>
            <a:pPr marL="50800">
              <a:lnSpc>
                <a:spcPts val="2030"/>
              </a:lnSpc>
              <a:tabLst>
                <a:tab pos="3089910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Man-optimal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assignment.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receives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best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valid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partner.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05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Is it </a:t>
            </a:r>
            <a:r>
              <a:rPr sz="1850" spc="-10" dirty="0">
                <a:latin typeface="Lucida Sans"/>
                <a:cs typeface="Lucida Sans"/>
              </a:rPr>
              <a:t>perfect?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Is it </a:t>
            </a:r>
            <a:r>
              <a:rPr sz="1850" spc="-10" dirty="0">
                <a:latin typeface="Lucida Sans"/>
                <a:cs typeface="Lucida Sans"/>
              </a:rPr>
              <a:t>stable?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850">
              <a:latin typeface="Lucida Sans"/>
              <a:cs typeface="Lucida Sans"/>
            </a:endParaRPr>
          </a:p>
          <a:p>
            <a:pPr marL="50800" marR="1155700">
              <a:lnSpc>
                <a:spcPct val="132400"/>
              </a:lnSpc>
              <a:tabLst>
                <a:tab pos="923925" algn="l"/>
                <a:tab pos="1291590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Claim.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All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executions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yield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man-optimal</a:t>
            </a:r>
            <a:r>
              <a:rPr sz="1850" spc="1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assignment.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Corollary.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Man-optimal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assignment is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 stable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matching!</a:t>
            </a:r>
            <a:endParaRPr sz="18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78175" y="7331075"/>
            <a:ext cx="174625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-25" dirty="0">
                <a:latin typeface="Lucida Sans"/>
                <a:cs typeface="Lucida Sans"/>
              </a:rPr>
              <a:t>19</a:t>
            </a:r>
            <a:endParaRPr sz="900">
              <a:latin typeface="Lucida Sans"/>
              <a:cs typeface="Lucida San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14" dirty="0"/>
              <a:t>Man</a:t>
            </a:r>
            <a:r>
              <a:rPr spc="75" dirty="0"/>
              <a:t> </a:t>
            </a:r>
            <a:r>
              <a:rPr spc="35" dirty="0"/>
              <a:t>optimality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7850" y="1052436"/>
            <a:ext cx="8766810" cy="1892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4231640">
              <a:lnSpc>
                <a:spcPct val="132400"/>
              </a:lnSpc>
              <a:spcBef>
                <a:spcPts val="95"/>
              </a:spcBef>
              <a:tabLst>
                <a:tab pos="490855" algn="l"/>
                <a:tab pos="923925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Claim.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GS matching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dirty="0">
                <a:latin typeface="Times New Roman"/>
                <a:cs typeface="Times New Roman"/>
              </a:rPr>
              <a:t>*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 man-</a:t>
            </a:r>
            <a:r>
              <a:rPr sz="1850" spc="-10" dirty="0">
                <a:latin typeface="Lucida Sans"/>
                <a:cs typeface="Lucida Sans"/>
              </a:rPr>
              <a:t>optimal. 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Pf.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solidFill>
                  <a:srgbClr val="606060"/>
                </a:solidFill>
                <a:latin typeface="Lucida Sans"/>
                <a:cs typeface="Lucida Sans"/>
              </a:rPr>
              <a:t>[by</a:t>
            </a:r>
            <a:r>
              <a:rPr sz="1850" spc="80" dirty="0">
                <a:solidFill>
                  <a:srgbClr val="606060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606060"/>
                </a:solidFill>
                <a:latin typeface="Lucida Sans"/>
                <a:cs typeface="Lucida Sans"/>
              </a:rPr>
              <a:t>contradiction]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286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Suppose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matched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someone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other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than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best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valid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partner.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Men</a:t>
            </a:r>
            <a:r>
              <a:rPr sz="1850" spc="-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propose</a:t>
            </a:r>
            <a:r>
              <a:rPr sz="1850" spc="-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-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decreasing</a:t>
            </a:r>
            <a:r>
              <a:rPr sz="1850" spc="-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order</a:t>
            </a:r>
            <a:r>
              <a:rPr sz="1850" spc="-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-3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preference</a:t>
            </a:r>
            <a:endParaRPr sz="1850">
              <a:latin typeface="Lucida Sans"/>
              <a:cs typeface="Lucida Sans"/>
            </a:endParaRPr>
          </a:p>
          <a:p>
            <a:pPr marL="502284">
              <a:lnSpc>
                <a:spcPct val="100000"/>
              </a:lnSpc>
              <a:spcBef>
                <a:spcPts val="500"/>
              </a:spcBef>
            </a:pPr>
            <a:r>
              <a:rPr sz="1850" dirty="0">
                <a:latin typeface="Symbol"/>
                <a:cs typeface="Symbol"/>
              </a:rPr>
              <a:t>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some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rejected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by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valid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partner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during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25" dirty="0">
                <a:latin typeface="Lucida Sans"/>
                <a:cs typeface="Lucida Sans"/>
              </a:rPr>
              <a:t>GS.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776" y="2867662"/>
            <a:ext cx="5555615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Let </a:t>
            </a:r>
            <a:r>
              <a:rPr sz="1850" i="1" dirty="0">
                <a:latin typeface="Times New Roman"/>
                <a:cs typeface="Times New Roman"/>
              </a:rPr>
              <a:t>Y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be first such man, and let 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be the </a:t>
            </a:r>
            <a:r>
              <a:rPr sz="1850" spc="-10" dirty="0">
                <a:latin typeface="Lucida Sans"/>
                <a:cs typeface="Lucida Sans"/>
              </a:rPr>
              <a:t>first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7791" y="3382368"/>
            <a:ext cx="3430904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dirty="0">
                <a:latin typeface="Lucida Sans"/>
                <a:cs typeface="Lucida Sans"/>
              </a:rPr>
              <a:t>valid</a:t>
            </a:r>
            <a:r>
              <a:rPr sz="1850" spc="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woman</a:t>
            </a:r>
            <a:r>
              <a:rPr sz="1850" spc="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that</a:t>
            </a:r>
            <a:r>
              <a:rPr sz="1850" spc="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rejects</a:t>
            </a:r>
            <a:r>
              <a:rPr sz="1850" spc="45" dirty="0">
                <a:latin typeface="Lucida Sans"/>
                <a:cs typeface="Lucida Sans"/>
              </a:rPr>
              <a:t> </a:t>
            </a:r>
            <a:r>
              <a:rPr sz="1850" spc="-20" dirty="0">
                <a:latin typeface="Lucida Sans"/>
                <a:cs typeface="Lucida Sans"/>
              </a:rPr>
              <a:t>him.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776" y="3614183"/>
            <a:ext cx="6713220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Let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be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 stable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 where 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and </a:t>
            </a:r>
            <a:r>
              <a:rPr sz="1850" i="1" dirty="0">
                <a:latin typeface="Times New Roman"/>
                <a:cs typeface="Times New Roman"/>
              </a:rPr>
              <a:t>Y</a:t>
            </a:r>
            <a:r>
              <a:rPr sz="1850" i="1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are </a:t>
            </a:r>
            <a:r>
              <a:rPr sz="1850" spc="-10" dirty="0">
                <a:latin typeface="Lucida Sans"/>
                <a:cs typeface="Lucida Sans"/>
              </a:rPr>
              <a:t>matched.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776" y="3888117"/>
            <a:ext cx="6379845" cy="92265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91160" marR="30480" indent="-353695">
              <a:lnSpc>
                <a:spcPct val="114100"/>
              </a:lnSpc>
              <a:spcBef>
                <a:spcPts val="400"/>
              </a:spcBef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When </a:t>
            </a:r>
            <a:r>
              <a:rPr sz="1850" i="1" dirty="0">
                <a:latin typeface="Times New Roman"/>
                <a:cs typeface="Times New Roman"/>
              </a:rPr>
              <a:t>Y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rejected by 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in GS, 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forms (or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reaffirms) </a:t>
            </a:r>
            <a:r>
              <a:rPr sz="1850" dirty="0">
                <a:latin typeface="Lucida Sans"/>
                <a:cs typeface="Lucida Sans"/>
              </a:rPr>
              <a:t>engagement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man,</a:t>
            </a:r>
            <a:r>
              <a:rPr sz="1850" spc="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say</a:t>
            </a:r>
            <a:r>
              <a:rPr sz="1850" spc="40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Z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7791" y="4875411"/>
            <a:ext cx="25844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-50" dirty="0">
                <a:latin typeface="Symbol"/>
                <a:cs typeface="Symbol"/>
              </a:rPr>
              <a:t>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5348" y="4888107"/>
            <a:ext cx="2043430" cy="344170"/>
          </a:xfrm>
          <a:prstGeom prst="rect">
            <a:avLst/>
          </a:prstGeom>
          <a:ln w="19645">
            <a:solidFill>
              <a:srgbClr val="8D3124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5"/>
              </a:spcBef>
            </a:pP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Y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6076" y="5107226"/>
            <a:ext cx="5534660" cy="851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ts val="3240"/>
              </a:lnSpc>
              <a:spcBef>
                <a:spcPts val="120"/>
              </a:spcBef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Let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B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be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partner of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S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  <a:p>
            <a:pPr marL="50800">
              <a:lnSpc>
                <a:spcPts val="324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has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not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been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rejected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by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any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valid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partner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7791" y="5995193"/>
            <a:ext cx="566610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dirty="0">
                <a:latin typeface="Lucida Sans"/>
                <a:cs typeface="Lucida Sans"/>
              </a:rPr>
              <a:t>(including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B</a:t>
            </a:r>
            <a:r>
              <a:rPr sz="1850" dirty="0">
                <a:latin typeface="Lucida Sans"/>
                <a:cs typeface="Lucida Sans"/>
              </a:rPr>
              <a:t>)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point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when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Y</a:t>
            </a:r>
            <a:r>
              <a:rPr sz="1850" i="1" spc="1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rejected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by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A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4176" y="6270149"/>
            <a:ext cx="402590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950" spc="-50" dirty="0">
                <a:latin typeface="PMingLiU"/>
                <a:cs typeface="PMingLiU"/>
              </a:rPr>
              <a:t>・</a:t>
            </a:r>
            <a:endParaRPr sz="2950">
              <a:latin typeface="PMingLiU"/>
              <a:cs typeface="PMingLiU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91366" y="6368454"/>
            <a:ext cx="667194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dirty="0">
                <a:latin typeface="Lucida Sans"/>
                <a:cs typeface="Lucida Sans"/>
              </a:rPr>
              <a:t>Thus,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has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not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yet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proposed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B</a:t>
            </a:r>
            <a:r>
              <a:rPr sz="1850" i="1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when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proposes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A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67791" y="6741714"/>
            <a:ext cx="25844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-50" dirty="0">
                <a:latin typeface="Symbol"/>
                <a:cs typeface="Symbol"/>
              </a:rPr>
              <a:t>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65348" y="6724943"/>
            <a:ext cx="2043430" cy="344170"/>
          </a:xfrm>
          <a:prstGeom prst="rect">
            <a:avLst/>
          </a:prstGeom>
          <a:ln w="19645">
            <a:solidFill>
              <a:srgbClr val="8D3124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235"/>
              </a:spcBef>
            </a:pP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B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8776" y="6973529"/>
            <a:ext cx="5490210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5332095" algn="l"/>
              </a:tabLst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Thus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dirty="0">
                <a:latin typeface="Times New Roman"/>
                <a:cs typeface="Times New Roman"/>
              </a:rPr>
              <a:t>–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unstable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dirty="0">
                <a:latin typeface="Lucida Sans"/>
                <a:cs typeface="Lucida Sans"/>
              </a:rPr>
              <a:t>,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contradiction.</a:t>
            </a:r>
            <a:r>
              <a:rPr sz="1850" dirty="0">
                <a:latin typeface="Lucida Sans"/>
                <a:cs typeface="Lucida Sans"/>
              </a:rPr>
              <a:t>	</a:t>
            </a:r>
            <a:r>
              <a:rPr sz="1850" spc="-50" dirty="0">
                <a:latin typeface="Lucida Sans Unicode"/>
                <a:cs typeface="Lucida Sans Unicode"/>
              </a:rPr>
              <a:t>▪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36153" y="5954588"/>
            <a:ext cx="2087245" cy="41084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 indent="142875">
              <a:lnSpc>
                <a:spcPct val="107400"/>
              </a:lnSpc>
              <a:spcBef>
                <a:spcPts val="30"/>
              </a:spcBef>
            </a:pP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because</a:t>
            </a:r>
            <a:r>
              <a:rPr sz="1200" spc="7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this</a:t>
            </a:r>
            <a:r>
              <a:rPr sz="1200" spc="7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is</a:t>
            </a:r>
            <a:r>
              <a:rPr sz="1200" spc="7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the</a:t>
            </a:r>
            <a:r>
              <a:rPr sz="1200" spc="7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first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rejection</a:t>
            </a:r>
            <a:r>
              <a:rPr sz="1200" spc="10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by</a:t>
            </a:r>
            <a:r>
              <a:rPr sz="1200" spc="10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a</a:t>
            </a:r>
            <a:r>
              <a:rPr sz="1200" spc="10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valid</a:t>
            </a:r>
            <a:r>
              <a:rPr sz="1200" spc="10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partner</a:t>
            </a:r>
            <a:endParaRPr sz="1200">
              <a:latin typeface="Lucida Sans"/>
              <a:cs typeface="Lucida San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25322" y="6138862"/>
            <a:ext cx="502920" cy="94615"/>
            <a:chOff x="6825322" y="6138862"/>
            <a:chExt cx="502920" cy="94615"/>
          </a:xfrm>
        </p:grpSpPr>
        <p:sp>
          <p:nvSpPr>
            <p:cNvPr id="20" name="object 20"/>
            <p:cNvSpPr/>
            <p:nvPr/>
          </p:nvSpPr>
          <p:spPr>
            <a:xfrm>
              <a:off x="6886218" y="6186004"/>
              <a:ext cx="441959" cy="0"/>
            </a:xfrm>
            <a:custGeom>
              <a:avLst/>
              <a:gdLst/>
              <a:ahLst/>
              <a:cxnLst/>
              <a:rect l="l" t="t" r="r" b="b"/>
              <a:pathLst>
                <a:path w="441959">
                  <a:moveTo>
                    <a:pt x="0" y="0"/>
                  </a:moveTo>
                  <a:lnTo>
                    <a:pt x="9822" y="0"/>
                  </a:lnTo>
                  <a:lnTo>
                    <a:pt x="441479" y="0"/>
                  </a:lnTo>
                </a:path>
              </a:pathLst>
            </a:custGeom>
            <a:ln w="19645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25322" y="6138862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5" h="94614">
                  <a:moveTo>
                    <a:pt x="94297" y="0"/>
                  </a:moveTo>
                  <a:lnTo>
                    <a:pt x="0" y="47142"/>
                  </a:lnTo>
                  <a:lnTo>
                    <a:pt x="94297" y="94297"/>
                  </a:lnTo>
                  <a:lnTo>
                    <a:pt x="70726" y="47142"/>
                  </a:lnTo>
                  <a:lnTo>
                    <a:pt x="94297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231390" y="3145815"/>
            <a:ext cx="933450" cy="14935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841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sz="1550" i="1" dirty="0">
                <a:latin typeface="Times New Roman"/>
                <a:cs typeface="Times New Roman"/>
              </a:rPr>
              <a:t>A</a:t>
            </a:r>
            <a:r>
              <a:rPr sz="1550" i="1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i="1" spc="-60" dirty="0">
                <a:latin typeface="Times New Roman"/>
                <a:cs typeface="Times New Roman"/>
              </a:rPr>
              <a:t>Y</a:t>
            </a: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550" i="1" dirty="0">
                <a:latin typeface="Times New Roman"/>
                <a:cs typeface="Times New Roman"/>
              </a:rPr>
              <a:t>B</a:t>
            </a:r>
            <a:r>
              <a:rPr sz="1550" i="1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i="1" spc="-60" dirty="0">
                <a:latin typeface="Times New Roman"/>
                <a:cs typeface="Times New Roman"/>
              </a:rPr>
              <a:t>Z</a:t>
            </a: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550" spc="-660" dirty="0">
                <a:latin typeface="Lucida Sans Unicode"/>
                <a:cs typeface="Lucida Sans Unicode"/>
              </a:rPr>
              <a:t>⋮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02177" y="4767358"/>
            <a:ext cx="146494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dirty="0">
                <a:latin typeface="Lucida Sans"/>
                <a:cs typeface="Lucida Sans"/>
              </a:rPr>
              <a:t>stable</a:t>
            </a:r>
            <a:r>
              <a:rPr sz="1200" b="1" spc="140" dirty="0">
                <a:latin typeface="Lucida Sans"/>
                <a:cs typeface="Lucida Sans"/>
              </a:rPr>
              <a:t> </a:t>
            </a:r>
            <a:r>
              <a:rPr sz="1200" b="1" dirty="0">
                <a:latin typeface="Lucida Sans"/>
                <a:cs typeface="Lucida Sans"/>
              </a:rPr>
              <a:t>matching</a:t>
            </a:r>
            <a:r>
              <a:rPr sz="1200" b="1" spc="145" dirty="0">
                <a:latin typeface="Lucida Sans"/>
                <a:cs typeface="Lucida Sans"/>
              </a:rPr>
              <a:t> </a:t>
            </a:r>
            <a:r>
              <a:rPr sz="1200" b="1" spc="-50" dirty="0">
                <a:latin typeface="Lucida Sans"/>
                <a:cs typeface="Lucida Sans"/>
              </a:rPr>
              <a:t>S</a:t>
            </a:r>
            <a:endParaRPr sz="12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Woman</a:t>
            </a:r>
            <a:r>
              <a:rPr spc="270" dirty="0"/>
              <a:t> </a:t>
            </a:r>
            <a:r>
              <a:rPr spc="-10" dirty="0"/>
              <a:t>pessimality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15950" y="1052436"/>
            <a:ext cx="8306434" cy="263842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  <a:tabLst>
                <a:tab pos="419100" algn="l"/>
              </a:tabLst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Q.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Does man-optimality come at the expense of the </a:t>
            </a:r>
            <a:r>
              <a:rPr sz="1850" spc="-10" dirty="0">
                <a:latin typeface="Lucida Sans"/>
                <a:cs typeface="Lucida Sans"/>
              </a:rPr>
              <a:t>women?</a:t>
            </a: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398780" algn="l"/>
              </a:tabLst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A.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spc="-20" dirty="0">
                <a:latin typeface="Lucida Sans"/>
                <a:cs typeface="Lucida Sans"/>
              </a:rPr>
              <a:t>Yes.</a:t>
            </a:r>
            <a:endParaRPr sz="1850">
              <a:latin typeface="Lucida Sans"/>
              <a:cs typeface="Lucida Sans"/>
            </a:endParaRPr>
          </a:p>
          <a:p>
            <a:pPr marL="12700" marR="5080">
              <a:lnSpc>
                <a:spcPct val="264800"/>
              </a:lnSpc>
              <a:tabLst>
                <a:tab pos="885825" algn="l"/>
                <a:tab pos="3544570" algn="l"/>
              </a:tabLst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Woman-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pessimal</a:t>
            </a:r>
            <a:r>
              <a:rPr sz="1850" spc="5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assignment.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8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woman</a:t>
            </a:r>
            <a:r>
              <a:rPr sz="1850" spc="9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receives</a:t>
            </a:r>
            <a:r>
              <a:rPr sz="1850" spc="9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worst</a:t>
            </a:r>
            <a:r>
              <a:rPr sz="1850" spc="9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valid</a:t>
            </a:r>
            <a:r>
              <a:rPr sz="1850" spc="85" dirty="0">
                <a:latin typeface="Lucida Sans"/>
                <a:cs typeface="Lucida Sans"/>
              </a:rPr>
              <a:t> </a:t>
            </a:r>
            <a:r>
              <a:rPr sz="1850" spc="-30" dirty="0">
                <a:latin typeface="Lucida Sans"/>
                <a:cs typeface="Lucida Sans"/>
              </a:rPr>
              <a:t>partner.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Claim.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GS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finds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woman-pessimal</a:t>
            </a:r>
            <a:r>
              <a:rPr sz="1850" spc="3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stable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S</a:t>
            </a:r>
            <a:r>
              <a:rPr sz="1850" spc="-25" dirty="0">
                <a:latin typeface="Times New Roman"/>
                <a:cs typeface="Times New Roman"/>
              </a:rPr>
              <a:t>*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452755" algn="l"/>
              </a:tabLst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Pf.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solidFill>
                  <a:srgbClr val="606060"/>
                </a:solidFill>
                <a:latin typeface="Lucida Sans"/>
                <a:cs typeface="Lucida Sans"/>
              </a:rPr>
              <a:t>[by</a:t>
            </a:r>
            <a:r>
              <a:rPr sz="1850" spc="80" dirty="0">
                <a:solidFill>
                  <a:srgbClr val="606060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606060"/>
                </a:solidFill>
                <a:latin typeface="Lucida Sans"/>
                <a:cs typeface="Lucida Sans"/>
              </a:rPr>
              <a:t>contradiction]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776" y="3614183"/>
            <a:ext cx="7880350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Suppose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dirty="0">
                <a:latin typeface="Times New Roman"/>
                <a:cs typeface="Times New Roman"/>
              </a:rPr>
              <a:t>–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matched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dirty="0">
                <a:latin typeface="Times New Roman"/>
                <a:cs typeface="Times New Roman"/>
              </a:rPr>
              <a:t>*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but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not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worst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valid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partner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A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776" y="3888117"/>
            <a:ext cx="7689215" cy="92265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91160" marR="30480" indent="-353695">
              <a:lnSpc>
                <a:spcPct val="114100"/>
              </a:lnSpc>
              <a:spcBef>
                <a:spcPts val="400"/>
              </a:spcBef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There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exists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stable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i="1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which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paired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spc="-20" dirty="0">
                <a:latin typeface="Lucida Sans"/>
                <a:cs typeface="Lucida Sans"/>
              </a:rPr>
              <a:t>man, </a:t>
            </a:r>
            <a:r>
              <a:rPr sz="1850" dirty="0">
                <a:latin typeface="Lucida Sans"/>
                <a:cs typeface="Lucida Sans"/>
              </a:rPr>
              <a:t>say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Y</a:t>
            </a:r>
            <a:r>
              <a:rPr sz="1850" spc="10" dirty="0">
                <a:latin typeface="Lucida Sans"/>
                <a:cs typeface="Lucida Sans"/>
              </a:rPr>
              <a:t>, </a:t>
            </a:r>
            <a:r>
              <a:rPr sz="1850" dirty="0">
                <a:latin typeface="Lucida Sans"/>
                <a:cs typeface="Lucida Sans"/>
              </a:rPr>
              <a:t>whom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she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likes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less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than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Z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7791" y="4875411"/>
            <a:ext cx="25844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-50" dirty="0">
                <a:latin typeface="Symbol"/>
                <a:cs typeface="Symbol"/>
              </a:rPr>
              <a:t>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5348" y="4888107"/>
            <a:ext cx="2043430" cy="344170"/>
          </a:xfrm>
          <a:prstGeom prst="rect">
            <a:avLst/>
          </a:prstGeom>
          <a:ln w="19645">
            <a:solidFill>
              <a:srgbClr val="8D3124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5"/>
              </a:spcBef>
            </a:pP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Y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776" y="5107226"/>
            <a:ext cx="5991225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Let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B</a:t>
            </a:r>
            <a:r>
              <a:rPr sz="1850" i="1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be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partner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dirty="0">
                <a:latin typeface="Lucida Sans"/>
                <a:cs typeface="Lucida Sans"/>
              </a:rPr>
              <a:t>. By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man-</a:t>
            </a:r>
            <a:r>
              <a:rPr sz="1850" spc="-10" dirty="0">
                <a:latin typeface="Lucida Sans"/>
                <a:cs typeface="Lucida Sans"/>
              </a:rPr>
              <a:t>optimality,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7791" y="5621932"/>
            <a:ext cx="365379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best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valid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partner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Z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7791" y="5995193"/>
            <a:ext cx="25844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-50" dirty="0">
                <a:latin typeface="Symbol"/>
                <a:cs typeface="Symbol"/>
              </a:rPr>
              <a:t>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65348" y="5988244"/>
            <a:ext cx="2043430" cy="344170"/>
          </a:xfrm>
          <a:prstGeom prst="rect">
            <a:avLst/>
          </a:prstGeom>
          <a:ln w="19645">
            <a:solidFill>
              <a:srgbClr val="8D3124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60"/>
              </a:spcBef>
            </a:pP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B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8776" y="6227008"/>
            <a:ext cx="6433185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6275070" algn="l"/>
              </a:tabLst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Thus,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dirty="0">
                <a:latin typeface="Times New Roman"/>
                <a:cs typeface="Times New Roman"/>
              </a:rPr>
              <a:t>–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 unstable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pair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dirty="0">
                <a:latin typeface="Lucida Sans"/>
                <a:cs typeface="Lucida Sans"/>
              </a:rPr>
              <a:t>, a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contradiction.</a:t>
            </a:r>
            <a:r>
              <a:rPr sz="1850" dirty="0">
                <a:latin typeface="Lucida Sans"/>
                <a:cs typeface="Lucida Sans"/>
              </a:rPr>
              <a:t>	</a:t>
            </a:r>
            <a:r>
              <a:rPr sz="1850" spc="-50" dirty="0">
                <a:latin typeface="Lucida Sans Unicode"/>
                <a:cs typeface="Lucida Sans Unicode"/>
              </a:rPr>
              <a:t>▪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7771" y="4982654"/>
            <a:ext cx="933450" cy="14935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841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sz="1550" i="1" dirty="0">
                <a:latin typeface="Times New Roman"/>
                <a:cs typeface="Times New Roman"/>
              </a:rPr>
              <a:t>A</a:t>
            </a:r>
            <a:r>
              <a:rPr sz="1550" i="1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i="1" spc="-60" dirty="0">
                <a:latin typeface="Times New Roman"/>
                <a:cs typeface="Times New Roman"/>
              </a:rPr>
              <a:t>Y</a:t>
            </a: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550" i="1" dirty="0">
                <a:latin typeface="Times New Roman"/>
                <a:cs typeface="Times New Roman"/>
              </a:rPr>
              <a:t>B</a:t>
            </a:r>
            <a:r>
              <a:rPr sz="1550" i="1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i="1" spc="-60" dirty="0">
                <a:latin typeface="Times New Roman"/>
                <a:cs typeface="Times New Roman"/>
              </a:rPr>
              <a:t>Z</a:t>
            </a: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550" spc="-660" dirty="0">
                <a:latin typeface="Lucida Sans Unicode"/>
                <a:cs typeface="Lucida Sans Unicode"/>
              </a:rPr>
              <a:t>⋮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48558" y="6604199"/>
            <a:ext cx="146494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dirty="0">
                <a:latin typeface="Lucida Sans"/>
                <a:cs typeface="Lucida Sans"/>
              </a:rPr>
              <a:t>stable</a:t>
            </a:r>
            <a:r>
              <a:rPr sz="1200" b="1" spc="140" dirty="0">
                <a:latin typeface="Lucida Sans"/>
                <a:cs typeface="Lucida Sans"/>
              </a:rPr>
              <a:t> </a:t>
            </a:r>
            <a:r>
              <a:rPr sz="1200" b="1" dirty="0">
                <a:latin typeface="Lucida Sans"/>
                <a:cs typeface="Lucida Sans"/>
              </a:rPr>
              <a:t>matching</a:t>
            </a:r>
            <a:r>
              <a:rPr sz="1200" b="1" spc="145" dirty="0">
                <a:latin typeface="Lucida Sans"/>
                <a:cs typeface="Lucida Sans"/>
              </a:rPr>
              <a:t> </a:t>
            </a:r>
            <a:r>
              <a:rPr sz="1200" b="1" spc="-50" dirty="0">
                <a:latin typeface="Lucida Sans"/>
                <a:cs typeface="Lucida Sans"/>
              </a:rPr>
              <a:t>S</a:t>
            </a:r>
            <a:endParaRPr sz="12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5950" y="376634"/>
            <a:ext cx="5077460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054735" algn="l"/>
              </a:tabLst>
            </a:pPr>
            <a:r>
              <a:rPr spc="-10" dirty="0"/>
              <a:t>Deceit:</a:t>
            </a:r>
            <a:r>
              <a:rPr dirty="0"/>
              <a:t>	</a:t>
            </a:r>
            <a:r>
              <a:rPr spc="60" dirty="0"/>
              <a:t>Machiavelli</a:t>
            </a:r>
            <a:r>
              <a:rPr spc="-10" dirty="0"/>
              <a:t> </a:t>
            </a:r>
            <a:r>
              <a:rPr spc="-25" dirty="0"/>
              <a:t>meets</a:t>
            </a:r>
            <a:r>
              <a:rPr spc="-10" dirty="0"/>
              <a:t> </a:t>
            </a:r>
            <a:r>
              <a:rPr dirty="0"/>
              <a:t>Gale-</a:t>
            </a:r>
            <a:r>
              <a:rPr spc="-10" dirty="0"/>
              <a:t>Shapley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7850" y="1142804"/>
            <a:ext cx="8181975" cy="1801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ts val="2030"/>
              </a:lnSpc>
              <a:spcBef>
                <a:spcPts val="105"/>
              </a:spcBef>
              <a:tabLst>
                <a:tab pos="457200" algn="l"/>
              </a:tabLst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Q.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Can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there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incentive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misrepresent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your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preference </a:t>
            </a:r>
            <a:r>
              <a:rPr sz="1850" spc="-10" dirty="0">
                <a:latin typeface="Lucida Sans"/>
                <a:cs typeface="Lucida Sans"/>
              </a:rPr>
              <a:t>list?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05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Assume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you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know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spc="-65" dirty="0">
                <a:latin typeface="Lucida Sans"/>
                <a:cs typeface="Lucida Sans"/>
              </a:rPr>
              <a:t>men’s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propose-</a:t>
            </a:r>
            <a:r>
              <a:rPr sz="1850" dirty="0">
                <a:latin typeface="Lucida Sans"/>
                <a:cs typeface="Lucida Sans"/>
              </a:rPr>
              <a:t>and-reject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algorithm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will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spc="-20" dirty="0">
                <a:latin typeface="Lucida Sans"/>
                <a:cs typeface="Lucida Sans"/>
              </a:rPr>
              <a:t>run.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Assume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preference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lists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all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other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participants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are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known.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850">
              <a:latin typeface="Lucida Sans"/>
              <a:cs typeface="Lucida Sans"/>
            </a:endParaRPr>
          </a:p>
          <a:p>
            <a:pPr marL="50800">
              <a:lnSpc>
                <a:spcPct val="100000"/>
              </a:lnSpc>
              <a:tabLst>
                <a:tab pos="740410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Fact.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No,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any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man;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yes,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some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women.</a:t>
            </a:r>
            <a:endParaRPr sz="1850">
              <a:latin typeface="Lucida Sans"/>
              <a:cs typeface="Lucida San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27832" y="3738854"/>
          <a:ext cx="3025139" cy="1521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6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120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120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12065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X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B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B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Z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B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02580" y="3392189"/>
            <a:ext cx="193865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Lucida Sans"/>
                <a:cs typeface="Lucida Sans"/>
              </a:rPr>
              <a:t>men's</a:t>
            </a:r>
            <a:r>
              <a:rPr sz="1400" b="1" spc="-35" dirty="0">
                <a:latin typeface="Lucida Sans"/>
                <a:cs typeface="Lucida Sans"/>
              </a:rPr>
              <a:t> </a:t>
            </a:r>
            <a:r>
              <a:rPr sz="1400" b="1" spc="-10" dirty="0">
                <a:latin typeface="Lucida Sans"/>
                <a:cs typeface="Lucida Sans"/>
              </a:rPr>
              <a:t>preference</a:t>
            </a:r>
            <a:r>
              <a:rPr sz="1400" b="1" spc="-35" dirty="0">
                <a:latin typeface="Lucida Sans"/>
                <a:cs typeface="Lucida Sans"/>
              </a:rPr>
              <a:t> </a:t>
            </a:r>
            <a:r>
              <a:rPr sz="1400" b="1" spc="-20" dirty="0">
                <a:latin typeface="Lucida Sans"/>
                <a:cs typeface="Lucida Sans"/>
              </a:rPr>
              <a:t>list</a:t>
            </a:r>
            <a:endParaRPr sz="1400">
              <a:latin typeface="Lucida Sans"/>
              <a:cs typeface="Lucida Sans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176545" y="3738854"/>
          <a:ext cx="3025139" cy="1521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6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120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120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12065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X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Z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X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Z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X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Z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928095" y="3392189"/>
            <a:ext cx="22040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Lucida Sans"/>
                <a:cs typeface="Lucida Sans"/>
              </a:rPr>
              <a:t>women's</a:t>
            </a:r>
            <a:r>
              <a:rPr sz="1400" b="1" spc="-10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preference</a:t>
            </a:r>
            <a:r>
              <a:rPr sz="1400" b="1" spc="-100" dirty="0">
                <a:latin typeface="Lucida Sans"/>
                <a:cs typeface="Lucida Sans"/>
              </a:rPr>
              <a:t> </a:t>
            </a:r>
            <a:r>
              <a:rPr sz="1400" b="1" spc="-20" dirty="0">
                <a:latin typeface="Lucida Sans"/>
                <a:cs typeface="Lucida Sans"/>
              </a:rPr>
              <a:t>list</a:t>
            </a:r>
            <a:endParaRPr sz="1400">
              <a:latin typeface="Lucida Sans"/>
              <a:cs typeface="Lucida Sans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176545" y="5899848"/>
          <a:ext cx="3025139" cy="1521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6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120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120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12065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Z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X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X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Z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X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Z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928095" y="5553171"/>
            <a:ext cx="8070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Lucida Sans"/>
                <a:cs typeface="Lucida Sans"/>
              </a:rPr>
              <a:t>Amy</a:t>
            </a:r>
            <a:r>
              <a:rPr sz="1400" b="1" spc="-15" dirty="0">
                <a:latin typeface="Lucida Sans"/>
                <a:cs typeface="Lucida Sans"/>
              </a:rPr>
              <a:t> </a:t>
            </a:r>
            <a:r>
              <a:rPr sz="1400" b="1" spc="-20" dirty="0">
                <a:latin typeface="Lucida Sans"/>
                <a:cs typeface="Lucida Sans"/>
              </a:rPr>
              <a:t>lies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16866" y="6314113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5" h="291465">
                <a:moveTo>
                  <a:pt x="249807" y="41429"/>
                </a:moveTo>
                <a:lnTo>
                  <a:pt x="277422" y="79672"/>
                </a:lnTo>
                <a:lnTo>
                  <a:pt x="291229" y="123064"/>
                </a:lnTo>
                <a:lnTo>
                  <a:pt x="291229" y="168172"/>
                </a:lnTo>
                <a:lnTo>
                  <a:pt x="277422" y="211564"/>
                </a:lnTo>
                <a:lnTo>
                  <a:pt x="249807" y="249807"/>
                </a:lnTo>
                <a:lnTo>
                  <a:pt x="211564" y="277422"/>
                </a:lnTo>
                <a:lnTo>
                  <a:pt x="168172" y="291229"/>
                </a:lnTo>
                <a:lnTo>
                  <a:pt x="123064" y="291229"/>
                </a:lnTo>
                <a:lnTo>
                  <a:pt x="79672" y="277422"/>
                </a:lnTo>
                <a:lnTo>
                  <a:pt x="41429" y="249807"/>
                </a:lnTo>
                <a:lnTo>
                  <a:pt x="13809" y="211564"/>
                </a:lnTo>
                <a:lnTo>
                  <a:pt x="0" y="168172"/>
                </a:lnTo>
                <a:lnTo>
                  <a:pt x="0" y="123064"/>
                </a:lnTo>
                <a:lnTo>
                  <a:pt x="13809" y="79672"/>
                </a:lnTo>
                <a:lnTo>
                  <a:pt x="41429" y="41429"/>
                </a:lnTo>
                <a:lnTo>
                  <a:pt x="79672" y="13809"/>
                </a:lnTo>
                <a:lnTo>
                  <a:pt x="123064" y="0"/>
                </a:lnTo>
                <a:lnTo>
                  <a:pt x="168172" y="0"/>
                </a:lnTo>
                <a:lnTo>
                  <a:pt x="211564" y="13809"/>
                </a:lnTo>
                <a:lnTo>
                  <a:pt x="249807" y="41429"/>
                </a:lnTo>
              </a:path>
            </a:pathLst>
          </a:custGeom>
          <a:ln w="19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83034" y="6304290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5" h="291465">
                <a:moveTo>
                  <a:pt x="249807" y="41429"/>
                </a:moveTo>
                <a:lnTo>
                  <a:pt x="277422" y="79672"/>
                </a:lnTo>
                <a:lnTo>
                  <a:pt x="291229" y="123064"/>
                </a:lnTo>
                <a:lnTo>
                  <a:pt x="291229" y="168172"/>
                </a:lnTo>
                <a:lnTo>
                  <a:pt x="277422" y="211564"/>
                </a:lnTo>
                <a:lnTo>
                  <a:pt x="249807" y="249807"/>
                </a:lnTo>
                <a:lnTo>
                  <a:pt x="211564" y="277422"/>
                </a:lnTo>
                <a:lnTo>
                  <a:pt x="168172" y="291229"/>
                </a:lnTo>
                <a:lnTo>
                  <a:pt x="123064" y="291229"/>
                </a:lnTo>
                <a:lnTo>
                  <a:pt x="79672" y="277422"/>
                </a:lnTo>
                <a:lnTo>
                  <a:pt x="41429" y="249807"/>
                </a:lnTo>
                <a:lnTo>
                  <a:pt x="13809" y="211564"/>
                </a:lnTo>
                <a:lnTo>
                  <a:pt x="0" y="168172"/>
                </a:lnTo>
                <a:lnTo>
                  <a:pt x="0" y="123064"/>
                </a:lnTo>
                <a:lnTo>
                  <a:pt x="13809" y="79672"/>
                </a:lnTo>
                <a:lnTo>
                  <a:pt x="41429" y="41429"/>
                </a:lnTo>
                <a:lnTo>
                  <a:pt x="79672" y="13809"/>
                </a:lnTo>
                <a:lnTo>
                  <a:pt x="123064" y="0"/>
                </a:lnTo>
                <a:lnTo>
                  <a:pt x="168172" y="0"/>
                </a:lnTo>
                <a:lnTo>
                  <a:pt x="211564" y="13809"/>
                </a:lnTo>
                <a:lnTo>
                  <a:pt x="249807" y="41429"/>
                </a:lnTo>
              </a:path>
            </a:pathLst>
          </a:custGeom>
          <a:ln w="19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20" dirty="0"/>
              <a:t>Extensions:</a:t>
            </a:r>
            <a:r>
              <a:rPr spc="45" dirty="0"/>
              <a:t> </a:t>
            </a:r>
            <a:r>
              <a:rPr dirty="0"/>
              <a:t>matching</a:t>
            </a:r>
            <a:r>
              <a:rPr spc="45" dirty="0"/>
              <a:t> </a:t>
            </a:r>
            <a:r>
              <a:rPr spc="-10" dirty="0"/>
              <a:t>residents</a:t>
            </a:r>
            <a:r>
              <a:rPr spc="45" dirty="0"/>
              <a:t> </a:t>
            </a:r>
            <a:r>
              <a:rPr dirty="0"/>
              <a:t>to</a:t>
            </a:r>
            <a:r>
              <a:rPr spc="45" dirty="0"/>
              <a:t> </a:t>
            </a:r>
            <a:r>
              <a:rPr spc="-10" dirty="0"/>
              <a:t>hospitals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950" y="1142804"/>
            <a:ext cx="7007225" cy="1055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8000" algn="l"/>
              </a:tabLst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Ex: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Men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 Unicode"/>
                <a:cs typeface="Lucida Sans Unicode"/>
              </a:rPr>
              <a:t>≈</a:t>
            </a:r>
            <a:r>
              <a:rPr sz="1850" spc="-15" dirty="0">
                <a:latin typeface="Lucida Sans Unicode"/>
                <a:cs typeface="Lucida Sans Unicode"/>
              </a:rPr>
              <a:t> </a:t>
            </a:r>
            <a:r>
              <a:rPr sz="1850" dirty="0">
                <a:latin typeface="Lucida Sans"/>
                <a:cs typeface="Lucida Sans"/>
              </a:rPr>
              <a:t>hospitals,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Women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 Unicode"/>
                <a:cs typeface="Lucida Sans Unicode"/>
              </a:rPr>
              <a:t>≈</a:t>
            </a:r>
            <a:r>
              <a:rPr sz="1850" spc="-10" dirty="0">
                <a:latin typeface="Lucida Sans Unicode"/>
                <a:cs typeface="Lucida Sans Unicode"/>
              </a:rPr>
              <a:t> </a:t>
            </a:r>
            <a:r>
              <a:rPr sz="1850" dirty="0">
                <a:latin typeface="Lucida Sans"/>
                <a:cs typeface="Lucida Sans"/>
              </a:rPr>
              <a:t>med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school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residents.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tabLst>
                <a:tab pos="1255395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Variant</a:t>
            </a:r>
            <a:r>
              <a:rPr sz="1850" spc="-8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1.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Some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participants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declare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others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unacceptable.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5950" y="2635847"/>
            <a:ext cx="553275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55395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Variant</a:t>
            </a:r>
            <a:r>
              <a:rPr sz="1850" spc="-8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2.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Unequal number of men and </a:t>
            </a:r>
            <a:r>
              <a:rPr sz="1850" spc="-10" dirty="0">
                <a:latin typeface="Lucida Sans"/>
                <a:cs typeface="Lucida Sans"/>
              </a:rPr>
              <a:t>women.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5950" y="3382368"/>
            <a:ext cx="3370579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55395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Variant</a:t>
            </a:r>
            <a:r>
              <a:rPr sz="1850" spc="-8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3.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Limited</a:t>
            </a:r>
            <a:r>
              <a:rPr sz="1850" spc="-10" dirty="0">
                <a:latin typeface="Lucida Sans"/>
                <a:cs typeface="Lucida Sans"/>
              </a:rPr>
              <a:t> polygamy.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3250" y="4875411"/>
            <a:ext cx="8645525" cy="709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ts val="2030"/>
              </a:lnSpc>
              <a:spcBef>
                <a:spcPts val="105"/>
              </a:spcBef>
              <a:tabLst>
                <a:tab pos="642620" algn="l"/>
              </a:tabLst>
            </a:pP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Def.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Matching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unstable</a:t>
            </a:r>
            <a:r>
              <a:rPr sz="1850" spc="-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if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there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hospital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resident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r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such</a:t>
            </a:r>
            <a:r>
              <a:rPr sz="1850" spc="-10" dirty="0">
                <a:latin typeface="Lucida Sans"/>
                <a:cs typeface="Lucida Sans"/>
              </a:rPr>
              <a:t> that:</a:t>
            </a:r>
            <a:endParaRPr sz="1850">
              <a:latin typeface="Lucida Sans"/>
              <a:cs typeface="Lucida Sans"/>
            </a:endParaRPr>
          </a:p>
          <a:p>
            <a:pPr marL="123189">
              <a:lnSpc>
                <a:spcPts val="335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i="1" dirty="0">
                <a:latin typeface="Times New Roman"/>
                <a:cs typeface="Times New Roman"/>
              </a:rPr>
              <a:t>h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r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are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acceptable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other;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spc="-25" dirty="0">
                <a:latin typeface="Lucida Sans"/>
                <a:cs typeface="Lucida Sans"/>
              </a:rPr>
              <a:t>and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776" y="5480486"/>
            <a:ext cx="7927975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Either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r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unmatched,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or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r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her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assigned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hospital;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25" dirty="0">
                <a:latin typeface="Lucida Sans"/>
                <a:cs typeface="Lucida Sans"/>
              </a:rPr>
              <a:t>and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776" y="5754420"/>
            <a:ext cx="7967980" cy="92265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91160" marR="30480" indent="-353695">
              <a:lnSpc>
                <a:spcPct val="114100"/>
              </a:lnSpc>
              <a:spcBef>
                <a:spcPts val="400"/>
              </a:spcBef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Either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does not have all its places filled, or </a:t>
            </a:r>
            <a:r>
              <a:rPr sz="1850" i="1" dirty="0">
                <a:latin typeface="Times New Roman"/>
                <a:cs typeface="Times New Roman"/>
              </a:rPr>
              <a:t>h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 </a:t>
            </a:r>
            <a:r>
              <a:rPr sz="1850" i="1" dirty="0">
                <a:latin typeface="Times New Roman"/>
                <a:cs typeface="Times New Roman"/>
              </a:rPr>
              <a:t>r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 at </a:t>
            </a:r>
            <a:r>
              <a:rPr sz="1850" spc="-10" dirty="0">
                <a:latin typeface="Lucida Sans"/>
                <a:cs typeface="Lucida Sans"/>
              </a:rPr>
              <a:t>least </a:t>
            </a:r>
            <a:r>
              <a:rPr sz="1850" dirty="0">
                <a:latin typeface="Lucida Sans"/>
                <a:cs typeface="Lucida Sans"/>
              </a:rPr>
              <a:t>one of its assigned </a:t>
            </a:r>
            <a:r>
              <a:rPr sz="1850" spc="-10" dirty="0">
                <a:latin typeface="Lucida Sans"/>
                <a:cs typeface="Lucida Sans"/>
              </a:rPr>
              <a:t>residents.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75001" y="2566431"/>
            <a:ext cx="1605280" cy="41084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 indent="25400">
              <a:lnSpc>
                <a:spcPct val="107400"/>
              </a:lnSpc>
              <a:spcBef>
                <a:spcPts val="30"/>
              </a:spcBef>
            </a:pP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resident</a:t>
            </a:r>
            <a:r>
              <a:rPr sz="1200" spc="8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A</a:t>
            </a:r>
            <a:r>
              <a:rPr sz="1200" spc="8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unwilling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to</a:t>
            </a:r>
            <a:r>
              <a:rPr sz="1200" spc="8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work</a:t>
            </a:r>
            <a:r>
              <a:rPr sz="1200" spc="8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in</a:t>
            </a:r>
            <a:r>
              <a:rPr sz="1200" spc="8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Cleveland</a:t>
            </a:r>
            <a:endParaRPr sz="1200">
              <a:latin typeface="Lucida Sans"/>
              <a:cs typeface="Lucida San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987717" y="2219223"/>
            <a:ext cx="250825" cy="331470"/>
            <a:chOff x="6987717" y="2219223"/>
            <a:chExt cx="250825" cy="331470"/>
          </a:xfrm>
        </p:grpSpPr>
        <p:sp>
          <p:nvSpPr>
            <p:cNvPr id="11" name="object 11"/>
            <p:cNvSpPr/>
            <p:nvPr/>
          </p:nvSpPr>
          <p:spPr>
            <a:xfrm>
              <a:off x="7024206" y="2267975"/>
              <a:ext cx="204470" cy="273050"/>
            </a:xfrm>
            <a:custGeom>
              <a:avLst/>
              <a:gdLst/>
              <a:ahLst/>
              <a:cxnLst/>
              <a:rect l="l" t="t" r="r" b="b"/>
              <a:pathLst>
                <a:path w="204470" h="273050">
                  <a:moveTo>
                    <a:pt x="0" y="0"/>
                  </a:moveTo>
                  <a:lnTo>
                    <a:pt x="5883" y="7867"/>
                  </a:lnTo>
                  <a:lnTo>
                    <a:pt x="203957" y="272519"/>
                  </a:lnTo>
                </a:path>
              </a:pathLst>
            </a:custGeom>
            <a:ln w="19645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87717" y="2219223"/>
              <a:ext cx="94615" cy="104139"/>
            </a:xfrm>
            <a:custGeom>
              <a:avLst/>
              <a:gdLst/>
              <a:ahLst/>
              <a:cxnLst/>
              <a:rect l="l" t="t" r="r" b="b"/>
              <a:pathLst>
                <a:path w="94615" h="104139">
                  <a:moveTo>
                    <a:pt x="0" y="0"/>
                  </a:moveTo>
                  <a:lnTo>
                    <a:pt x="18757" y="103746"/>
                  </a:lnTo>
                  <a:lnTo>
                    <a:pt x="42379" y="56616"/>
                  </a:lnTo>
                  <a:lnTo>
                    <a:pt x="94246" y="47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568071" y="3453958"/>
            <a:ext cx="272986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hospital</a:t>
            </a:r>
            <a:r>
              <a:rPr sz="1200" spc="6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X</a:t>
            </a:r>
            <a:r>
              <a:rPr sz="1200" spc="7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wants</a:t>
            </a:r>
            <a:r>
              <a:rPr sz="1200" spc="7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to</a:t>
            </a:r>
            <a:r>
              <a:rPr sz="1200" spc="7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hire</a:t>
            </a:r>
            <a:r>
              <a:rPr sz="1200" spc="7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3</a:t>
            </a:r>
            <a:r>
              <a:rPr sz="1200" spc="7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residents</a:t>
            </a:r>
            <a:endParaRPr sz="1200">
              <a:latin typeface="Lucida Sans"/>
              <a:cs typeface="Lucida San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072344" y="3534333"/>
            <a:ext cx="390525" cy="94615"/>
            <a:chOff x="4072344" y="3534333"/>
            <a:chExt cx="390525" cy="94615"/>
          </a:xfrm>
        </p:grpSpPr>
        <p:sp>
          <p:nvSpPr>
            <p:cNvPr id="15" name="object 15"/>
            <p:cNvSpPr/>
            <p:nvPr/>
          </p:nvSpPr>
          <p:spPr>
            <a:xfrm>
              <a:off x="4133243" y="3581479"/>
              <a:ext cx="329565" cy="0"/>
            </a:xfrm>
            <a:custGeom>
              <a:avLst/>
              <a:gdLst/>
              <a:ahLst/>
              <a:cxnLst/>
              <a:rect l="l" t="t" r="r" b="b"/>
              <a:pathLst>
                <a:path w="329564">
                  <a:moveTo>
                    <a:pt x="0" y="0"/>
                  </a:moveTo>
                  <a:lnTo>
                    <a:pt x="9822" y="0"/>
                  </a:lnTo>
                  <a:lnTo>
                    <a:pt x="329078" y="0"/>
                  </a:lnTo>
                </a:path>
              </a:pathLst>
            </a:custGeom>
            <a:ln w="19645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72344" y="3534333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94297" y="0"/>
                  </a:moveTo>
                  <a:lnTo>
                    <a:pt x="0" y="47142"/>
                  </a:lnTo>
                  <a:lnTo>
                    <a:pt x="94297" y="94297"/>
                  </a:lnTo>
                  <a:lnTo>
                    <a:pt x="70726" y="47142"/>
                  </a:lnTo>
                  <a:lnTo>
                    <a:pt x="94297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5950" y="376634"/>
            <a:ext cx="7004050" cy="34560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GB" dirty="0"/>
              <a:t>https://www.youtube.com/watch?v=fudb8DuzQlM</a:t>
            </a:r>
            <a:endParaRPr spc="-10" dirty="0"/>
          </a:p>
        </p:txBody>
      </p:sp>
      <p:pic>
        <p:nvPicPr>
          <p:cNvPr id="20" name="图片 19" descr="图示&#10;&#10;AI 生成的内容可能不正确。">
            <a:extLst>
              <a:ext uri="{FF2B5EF4-FFF2-40B4-BE49-F238E27FC236}">
                <a16:creationId xmlns:a16="http://schemas.microsoft.com/office/drawing/2014/main" id="{7017D620-3F7F-C170-9837-3EBF70BEF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4" y="1295400"/>
            <a:ext cx="9840992" cy="545450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7543800"/>
          </a:xfrm>
          <a:custGeom>
            <a:avLst/>
            <a:gdLst/>
            <a:ahLst/>
            <a:cxnLst/>
            <a:rect l="l" t="t" r="r" b="b"/>
            <a:pathLst>
              <a:path w="10058400" h="7543800">
                <a:moveTo>
                  <a:pt x="0" y="0"/>
                </a:moveTo>
                <a:lnTo>
                  <a:pt x="10058400" y="0"/>
                </a:lnTo>
                <a:lnTo>
                  <a:pt x="10058400" y="7543800"/>
                </a:lnTo>
                <a:lnTo>
                  <a:pt x="0" y="7543800"/>
                </a:lnTo>
                <a:lnTo>
                  <a:pt x="0" y="0"/>
                </a:lnTo>
                <a:close/>
              </a:path>
            </a:pathLst>
          </a:custGeom>
          <a:solidFill>
            <a:srgbClr val="005493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5950" y="1142804"/>
            <a:ext cx="8542020" cy="1428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92605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Lloyd</a:t>
            </a:r>
            <a:r>
              <a:rPr sz="1850" spc="9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Shapley.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Stable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theory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Gale-Shapley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algorithm.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850">
              <a:latin typeface="Lucida Sans"/>
              <a:cs typeface="Lucida Sans"/>
            </a:endParaRPr>
          </a:p>
          <a:p>
            <a:pPr marL="12700" marR="5080">
              <a:lnSpc>
                <a:spcPct val="132400"/>
              </a:lnSpc>
              <a:tabLst>
                <a:tab pos="1418590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Alvin</a:t>
            </a:r>
            <a:r>
              <a:rPr sz="1850" spc="8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Roth.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Applied</a:t>
            </a:r>
            <a:r>
              <a:rPr sz="1850" spc="5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Gale-Shapley</a:t>
            </a:r>
            <a:r>
              <a:rPr sz="1850" spc="5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5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</a:t>
            </a:r>
            <a:r>
              <a:rPr sz="1850" spc="5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new</a:t>
            </a:r>
            <a:r>
              <a:rPr sz="1850" spc="5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doctors</a:t>
            </a:r>
            <a:r>
              <a:rPr sz="1850" spc="5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5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hospitals, </a:t>
            </a:r>
            <a:r>
              <a:rPr sz="1850" dirty="0">
                <a:latin typeface="Lucida Sans"/>
                <a:cs typeface="Lucida Sans"/>
              </a:rPr>
              <a:t>students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schools,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organ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donors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patients.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8472" y="880446"/>
            <a:ext cx="8791575" cy="635"/>
          </a:xfrm>
          <a:custGeom>
            <a:avLst/>
            <a:gdLst/>
            <a:ahLst/>
            <a:cxnLst/>
            <a:rect l="l" t="t" r="r" b="b"/>
            <a:pathLst>
              <a:path w="8791575" h="634">
                <a:moveTo>
                  <a:pt x="0" y="20"/>
                </a:moveTo>
                <a:lnTo>
                  <a:pt x="8791271" y="0"/>
                </a:lnTo>
              </a:path>
            </a:pathLst>
          </a:custGeom>
          <a:ln w="98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2012</a:t>
            </a:r>
            <a:r>
              <a:rPr spc="120" dirty="0"/>
              <a:t> </a:t>
            </a:r>
            <a:r>
              <a:rPr spc="100" dirty="0"/>
              <a:t>Nobel</a:t>
            </a:r>
            <a:r>
              <a:rPr spc="125" dirty="0"/>
              <a:t> </a:t>
            </a:r>
            <a:r>
              <a:rPr dirty="0"/>
              <a:t>Prize</a:t>
            </a:r>
            <a:r>
              <a:rPr spc="130" dirty="0"/>
              <a:t> </a:t>
            </a:r>
            <a:r>
              <a:rPr dirty="0"/>
              <a:t>in</a:t>
            </a:r>
            <a:r>
              <a:rPr spc="130" dirty="0"/>
              <a:t> </a:t>
            </a:r>
            <a:r>
              <a:rPr spc="-25" dirty="0"/>
              <a:t>Economics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33865" y="6005011"/>
            <a:ext cx="114046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dirty="0">
                <a:latin typeface="Lucida Sans"/>
                <a:cs typeface="Lucida Sans"/>
              </a:rPr>
              <a:t>Lloyd</a:t>
            </a:r>
            <a:r>
              <a:rPr sz="1200" b="1" spc="90" dirty="0">
                <a:latin typeface="Lucida Sans"/>
                <a:cs typeface="Lucida Sans"/>
              </a:rPr>
              <a:t> </a:t>
            </a:r>
            <a:r>
              <a:rPr sz="1200" b="1" spc="-10" dirty="0">
                <a:latin typeface="Lucida Sans"/>
                <a:cs typeface="Lucida Sans"/>
              </a:rPr>
              <a:t>Shapley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33766" y="6005011"/>
            <a:ext cx="868044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dirty="0">
                <a:latin typeface="Lucida Sans"/>
                <a:cs typeface="Lucida Sans"/>
              </a:rPr>
              <a:t>Alvin</a:t>
            </a:r>
            <a:r>
              <a:rPr sz="1200" b="1" spc="110" dirty="0">
                <a:latin typeface="Lucida Sans"/>
                <a:cs typeface="Lucida Sans"/>
              </a:rPr>
              <a:t> </a:t>
            </a:r>
            <a:r>
              <a:rPr sz="1200" b="1" spc="-20" dirty="0">
                <a:latin typeface="Lucida Sans"/>
                <a:cs typeface="Lucida Sans"/>
              </a:rPr>
              <a:t>Roth</a:t>
            </a:r>
            <a:endParaRPr sz="1200">
              <a:latin typeface="Lucida Sans"/>
              <a:cs typeface="Lucida San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1700" y="3454400"/>
            <a:ext cx="3731717" cy="24257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24786" y="4013200"/>
            <a:ext cx="1648984" cy="164314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100" dirty="0"/>
              <a:t>Lessons</a:t>
            </a:r>
            <a:r>
              <a:rPr spc="-30" dirty="0"/>
              <a:t> </a:t>
            </a:r>
            <a:r>
              <a:rPr spc="35" dirty="0"/>
              <a:t>learned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14350" y="1142804"/>
            <a:ext cx="7299325" cy="3696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4300">
              <a:lnSpc>
                <a:spcPts val="2030"/>
              </a:lnSpc>
              <a:spcBef>
                <a:spcPts val="105"/>
              </a:spcBef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Powerful</a:t>
            </a:r>
            <a:r>
              <a:rPr sz="1850" spc="1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ideas</a:t>
            </a:r>
            <a:r>
              <a:rPr sz="1850" spc="1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learned</a:t>
            </a:r>
            <a:r>
              <a:rPr sz="1850" spc="1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in</a:t>
            </a:r>
            <a:r>
              <a:rPr sz="1850" spc="1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course.</a:t>
            </a:r>
            <a:endParaRPr sz="1850">
              <a:latin typeface="Lucida Sans"/>
              <a:cs typeface="Lucida Sans"/>
            </a:endParaRPr>
          </a:p>
          <a:p>
            <a:pPr marL="212090">
              <a:lnSpc>
                <a:spcPts val="305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Isolate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underlying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structure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problem.</a:t>
            </a:r>
            <a:endParaRPr sz="1850">
              <a:latin typeface="Lucida Sans"/>
              <a:cs typeface="Lucida Sans"/>
            </a:endParaRPr>
          </a:p>
          <a:p>
            <a:pPr marL="2120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Create</a:t>
            </a:r>
            <a:r>
              <a:rPr sz="1850" spc="-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useful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efficient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algorithms.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850">
              <a:latin typeface="Lucida Sans"/>
              <a:cs typeface="Lucida Sans"/>
            </a:endParaRPr>
          </a:p>
          <a:p>
            <a:pPr marL="114300">
              <a:lnSpc>
                <a:spcPts val="2030"/>
              </a:lnSpc>
              <a:tabLst>
                <a:tab pos="4460875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Potentially</a:t>
            </a:r>
            <a:r>
              <a:rPr sz="1850" spc="30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deep</a:t>
            </a:r>
            <a:r>
              <a:rPr sz="1850" spc="30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social</a:t>
            </a:r>
            <a:r>
              <a:rPr sz="1850" spc="30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ramifications.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solidFill>
                  <a:srgbClr val="606060"/>
                </a:solidFill>
                <a:latin typeface="Lucida Sans"/>
                <a:cs typeface="Lucida Sans"/>
              </a:rPr>
              <a:t>[legal</a:t>
            </a:r>
            <a:r>
              <a:rPr sz="1850" spc="-10" dirty="0">
                <a:solidFill>
                  <a:srgbClr val="606060"/>
                </a:solidFill>
                <a:latin typeface="Lucida Sans"/>
                <a:cs typeface="Lucida Sans"/>
              </a:rPr>
              <a:t> disclaimer]</a:t>
            </a:r>
            <a:endParaRPr sz="1850">
              <a:latin typeface="Lucida Sans"/>
              <a:cs typeface="Lucida Sans"/>
            </a:endParaRPr>
          </a:p>
          <a:p>
            <a:pPr marL="212090">
              <a:lnSpc>
                <a:spcPts val="3050"/>
              </a:lnSpc>
              <a:tabLst>
                <a:tab pos="4944110" algn="l"/>
              </a:tabLst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Historically,</a:t>
            </a:r>
            <a:r>
              <a:rPr sz="1850" spc="-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men</a:t>
            </a:r>
            <a:r>
              <a:rPr sz="1850" spc="-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propose</a:t>
            </a:r>
            <a:r>
              <a:rPr sz="1850" spc="-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3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women.</a:t>
            </a:r>
            <a:r>
              <a:rPr sz="1850" dirty="0">
                <a:latin typeface="Lucida Sans"/>
                <a:cs typeface="Lucida Sans"/>
              </a:rPr>
              <a:t>	Why</a:t>
            </a:r>
            <a:r>
              <a:rPr sz="1850" spc="5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not</a:t>
            </a:r>
            <a:r>
              <a:rPr sz="1850" spc="6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vice</a:t>
            </a:r>
            <a:r>
              <a:rPr sz="1850" spc="6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versa?</a:t>
            </a:r>
            <a:endParaRPr sz="1850">
              <a:latin typeface="Lucida Sans"/>
              <a:cs typeface="Lucida Sans"/>
            </a:endParaRPr>
          </a:p>
          <a:p>
            <a:pPr marL="212090">
              <a:lnSpc>
                <a:spcPts val="2940"/>
              </a:lnSpc>
              <a:tabLst>
                <a:tab pos="1293495" algn="l"/>
              </a:tabLst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spc="-20" dirty="0">
                <a:latin typeface="Lucida Sans"/>
                <a:cs typeface="Lucida Sans"/>
              </a:rPr>
              <a:t>Men:</a:t>
            </a:r>
            <a:r>
              <a:rPr sz="1850" dirty="0">
                <a:latin typeface="Lucida Sans"/>
                <a:cs typeface="Lucida Sans"/>
              </a:rPr>
              <a:t>	propose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early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often;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honest.</a:t>
            </a:r>
            <a:endParaRPr sz="1850">
              <a:latin typeface="Lucida Sans"/>
              <a:cs typeface="Lucida Sans"/>
            </a:endParaRPr>
          </a:p>
          <a:p>
            <a:pPr marL="212090">
              <a:lnSpc>
                <a:spcPts val="2940"/>
              </a:lnSpc>
              <a:tabLst>
                <a:tab pos="1647189" algn="l"/>
              </a:tabLst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spc="-10" dirty="0">
                <a:latin typeface="Lucida Sans"/>
                <a:cs typeface="Lucida Sans"/>
              </a:rPr>
              <a:t>Women:</a:t>
            </a:r>
            <a:r>
              <a:rPr sz="1850" dirty="0">
                <a:latin typeface="Lucida Sans"/>
                <a:cs typeface="Lucida Sans"/>
              </a:rPr>
              <a:t>	ask out the </a:t>
            </a:r>
            <a:r>
              <a:rPr sz="1850" spc="-20" dirty="0">
                <a:latin typeface="Lucida Sans"/>
                <a:cs typeface="Lucida Sans"/>
              </a:rPr>
              <a:t>men.</a:t>
            </a:r>
            <a:endParaRPr sz="1850">
              <a:latin typeface="Lucida Sans"/>
              <a:cs typeface="Lucida Sans"/>
            </a:endParaRPr>
          </a:p>
          <a:p>
            <a:pPr marL="212090">
              <a:lnSpc>
                <a:spcPts val="29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Theory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can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socially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enriching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spc="-20" dirty="0">
                <a:latin typeface="Lucida Sans"/>
                <a:cs typeface="Lucida Sans"/>
              </a:rPr>
              <a:t>fun!</a:t>
            </a:r>
            <a:endParaRPr sz="1850">
              <a:latin typeface="Lucida Sans"/>
              <a:cs typeface="Lucida Sans"/>
            </a:endParaRPr>
          </a:p>
          <a:p>
            <a:pPr marL="2120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COS majors get the best partners (and </a:t>
            </a:r>
            <a:r>
              <a:rPr sz="1850" spc="-10" dirty="0">
                <a:latin typeface="Lucida Sans"/>
                <a:cs typeface="Lucida Sans"/>
              </a:rPr>
              <a:t>jobs)!</a:t>
            </a:r>
            <a:endParaRPr sz="18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7543800"/>
          </a:xfrm>
          <a:custGeom>
            <a:avLst/>
            <a:gdLst/>
            <a:ahLst/>
            <a:cxnLst/>
            <a:rect l="l" t="t" r="r" b="b"/>
            <a:pathLst>
              <a:path w="10058400" h="7543800">
                <a:moveTo>
                  <a:pt x="0" y="0"/>
                </a:moveTo>
                <a:lnTo>
                  <a:pt x="10058400" y="0"/>
                </a:lnTo>
                <a:lnTo>
                  <a:pt x="10058400" y="7543800"/>
                </a:lnTo>
                <a:lnTo>
                  <a:pt x="0" y="7543800"/>
                </a:lnTo>
                <a:lnTo>
                  <a:pt x="0" y="0"/>
                </a:lnTo>
                <a:close/>
              </a:path>
            </a:pathLst>
          </a:custGeom>
          <a:solidFill>
            <a:srgbClr val="005493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08118" y="1460500"/>
            <a:ext cx="3437890" cy="3948429"/>
            <a:chOff x="508118" y="1460500"/>
            <a:chExt cx="3437890" cy="39484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8118" y="1460500"/>
              <a:ext cx="3437352" cy="394821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25800" y="1577873"/>
              <a:ext cx="565741" cy="6286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4469305" y="1931490"/>
            <a:ext cx="5039360" cy="0"/>
          </a:xfrm>
          <a:custGeom>
            <a:avLst/>
            <a:gdLst/>
            <a:ahLst/>
            <a:cxnLst/>
            <a:rect l="l" t="t" r="r" b="b"/>
            <a:pathLst>
              <a:path w="5039359">
                <a:moveTo>
                  <a:pt x="0" y="0"/>
                </a:moveTo>
                <a:lnTo>
                  <a:pt x="5039019" y="0"/>
                </a:lnTo>
              </a:path>
            </a:pathLst>
          </a:custGeom>
          <a:ln w="19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75146" y="5494242"/>
            <a:ext cx="1114425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cap="small" dirty="0">
                <a:latin typeface="Lucida Sans"/>
                <a:cs typeface="Lucida Sans"/>
              </a:rPr>
              <a:t>Section</a:t>
            </a:r>
            <a:r>
              <a:rPr sz="1550" b="1" cap="small" spc="-85" dirty="0">
                <a:latin typeface="Lucida Sans"/>
                <a:cs typeface="Lucida Sans"/>
              </a:rPr>
              <a:t> </a:t>
            </a:r>
            <a:r>
              <a:rPr sz="1550" b="1" cap="small" spc="-40" dirty="0">
                <a:latin typeface="Lucida Sans"/>
                <a:cs typeface="Lucida Sans"/>
              </a:rPr>
              <a:t>1.2</a:t>
            </a:r>
            <a:endParaRPr sz="155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495898" y="1358894"/>
            <a:ext cx="4392930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39115" algn="l"/>
              </a:tabLst>
            </a:pPr>
            <a:r>
              <a:rPr sz="2750" b="1" cap="small" spc="75" dirty="0">
                <a:latin typeface="Century Gothic"/>
                <a:cs typeface="Century Gothic"/>
              </a:rPr>
              <a:t>1.</a:t>
            </a:r>
            <a:r>
              <a:rPr sz="2750" b="1" cap="small" dirty="0">
                <a:latin typeface="Century Gothic"/>
                <a:cs typeface="Century Gothic"/>
              </a:rPr>
              <a:t>	Representative</a:t>
            </a:r>
            <a:r>
              <a:rPr sz="2750" b="1" cap="small" spc="85" dirty="0">
                <a:latin typeface="Century Gothic"/>
                <a:cs typeface="Century Gothic"/>
              </a:rPr>
              <a:t>  </a:t>
            </a:r>
            <a:r>
              <a:rPr sz="2750" b="1" cap="small" spc="-10" dirty="0">
                <a:latin typeface="Century Gothic"/>
                <a:cs typeface="Century Gothic"/>
              </a:rPr>
              <a:t>Problems</a:t>
            </a:r>
            <a:endParaRPr sz="275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5898" y="2066125"/>
            <a:ext cx="3735704" cy="1007744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57175" indent="-244475">
              <a:lnSpc>
                <a:spcPct val="100000"/>
              </a:lnSpc>
              <a:spcBef>
                <a:spcPts val="1200"/>
              </a:spcBef>
              <a:buFont typeface="Lucida Sans Unicode"/>
              <a:buChar char="‣"/>
              <a:tabLst>
                <a:tab pos="257175" algn="l"/>
              </a:tabLst>
            </a:pPr>
            <a:r>
              <a:rPr sz="2300" i="1" dirty="0">
                <a:solidFill>
                  <a:srgbClr val="D5D5D5"/>
                </a:solidFill>
                <a:latin typeface="Calibri"/>
                <a:cs typeface="Calibri"/>
              </a:rPr>
              <a:t>stable</a:t>
            </a:r>
            <a:r>
              <a:rPr sz="2300" i="1" spc="150" dirty="0">
                <a:solidFill>
                  <a:srgbClr val="D5D5D5"/>
                </a:solidFill>
                <a:latin typeface="Calibri"/>
                <a:cs typeface="Calibri"/>
              </a:rPr>
              <a:t> </a:t>
            </a:r>
            <a:r>
              <a:rPr sz="2300" i="1" spc="-10" dirty="0">
                <a:solidFill>
                  <a:srgbClr val="D5D5D5"/>
                </a:solidFill>
                <a:latin typeface="Calibri"/>
                <a:cs typeface="Calibri"/>
              </a:rPr>
              <a:t>matching</a:t>
            </a:r>
            <a:endParaRPr sz="23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spcBef>
                <a:spcPts val="1110"/>
              </a:spcBef>
              <a:buFont typeface="Lucida Sans Unicode"/>
              <a:buChar char="‣"/>
              <a:tabLst>
                <a:tab pos="257175" algn="l"/>
              </a:tabLst>
            </a:pPr>
            <a:r>
              <a:rPr sz="2300" i="1" dirty="0">
                <a:latin typeface="Calibri"/>
                <a:cs typeface="Calibri"/>
              </a:rPr>
              <a:t>five</a:t>
            </a:r>
            <a:r>
              <a:rPr sz="2300" i="1" spc="165" dirty="0">
                <a:latin typeface="Calibri"/>
                <a:cs typeface="Calibri"/>
              </a:rPr>
              <a:t> </a:t>
            </a:r>
            <a:r>
              <a:rPr sz="2300" i="1" dirty="0">
                <a:latin typeface="Calibri"/>
                <a:cs typeface="Calibri"/>
              </a:rPr>
              <a:t>representative</a:t>
            </a:r>
            <a:r>
              <a:rPr sz="2300" i="1" spc="165" dirty="0">
                <a:latin typeface="Calibri"/>
                <a:cs typeface="Calibri"/>
              </a:rPr>
              <a:t> </a:t>
            </a:r>
            <a:r>
              <a:rPr sz="2300" i="1" spc="-10" dirty="0">
                <a:latin typeface="Calibri"/>
                <a:cs typeface="Calibri"/>
              </a:rPr>
              <a:t>problems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Interval</a:t>
            </a:r>
            <a:r>
              <a:rPr spc="370" dirty="0"/>
              <a:t> </a:t>
            </a:r>
            <a:r>
              <a:rPr spc="-10" dirty="0"/>
              <a:t>scheduling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950" y="1052436"/>
            <a:ext cx="7934325" cy="77216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  <a:tabLst>
                <a:tab pos="832485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Input.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Set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jobs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start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times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finish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times.</a:t>
            </a: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749300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Goal.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Find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maximum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cardinality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subset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mutually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compatible</a:t>
            </a:r>
            <a:r>
              <a:rPr sz="1850" spc="1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jobs.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17394" y="2306018"/>
            <a:ext cx="140589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jobs</a:t>
            </a:r>
            <a:r>
              <a:rPr sz="1200" spc="9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don't</a:t>
            </a:r>
            <a:r>
              <a:rPr sz="1200" spc="9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overlap</a:t>
            </a:r>
            <a:endParaRPr sz="1200">
              <a:latin typeface="Lucida Sans"/>
              <a:cs typeface="Lucida San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151827" y="1852269"/>
            <a:ext cx="236854" cy="354965"/>
            <a:chOff x="7151827" y="1852269"/>
            <a:chExt cx="236854" cy="354965"/>
          </a:xfrm>
        </p:grpSpPr>
        <p:sp>
          <p:nvSpPr>
            <p:cNvPr id="6" name="object 6"/>
            <p:cNvSpPr/>
            <p:nvPr/>
          </p:nvSpPr>
          <p:spPr>
            <a:xfrm>
              <a:off x="7185258" y="1903171"/>
              <a:ext cx="193675" cy="294005"/>
            </a:xfrm>
            <a:custGeom>
              <a:avLst/>
              <a:gdLst/>
              <a:ahLst/>
              <a:cxnLst/>
              <a:rect l="l" t="t" r="r" b="b"/>
              <a:pathLst>
                <a:path w="193675" h="294005">
                  <a:moveTo>
                    <a:pt x="0" y="0"/>
                  </a:moveTo>
                  <a:lnTo>
                    <a:pt x="5392" y="8211"/>
                  </a:lnTo>
                  <a:lnTo>
                    <a:pt x="193074" y="293962"/>
                  </a:lnTo>
                </a:path>
              </a:pathLst>
            </a:custGeom>
            <a:ln w="19645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51827" y="1852269"/>
              <a:ext cx="91440" cy="104775"/>
            </a:xfrm>
            <a:custGeom>
              <a:avLst/>
              <a:gdLst/>
              <a:ahLst/>
              <a:cxnLst/>
              <a:rect l="l" t="t" r="r" b="b"/>
              <a:pathLst>
                <a:path w="91440" h="104775">
                  <a:moveTo>
                    <a:pt x="0" y="0"/>
                  </a:moveTo>
                  <a:lnTo>
                    <a:pt x="12369" y="104698"/>
                  </a:lnTo>
                  <a:lnTo>
                    <a:pt x="38836" y="59118"/>
                  </a:lnTo>
                  <a:lnTo>
                    <a:pt x="91186" y="529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970087" y="6933495"/>
            <a:ext cx="76835" cy="76835"/>
          </a:xfrm>
          <a:custGeom>
            <a:avLst/>
            <a:gdLst/>
            <a:ahLst/>
            <a:cxnLst/>
            <a:rect l="l" t="t" r="r" b="b"/>
            <a:pathLst>
              <a:path w="76834" h="76834">
                <a:moveTo>
                  <a:pt x="25" y="0"/>
                </a:moveTo>
                <a:lnTo>
                  <a:pt x="0" y="76616"/>
                </a:lnTo>
                <a:lnTo>
                  <a:pt x="76631" y="38328"/>
                </a:lnTo>
                <a:lnTo>
                  <a:pt x="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74304" y="6678585"/>
            <a:ext cx="121920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60"/>
              </a:lnSpc>
            </a:pPr>
            <a:r>
              <a:rPr sz="1550" spc="-60" dirty="0">
                <a:latin typeface="Lucida Sans"/>
                <a:cs typeface="Lucida Sans"/>
              </a:rPr>
              <a:t>h</a:t>
            </a:r>
            <a:endParaRPr sz="1550">
              <a:latin typeface="Lucida Sans"/>
              <a:cs typeface="Lucida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48447" y="6841887"/>
            <a:ext cx="384810" cy="210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20" dirty="0">
                <a:latin typeface="Lucida Sans"/>
                <a:cs typeface="Lucida Sans"/>
              </a:rPr>
              <a:t>time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35041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0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8301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1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00914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2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33513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3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67866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4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00479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5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33078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6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67660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7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98291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8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30904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9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46637" y="7034937"/>
            <a:ext cx="200025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25" dirty="0">
                <a:solidFill>
                  <a:srgbClr val="606060"/>
                </a:solidFill>
                <a:latin typeface="Lucida Sans"/>
                <a:cs typeface="Lucida Sans"/>
              </a:rPr>
              <a:t>10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54344" y="7034937"/>
            <a:ext cx="200025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25" dirty="0">
                <a:solidFill>
                  <a:srgbClr val="606060"/>
                </a:solidFill>
                <a:latin typeface="Lucida Sans"/>
                <a:cs typeface="Lucida Sans"/>
              </a:rPr>
              <a:t>11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4454868" y="5316073"/>
            <a:ext cx="109855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60"/>
              </a:lnSpc>
            </a:pPr>
            <a:r>
              <a:rPr sz="1550" spc="-50" dirty="0">
                <a:latin typeface="Lucida Sans"/>
                <a:cs typeface="Lucida Sans"/>
              </a:rPr>
              <a:t>e</a:t>
            </a:r>
            <a:endParaRPr sz="1550">
              <a:latin typeface="Lucida Sans"/>
              <a:cs typeface="Lucida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50533" y="3947012"/>
            <a:ext cx="123825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60"/>
              </a:lnSpc>
            </a:pPr>
            <a:r>
              <a:rPr sz="1550" spc="-50" dirty="0">
                <a:latin typeface="Lucida Sans"/>
                <a:cs typeface="Lucida Sans"/>
              </a:rPr>
              <a:t>b</a:t>
            </a:r>
            <a:endParaRPr sz="1550">
              <a:latin typeface="Lucida Sans"/>
              <a:cs typeface="Lucida Sans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572301" y="3455596"/>
          <a:ext cx="6410317" cy="3502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2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2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2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27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27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27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27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46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276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03530">
                <a:tc gridSpan="6"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5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550">
                        <a:latin typeface="Lucida Sans"/>
                        <a:cs typeface="Lucida Sans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1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1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480">
                <a:tc rowSpan="1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5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</a:t>
                      </a:r>
                      <a:endParaRPr sz="1550">
                        <a:latin typeface="Lucida Sans"/>
                        <a:cs typeface="Lucida Sans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solidFill>
                      <a:srgbClr val="003F8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4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5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550">
                        <a:latin typeface="Lucida Sans"/>
                        <a:cs typeface="Lucida Sans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7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50" spc="-50" dirty="0">
                          <a:latin typeface="Lucida Sans"/>
                          <a:cs typeface="Lucida Sans"/>
                        </a:rPr>
                        <a:t>d</a:t>
                      </a:r>
                      <a:endParaRPr sz="1550">
                        <a:latin typeface="Lucida Sans"/>
                        <a:cs typeface="Lucida Sans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85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4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5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e</a:t>
                      </a:r>
                      <a:endParaRPr sz="1550">
                        <a:latin typeface="Lucida Sans"/>
                        <a:cs typeface="Lucida Sans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solidFill>
                      <a:srgbClr val="003F8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43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50" spc="-50" dirty="0">
                          <a:latin typeface="Lucida Sans"/>
                          <a:cs typeface="Lucida Sans"/>
                        </a:rPr>
                        <a:t>f</a:t>
                      </a:r>
                      <a:endParaRPr sz="1550">
                        <a:latin typeface="Lucida Sans"/>
                        <a:cs typeface="Lucida Sans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30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3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50" spc="-50" dirty="0">
                          <a:latin typeface="Lucida Sans"/>
                          <a:cs typeface="Lucida Sans"/>
                        </a:rPr>
                        <a:t>g</a:t>
                      </a:r>
                      <a:endParaRPr sz="1550">
                        <a:latin typeface="Lucida Sans"/>
                        <a:cs typeface="Lucida Sans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35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3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5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h</a:t>
                      </a:r>
                      <a:endParaRPr sz="1550">
                        <a:latin typeface="Lucida Sans"/>
                        <a:cs typeface="Lucida Sans"/>
                      </a:endParaRPr>
                    </a:p>
                  </a:txBody>
                  <a:tcPr marL="0" marR="0" marT="9525" marB="0"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3F8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Weighted</a:t>
            </a:r>
            <a:r>
              <a:rPr spc="405" dirty="0"/>
              <a:t> </a:t>
            </a:r>
            <a:r>
              <a:rPr dirty="0"/>
              <a:t>interval</a:t>
            </a:r>
            <a:r>
              <a:rPr spc="400" dirty="0"/>
              <a:t> </a:t>
            </a:r>
            <a:r>
              <a:rPr spc="-10" dirty="0"/>
              <a:t>scheduling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950" y="1052436"/>
            <a:ext cx="751776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2400"/>
              </a:lnSpc>
              <a:spcBef>
                <a:spcPts val="95"/>
              </a:spcBef>
              <a:tabLst>
                <a:tab pos="749300" algn="l"/>
                <a:tab pos="832485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Input.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	</a:t>
            </a:r>
            <a:r>
              <a:rPr sz="1850" dirty="0">
                <a:latin typeface="Lucida Sans"/>
                <a:cs typeface="Lucida Sans"/>
              </a:rPr>
              <a:t>Set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jobs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start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times,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finish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times,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weights.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Goal.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Find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maximum</a:t>
            </a:r>
            <a:r>
              <a:rPr sz="1850" spc="3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weight</a:t>
            </a:r>
            <a:r>
              <a:rPr sz="1850" spc="2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subset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mutually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compatible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jobs.</a:t>
            </a:r>
            <a:endParaRPr sz="1850">
              <a:latin typeface="Lucida Sans"/>
              <a:cs typeface="Lucida San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69239" y="3459522"/>
            <a:ext cx="6477635" cy="3550920"/>
            <a:chOff x="1569239" y="3459522"/>
            <a:chExt cx="6477635" cy="3550920"/>
          </a:xfrm>
        </p:grpSpPr>
        <p:sp>
          <p:nvSpPr>
            <p:cNvPr id="5" name="object 5"/>
            <p:cNvSpPr/>
            <p:nvPr/>
          </p:nvSpPr>
          <p:spPr>
            <a:xfrm>
              <a:off x="1576859" y="6970077"/>
              <a:ext cx="6400800" cy="1905"/>
            </a:xfrm>
            <a:custGeom>
              <a:avLst/>
              <a:gdLst/>
              <a:ahLst/>
              <a:cxnLst/>
              <a:rect l="l" t="t" r="r" b="b"/>
              <a:pathLst>
                <a:path w="6400800" h="1904">
                  <a:moveTo>
                    <a:pt x="0" y="0"/>
                  </a:moveTo>
                  <a:lnTo>
                    <a:pt x="6393238" y="1718"/>
                  </a:lnTo>
                  <a:lnTo>
                    <a:pt x="6400605" y="1718"/>
                  </a:lnTo>
                </a:path>
              </a:pathLst>
            </a:custGeom>
            <a:ln w="147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70088" y="6933495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4" h="76834">
                  <a:moveTo>
                    <a:pt x="25" y="0"/>
                  </a:moveTo>
                  <a:lnTo>
                    <a:pt x="0" y="76616"/>
                  </a:lnTo>
                  <a:lnTo>
                    <a:pt x="76631" y="3832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09468" y="3767670"/>
              <a:ext cx="0" cy="3207385"/>
            </a:xfrm>
            <a:custGeom>
              <a:avLst/>
              <a:gdLst/>
              <a:ahLst/>
              <a:cxnLst/>
              <a:rect l="l" t="t" r="r" b="b"/>
              <a:pathLst>
                <a:path h="3207384">
                  <a:moveTo>
                    <a:pt x="0" y="0"/>
                  </a:moveTo>
                  <a:lnTo>
                    <a:pt x="0" y="3206954"/>
                  </a:lnTo>
                </a:path>
              </a:pathLst>
            </a:custGeom>
            <a:ln w="910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5985" y="3467968"/>
              <a:ext cx="1905" cy="3503295"/>
            </a:xfrm>
            <a:custGeom>
              <a:avLst/>
              <a:gdLst/>
              <a:ahLst/>
              <a:cxnLst/>
              <a:rect l="l" t="t" r="r" b="b"/>
              <a:pathLst>
                <a:path w="1905" h="3503295">
                  <a:moveTo>
                    <a:pt x="0" y="3502973"/>
                  </a:moveTo>
                  <a:lnTo>
                    <a:pt x="1748" y="0"/>
                  </a:lnTo>
                </a:path>
              </a:pathLst>
            </a:custGeom>
            <a:ln w="736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76428" y="3767670"/>
              <a:ext cx="0" cy="3207385"/>
            </a:xfrm>
            <a:custGeom>
              <a:avLst/>
              <a:gdLst/>
              <a:ahLst/>
              <a:cxnLst/>
              <a:rect l="l" t="t" r="r" b="b"/>
              <a:pathLst>
                <a:path h="3207384">
                  <a:moveTo>
                    <a:pt x="0" y="460794"/>
                  </a:moveTo>
                  <a:lnTo>
                    <a:pt x="0" y="3206954"/>
                  </a:lnTo>
                </a:path>
                <a:path h="3207384">
                  <a:moveTo>
                    <a:pt x="0" y="0"/>
                  </a:moveTo>
                  <a:lnTo>
                    <a:pt x="0" y="156946"/>
                  </a:lnTo>
                </a:path>
              </a:pathLst>
            </a:custGeom>
            <a:ln w="911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42076" y="3767670"/>
              <a:ext cx="0" cy="3207385"/>
            </a:xfrm>
            <a:custGeom>
              <a:avLst/>
              <a:gdLst/>
              <a:ahLst/>
              <a:cxnLst/>
              <a:rect l="l" t="t" r="r" b="b"/>
              <a:pathLst>
                <a:path h="3207384">
                  <a:moveTo>
                    <a:pt x="0" y="460794"/>
                  </a:moveTo>
                  <a:lnTo>
                    <a:pt x="0" y="3206954"/>
                  </a:lnTo>
                </a:path>
                <a:path h="3207384">
                  <a:moveTo>
                    <a:pt x="0" y="0"/>
                  </a:moveTo>
                  <a:lnTo>
                    <a:pt x="0" y="156946"/>
                  </a:lnTo>
                </a:path>
              </a:pathLst>
            </a:custGeom>
            <a:ln w="911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09032" y="3464285"/>
              <a:ext cx="1598295" cy="3510915"/>
            </a:xfrm>
            <a:custGeom>
              <a:avLst/>
              <a:gdLst/>
              <a:ahLst/>
              <a:cxnLst/>
              <a:rect l="l" t="t" r="r" b="b"/>
              <a:pathLst>
                <a:path w="1598295" h="3510915">
                  <a:moveTo>
                    <a:pt x="0" y="1677474"/>
                  </a:moveTo>
                  <a:lnTo>
                    <a:pt x="0" y="3510340"/>
                  </a:lnTo>
                </a:path>
                <a:path w="1598295" h="3510915">
                  <a:moveTo>
                    <a:pt x="0" y="1221697"/>
                  </a:moveTo>
                  <a:lnTo>
                    <a:pt x="0" y="1373627"/>
                  </a:lnTo>
                </a:path>
                <a:path w="1598295" h="3510915">
                  <a:moveTo>
                    <a:pt x="0" y="303385"/>
                  </a:moveTo>
                  <a:lnTo>
                    <a:pt x="0" y="916109"/>
                  </a:lnTo>
                </a:path>
                <a:path w="1598295" h="3510915">
                  <a:moveTo>
                    <a:pt x="1597821" y="3048274"/>
                  </a:moveTo>
                  <a:lnTo>
                    <a:pt x="1597821" y="3510340"/>
                  </a:lnTo>
                </a:path>
                <a:path w="1598295" h="3510915">
                  <a:moveTo>
                    <a:pt x="1597821" y="2590757"/>
                  </a:moveTo>
                  <a:lnTo>
                    <a:pt x="1597821" y="2744427"/>
                  </a:lnTo>
                </a:path>
                <a:path w="1598295" h="3510915">
                  <a:moveTo>
                    <a:pt x="1597821" y="1688384"/>
                  </a:moveTo>
                  <a:lnTo>
                    <a:pt x="1597821" y="2286909"/>
                  </a:lnTo>
                </a:path>
                <a:path w="1598295" h="3510915">
                  <a:moveTo>
                    <a:pt x="1597821" y="0"/>
                  </a:moveTo>
                  <a:lnTo>
                    <a:pt x="1597821" y="1373627"/>
                  </a:lnTo>
                </a:path>
              </a:pathLst>
            </a:custGeom>
            <a:ln w="911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74245" y="3464285"/>
              <a:ext cx="0" cy="3510915"/>
            </a:xfrm>
            <a:custGeom>
              <a:avLst/>
              <a:gdLst/>
              <a:ahLst/>
              <a:cxnLst/>
              <a:rect l="l" t="t" r="r" b="b"/>
              <a:pathLst>
                <a:path h="3510915">
                  <a:moveTo>
                    <a:pt x="0" y="2590757"/>
                  </a:moveTo>
                  <a:lnTo>
                    <a:pt x="0" y="3510340"/>
                  </a:lnTo>
                </a:path>
                <a:path h="3510915">
                  <a:moveTo>
                    <a:pt x="0" y="2134992"/>
                  </a:moveTo>
                  <a:lnTo>
                    <a:pt x="0" y="2286909"/>
                  </a:lnTo>
                </a:path>
                <a:path h="3510915">
                  <a:moveTo>
                    <a:pt x="0" y="1688384"/>
                  </a:moveTo>
                  <a:lnTo>
                    <a:pt x="0" y="1829392"/>
                  </a:lnTo>
                </a:path>
                <a:path h="3510915">
                  <a:moveTo>
                    <a:pt x="0" y="0"/>
                  </a:moveTo>
                  <a:lnTo>
                    <a:pt x="0" y="1373627"/>
                  </a:lnTo>
                </a:path>
              </a:pathLst>
            </a:custGeom>
            <a:ln w="910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67503" y="697311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15" y="0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72061" y="6512560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5">
                  <a:moveTo>
                    <a:pt x="0" y="0"/>
                  </a:moveTo>
                  <a:lnTo>
                    <a:pt x="0" y="143629"/>
                  </a:lnTo>
                </a:path>
              </a:pathLst>
            </a:custGeom>
            <a:ln w="911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72061" y="3464285"/>
              <a:ext cx="0" cy="2744470"/>
            </a:xfrm>
            <a:custGeom>
              <a:avLst/>
              <a:gdLst/>
              <a:ahLst/>
              <a:cxnLst/>
              <a:rect l="l" t="t" r="r" b="b"/>
              <a:pathLst>
                <a:path h="2744470">
                  <a:moveTo>
                    <a:pt x="0" y="0"/>
                  </a:moveTo>
                  <a:lnTo>
                    <a:pt x="0" y="2744427"/>
                  </a:lnTo>
                </a:path>
              </a:pathLst>
            </a:custGeom>
            <a:ln w="911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34899" y="697311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15" y="0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39457" y="6055042"/>
              <a:ext cx="0" cy="601345"/>
            </a:xfrm>
            <a:custGeom>
              <a:avLst/>
              <a:gdLst/>
              <a:ahLst/>
              <a:cxnLst/>
              <a:rect l="l" t="t" r="r" b="b"/>
              <a:pathLst>
                <a:path h="601345">
                  <a:moveTo>
                    <a:pt x="0" y="457517"/>
                  </a:moveTo>
                  <a:lnTo>
                    <a:pt x="0" y="601146"/>
                  </a:lnTo>
                </a:path>
                <a:path h="601345">
                  <a:moveTo>
                    <a:pt x="0" y="0"/>
                  </a:moveTo>
                  <a:lnTo>
                    <a:pt x="0" y="153670"/>
                  </a:lnTo>
                </a:path>
              </a:pathLst>
            </a:custGeom>
            <a:ln w="911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39457" y="3464285"/>
              <a:ext cx="0" cy="2287270"/>
            </a:xfrm>
            <a:custGeom>
              <a:avLst/>
              <a:gdLst/>
              <a:ahLst/>
              <a:cxnLst/>
              <a:rect l="l" t="t" r="r" b="b"/>
              <a:pathLst>
                <a:path h="2287270">
                  <a:moveTo>
                    <a:pt x="0" y="0"/>
                  </a:moveTo>
                  <a:lnTo>
                    <a:pt x="0" y="2286909"/>
                  </a:lnTo>
                </a:path>
              </a:pathLst>
            </a:custGeom>
            <a:ln w="911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38142" y="3467968"/>
              <a:ext cx="1905" cy="3503295"/>
            </a:xfrm>
            <a:custGeom>
              <a:avLst/>
              <a:gdLst/>
              <a:ahLst/>
              <a:cxnLst/>
              <a:rect l="l" t="t" r="r" b="b"/>
              <a:pathLst>
                <a:path w="1904" h="3503295">
                  <a:moveTo>
                    <a:pt x="0" y="3502973"/>
                  </a:moveTo>
                  <a:lnTo>
                    <a:pt x="1748" y="0"/>
                  </a:lnTo>
                </a:path>
              </a:pathLst>
            </a:custGeom>
            <a:ln w="736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01855" y="697311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15" y="0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06413" y="3464285"/>
              <a:ext cx="0" cy="3192145"/>
            </a:xfrm>
            <a:custGeom>
              <a:avLst/>
              <a:gdLst/>
              <a:ahLst/>
              <a:cxnLst/>
              <a:rect l="l" t="t" r="r" b="b"/>
              <a:pathLst>
                <a:path h="3192145">
                  <a:moveTo>
                    <a:pt x="0" y="0"/>
                  </a:moveTo>
                  <a:lnTo>
                    <a:pt x="0" y="3191903"/>
                  </a:lnTo>
                </a:path>
              </a:pathLst>
            </a:custGeom>
            <a:ln w="911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241634" y="5751195"/>
            <a:ext cx="2130425" cy="30416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25"/>
              </a:spcBef>
            </a:pPr>
            <a:r>
              <a:rPr sz="1400" spc="-25" dirty="0">
                <a:latin typeface="Lucida Sans"/>
                <a:cs typeface="Lucida Sans"/>
              </a:rPr>
              <a:t>20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74247" y="6208712"/>
            <a:ext cx="2132330" cy="30416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1400" spc="-25" dirty="0">
                <a:latin typeface="Lucida Sans"/>
                <a:cs typeface="Lucida Sans"/>
              </a:rPr>
              <a:t>11</a:t>
            </a:r>
            <a:endParaRPr sz="1400">
              <a:latin typeface="Lucida Sans"/>
              <a:cs typeface="Lucida San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236873" y="3762908"/>
            <a:ext cx="3197860" cy="3216910"/>
            <a:chOff x="4236873" y="3762908"/>
            <a:chExt cx="3197860" cy="3216910"/>
          </a:xfrm>
        </p:grpSpPr>
        <p:sp>
          <p:nvSpPr>
            <p:cNvPr id="25" name="object 25"/>
            <p:cNvSpPr/>
            <p:nvPr/>
          </p:nvSpPr>
          <p:spPr>
            <a:xfrm>
              <a:off x="4241636" y="5599277"/>
              <a:ext cx="0" cy="1375410"/>
            </a:xfrm>
            <a:custGeom>
              <a:avLst/>
              <a:gdLst/>
              <a:ahLst/>
              <a:cxnLst/>
              <a:rect l="l" t="t" r="r" b="b"/>
              <a:pathLst>
                <a:path h="1375409">
                  <a:moveTo>
                    <a:pt x="0" y="0"/>
                  </a:moveTo>
                  <a:lnTo>
                    <a:pt x="0" y="1375347"/>
                  </a:lnTo>
                </a:path>
              </a:pathLst>
            </a:custGeom>
            <a:ln w="911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41636" y="3767670"/>
              <a:ext cx="0" cy="1526540"/>
            </a:xfrm>
            <a:custGeom>
              <a:avLst/>
              <a:gdLst/>
              <a:ahLst/>
              <a:cxnLst/>
              <a:rect l="l" t="t" r="r" b="b"/>
              <a:pathLst>
                <a:path h="1526539">
                  <a:moveTo>
                    <a:pt x="0" y="1384998"/>
                  </a:moveTo>
                  <a:lnTo>
                    <a:pt x="0" y="1526006"/>
                  </a:lnTo>
                </a:path>
                <a:path h="1526539">
                  <a:moveTo>
                    <a:pt x="0" y="0"/>
                  </a:moveTo>
                  <a:lnTo>
                    <a:pt x="0" y="1070241"/>
                  </a:lnTo>
                </a:path>
              </a:pathLst>
            </a:custGeom>
            <a:ln w="911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34659" y="6656189"/>
              <a:ext cx="1599565" cy="10160"/>
            </a:xfrm>
            <a:custGeom>
              <a:avLst/>
              <a:gdLst/>
              <a:ahLst/>
              <a:cxnLst/>
              <a:rect l="l" t="t" r="r" b="b"/>
              <a:pathLst>
                <a:path w="1599565" h="10159">
                  <a:moveTo>
                    <a:pt x="0" y="9822"/>
                  </a:moveTo>
                  <a:lnTo>
                    <a:pt x="1599564" y="9822"/>
                  </a:lnTo>
                  <a:lnTo>
                    <a:pt x="1599564" y="0"/>
                  </a:lnTo>
                  <a:lnTo>
                    <a:pt x="0" y="0"/>
                  </a:lnTo>
                  <a:lnTo>
                    <a:pt x="0" y="9822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523286" y="6696973"/>
            <a:ext cx="224154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85"/>
              </a:lnSpc>
            </a:pPr>
            <a:r>
              <a:rPr sz="1400" spc="-30" dirty="0">
                <a:latin typeface="Lucida Sans"/>
                <a:cs typeface="Lucida Sans"/>
              </a:rPr>
              <a:t>16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709034" y="5293677"/>
            <a:ext cx="1598295" cy="306070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225"/>
              </a:spcBef>
            </a:pPr>
            <a:r>
              <a:rPr sz="1400" spc="-25" dirty="0">
                <a:latin typeface="Lucida Sans"/>
                <a:cs typeface="Lucida Sans"/>
              </a:rPr>
              <a:t>13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76870" y="3463823"/>
            <a:ext cx="3197860" cy="30416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225"/>
              </a:spcBef>
            </a:pPr>
            <a:r>
              <a:rPr sz="1400" spc="-25" dirty="0">
                <a:latin typeface="Lucida Sans"/>
                <a:cs typeface="Lucida Sans"/>
              </a:rPr>
              <a:t>23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111870" y="3924617"/>
            <a:ext cx="1599565" cy="30416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25"/>
              </a:spcBef>
            </a:pPr>
            <a:r>
              <a:rPr sz="1400" spc="-25" dirty="0">
                <a:latin typeface="Lucida Sans"/>
                <a:cs typeface="Lucida Sans"/>
              </a:rPr>
              <a:t>12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76422" y="4380395"/>
            <a:ext cx="1065530" cy="306070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1400" spc="-25" dirty="0">
                <a:latin typeface="Lucida Sans"/>
                <a:cs typeface="Lucida Sans"/>
              </a:rPr>
              <a:t>20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176422" y="4837912"/>
            <a:ext cx="2663190" cy="11430"/>
          </a:xfrm>
          <a:custGeom>
            <a:avLst/>
            <a:gdLst/>
            <a:ahLst/>
            <a:cxnLst/>
            <a:rect l="l" t="t" r="r" b="b"/>
            <a:pathLst>
              <a:path w="2663190" h="11429">
                <a:moveTo>
                  <a:pt x="0" y="10909"/>
                </a:moveTo>
                <a:lnTo>
                  <a:pt x="2663037" y="10909"/>
                </a:lnTo>
                <a:lnTo>
                  <a:pt x="2663037" y="0"/>
                </a:lnTo>
                <a:lnTo>
                  <a:pt x="0" y="0"/>
                </a:lnTo>
                <a:lnTo>
                  <a:pt x="0" y="10909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395472" y="4878696"/>
            <a:ext cx="224154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85"/>
              </a:lnSpc>
            </a:pPr>
            <a:r>
              <a:rPr sz="1400" spc="-30" dirty="0">
                <a:latin typeface="Lucida Sans"/>
                <a:cs typeface="Lucida Sans"/>
              </a:rPr>
              <a:t>26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834659" y="6666011"/>
            <a:ext cx="1599565" cy="306070"/>
          </a:xfrm>
          <a:custGeom>
            <a:avLst/>
            <a:gdLst/>
            <a:ahLst/>
            <a:cxnLst/>
            <a:rect l="l" t="t" r="r" b="b"/>
            <a:pathLst>
              <a:path w="1599565" h="306070">
                <a:moveTo>
                  <a:pt x="0" y="0"/>
                </a:moveTo>
                <a:lnTo>
                  <a:pt x="1599564" y="0"/>
                </a:lnTo>
                <a:lnTo>
                  <a:pt x="1599564" y="305593"/>
                </a:lnTo>
                <a:lnTo>
                  <a:pt x="0" y="305593"/>
                </a:lnTo>
                <a:lnTo>
                  <a:pt x="0" y="0"/>
                </a:lnTo>
                <a:close/>
              </a:path>
            </a:pathLst>
          </a:custGeom>
          <a:solidFill>
            <a:srgbClr val="003F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839457" y="6682779"/>
            <a:ext cx="159512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solidFill>
                  <a:srgbClr val="FFFFFF"/>
                </a:solidFill>
                <a:latin typeface="Lucida Sans"/>
                <a:cs typeface="Lucida Sans"/>
              </a:rPr>
              <a:t>16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348447" y="6841887"/>
            <a:ext cx="384810" cy="210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20" dirty="0">
                <a:latin typeface="Lucida Sans"/>
                <a:cs typeface="Lucida Sans"/>
              </a:rPr>
              <a:t>time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35041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0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068301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1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600914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2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133513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3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667866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4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200479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5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733078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6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67660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7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798291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8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330904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9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746637" y="7034937"/>
            <a:ext cx="200025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25" dirty="0">
                <a:solidFill>
                  <a:srgbClr val="606060"/>
                </a:solidFill>
                <a:latin typeface="Lucida Sans"/>
                <a:cs typeface="Lucida Sans"/>
              </a:rPr>
              <a:t>10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354344" y="7034937"/>
            <a:ext cx="200025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25" dirty="0">
                <a:solidFill>
                  <a:srgbClr val="606060"/>
                </a:solidFill>
                <a:latin typeface="Lucida Sans"/>
                <a:cs typeface="Lucida Sans"/>
              </a:rPr>
              <a:t>11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37" name="object 37"/>
          <p:cNvSpPr txBox="1"/>
          <p:nvPr/>
        </p:nvSpPr>
        <p:spPr>
          <a:xfrm>
            <a:off x="3172714" y="4848821"/>
            <a:ext cx="2663190" cy="304165"/>
          </a:xfrm>
          <a:prstGeom prst="rect">
            <a:avLst/>
          </a:prstGeom>
          <a:solidFill>
            <a:srgbClr val="003F83"/>
          </a:solidFill>
        </p:spPr>
        <p:txBody>
          <a:bodyPr vert="horz" wrap="square" lIns="0" tIns="285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1400" spc="-25" dirty="0">
                <a:solidFill>
                  <a:srgbClr val="FFFFFF"/>
                </a:solidFill>
                <a:latin typeface="Lucida Sans"/>
                <a:cs typeface="Lucida Sans"/>
              </a:rPr>
              <a:t>26</a:t>
            </a:r>
            <a:endParaRPr sz="14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Bipartite</a:t>
            </a:r>
            <a:r>
              <a:rPr spc="360" dirty="0"/>
              <a:t> </a:t>
            </a:r>
            <a:r>
              <a:rPr spc="-10" dirty="0"/>
              <a:t>matching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950" y="1052436"/>
            <a:ext cx="7950834" cy="1892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2400"/>
              </a:lnSpc>
              <a:spcBef>
                <a:spcPts val="95"/>
              </a:spcBef>
              <a:tabLst>
                <a:tab pos="1170940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Problem.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Given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bipartite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graph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G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L</a:t>
            </a:r>
            <a:r>
              <a:rPr sz="1850" i="1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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R</a:t>
            </a:r>
            <a:r>
              <a:rPr sz="1850" dirty="0">
                <a:latin typeface="Times New Roman"/>
                <a:cs typeface="Times New Roman"/>
              </a:rPr>
              <a:t>,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E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dirty="0">
                <a:latin typeface="Lucida Sans"/>
                <a:cs typeface="Lucida Sans"/>
              </a:rPr>
              <a:t>,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find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max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cardinality matching.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850">
              <a:latin typeface="Lucida Sans"/>
              <a:cs typeface="Lucida Sans"/>
            </a:endParaRPr>
          </a:p>
          <a:p>
            <a:pPr marL="12700" marR="567055">
              <a:lnSpc>
                <a:spcPct val="132400"/>
              </a:lnSpc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Def.</a:t>
            </a:r>
            <a:r>
              <a:rPr sz="1850" spc="-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 subset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 edges </a:t>
            </a:r>
            <a:r>
              <a:rPr sz="1850" i="1" dirty="0">
                <a:latin typeface="Times New Roman"/>
                <a:cs typeface="Times New Roman"/>
              </a:rPr>
              <a:t>M </a:t>
            </a:r>
            <a:r>
              <a:rPr sz="1850" dirty="0">
                <a:latin typeface="Symbol"/>
                <a:cs typeface="Symbol"/>
              </a:rPr>
              <a:t>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E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 a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matching </a:t>
            </a:r>
            <a:r>
              <a:rPr sz="1850" dirty="0">
                <a:latin typeface="Lucida Sans"/>
                <a:cs typeface="Lucida Sans"/>
              </a:rPr>
              <a:t>if each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node </a:t>
            </a:r>
            <a:r>
              <a:rPr sz="1850" spc="-10" dirty="0">
                <a:latin typeface="Lucida Sans"/>
                <a:cs typeface="Lucida Sans"/>
              </a:rPr>
              <a:t>appears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exactly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one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edge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M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34890" y="3891109"/>
            <a:ext cx="3172460" cy="3486785"/>
            <a:chOff x="2934890" y="3891109"/>
            <a:chExt cx="3172460" cy="3486785"/>
          </a:xfrm>
        </p:grpSpPr>
        <p:sp>
          <p:nvSpPr>
            <p:cNvPr id="5" name="object 5"/>
            <p:cNvSpPr/>
            <p:nvPr/>
          </p:nvSpPr>
          <p:spPr>
            <a:xfrm>
              <a:off x="3214845" y="5645326"/>
              <a:ext cx="2616200" cy="1905"/>
            </a:xfrm>
            <a:custGeom>
              <a:avLst/>
              <a:gdLst/>
              <a:ahLst/>
              <a:cxnLst/>
              <a:rect l="l" t="t" r="r" b="b"/>
              <a:pathLst>
                <a:path w="2616200" h="1904">
                  <a:moveTo>
                    <a:pt x="0" y="0"/>
                  </a:moveTo>
                  <a:lnTo>
                    <a:pt x="2615879" y="1748"/>
                  </a:lnTo>
                </a:path>
              </a:pathLst>
            </a:custGeom>
            <a:ln w="2455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84223" y="4032844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>
                  <a:moveTo>
                    <a:pt x="0" y="0"/>
                  </a:moveTo>
                  <a:lnTo>
                    <a:pt x="29556" y="0"/>
                  </a:lnTo>
                </a:path>
              </a:pathLst>
            </a:custGeom>
            <a:ln w="24625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58144" y="4035541"/>
              <a:ext cx="2921000" cy="3202305"/>
            </a:xfrm>
            <a:custGeom>
              <a:avLst/>
              <a:gdLst/>
              <a:ahLst/>
              <a:cxnLst/>
              <a:rect l="l" t="t" r="r" b="b"/>
              <a:pathLst>
                <a:path w="2921000" h="3202304">
                  <a:moveTo>
                    <a:pt x="149716" y="3200180"/>
                  </a:moveTo>
                  <a:lnTo>
                    <a:pt x="2765596" y="3201928"/>
                  </a:lnTo>
                </a:path>
                <a:path w="2921000" h="3202304">
                  <a:moveTo>
                    <a:pt x="0" y="0"/>
                  </a:moveTo>
                  <a:lnTo>
                    <a:pt x="2891326" y="742445"/>
                  </a:lnTo>
                </a:path>
                <a:path w="2921000" h="3202304">
                  <a:moveTo>
                    <a:pt x="32375" y="2374311"/>
                  </a:moveTo>
                  <a:lnTo>
                    <a:pt x="2809769" y="765037"/>
                  </a:lnTo>
                </a:path>
                <a:path w="2921000" h="3202304">
                  <a:moveTo>
                    <a:pt x="28986" y="1650332"/>
                  </a:moveTo>
                  <a:lnTo>
                    <a:pt x="2812745" y="2297154"/>
                  </a:lnTo>
                </a:path>
                <a:path w="2921000" h="3202304">
                  <a:moveTo>
                    <a:pt x="29585" y="2406510"/>
                  </a:moveTo>
                  <a:lnTo>
                    <a:pt x="2920676" y="3178501"/>
                  </a:lnTo>
                </a:path>
                <a:path w="2921000" h="3202304">
                  <a:moveTo>
                    <a:pt x="34310" y="3181173"/>
                  </a:moveTo>
                  <a:lnTo>
                    <a:pt x="2886493" y="793218"/>
                  </a:lnTo>
                </a:path>
                <a:path w="2921000" h="3202304">
                  <a:moveTo>
                    <a:pt x="32159" y="1617839"/>
                  </a:moveTo>
                  <a:lnTo>
                    <a:pt x="2907818" y="18407"/>
                  </a:lnTo>
                </a:path>
              </a:pathLst>
            </a:custGeom>
            <a:ln w="2455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8579" y="710265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47"/>
                  </a:lnTo>
                  <a:lnTo>
                    <a:pt x="38541" y="38543"/>
                  </a:lnTo>
                  <a:lnTo>
                    <a:pt x="12847" y="74122"/>
                  </a:lnTo>
                  <a:lnTo>
                    <a:pt x="0" y="114491"/>
                  </a:lnTo>
                  <a:lnTo>
                    <a:pt x="0" y="156457"/>
                  </a:lnTo>
                  <a:lnTo>
                    <a:pt x="12847" y="196826"/>
                  </a:lnTo>
                  <a:lnTo>
                    <a:pt x="38541" y="232405"/>
                  </a:lnTo>
                  <a:lnTo>
                    <a:pt x="74120" y="258101"/>
                  </a:lnTo>
                  <a:lnTo>
                    <a:pt x="114491" y="270949"/>
                  </a:lnTo>
                  <a:lnTo>
                    <a:pt x="156458" y="270949"/>
                  </a:lnTo>
                  <a:lnTo>
                    <a:pt x="196828" y="258101"/>
                  </a:lnTo>
                  <a:lnTo>
                    <a:pt x="232407" y="232405"/>
                  </a:lnTo>
                  <a:lnTo>
                    <a:pt x="258102" y="196826"/>
                  </a:lnTo>
                  <a:lnTo>
                    <a:pt x="270949" y="156457"/>
                  </a:lnTo>
                  <a:lnTo>
                    <a:pt x="270949" y="114491"/>
                  </a:lnTo>
                  <a:lnTo>
                    <a:pt x="258102" y="74122"/>
                  </a:lnTo>
                  <a:lnTo>
                    <a:pt x="232407" y="38543"/>
                  </a:lnTo>
                  <a:lnTo>
                    <a:pt x="196828" y="12847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38573" y="7102644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4489" y="4033537"/>
              <a:ext cx="2891155" cy="3178810"/>
            </a:xfrm>
            <a:custGeom>
              <a:avLst/>
              <a:gdLst/>
              <a:ahLst/>
              <a:cxnLst/>
              <a:rect l="l" t="t" r="r" b="b"/>
              <a:pathLst>
                <a:path w="2891154" h="3178809">
                  <a:moveTo>
                    <a:pt x="39290" y="68"/>
                  </a:moveTo>
                  <a:lnTo>
                    <a:pt x="2778798" y="0"/>
                  </a:lnTo>
                </a:path>
                <a:path w="2891154" h="3178809">
                  <a:moveTo>
                    <a:pt x="137517" y="775989"/>
                  </a:moveTo>
                  <a:lnTo>
                    <a:pt x="2753396" y="777737"/>
                  </a:lnTo>
                </a:path>
                <a:path w="2891154" h="3178809">
                  <a:moveTo>
                    <a:pt x="0" y="1650205"/>
                  </a:moveTo>
                  <a:lnTo>
                    <a:pt x="2783758" y="2297026"/>
                  </a:lnTo>
                </a:path>
                <a:path w="2891154" h="3178809">
                  <a:moveTo>
                    <a:pt x="0" y="2406549"/>
                  </a:moveTo>
                  <a:lnTo>
                    <a:pt x="2891080" y="3178531"/>
                  </a:lnTo>
                </a:path>
              </a:pathLst>
            </a:custGeom>
            <a:ln w="78581">
              <a:solidFill>
                <a:srgbClr val="003F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32337" y="5520536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5" h="269239">
                  <a:moveTo>
                    <a:pt x="156452" y="0"/>
                  </a:moveTo>
                  <a:lnTo>
                    <a:pt x="114487" y="0"/>
                  </a:lnTo>
                  <a:lnTo>
                    <a:pt x="74119" y="12768"/>
                  </a:lnTo>
                  <a:lnTo>
                    <a:pt x="38541" y="38304"/>
                  </a:lnTo>
                  <a:lnTo>
                    <a:pt x="12847" y="73654"/>
                  </a:lnTo>
                  <a:lnTo>
                    <a:pt x="0" y="113765"/>
                  </a:lnTo>
                  <a:lnTo>
                    <a:pt x="0" y="155463"/>
                  </a:lnTo>
                  <a:lnTo>
                    <a:pt x="12847" y="195574"/>
                  </a:lnTo>
                  <a:lnTo>
                    <a:pt x="38541" y="230925"/>
                  </a:lnTo>
                  <a:lnTo>
                    <a:pt x="74119" y="256461"/>
                  </a:lnTo>
                  <a:lnTo>
                    <a:pt x="114487" y="269229"/>
                  </a:lnTo>
                  <a:lnTo>
                    <a:pt x="156452" y="269229"/>
                  </a:lnTo>
                  <a:lnTo>
                    <a:pt x="196823" y="256461"/>
                  </a:lnTo>
                  <a:lnTo>
                    <a:pt x="232407" y="230925"/>
                  </a:lnTo>
                  <a:lnTo>
                    <a:pt x="258102" y="195574"/>
                  </a:lnTo>
                  <a:lnTo>
                    <a:pt x="270949" y="155463"/>
                  </a:lnTo>
                  <a:lnTo>
                    <a:pt x="270949" y="113765"/>
                  </a:lnTo>
                  <a:lnTo>
                    <a:pt x="258102" y="73654"/>
                  </a:lnTo>
                  <a:lnTo>
                    <a:pt x="232407" y="38304"/>
                  </a:lnTo>
                  <a:lnTo>
                    <a:pt x="196823" y="12768"/>
                  </a:lnTo>
                  <a:lnTo>
                    <a:pt x="15645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32326" y="5520534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5" h="269239">
                  <a:moveTo>
                    <a:pt x="232413" y="38303"/>
                  </a:moveTo>
                  <a:lnTo>
                    <a:pt x="258109" y="73654"/>
                  </a:lnTo>
                  <a:lnTo>
                    <a:pt x="270957" y="113765"/>
                  </a:lnTo>
                  <a:lnTo>
                    <a:pt x="270957" y="155463"/>
                  </a:lnTo>
                  <a:lnTo>
                    <a:pt x="258109" y="195574"/>
                  </a:lnTo>
                  <a:lnTo>
                    <a:pt x="232413" y="230925"/>
                  </a:lnTo>
                  <a:lnTo>
                    <a:pt x="196833" y="256456"/>
                  </a:lnTo>
                  <a:lnTo>
                    <a:pt x="156462" y="269222"/>
                  </a:lnTo>
                  <a:lnTo>
                    <a:pt x="114495" y="269222"/>
                  </a:lnTo>
                  <a:lnTo>
                    <a:pt x="74124" y="256456"/>
                  </a:lnTo>
                  <a:lnTo>
                    <a:pt x="38544" y="230925"/>
                  </a:lnTo>
                  <a:lnTo>
                    <a:pt x="12848" y="195574"/>
                  </a:lnTo>
                  <a:lnTo>
                    <a:pt x="0" y="155463"/>
                  </a:lnTo>
                  <a:lnTo>
                    <a:pt x="0" y="113765"/>
                  </a:lnTo>
                  <a:lnTo>
                    <a:pt x="12848" y="73654"/>
                  </a:lnTo>
                  <a:lnTo>
                    <a:pt x="38544" y="38303"/>
                  </a:lnTo>
                  <a:lnTo>
                    <a:pt x="74124" y="12767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767"/>
                  </a:lnTo>
                  <a:lnTo>
                    <a:pt x="232413" y="3830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38579" y="466838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47"/>
                  </a:lnTo>
                  <a:lnTo>
                    <a:pt x="38541" y="38541"/>
                  </a:lnTo>
                  <a:lnTo>
                    <a:pt x="12847" y="74119"/>
                  </a:lnTo>
                  <a:lnTo>
                    <a:pt x="0" y="114487"/>
                  </a:lnTo>
                  <a:lnTo>
                    <a:pt x="0" y="156452"/>
                  </a:lnTo>
                  <a:lnTo>
                    <a:pt x="12847" y="196823"/>
                  </a:lnTo>
                  <a:lnTo>
                    <a:pt x="38541" y="232407"/>
                  </a:lnTo>
                  <a:lnTo>
                    <a:pt x="74120" y="258102"/>
                  </a:lnTo>
                  <a:lnTo>
                    <a:pt x="114491" y="270949"/>
                  </a:lnTo>
                  <a:lnTo>
                    <a:pt x="156458" y="270949"/>
                  </a:lnTo>
                  <a:lnTo>
                    <a:pt x="196828" y="258102"/>
                  </a:lnTo>
                  <a:lnTo>
                    <a:pt x="232407" y="232407"/>
                  </a:lnTo>
                  <a:lnTo>
                    <a:pt x="258102" y="196823"/>
                  </a:lnTo>
                  <a:lnTo>
                    <a:pt x="270949" y="156452"/>
                  </a:lnTo>
                  <a:lnTo>
                    <a:pt x="270949" y="114487"/>
                  </a:lnTo>
                  <a:lnTo>
                    <a:pt x="258102" y="74119"/>
                  </a:lnTo>
                  <a:lnTo>
                    <a:pt x="232407" y="38541"/>
                  </a:lnTo>
                  <a:lnTo>
                    <a:pt x="196828" y="12847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38573" y="466837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32337" y="629413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156452" y="0"/>
                  </a:moveTo>
                  <a:lnTo>
                    <a:pt x="114487" y="0"/>
                  </a:lnTo>
                  <a:lnTo>
                    <a:pt x="74119" y="12847"/>
                  </a:lnTo>
                  <a:lnTo>
                    <a:pt x="38541" y="38541"/>
                  </a:lnTo>
                  <a:lnTo>
                    <a:pt x="12847" y="74125"/>
                  </a:lnTo>
                  <a:lnTo>
                    <a:pt x="0" y="114496"/>
                  </a:lnTo>
                  <a:lnTo>
                    <a:pt x="0" y="156462"/>
                  </a:lnTo>
                  <a:lnTo>
                    <a:pt x="12847" y="196830"/>
                  </a:lnTo>
                  <a:lnTo>
                    <a:pt x="38541" y="232408"/>
                  </a:lnTo>
                  <a:lnTo>
                    <a:pt x="74119" y="258104"/>
                  </a:lnTo>
                  <a:lnTo>
                    <a:pt x="114487" y="270952"/>
                  </a:lnTo>
                  <a:lnTo>
                    <a:pt x="156452" y="270952"/>
                  </a:lnTo>
                  <a:lnTo>
                    <a:pt x="196823" y="258104"/>
                  </a:lnTo>
                  <a:lnTo>
                    <a:pt x="232407" y="232408"/>
                  </a:lnTo>
                  <a:lnTo>
                    <a:pt x="258102" y="196830"/>
                  </a:lnTo>
                  <a:lnTo>
                    <a:pt x="270949" y="156462"/>
                  </a:lnTo>
                  <a:lnTo>
                    <a:pt x="270949" y="114496"/>
                  </a:lnTo>
                  <a:lnTo>
                    <a:pt x="258102" y="74125"/>
                  </a:lnTo>
                  <a:lnTo>
                    <a:pt x="232407" y="38541"/>
                  </a:lnTo>
                  <a:lnTo>
                    <a:pt x="196823" y="12847"/>
                  </a:lnTo>
                  <a:lnTo>
                    <a:pt x="15645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32326" y="6294131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38579" y="3894787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47"/>
                  </a:lnTo>
                  <a:lnTo>
                    <a:pt x="38541" y="38541"/>
                  </a:lnTo>
                  <a:lnTo>
                    <a:pt x="12847" y="74125"/>
                  </a:lnTo>
                  <a:lnTo>
                    <a:pt x="0" y="114496"/>
                  </a:lnTo>
                  <a:lnTo>
                    <a:pt x="0" y="156462"/>
                  </a:lnTo>
                  <a:lnTo>
                    <a:pt x="12847" y="196829"/>
                  </a:lnTo>
                  <a:lnTo>
                    <a:pt x="38541" y="232407"/>
                  </a:lnTo>
                  <a:lnTo>
                    <a:pt x="74120" y="258102"/>
                  </a:lnTo>
                  <a:lnTo>
                    <a:pt x="114491" y="270949"/>
                  </a:lnTo>
                  <a:lnTo>
                    <a:pt x="156458" y="270949"/>
                  </a:lnTo>
                  <a:lnTo>
                    <a:pt x="196828" y="258102"/>
                  </a:lnTo>
                  <a:lnTo>
                    <a:pt x="232407" y="232407"/>
                  </a:lnTo>
                  <a:lnTo>
                    <a:pt x="258102" y="196829"/>
                  </a:lnTo>
                  <a:lnTo>
                    <a:pt x="270949" y="156462"/>
                  </a:lnTo>
                  <a:lnTo>
                    <a:pt x="270949" y="114496"/>
                  </a:lnTo>
                  <a:lnTo>
                    <a:pt x="258102" y="74125"/>
                  </a:lnTo>
                  <a:lnTo>
                    <a:pt x="232407" y="38541"/>
                  </a:lnTo>
                  <a:lnTo>
                    <a:pt x="196828" y="12847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38573" y="389479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38579" y="629413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47"/>
                  </a:lnTo>
                  <a:lnTo>
                    <a:pt x="38541" y="38541"/>
                  </a:lnTo>
                  <a:lnTo>
                    <a:pt x="12847" y="74125"/>
                  </a:lnTo>
                  <a:lnTo>
                    <a:pt x="0" y="114496"/>
                  </a:lnTo>
                  <a:lnTo>
                    <a:pt x="0" y="156462"/>
                  </a:lnTo>
                  <a:lnTo>
                    <a:pt x="12847" y="196830"/>
                  </a:lnTo>
                  <a:lnTo>
                    <a:pt x="38541" y="232408"/>
                  </a:lnTo>
                  <a:lnTo>
                    <a:pt x="74120" y="258104"/>
                  </a:lnTo>
                  <a:lnTo>
                    <a:pt x="114491" y="270952"/>
                  </a:lnTo>
                  <a:lnTo>
                    <a:pt x="156458" y="270952"/>
                  </a:lnTo>
                  <a:lnTo>
                    <a:pt x="196828" y="258104"/>
                  </a:lnTo>
                  <a:lnTo>
                    <a:pt x="232407" y="232408"/>
                  </a:lnTo>
                  <a:lnTo>
                    <a:pt x="258102" y="196830"/>
                  </a:lnTo>
                  <a:lnTo>
                    <a:pt x="270949" y="156462"/>
                  </a:lnTo>
                  <a:lnTo>
                    <a:pt x="270949" y="114496"/>
                  </a:lnTo>
                  <a:lnTo>
                    <a:pt x="258102" y="74125"/>
                  </a:lnTo>
                  <a:lnTo>
                    <a:pt x="232407" y="38541"/>
                  </a:lnTo>
                  <a:lnTo>
                    <a:pt x="196828" y="12847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938573" y="6294131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938579" y="5520536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4" h="269239">
                  <a:moveTo>
                    <a:pt x="156458" y="0"/>
                  </a:moveTo>
                  <a:lnTo>
                    <a:pt x="114491" y="0"/>
                  </a:lnTo>
                  <a:lnTo>
                    <a:pt x="74120" y="12768"/>
                  </a:lnTo>
                  <a:lnTo>
                    <a:pt x="38541" y="38304"/>
                  </a:lnTo>
                  <a:lnTo>
                    <a:pt x="12847" y="73654"/>
                  </a:lnTo>
                  <a:lnTo>
                    <a:pt x="0" y="113765"/>
                  </a:lnTo>
                  <a:lnTo>
                    <a:pt x="0" y="155463"/>
                  </a:lnTo>
                  <a:lnTo>
                    <a:pt x="12847" y="195574"/>
                  </a:lnTo>
                  <a:lnTo>
                    <a:pt x="38541" y="230925"/>
                  </a:lnTo>
                  <a:lnTo>
                    <a:pt x="74120" y="256461"/>
                  </a:lnTo>
                  <a:lnTo>
                    <a:pt x="114491" y="269229"/>
                  </a:lnTo>
                  <a:lnTo>
                    <a:pt x="156458" y="269229"/>
                  </a:lnTo>
                  <a:lnTo>
                    <a:pt x="196828" y="256461"/>
                  </a:lnTo>
                  <a:lnTo>
                    <a:pt x="232407" y="230925"/>
                  </a:lnTo>
                  <a:lnTo>
                    <a:pt x="258102" y="195574"/>
                  </a:lnTo>
                  <a:lnTo>
                    <a:pt x="270949" y="155463"/>
                  </a:lnTo>
                  <a:lnTo>
                    <a:pt x="270949" y="113765"/>
                  </a:lnTo>
                  <a:lnTo>
                    <a:pt x="258102" y="73654"/>
                  </a:lnTo>
                  <a:lnTo>
                    <a:pt x="232407" y="38304"/>
                  </a:lnTo>
                  <a:lnTo>
                    <a:pt x="196828" y="12768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38573" y="5520534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4" h="269239">
                  <a:moveTo>
                    <a:pt x="232413" y="38303"/>
                  </a:moveTo>
                  <a:lnTo>
                    <a:pt x="258109" y="73654"/>
                  </a:lnTo>
                  <a:lnTo>
                    <a:pt x="270957" y="113765"/>
                  </a:lnTo>
                  <a:lnTo>
                    <a:pt x="270957" y="155463"/>
                  </a:lnTo>
                  <a:lnTo>
                    <a:pt x="258109" y="195574"/>
                  </a:lnTo>
                  <a:lnTo>
                    <a:pt x="232413" y="230925"/>
                  </a:lnTo>
                  <a:lnTo>
                    <a:pt x="196833" y="256456"/>
                  </a:lnTo>
                  <a:lnTo>
                    <a:pt x="156462" y="269222"/>
                  </a:lnTo>
                  <a:lnTo>
                    <a:pt x="114495" y="269222"/>
                  </a:lnTo>
                  <a:lnTo>
                    <a:pt x="74124" y="256456"/>
                  </a:lnTo>
                  <a:lnTo>
                    <a:pt x="38544" y="230925"/>
                  </a:lnTo>
                  <a:lnTo>
                    <a:pt x="12848" y="195574"/>
                  </a:lnTo>
                  <a:lnTo>
                    <a:pt x="0" y="155463"/>
                  </a:lnTo>
                  <a:lnTo>
                    <a:pt x="0" y="113765"/>
                  </a:lnTo>
                  <a:lnTo>
                    <a:pt x="12848" y="73654"/>
                  </a:lnTo>
                  <a:lnTo>
                    <a:pt x="38544" y="38303"/>
                  </a:lnTo>
                  <a:lnTo>
                    <a:pt x="74124" y="12767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767"/>
                  </a:lnTo>
                  <a:lnTo>
                    <a:pt x="232413" y="3830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32337" y="3894787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156452" y="0"/>
                  </a:moveTo>
                  <a:lnTo>
                    <a:pt x="114487" y="0"/>
                  </a:lnTo>
                  <a:lnTo>
                    <a:pt x="74119" y="12847"/>
                  </a:lnTo>
                  <a:lnTo>
                    <a:pt x="38541" y="38541"/>
                  </a:lnTo>
                  <a:lnTo>
                    <a:pt x="12847" y="74125"/>
                  </a:lnTo>
                  <a:lnTo>
                    <a:pt x="0" y="114496"/>
                  </a:lnTo>
                  <a:lnTo>
                    <a:pt x="0" y="156462"/>
                  </a:lnTo>
                  <a:lnTo>
                    <a:pt x="12847" y="196829"/>
                  </a:lnTo>
                  <a:lnTo>
                    <a:pt x="38541" y="232407"/>
                  </a:lnTo>
                  <a:lnTo>
                    <a:pt x="74119" y="258102"/>
                  </a:lnTo>
                  <a:lnTo>
                    <a:pt x="114487" y="270949"/>
                  </a:lnTo>
                  <a:lnTo>
                    <a:pt x="156452" y="270949"/>
                  </a:lnTo>
                  <a:lnTo>
                    <a:pt x="196823" y="258102"/>
                  </a:lnTo>
                  <a:lnTo>
                    <a:pt x="232407" y="232407"/>
                  </a:lnTo>
                  <a:lnTo>
                    <a:pt x="258102" y="196829"/>
                  </a:lnTo>
                  <a:lnTo>
                    <a:pt x="270949" y="156462"/>
                  </a:lnTo>
                  <a:lnTo>
                    <a:pt x="270949" y="114496"/>
                  </a:lnTo>
                  <a:lnTo>
                    <a:pt x="258102" y="74125"/>
                  </a:lnTo>
                  <a:lnTo>
                    <a:pt x="232407" y="38541"/>
                  </a:lnTo>
                  <a:lnTo>
                    <a:pt x="196823" y="12847"/>
                  </a:lnTo>
                  <a:lnTo>
                    <a:pt x="15645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32326" y="389479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32337" y="710265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156452" y="0"/>
                  </a:moveTo>
                  <a:lnTo>
                    <a:pt x="114487" y="0"/>
                  </a:lnTo>
                  <a:lnTo>
                    <a:pt x="74119" y="12847"/>
                  </a:lnTo>
                  <a:lnTo>
                    <a:pt x="38541" y="38543"/>
                  </a:lnTo>
                  <a:lnTo>
                    <a:pt x="12847" y="74122"/>
                  </a:lnTo>
                  <a:lnTo>
                    <a:pt x="0" y="114491"/>
                  </a:lnTo>
                  <a:lnTo>
                    <a:pt x="0" y="156457"/>
                  </a:lnTo>
                  <a:lnTo>
                    <a:pt x="12847" y="196826"/>
                  </a:lnTo>
                  <a:lnTo>
                    <a:pt x="38541" y="232405"/>
                  </a:lnTo>
                  <a:lnTo>
                    <a:pt x="74119" y="258101"/>
                  </a:lnTo>
                  <a:lnTo>
                    <a:pt x="114487" y="270949"/>
                  </a:lnTo>
                  <a:lnTo>
                    <a:pt x="156452" y="270949"/>
                  </a:lnTo>
                  <a:lnTo>
                    <a:pt x="196823" y="258101"/>
                  </a:lnTo>
                  <a:lnTo>
                    <a:pt x="232407" y="232405"/>
                  </a:lnTo>
                  <a:lnTo>
                    <a:pt x="258102" y="196826"/>
                  </a:lnTo>
                  <a:lnTo>
                    <a:pt x="270949" y="156457"/>
                  </a:lnTo>
                  <a:lnTo>
                    <a:pt x="270949" y="114491"/>
                  </a:lnTo>
                  <a:lnTo>
                    <a:pt x="258102" y="74122"/>
                  </a:lnTo>
                  <a:lnTo>
                    <a:pt x="232407" y="38543"/>
                  </a:lnTo>
                  <a:lnTo>
                    <a:pt x="196823" y="12847"/>
                  </a:lnTo>
                  <a:lnTo>
                    <a:pt x="15645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32326" y="7102644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32337" y="466838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156452" y="0"/>
                  </a:moveTo>
                  <a:lnTo>
                    <a:pt x="114487" y="0"/>
                  </a:lnTo>
                  <a:lnTo>
                    <a:pt x="74119" y="12847"/>
                  </a:lnTo>
                  <a:lnTo>
                    <a:pt x="38541" y="38541"/>
                  </a:lnTo>
                  <a:lnTo>
                    <a:pt x="12847" y="74119"/>
                  </a:lnTo>
                  <a:lnTo>
                    <a:pt x="0" y="114487"/>
                  </a:lnTo>
                  <a:lnTo>
                    <a:pt x="0" y="156452"/>
                  </a:lnTo>
                  <a:lnTo>
                    <a:pt x="12847" y="196823"/>
                  </a:lnTo>
                  <a:lnTo>
                    <a:pt x="38541" y="232407"/>
                  </a:lnTo>
                  <a:lnTo>
                    <a:pt x="74119" y="258102"/>
                  </a:lnTo>
                  <a:lnTo>
                    <a:pt x="114487" y="270949"/>
                  </a:lnTo>
                  <a:lnTo>
                    <a:pt x="156452" y="270949"/>
                  </a:lnTo>
                  <a:lnTo>
                    <a:pt x="196823" y="258102"/>
                  </a:lnTo>
                  <a:lnTo>
                    <a:pt x="232407" y="232407"/>
                  </a:lnTo>
                  <a:lnTo>
                    <a:pt x="258102" y="196823"/>
                  </a:lnTo>
                  <a:lnTo>
                    <a:pt x="270949" y="156452"/>
                  </a:lnTo>
                  <a:lnTo>
                    <a:pt x="270949" y="114487"/>
                  </a:lnTo>
                  <a:lnTo>
                    <a:pt x="258102" y="74119"/>
                  </a:lnTo>
                  <a:lnTo>
                    <a:pt x="232407" y="38541"/>
                  </a:lnTo>
                  <a:lnTo>
                    <a:pt x="196823" y="12847"/>
                  </a:lnTo>
                  <a:lnTo>
                    <a:pt x="15645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832326" y="466837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022701" y="5838032"/>
            <a:ext cx="77914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spc="-10" dirty="0">
                <a:latin typeface="Lucida Sans"/>
                <a:cs typeface="Lucida Sans"/>
              </a:rPr>
              <a:t>matching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266973" y="5978402"/>
            <a:ext cx="560705" cy="635"/>
          </a:xfrm>
          <a:custGeom>
            <a:avLst/>
            <a:gdLst/>
            <a:ahLst/>
            <a:cxnLst/>
            <a:rect l="l" t="t" r="r" b="b"/>
            <a:pathLst>
              <a:path w="560704" h="635">
                <a:moveTo>
                  <a:pt x="0" y="19"/>
                </a:moveTo>
                <a:lnTo>
                  <a:pt x="560667" y="0"/>
                </a:lnTo>
              </a:path>
            </a:pathLst>
          </a:custGeom>
          <a:ln w="78581">
            <a:solidFill>
              <a:srgbClr val="003F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7543800"/>
          </a:xfrm>
          <a:custGeom>
            <a:avLst/>
            <a:gdLst/>
            <a:ahLst/>
            <a:cxnLst/>
            <a:rect l="l" t="t" r="r" b="b"/>
            <a:pathLst>
              <a:path w="10058400" h="7543800">
                <a:moveTo>
                  <a:pt x="0" y="0"/>
                </a:moveTo>
                <a:lnTo>
                  <a:pt x="10058400" y="0"/>
                </a:lnTo>
                <a:lnTo>
                  <a:pt x="10058400" y="7543800"/>
                </a:lnTo>
                <a:lnTo>
                  <a:pt x="0" y="7543800"/>
                </a:lnTo>
                <a:lnTo>
                  <a:pt x="0" y="0"/>
                </a:lnTo>
                <a:close/>
              </a:path>
            </a:pathLst>
          </a:custGeom>
          <a:solidFill>
            <a:srgbClr val="005493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5950" y="1142804"/>
            <a:ext cx="8480425" cy="1428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70940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Problem.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Given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graph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G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V</a:t>
            </a:r>
            <a:r>
              <a:rPr sz="1850" dirty="0">
                <a:latin typeface="Times New Roman"/>
                <a:cs typeface="Times New Roman"/>
              </a:rPr>
              <a:t>,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E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dirty="0">
                <a:latin typeface="Lucida Sans"/>
                <a:cs typeface="Lucida Sans"/>
              </a:rPr>
              <a:t>,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find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max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cardinality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independent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spc="-20" dirty="0">
                <a:latin typeface="Lucida Sans"/>
                <a:cs typeface="Lucida Sans"/>
              </a:rPr>
              <a:t>set.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tabLst>
                <a:tab pos="629920" algn="l"/>
              </a:tabLst>
            </a:pP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Def.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subset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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V</a:t>
            </a:r>
            <a:r>
              <a:rPr sz="1850" i="1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independent</a:t>
            </a:r>
            <a:r>
              <a:rPr sz="1850" spc="1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if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every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u</a:t>
            </a:r>
            <a:r>
              <a:rPr sz="1850" dirty="0">
                <a:latin typeface="Times New Roman"/>
                <a:cs typeface="Times New Roman"/>
              </a:rPr>
              <a:t>,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v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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E</a:t>
            </a:r>
            <a:r>
              <a:rPr sz="1850" dirty="0">
                <a:latin typeface="Lucida Sans"/>
                <a:cs typeface="Lucida Sans"/>
              </a:rPr>
              <a:t>,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either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u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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i="1" spc="-50" dirty="0">
                <a:latin typeface="Times New Roman"/>
                <a:cs typeface="Times New Roman"/>
              </a:rPr>
              <a:t>S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985519" algn="l"/>
              </a:tabLst>
            </a:pPr>
            <a:r>
              <a:rPr sz="1850" dirty="0">
                <a:latin typeface="Lucida Sans"/>
                <a:cs typeface="Lucida Sans"/>
              </a:rPr>
              <a:t>or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v</a:t>
            </a:r>
            <a:r>
              <a:rPr sz="1850" i="1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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i="1" spc="-60" dirty="0">
                <a:latin typeface="Times New Roman"/>
                <a:cs typeface="Times New Roman"/>
              </a:rPr>
              <a:t>S</a:t>
            </a:r>
            <a:r>
              <a:rPr sz="1850" i="1" dirty="0">
                <a:latin typeface="Times New Roman"/>
                <a:cs typeface="Times New Roman"/>
              </a:rPr>
              <a:t>	</a:t>
            </a:r>
            <a:r>
              <a:rPr sz="1850" dirty="0">
                <a:latin typeface="Lucida Sans"/>
                <a:cs typeface="Lucida Sans"/>
              </a:rPr>
              <a:t>(or </a:t>
            </a:r>
            <a:r>
              <a:rPr sz="1850" spc="-10" dirty="0">
                <a:latin typeface="Lucida Sans"/>
                <a:cs typeface="Lucida Sans"/>
              </a:rPr>
              <a:t>both).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8472" y="880446"/>
            <a:ext cx="8791575" cy="635"/>
          </a:xfrm>
          <a:custGeom>
            <a:avLst/>
            <a:gdLst/>
            <a:ahLst/>
            <a:cxnLst/>
            <a:rect l="l" t="t" r="r" b="b"/>
            <a:pathLst>
              <a:path w="8791575" h="634">
                <a:moveTo>
                  <a:pt x="0" y="20"/>
                </a:moveTo>
                <a:lnTo>
                  <a:pt x="8791271" y="0"/>
                </a:lnTo>
              </a:path>
            </a:pathLst>
          </a:custGeom>
          <a:ln w="98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5950" y="376634"/>
            <a:ext cx="2010410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Independent</a:t>
            </a:r>
            <a:r>
              <a:rPr spc="260" dirty="0"/>
              <a:t> </a:t>
            </a:r>
            <a:r>
              <a:rPr spc="-25" dirty="0"/>
              <a:t>set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286331" y="5815459"/>
            <a:ext cx="278765" cy="276860"/>
            <a:chOff x="7286331" y="5815459"/>
            <a:chExt cx="278765" cy="276860"/>
          </a:xfrm>
        </p:grpSpPr>
        <p:sp>
          <p:nvSpPr>
            <p:cNvPr id="7" name="object 7"/>
            <p:cNvSpPr/>
            <p:nvPr/>
          </p:nvSpPr>
          <p:spPr>
            <a:xfrm>
              <a:off x="7290018" y="5819148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5" h="269239">
                  <a:moveTo>
                    <a:pt x="156452" y="0"/>
                  </a:moveTo>
                  <a:lnTo>
                    <a:pt x="114487" y="0"/>
                  </a:lnTo>
                  <a:lnTo>
                    <a:pt x="74119" y="12765"/>
                  </a:lnTo>
                  <a:lnTo>
                    <a:pt x="38541" y="38295"/>
                  </a:lnTo>
                  <a:lnTo>
                    <a:pt x="12847" y="73650"/>
                  </a:lnTo>
                  <a:lnTo>
                    <a:pt x="0" y="113762"/>
                  </a:lnTo>
                  <a:lnTo>
                    <a:pt x="0" y="155460"/>
                  </a:lnTo>
                  <a:lnTo>
                    <a:pt x="12847" y="195573"/>
                  </a:lnTo>
                  <a:lnTo>
                    <a:pt x="38541" y="230928"/>
                  </a:lnTo>
                  <a:lnTo>
                    <a:pt x="74119" y="256458"/>
                  </a:lnTo>
                  <a:lnTo>
                    <a:pt x="114487" y="269223"/>
                  </a:lnTo>
                  <a:lnTo>
                    <a:pt x="156452" y="269223"/>
                  </a:lnTo>
                  <a:lnTo>
                    <a:pt x="196823" y="256458"/>
                  </a:lnTo>
                  <a:lnTo>
                    <a:pt x="232407" y="230928"/>
                  </a:lnTo>
                  <a:lnTo>
                    <a:pt x="258102" y="195573"/>
                  </a:lnTo>
                  <a:lnTo>
                    <a:pt x="270949" y="155460"/>
                  </a:lnTo>
                  <a:lnTo>
                    <a:pt x="270949" y="113762"/>
                  </a:lnTo>
                  <a:lnTo>
                    <a:pt x="258102" y="73650"/>
                  </a:lnTo>
                  <a:lnTo>
                    <a:pt x="232407" y="38295"/>
                  </a:lnTo>
                  <a:lnTo>
                    <a:pt x="196823" y="12765"/>
                  </a:lnTo>
                  <a:lnTo>
                    <a:pt x="156452" y="0"/>
                  </a:lnTo>
                  <a:close/>
                </a:path>
              </a:pathLst>
            </a:custGeom>
            <a:solidFill>
              <a:srgbClr val="0054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90014" y="5819142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5" h="269239">
                  <a:moveTo>
                    <a:pt x="232406" y="38303"/>
                  </a:moveTo>
                  <a:lnTo>
                    <a:pt x="258102" y="73654"/>
                  </a:lnTo>
                  <a:lnTo>
                    <a:pt x="270950" y="113765"/>
                  </a:lnTo>
                  <a:lnTo>
                    <a:pt x="270950" y="155463"/>
                  </a:lnTo>
                  <a:lnTo>
                    <a:pt x="258102" y="195574"/>
                  </a:lnTo>
                  <a:lnTo>
                    <a:pt x="232406" y="230925"/>
                  </a:lnTo>
                  <a:lnTo>
                    <a:pt x="196826" y="256456"/>
                  </a:lnTo>
                  <a:lnTo>
                    <a:pt x="156455" y="269222"/>
                  </a:lnTo>
                  <a:lnTo>
                    <a:pt x="114487" y="269222"/>
                  </a:lnTo>
                  <a:lnTo>
                    <a:pt x="74117" y="256456"/>
                  </a:lnTo>
                  <a:lnTo>
                    <a:pt x="38537" y="230925"/>
                  </a:lnTo>
                  <a:lnTo>
                    <a:pt x="12845" y="195574"/>
                  </a:lnTo>
                  <a:lnTo>
                    <a:pt x="0" y="155463"/>
                  </a:lnTo>
                  <a:lnTo>
                    <a:pt x="0" y="113765"/>
                  </a:lnTo>
                  <a:lnTo>
                    <a:pt x="12845" y="73654"/>
                  </a:lnTo>
                  <a:lnTo>
                    <a:pt x="38537" y="38303"/>
                  </a:lnTo>
                  <a:lnTo>
                    <a:pt x="74117" y="12767"/>
                  </a:lnTo>
                  <a:lnTo>
                    <a:pt x="114487" y="0"/>
                  </a:lnTo>
                  <a:lnTo>
                    <a:pt x="156455" y="0"/>
                  </a:lnTo>
                  <a:lnTo>
                    <a:pt x="196826" y="12767"/>
                  </a:lnTo>
                  <a:lnTo>
                    <a:pt x="232406" y="3830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934890" y="3891109"/>
            <a:ext cx="3176270" cy="3486785"/>
            <a:chOff x="2934890" y="3891109"/>
            <a:chExt cx="3176270" cy="3486785"/>
          </a:xfrm>
        </p:grpSpPr>
        <p:sp>
          <p:nvSpPr>
            <p:cNvPr id="10" name="object 10"/>
            <p:cNvSpPr/>
            <p:nvPr/>
          </p:nvSpPr>
          <p:spPr>
            <a:xfrm>
              <a:off x="3084223" y="4032810"/>
              <a:ext cx="2747010" cy="3204845"/>
            </a:xfrm>
            <a:custGeom>
              <a:avLst/>
              <a:gdLst/>
              <a:ahLst/>
              <a:cxnLst/>
              <a:rect l="l" t="t" r="r" b="b"/>
              <a:pathLst>
                <a:path w="2747010" h="3204845">
                  <a:moveTo>
                    <a:pt x="130621" y="1612515"/>
                  </a:moveTo>
                  <a:lnTo>
                    <a:pt x="2746501" y="1614264"/>
                  </a:lnTo>
                </a:path>
                <a:path w="2747010" h="3204845">
                  <a:moveTo>
                    <a:pt x="0" y="68"/>
                  </a:moveTo>
                  <a:lnTo>
                    <a:pt x="2739517" y="0"/>
                  </a:lnTo>
                </a:path>
                <a:path w="2747010" h="3204845">
                  <a:moveTo>
                    <a:pt x="123637" y="3202910"/>
                  </a:moveTo>
                  <a:lnTo>
                    <a:pt x="2739517" y="3204659"/>
                  </a:lnTo>
                </a:path>
              </a:pathLst>
            </a:custGeom>
            <a:ln w="2455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32337" y="5520536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5" h="269239">
                  <a:moveTo>
                    <a:pt x="156452" y="0"/>
                  </a:moveTo>
                  <a:lnTo>
                    <a:pt x="114487" y="0"/>
                  </a:lnTo>
                  <a:lnTo>
                    <a:pt x="74119" y="12768"/>
                  </a:lnTo>
                  <a:lnTo>
                    <a:pt x="38541" y="38304"/>
                  </a:lnTo>
                  <a:lnTo>
                    <a:pt x="12847" y="73654"/>
                  </a:lnTo>
                  <a:lnTo>
                    <a:pt x="0" y="113765"/>
                  </a:lnTo>
                  <a:lnTo>
                    <a:pt x="0" y="155463"/>
                  </a:lnTo>
                  <a:lnTo>
                    <a:pt x="12847" y="195574"/>
                  </a:lnTo>
                  <a:lnTo>
                    <a:pt x="38541" y="230925"/>
                  </a:lnTo>
                  <a:lnTo>
                    <a:pt x="74119" y="256461"/>
                  </a:lnTo>
                  <a:lnTo>
                    <a:pt x="114487" y="269229"/>
                  </a:lnTo>
                  <a:lnTo>
                    <a:pt x="156452" y="269229"/>
                  </a:lnTo>
                  <a:lnTo>
                    <a:pt x="196823" y="256461"/>
                  </a:lnTo>
                  <a:lnTo>
                    <a:pt x="232407" y="230925"/>
                  </a:lnTo>
                  <a:lnTo>
                    <a:pt x="258102" y="195574"/>
                  </a:lnTo>
                  <a:lnTo>
                    <a:pt x="270949" y="155463"/>
                  </a:lnTo>
                  <a:lnTo>
                    <a:pt x="270949" y="113765"/>
                  </a:lnTo>
                  <a:lnTo>
                    <a:pt x="258102" y="73654"/>
                  </a:lnTo>
                  <a:lnTo>
                    <a:pt x="232407" y="38304"/>
                  </a:lnTo>
                  <a:lnTo>
                    <a:pt x="196823" y="12768"/>
                  </a:lnTo>
                  <a:lnTo>
                    <a:pt x="15645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32326" y="5520534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5" h="269239">
                  <a:moveTo>
                    <a:pt x="232413" y="38303"/>
                  </a:moveTo>
                  <a:lnTo>
                    <a:pt x="258109" y="73654"/>
                  </a:lnTo>
                  <a:lnTo>
                    <a:pt x="270957" y="113765"/>
                  </a:lnTo>
                  <a:lnTo>
                    <a:pt x="270957" y="155463"/>
                  </a:lnTo>
                  <a:lnTo>
                    <a:pt x="258109" y="195574"/>
                  </a:lnTo>
                  <a:lnTo>
                    <a:pt x="232413" y="230925"/>
                  </a:lnTo>
                  <a:lnTo>
                    <a:pt x="196833" y="256456"/>
                  </a:lnTo>
                  <a:lnTo>
                    <a:pt x="156462" y="269222"/>
                  </a:lnTo>
                  <a:lnTo>
                    <a:pt x="114495" y="269222"/>
                  </a:lnTo>
                  <a:lnTo>
                    <a:pt x="74124" y="256456"/>
                  </a:lnTo>
                  <a:lnTo>
                    <a:pt x="38544" y="230925"/>
                  </a:lnTo>
                  <a:lnTo>
                    <a:pt x="12848" y="195574"/>
                  </a:lnTo>
                  <a:lnTo>
                    <a:pt x="0" y="155463"/>
                  </a:lnTo>
                  <a:lnTo>
                    <a:pt x="0" y="113765"/>
                  </a:lnTo>
                  <a:lnTo>
                    <a:pt x="12848" y="73654"/>
                  </a:lnTo>
                  <a:lnTo>
                    <a:pt x="38544" y="38303"/>
                  </a:lnTo>
                  <a:lnTo>
                    <a:pt x="74124" y="12767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767"/>
                  </a:lnTo>
                  <a:lnTo>
                    <a:pt x="232413" y="3830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58144" y="4035541"/>
              <a:ext cx="2891790" cy="742950"/>
            </a:xfrm>
            <a:custGeom>
              <a:avLst/>
              <a:gdLst/>
              <a:ahLst/>
              <a:cxnLst/>
              <a:rect l="l" t="t" r="r" b="b"/>
              <a:pathLst>
                <a:path w="2891790" h="742950">
                  <a:moveTo>
                    <a:pt x="0" y="0"/>
                  </a:moveTo>
                  <a:lnTo>
                    <a:pt x="2891326" y="742445"/>
                  </a:lnTo>
                </a:path>
              </a:pathLst>
            </a:custGeom>
            <a:ln w="2455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38579" y="466838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47"/>
                  </a:lnTo>
                  <a:lnTo>
                    <a:pt x="38541" y="38541"/>
                  </a:lnTo>
                  <a:lnTo>
                    <a:pt x="12847" y="74119"/>
                  </a:lnTo>
                  <a:lnTo>
                    <a:pt x="0" y="114487"/>
                  </a:lnTo>
                  <a:lnTo>
                    <a:pt x="0" y="156452"/>
                  </a:lnTo>
                  <a:lnTo>
                    <a:pt x="12847" y="196823"/>
                  </a:lnTo>
                  <a:lnTo>
                    <a:pt x="38541" y="232407"/>
                  </a:lnTo>
                  <a:lnTo>
                    <a:pt x="74120" y="258102"/>
                  </a:lnTo>
                  <a:lnTo>
                    <a:pt x="114491" y="270949"/>
                  </a:lnTo>
                  <a:lnTo>
                    <a:pt x="156458" y="270949"/>
                  </a:lnTo>
                  <a:lnTo>
                    <a:pt x="196828" y="258102"/>
                  </a:lnTo>
                  <a:lnTo>
                    <a:pt x="232407" y="232407"/>
                  </a:lnTo>
                  <a:lnTo>
                    <a:pt x="258102" y="196823"/>
                  </a:lnTo>
                  <a:lnTo>
                    <a:pt x="270949" y="156452"/>
                  </a:lnTo>
                  <a:lnTo>
                    <a:pt x="270949" y="114487"/>
                  </a:lnTo>
                  <a:lnTo>
                    <a:pt x="258102" y="74119"/>
                  </a:lnTo>
                  <a:lnTo>
                    <a:pt x="232407" y="38541"/>
                  </a:lnTo>
                  <a:lnTo>
                    <a:pt x="196828" y="12847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38573" y="466837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71650" y="4053948"/>
              <a:ext cx="2907665" cy="3162935"/>
            </a:xfrm>
            <a:custGeom>
              <a:avLst/>
              <a:gdLst/>
              <a:ahLst/>
              <a:cxnLst/>
              <a:rect l="l" t="t" r="r" b="b"/>
              <a:pathLst>
                <a:path w="2907665" h="3162934">
                  <a:moveTo>
                    <a:pt x="136210" y="750774"/>
                  </a:moveTo>
                  <a:lnTo>
                    <a:pt x="2752090" y="752523"/>
                  </a:lnTo>
                </a:path>
                <a:path w="2907665" h="3162934">
                  <a:moveTo>
                    <a:pt x="18869" y="2355903"/>
                  </a:moveTo>
                  <a:lnTo>
                    <a:pt x="2796262" y="746629"/>
                  </a:lnTo>
                </a:path>
                <a:path w="2907665" h="3162934">
                  <a:moveTo>
                    <a:pt x="15480" y="1631925"/>
                  </a:moveTo>
                  <a:lnTo>
                    <a:pt x="2799239" y="2278746"/>
                  </a:lnTo>
                </a:path>
                <a:path w="2907665" h="3162934">
                  <a:moveTo>
                    <a:pt x="16079" y="2388102"/>
                  </a:moveTo>
                  <a:lnTo>
                    <a:pt x="2907170" y="3160093"/>
                  </a:lnTo>
                </a:path>
                <a:path w="2907665" h="3162934">
                  <a:moveTo>
                    <a:pt x="20804" y="3162765"/>
                  </a:moveTo>
                  <a:lnTo>
                    <a:pt x="2872987" y="774810"/>
                  </a:lnTo>
                </a:path>
                <a:path w="2907665" h="3162934">
                  <a:moveTo>
                    <a:pt x="18653" y="1599431"/>
                  </a:moveTo>
                  <a:lnTo>
                    <a:pt x="2894312" y="0"/>
                  </a:lnTo>
                </a:path>
                <a:path w="2907665" h="3162934">
                  <a:moveTo>
                    <a:pt x="2897023" y="2512741"/>
                  </a:moveTo>
                  <a:lnTo>
                    <a:pt x="2898772" y="3038361"/>
                  </a:lnTo>
                </a:path>
                <a:path w="2907665" h="3162934">
                  <a:moveTo>
                    <a:pt x="2897023" y="895717"/>
                  </a:moveTo>
                  <a:lnTo>
                    <a:pt x="2898772" y="1464989"/>
                  </a:lnTo>
                </a:path>
                <a:path w="2907665" h="3162934">
                  <a:moveTo>
                    <a:pt x="2897023" y="122125"/>
                  </a:moveTo>
                  <a:lnTo>
                    <a:pt x="2898772" y="604092"/>
                  </a:lnTo>
                </a:path>
                <a:path w="2907665" h="3162934">
                  <a:moveTo>
                    <a:pt x="0" y="1456257"/>
                  </a:moveTo>
                  <a:lnTo>
                    <a:pt x="1748" y="886985"/>
                  </a:lnTo>
                </a:path>
              </a:pathLst>
            </a:custGeom>
            <a:ln w="2455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38579" y="3894787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47"/>
                  </a:lnTo>
                  <a:lnTo>
                    <a:pt x="38541" y="38541"/>
                  </a:lnTo>
                  <a:lnTo>
                    <a:pt x="12847" y="74125"/>
                  </a:lnTo>
                  <a:lnTo>
                    <a:pt x="0" y="114496"/>
                  </a:lnTo>
                  <a:lnTo>
                    <a:pt x="0" y="156462"/>
                  </a:lnTo>
                  <a:lnTo>
                    <a:pt x="12847" y="196829"/>
                  </a:lnTo>
                  <a:lnTo>
                    <a:pt x="38541" y="232407"/>
                  </a:lnTo>
                  <a:lnTo>
                    <a:pt x="74120" y="258102"/>
                  </a:lnTo>
                  <a:lnTo>
                    <a:pt x="114491" y="270949"/>
                  </a:lnTo>
                  <a:lnTo>
                    <a:pt x="156458" y="270949"/>
                  </a:lnTo>
                  <a:lnTo>
                    <a:pt x="196828" y="258102"/>
                  </a:lnTo>
                  <a:lnTo>
                    <a:pt x="232407" y="232407"/>
                  </a:lnTo>
                  <a:lnTo>
                    <a:pt x="258102" y="196829"/>
                  </a:lnTo>
                  <a:lnTo>
                    <a:pt x="270949" y="156462"/>
                  </a:lnTo>
                  <a:lnTo>
                    <a:pt x="270949" y="114496"/>
                  </a:lnTo>
                  <a:lnTo>
                    <a:pt x="258102" y="74125"/>
                  </a:lnTo>
                  <a:lnTo>
                    <a:pt x="232407" y="38541"/>
                  </a:lnTo>
                  <a:lnTo>
                    <a:pt x="196828" y="12847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38573" y="389479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38579" y="629413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47"/>
                  </a:lnTo>
                  <a:lnTo>
                    <a:pt x="38541" y="38541"/>
                  </a:lnTo>
                  <a:lnTo>
                    <a:pt x="12847" y="74125"/>
                  </a:lnTo>
                  <a:lnTo>
                    <a:pt x="0" y="114496"/>
                  </a:lnTo>
                  <a:lnTo>
                    <a:pt x="0" y="156462"/>
                  </a:lnTo>
                  <a:lnTo>
                    <a:pt x="12847" y="196830"/>
                  </a:lnTo>
                  <a:lnTo>
                    <a:pt x="38541" y="232408"/>
                  </a:lnTo>
                  <a:lnTo>
                    <a:pt x="74120" y="258104"/>
                  </a:lnTo>
                  <a:lnTo>
                    <a:pt x="114491" y="270952"/>
                  </a:lnTo>
                  <a:lnTo>
                    <a:pt x="156458" y="270952"/>
                  </a:lnTo>
                  <a:lnTo>
                    <a:pt x="196828" y="258104"/>
                  </a:lnTo>
                  <a:lnTo>
                    <a:pt x="232407" y="232408"/>
                  </a:lnTo>
                  <a:lnTo>
                    <a:pt x="258102" y="196830"/>
                  </a:lnTo>
                  <a:lnTo>
                    <a:pt x="270949" y="156462"/>
                  </a:lnTo>
                  <a:lnTo>
                    <a:pt x="270949" y="114496"/>
                  </a:lnTo>
                  <a:lnTo>
                    <a:pt x="258102" y="74125"/>
                  </a:lnTo>
                  <a:lnTo>
                    <a:pt x="232407" y="38541"/>
                  </a:lnTo>
                  <a:lnTo>
                    <a:pt x="196828" y="12847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938573" y="6294131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938579" y="710265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47"/>
                  </a:lnTo>
                  <a:lnTo>
                    <a:pt x="38541" y="38543"/>
                  </a:lnTo>
                  <a:lnTo>
                    <a:pt x="12847" y="74122"/>
                  </a:lnTo>
                  <a:lnTo>
                    <a:pt x="0" y="114491"/>
                  </a:lnTo>
                  <a:lnTo>
                    <a:pt x="0" y="156457"/>
                  </a:lnTo>
                  <a:lnTo>
                    <a:pt x="12847" y="196826"/>
                  </a:lnTo>
                  <a:lnTo>
                    <a:pt x="38541" y="232405"/>
                  </a:lnTo>
                  <a:lnTo>
                    <a:pt x="74120" y="258101"/>
                  </a:lnTo>
                  <a:lnTo>
                    <a:pt x="114491" y="270949"/>
                  </a:lnTo>
                  <a:lnTo>
                    <a:pt x="156458" y="270949"/>
                  </a:lnTo>
                  <a:lnTo>
                    <a:pt x="196828" y="258101"/>
                  </a:lnTo>
                  <a:lnTo>
                    <a:pt x="232407" y="232405"/>
                  </a:lnTo>
                  <a:lnTo>
                    <a:pt x="258102" y="196826"/>
                  </a:lnTo>
                  <a:lnTo>
                    <a:pt x="270949" y="156457"/>
                  </a:lnTo>
                  <a:lnTo>
                    <a:pt x="270949" y="114491"/>
                  </a:lnTo>
                  <a:lnTo>
                    <a:pt x="258102" y="74122"/>
                  </a:lnTo>
                  <a:lnTo>
                    <a:pt x="232407" y="38543"/>
                  </a:lnTo>
                  <a:lnTo>
                    <a:pt x="196828" y="12847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38573" y="7102644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38579" y="5520536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4" h="269239">
                  <a:moveTo>
                    <a:pt x="156458" y="0"/>
                  </a:moveTo>
                  <a:lnTo>
                    <a:pt x="114491" y="0"/>
                  </a:lnTo>
                  <a:lnTo>
                    <a:pt x="74120" y="12768"/>
                  </a:lnTo>
                  <a:lnTo>
                    <a:pt x="38541" y="38304"/>
                  </a:lnTo>
                  <a:lnTo>
                    <a:pt x="12847" y="73654"/>
                  </a:lnTo>
                  <a:lnTo>
                    <a:pt x="0" y="113765"/>
                  </a:lnTo>
                  <a:lnTo>
                    <a:pt x="0" y="155463"/>
                  </a:lnTo>
                  <a:lnTo>
                    <a:pt x="12847" y="195574"/>
                  </a:lnTo>
                  <a:lnTo>
                    <a:pt x="38541" y="230925"/>
                  </a:lnTo>
                  <a:lnTo>
                    <a:pt x="74120" y="256461"/>
                  </a:lnTo>
                  <a:lnTo>
                    <a:pt x="114491" y="269229"/>
                  </a:lnTo>
                  <a:lnTo>
                    <a:pt x="156458" y="269229"/>
                  </a:lnTo>
                  <a:lnTo>
                    <a:pt x="196828" y="256461"/>
                  </a:lnTo>
                  <a:lnTo>
                    <a:pt x="232407" y="230925"/>
                  </a:lnTo>
                  <a:lnTo>
                    <a:pt x="258102" y="195574"/>
                  </a:lnTo>
                  <a:lnTo>
                    <a:pt x="270949" y="155463"/>
                  </a:lnTo>
                  <a:lnTo>
                    <a:pt x="270949" y="113765"/>
                  </a:lnTo>
                  <a:lnTo>
                    <a:pt x="258102" y="73654"/>
                  </a:lnTo>
                  <a:lnTo>
                    <a:pt x="232407" y="38304"/>
                  </a:lnTo>
                  <a:lnTo>
                    <a:pt x="196828" y="12768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38573" y="5520534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4" h="269239">
                  <a:moveTo>
                    <a:pt x="232413" y="38303"/>
                  </a:moveTo>
                  <a:lnTo>
                    <a:pt x="258109" y="73654"/>
                  </a:lnTo>
                  <a:lnTo>
                    <a:pt x="270957" y="113765"/>
                  </a:lnTo>
                  <a:lnTo>
                    <a:pt x="270957" y="155463"/>
                  </a:lnTo>
                  <a:lnTo>
                    <a:pt x="258109" y="195574"/>
                  </a:lnTo>
                  <a:lnTo>
                    <a:pt x="232413" y="230925"/>
                  </a:lnTo>
                  <a:lnTo>
                    <a:pt x="196833" y="256456"/>
                  </a:lnTo>
                  <a:lnTo>
                    <a:pt x="156462" y="269222"/>
                  </a:lnTo>
                  <a:lnTo>
                    <a:pt x="114495" y="269222"/>
                  </a:lnTo>
                  <a:lnTo>
                    <a:pt x="74124" y="256456"/>
                  </a:lnTo>
                  <a:lnTo>
                    <a:pt x="38544" y="230925"/>
                  </a:lnTo>
                  <a:lnTo>
                    <a:pt x="12848" y="195574"/>
                  </a:lnTo>
                  <a:lnTo>
                    <a:pt x="0" y="155463"/>
                  </a:lnTo>
                  <a:lnTo>
                    <a:pt x="0" y="113765"/>
                  </a:lnTo>
                  <a:lnTo>
                    <a:pt x="12848" y="73654"/>
                  </a:lnTo>
                  <a:lnTo>
                    <a:pt x="38544" y="38303"/>
                  </a:lnTo>
                  <a:lnTo>
                    <a:pt x="74124" y="12767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767"/>
                  </a:lnTo>
                  <a:lnTo>
                    <a:pt x="232413" y="3830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32337" y="3894787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156452" y="0"/>
                  </a:moveTo>
                  <a:lnTo>
                    <a:pt x="114487" y="0"/>
                  </a:lnTo>
                  <a:lnTo>
                    <a:pt x="74119" y="12847"/>
                  </a:lnTo>
                  <a:lnTo>
                    <a:pt x="38541" y="38541"/>
                  </a:lnTo>
                  <a:lnTo>
                    <a:pt x="12847" y="74125"/>
                  </a:lnTo>
                  <a:lnTo>
                    <a:pt x="0" y="114496"/>
                  </a:lnTo>
                  <a:lnTo>
                    <a:pt x="0" y="156462"/>
                  </a:lnTo>
                  <a:lnTo>
                    <a:pt x="12847" y="196829"/>
                  </a:lnTo>
                  <a:lnTo>
                    <a:pt x="38541" y="232407"/>
                  </a:lnTo>
                  <a:lnTo>
                    <a:pt x="74119" y="258102"/>
                  </a:lnTo>
                  <a:lnTo>
                    <a:pt x="114487" y="270949"/>
                  </a:lnTo>
                  <a:lnTo>
                    <a:pt x="156452" y="270949"/>
                  </a:lnTo>
                  <a:lnTo>
                    <a:pt x="196823" y="258102"/>
                  </a:lnTo>
                  <a:lnTo>
                    <a:pt x="232407" y="232407"/>
                  </a:lnTo>
                  <a:lnTo>
                    <a:pt x="258102" y="196829"/>
                  </a:lnTo>
                  <a:lnTo>
                    <a:pt x="270949" y="156462"/>
                  </a:lnTo>
                  <a:lnTo>
                    <a:pt x="270949" y="114496"/>
                  </a:lnTo>
                  <a:lnTo>
                    <a:pt x="258102" y="74125"/>
                  </a:lnTo>
                  <a:lnTo>
                    <a:pt x="232407" y="38541"/>
                  </a:lnTo>
                  <a:lnTo>
                    <a:pt x="196823" y="12847"/>
                  </a:lnTo>
                  <a:lnTo>
                    <a:pt x="15645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32326" y="389479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32337" y="710265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156452" y="0"/>
                  </a:moveTo>
                  <a:lnTo>
                    <a:pt x="114487" y="0"/>
                  </a:lnTo>
                  <a:lnTo>
                    <a:pt x="74119" y="12847"/>
                  </a:lnTo>
                  <a:lnTo>
                    <a:pt x="38541" y="38543"/>
                  </a:lnTo>
                  <a:lnTo>
                    <a:pt x="12847" y="74122"/>
                  </a:lnTo>
                  <a:lnTo>
                    <a:pt x="0" y="114491"/>
                  </a:lnTo>
                  <a:lnTo>
                    <a:pt x="0" y="156457"/>
                  </a:lnTo>
                  <a:lnTo>
                    <a:pt x="12847" y="196826"/>
                  </a:lnTo>
                  <a:lnTo>
                    <a:pt x="38541" y="232405"/>
                  </a:lnTo>
                  <a:lnTo>
                    <a:pt x="74119" y="258101"/>
                  </a:lnTo>
                  <a:lnTo>
                    <a:pt x="114487" y="270949"/>
                  </a:lnTo>
                  <a:lnTo>
                    <a:pt x="156452" y="270949"/>
                  </a:lnTo>
                  <a:lnTo>
                    <a:pt x="196823" y="258101"/>
                  </a:lnTo>
                  <a:lnTo>
                    <a:pt x="232407" y="232405"/>
                  </a:lnTo>
                  <a:lnTo>
                    <a:pt x="258102" y="196826"/>
                  </a:lnTo>
                  <a:lnTo>
                    <a:pt x="270949" y="156457"/>
                  </a:lnTo>
                  <a:lnTo>
                    <a:pt x="270949" y="114491"/>
                  </a:lnTo>
                  <a:lnTo>
                    <a:pt x="258102" y="74122"/>
                  </a:lnTo>
                  <a:lnTo>
                    <a:pt x="232407" y="38543"/>
                  </a:lnTo>
                  <a:lnTo>
                    <a:pt x="196823" y="12847"/>
                  </a:lnTo>
                  <a:lnTo>
                    <a:pt x="15645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832326" y="7102644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832337" y="466838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156452" y="0"/>
                  </a:moveTo>
                  <a:lnTo>
                    <a:pt x="114487" y="0"/>
                  </a:lnTo>
                  <a:lnTo>
                    <a:pt x="74119" y="12847"/>
                  </a:lnTo>
                  <a:lnTo>
                    <a:pt x="38541" y="38541"/>
                  </a:lnTo>
                  <a:lnTo>
                    <a:pt x="12847" y="74119"/>
                  </a:lnTo>
                  <a:lnTo>
                    <a:pt x="0" y="114487"/>
                  </a:lnTo>
                  <a:lnTo>
                    <a:pt x="0" y="156452"/>
                  </a:lnTo>
                  <a:lnTo>
                    <a:pt x="12847" y="196823"/>
                  </a:lnTo>
                  <a:lnTo>
                    <a:pt x="38541" y="232407"/>
                  </a:lnTo>
                  <a:lnTo>
                    <a:pt x="74119" y="258102"/>
                  </a:lnTo>
                  <a:lnTo>
                    <a:pt x="114487" y="270949"/>
                  </a:lnTo>
                  <a:lnTo>
                    <a:pt x="156452" y="270949"/>
                  </a:lnTo>
                  <a:lnTo>
                    <a:pt x="196823" y="258102"/>
                  </a:lnTo>
                  <a:lnTo>
                    <a:pt x="232407" y="232407"/>
                  </a:lnTo>
                  <a:lnTo>
                    <a:pt x="258102" y="196823"/>
                  </a:lnTo>
                  <a:lnTo>
                    <a:pt x="270949" y="156452"/>
                  </a:lnTo>
                  <a:lnTo>
                    <a:pt x="270949" y="114487"/>
                  </a:lnTo>
                  <a:lnTo>
                    <a:pt x="258102" y="74119"/>
                  </a:lnTo>
                  <a:lnTo>
                    <a:pt x="232407" y="38541"/>
                  </a:lnTo>
                  <a:lnTo>
                    <a:pt x="196823" y="12847"/>
                  </a:lnTo>
                  <a:lnTo>
                    <a:pt x="15645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32326" y="466837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32337" y="629413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156452" y="0"/>
                  </a:moveTo>
                  <a:lnTo>
                    <a:pt x="114487" y="0"/>
                  </a:lnTo>
                  <a:lnTo>
                    <a:pt x="74119" y="12847"/>
                  </a:lnTo>
                  <a:lnTo>
                    <a:pt x="38541" y="38541"/>
                  </a:lnTo>
                  <a:lnTo>
                    <a:pt x="12847" y="74125"/>
                  </a:lnTo>
                  <a:lnTo>
                    <a:pt x="0" y="114496"/>
                  </a:lnTo>
                  <a:lnTo>
                    <a:pt x="0" y="156462"/>
                  </a:lnTo>
                  <a:lnTo>
                    <a:pt x="12847" y="196830"/>
                  </a:lnTo>
                  <a:lnTo>
                    <a:pt x="38541" y="232408"/>
                  </a:lnTo>
                  <a:lnTo>
                    <a:pt x="74119" y="258104"/>
                  </a:lnTo>
                  <a:lnTo>
                    <a:pt x="114487" y="270952"/>
                  </a:lnTo>
                  <a:lnTo>
                    <a:pt x="156452" y="270952"/>
                  </a:lnTo>
                  <a:lnTo>
                    <a:pt x="196823" y="258104"/>
                  </a:lnTo>
                  <a:lnTo>
                    <a:pt x="232407" y="232408"/>
                  </a:lnTo>
                  <a:lnTo>
                    <a:pt x="258102" y="196830"/>
                  </a:lnTo>
                  <a:lnTo>
                    <a:pt x="270949" y="156462"/>
                  </a:lnTo>
                  <a:lnTo>
                    <a:pt x="270949" y="114496"/>
                  </a:lnTo>
                  <a:lnTo>
                    <a:pt x="258102" y="74125"/>
                  </a:lnTo>
                  <a:lnTo>
                    <a:pt x="232407" y="38541"/>
                  </a:lnTo>
                  <a:lnTo>
                    <a:pt x="196823" y="12847"/>
                  </a:lnTo>
                  <a:lnTo>
                    <a:pt x="15645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832326" y="6294131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836262" y="5518352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5" h="269239">
                  <a:moveTo>
                    <a:pt x="156458" y="0"/>
                  </a:moveTo>
                  <a:lnTo>
                    <a:pt x="114491" y="0"/>
                  </a:lnTo>
                  <a:lnTo>
                    <a:pt x="74120" y="12768"/>
                  </a:lnTo>
                  <a:lnTo>
                    <a:pt x="38541" y="38304"/>
                  </a:lnTo>
                  <a:lnTo>
                    <a:pt x="12847" y="73654"/>
                  </a:lnTo>
                  <a:lnTo>
                    <a:pt x="0" y="113765"/>
                  </a:lnTo>
                  <a:lnTo>
                    <a:pt x="0" y="155463"/>
                  </a:lnTo>
                  <a:lnTo>
                    <a:pt x="12847" y="195574"/>
                  </a:lnTo>
                  <a:lnTo>
                    <a:pt x="38541" y="230925"/>
                  </a:lnTo>
                  <a:lnTo>
                    <a:pt x="74120" y="256461"/>
                  </a:lnTo>
                  <a:lnTo>
                    <a:pt x="114491" y="269229"/>
                  </a:lnTo>
                  <a:lnTo>
                    <a:pt x="156458" y="269229"/>
                  </a:lnTo>
                  <a:lnTo>
                    <a:pt x="196828" y="256461"/>
                  </a:lnTo>
                  <a:lnTo>
                    <a:pt x="232407" y="230925"/>
                  </a:lnTo>
                  <a:lnTo>
                    <a:pt x="258102" y="195574"/>
                  </a:lnTo>
                  <a:lnTo>
                    <a:pt x="270949" y="155463"/>
                  </a:lnTo>
                  <a:lnTo>
                    <a:pt x="270949" y="113765"/>
                  </a:lnTo>
                  <a:lnTo>
                    <a:pt x="258102" y="73654"/>
                  </a:lnTo>
                  <a:lnTo>
                    <a:pt x="232407" y="38304"/>
                  </a:lnTo>
                  <a:lnTo>
                    <a:pt x="196828" y="12768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836255" y="5518350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5" h="269239">
                  <a:moveTo>
                    <a:pt x="232413" y="38296"/>
                  </a:moveTo>
                  <a:lnTo>
                    <a:pt x="258109" y="73652"/>
                  </a:lnTo>
                  <a:lnTo>
                    <a:pt x="270957" y="113766"/>
                  </a:lnTo>
                  <a:lnTo>
                    <a:pt x="270957" y="155465"/>
                  </a:lnTo>
                  <a:lnTo>
                    <a:pt x="258109" y="195577"/>
                  </a:lnTo>
                  <a:lnTo>
                    <a:pt x="232413" y="230928"/>
                  </a:lnTo>
                  <a:lnTo>
                    <a:pt x="196833" y="256459"/>
                  </a:lnTo>
                  <a:lnTo>
                    <a:pt x="156462" y="269225"/>
                  </a:lnTo>
                  <a:lnTo>
                    <a:pt x="114495" y="269225"/>
                  </a:lnTo>
                  <a:lnTo>
                    <a:pt x="74124" y="256459"/>
                  </a:lnTo>
                  <a:lnTo>
                    <a:pt x="38544" y="230928"/>
                  </a:lnTo>
                  <a:lnTo>
                    <a:pt x="12848" y="195577"/>
                  </a:lnTo>
                  <a:lnTo>
                    <a:pt x="0" y="155465"/>
                  </a:lnTo>
                  <a:lnTo>
                    <a:pt x="0" y="113766"/>
                  </a:lnTo>
                  <a:lnTo>
                    <a:pt x="12848" y="73652"/>
                  </a:lnTo>
                  <a:lnTo>
                    <a:pt x="38544" y="38296"/>
                  </a:lnTo>
                  <a:lnTo>
                    <a:pt x="74124" y="12765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765"/>
                  </a:lnTo>
                  <a:lnTo>
                    <a:pt x="232413" y="38296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938579" y="4663798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47"/>
                  </a:lnTo>
                  <a:lnTo>
                    <a:pt x="38541" y="38541"/>
                  </a:lnTo>
                  <a:lnTo>
                    <a:pt x="12847" y="74119"/>
                  </a:lnTo>
                  <a:lnTo>
                    <a:pt x="0" y="114487"/>
                  </a:lnTo>
                  <a:lnTo>
                    <a:pt x="0" y="156452"/>
                  </a:lnTo>
                  <a:lnTo>
                    <a:pt x="12847" y="196823"/>
                  </a:lnTo>
                  <a:lnTo>
                    <a:pt x="38541" y="232407"/>
                  </a:lnTo>
                  <a:lnTo>
                    <a:pt x="74120" y="258102"/>
                  </a:lnTo>
                  <a:lnTo>
                    <a:pt x="114491" y="270949"/>
                  </a:lnTo>
                  <a:lnTo>
                    <a:pt x="156458" y="270949"/>
                  </a:lnTo>
                  <a:lnTo>
                    <a:pt x="196828" y="258102"/>
                  </a:lnTo>
                  <a:lnTo>
                    <a:pt x="232407" y="232407"/>
                  </a:lnTo>
                  <a:lnTo>
                    <a:pt x="258102" y="196823"/>
                  </a:lnTo>
                  <a:lnTo>
                    <a:pt x="270949" y="156452"/>
                  </a:lnTo>
                  <a:lnTo>
                    <a:pt x="270949" y="114487"/>
                  </a:lnTo>
                  <a:lnTo>
                    <a:pt x="258102" y="74119"/>
                  </a:lnTo>
                  <a:lnTo>
                    <a:pt x="232407" y="38541"/>
                  </a:lnTo>
                  <a:lnTo>
                    <a:pt x="196828" y="12847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38573" y="4663788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4"/>
                  </a:lnTo>
                  <a:lnTo>
                    <a:pt x="270957" y="114495"/>
                  </a:lnTo>
                  <a:lnTo>
                    <a:pt x="270957" y="156462"/>
                  </a:lnTo>
                  <a:lnTo>
                    <a:pt x="258109" y="196833"/>
                  </a:lnTo>
                  <a:lnTo>
                    <a:pt x="232413" y="232413"/>
                  </a:lnTo>
                  <a:lnTo>
                    <a:pt x="196833" y="258109"/>
                  </a:lnTo>
                  <a:lnTo>
                    <a:pt x="156462" y="270957"/>
                  </a:lnTo>
                  <a:lnTo>
                    <a:pt x="114495" y="270957"/>
                  </a:lnTo>
                  <a:lnTo>
                    <a:pt x="74124" y="258109"/>
                  </a:lnTo>
                  <a:lnTo>
                    <a:pt x="38544" y="232413"/>
                  </a:lnTo>
                  <a:lnTo>
                    <a:pt x="12848" y="196833"/>
                  </a:lnTo>
                  <a:lnTo>
                    <a:pt x="0" y="156462"/>
                  </a:lnTo>
                  <a:lnTo>
                    <a:pt x="0" y="114495"/>
                  </a:lnTo>
                  <a:lnTo>
                    <a:pt x="12848" y="74124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38579" y="389763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47"/>
                  </a:lnTo>
                  <a:lnTo>
                    <a:pt x="38541" y="38541"/>
                  </a:lnTo>
                  <a:lnTo>
                    <a:pt x="12847" y="74119"/>
                  </a:lnTo>
                  <a:lnTo>
                    <a:pt x="0" y="114487"/>
                  </a:lnTo>
                  <a:lnTo>
                    <a:pt x="0" y="156452"/>
                  </a:lnTo>
                  <a:lnTo>
                    <a:pt x="12847" y="196823"/>
                  </a:lnTo>
                  <a:lnTo>
                    <a:pt x="38541" y="232407"/>
                  </a:lnTo>
                  <a:lnTo>
                    <a:pt x="74120" y="258102"/>
                  </a:lnTo>
                  <a:lnTo>
                    <a:pt x="114491" y="270949"/>
                  </a:lnTo>
                  <a:lnTo>
                    <a:pt x="156458" y="270949"/>
                  </a:lnTo>
                  <a:lnTo>
                    <a:pt x="196828" y="258102"/>
                  </a:lnTo>
                  <a:lnTo>
                    <a:pt x="232407" y="232407"/>
                  </a:lnTo>
                  <a:lnTo>
                    <a:pt x="258102" y="196823"/>
                  </a:lnTo>
                  <a:lnTo>
                    <a:pt x="270949" y="156452"/>
                  </a:lnTo>
                  <a:lnTo>
                    <a:pt x="270949" y="114487"/>
                  </a:lnTo>
                  <a:lnTo>
                    <a:pt x="258102" y="74119"/>
                  </a:lnTo>
                  <a:lnTo>
                    <a:pt x="232407" y="38541"/>
                  </a:lnTo>
                  <a:lnTo>
                    <a:pt x="196828" y="12847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938573" y="3897621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4"/>
                  </a:lnTo>
                  <a:lnTo>
                    <a:pt x="270957" y="114495"/>
                  </a:lnTo>
                  <a:lnTo>
                    <a:pt x="270957" y="156462"/>
                  </a:lnTo>
                  <a:lnTo>
                    <a:pt x="258109" y="196833"/>
                  </a:lnTo>
                  <a:lnTo>
                    <a:pt x="232413" y="232413"/>
                  </a:lnTo>
                  <a:lnTo>
                    <a:pt x="196833" y="258109"/>
                  </a:lnTo>
                  <a:lnTo>
                    <a:pt x="156462" y="270957"/>
                  </a:lnTo>
                  <a:lnTo>
                    <a:pt x="114495" y="270957"/>
                  </a:lnTo>
                  <a:lnTo>
                    <a:pt x="74124" y="258109"/>
                  </a:lnTo>
                  <a:lnTo>
                    <a:pt x="38544" y="232413"/>
                  </a:lnTo>
                  <a:lnTo>
                    <a:pt x="12848" y="196833"/>
                  </a:lnTo>
                  <a:lnTo>
                    <a:pt x="0" y="156462"/>
                  </a:lnTo>
                  <a:lnTo>
                    <a:pt x="0" y="114495"/>
                  </a:lnTo>
                  <a:lnTo>
                    <a:pt x="12848" y="74124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938579" y="6294354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50"/>
                  </a:lnTo>
                  <a:lnTo>
                    <a:pt x="38541" y="38551"/>
                  </a:lnTo>
                  <a:lnTo>
                    <a:pt x="12847" y="74128"/>
                  </a:lnTo>
                  <a:lnTo>
                    <a:pt x="0" y="114495"/>
                  </a:lnTo>
                  <a:lnTo>
                    <a:pt x="0" y="156460"/>
                  </a:lnTo>
                  <a:lnTo>
                    <a:pt x="12847" y="196828"/>
                  </a:lnTo>
                  <a:lnTo>
                    <a:pt x="38541" y="232407"/>
                  </a:lnTo>
                  <a:lnTo>
                    <a:pt x="74120" y="258103"/>
                  </a:lnTo>
                  <a:lnTo>
                    <a:pt x="114491" y="270951"/>
                  </a:lnTo>
                  <a:lnTo>
                    <a:pt x="156458" y="270951"/>
                  </a:lnTo>
                  <a:lnTo>
                    <a:pt x="196828" y="258103"/>
                  </a:lnTo>
                  <a:lnTo>
                    <a:pt x="232407" y="232407"/>
                  </a:lnTo>
                  <a:lnTo>
                    <a:pt x="258102" y="196828"/>
                  </a:lnTo>
                  <a:lnTo>
                    <a:pt x="270949" y="156460"/>
                  </a:lnTo>
                  <a:lnTo>
                    <a:pt x="270949" y="114495"/>
                  </a:lnTo>
                  <a:lnTo>
                    <a:pt x="258102" y="74128"/>
                  </a:lnTo>
                  <a:lnTo>
                    <a:pt x="232407" y="38551"/>
                  </a:lnTo>
                  <a:lnTo>
                    <a:pt x="196828" y="12850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938573" y="6294347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4"/>
                  </a:lnTo>
                  <a:lnTo>
                    <a:pt x="270957" y="114495"/>
                  </a:lnTo>
                  <a:lnTo>
                    <a:pt x="270957" y="156462"/>
                  </a:lnTo>
                  <a:lnTo>
                    <a:pt x="258109" y="196833"/>
                  </a:lnTo>
                  <a:lnTo>
                    <a:pt x="232413" y="232413"/>
                  </a:lnTo>
                  <a:lnTo>
                    <a:pt x="196833" y="258109"/>
                  </a:lnTo>
                  <a:lnTo>
                    <a:pt x="156462" y="270957"/>
                  </a:lnTo>
                  <a:lnTo>
                    <a:pt x="114495" y="270957"/>
                  </a:lnTo>
                  <a:lnTo>
                    <a:pt x="74124" y="258109"/>
                  </a:lnTo>
                  <a:lnTo>
                    <a:pt x="38544" y="232413"/>
                  </a:lnTo>
                  <a:lnTo>
                    <a:pt x="12848" y="196833"/>
                  </a:lnTo>
                  <a:lnTo>
                    <a:pt x="0" y="156462"/>
                  </a:lnTo>
                  <a:lnTo>
                    <a:pt x="0" y="114495"/>
                  </a:lnTo>
                  <a:lnTo>
                    <a:pt x="12848" y="74124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938579" y="709981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47"/>
                  </a:lnTo>
                  <a:lnTo>
                    <a:pt x="38541" y="38543"/>
                  </a:lnTo>
                  <a:lnTo>
                    <a:pt x="12847" y="74122"/>
                  </a:lnTo>
                  <a:lnTo>
                    <a:pt x="0" y="114491"/>
                  </a:lnTo>
                  <a:lnTo>
                    <a:pt x="0" y="156456"/>
                  </a:lnTo>
                  <a:lnTo>
                    <a:pt x="12847" y="196825"/>
                  </a:lnTo>
                  <a:lnTo>
                    <a:pt x="38541" y="232404"/>
                  </a:lnTo>
                  <a:lnTo>
                    <a:pt x="74120" y="258100"/>
                  </a:lnTo>
                  <a:lnTo>
                    <a:pt x="114491" y="270948"/>
                  </a:lnTo>
                  <a:lnTo>
                    <a:pt x="156458" y="270948"/>
                  </a:lnTo>
                  <a:lnTo>
                    <a:pt x="196828" y="258100"/>
                  </a:lnTo>
                  <a:lnTo>
                    <a:pt x="232407" y="232404"/>
                  </a:lnTo>
                  <a:lnTo>
                    <a:pt x="258102" y="196825"/>
                  </a:lnTo>
                  <a:lnTo>
                    <a:pt x="270949" y="156456"/>
                  </a:lnTo>
                  <a:lnTo>
                    <a:pt x="270949" y="114491"/>
                  </a:lnTo>
                  <a:lnTo>
                    <a:pt x="258102" y="74122"/>
                  </a:lnTo>
                  <a:lnTo>
                    <a:pt x="232407" y="38543"/>
                  </a:lnTo>
                  <a:lnTo>
                    <a:pt x="196828" y="12847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938573" y="709980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4"/>
                  </a:lnTo>
                  <a:lnTo>
                    <a:pt x="270957" y="114495"/>
                  </a:lnTo>
                  <a:lnTo>
                    <a:pt x="270957" y="156462"/>
                  </a:lnTo>
                  <a:lnTo>
                    <a:pt x="258109" y="196833"/>
                  </a:lnTo>
                  <a:lnTo>
                    <a:pt x="232413" y="232413"/>
                  </a:lnTo>
                  <a:lnTo>
                    <a:pt x="196833" y="258109"/>
                  </a:lnTo>
                  <a:lnTo>
                    <a:pt x="156462" y="270957"/>
                  </a:lnTo>
                  <a:lnTo>
                    <a:pt x="114495" y="270957"/>
                  </a:lnTo>
                  <a:lnTo>
                    <a:pt x="74124" y="258109"/>
                  </a:lnTo>
                  <a:lnTo>
                    <a:pt x="38544" y="232413"/>
                  </a:lnTo>
                  <a:lnTo>
                    <a:pt x="12848" y="196833"/>
                  </a:lnTo>
                  <a:lnTo>
                    <a:pt x="0" y="156462"/>
                  </a:lnTo>
                  <a:lnTo>
                    <a:pt x="0" y="114495"/>
                  </a:lnTo>
                  <a:lnTo>
                    <a:pt x="12848" y="74124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836262" y="6294354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50"/>
                  </a:lnTo>
                  <a:lnTo>
                    <a:pt x="38541" y="38551"/>
                  </a:lnTo>
                  <a:lnTo>
                    <a:pt x="12847" y="74128"/>
                  </a:lnTo>
                  <a:lnTo>
                    <a:pt x="0" y="114495"/>
                  </a:lnTo>
                  <a:lnTo>
                    <a:pt x="0" y="156460"/>
                  </a:lnTo>
                  <a:lnTo>
                    <a:pt x="12847" y="196828"/>
                  </a:lnTo>
                  <a:lnTo>
                    <a:pt x="38541" y="232407"/>
                  </a:lnTo>
                  <a:lnTo>
                    <a:pt x="74120" y="258103"/>
                  </a:lnTo>
                  <a:lnTo>
                    <a:pt x="114491" y="270951"/>
                  </a:lnTo>
                  <a:lnTo>
                    <a:pt x="156458" y="270951"/>
                  </a:lnTo>
                  <a:lnTo>
                    <a:pt x="196828" y="258103"/>
                  </a:lnTo>
                  <a:lnTo>
                    <a:pt x="232407" y="232407"/>
                  </a:lnTo>
                  <a:lnTo>
                    <a:pt x="258102" y="196828"/>
                  </a:lnTo>
                  <a:lnTo>
                    <a:pt x="270949" y="156460"/>
                  </a:lnTo>
                  <a:lnTo>
                    <a:pt x="270949" y="114495"/>
                  </a:lnTo>
                  <a:lnTo>
                    <a:pt x="258102" y="74128"/>
                  </a:lnTo>
                  <a:lnTo>
                    <a:pt x="232407" y="38551"/>
                  </a:lnTo>
                  <a:lnTo>
                    <a:pt x="196828" y="12850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836255" y="6294347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232413" y="38544"/>
                  </a:moveTo>
                  <a:lnTo>
                    <a:pt x="258109" y="74124"/>
                  </a:lnTo>
                  <a:lnTo>
                    <a:pt x="270957" y="114495"/>
                  </a:lnTo>
                  <a:lnTo>
                    <a:pt x="270957" y="156462"/>
                  </a:lnTo>
                  <a:lnTo>
                    <a:pt x="258109" y="196833"/>
                  </a:lnTo>
                  <a:lnTo>
                    <a:pt x="232413" y="232413"/>
                  </a:lnTo>
                  <a:lnTo>
                    <a:pt x="196833" y="258109"/>
                  </a:lnTo>
                  <a:lnTo>
                    <a:pt x="156462" y="270957"/>
                  </a:lnTo>
                  <a:lnTo>
                    <a:pt x="114495" y="270957"/>
                  </a:lnTo>
                  <a:lnTo>
                    <a:pt x="74124" y="258109"/>
                  </a:lnTo>
                  <a:lnTo>
                    <a:pt x="38544" y="232413"/>
                  </a:lnTo>
                  <a:lnTo>
                    <a:pt x="12848" y="196833"/>
                  </a:lnTo>
                  <a:lnTo>
                    <a:pt x="0" y="156462"/>
                  </a:lnTo>
                  <a:lnTo>
                    <a:pt x="0" y="114495"/>
                  </a:lnTo>
                  <a:lnTo>
                    <a:pt x="12848" y="74124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744596" y="5838032"/>
            <a:ext cx="133477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dirty="0">
                <a:latin typeface="Lucida Sans"/>
                <a:cs typeface="Lucida Sans"/>
              </a:rPr>
              <a:t>independent</a:t>
            </a:r>
            <a:r>
              <a:rPr sz="1200" b="1" spc="200" dirty="0">
                <a:latin typeface="Lucida Sans"/>
                <a:cs typeface="Lucida Sans"/>
              </a:rPr>
              <a:t> </a:t>
            </a:r>
            <a:r>
              <a:rPr sz="1200" b="1" spc="-25" dirty="0">
                <a:latin typeface="Lucida Sans"/>
                <a:cs typeface="Lucida Sans"/>
              </a:rPr>
              <a:t>set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Competitive</a:t>
            </a:r>
            <a:r>
              <a:rPr spc="130" dirty="0"/>
              <a:t> </a:t>
            </a:r>
            <a:r>
              <a:rPr spc="45" dirty="0"/>
              <a:t>facility</a:t>
            </a:r>
            <a:r>
              <a:rPr spc="140" dirty="0"/>
              <a:t> </a:t>
            </a:r>
            <a:r>
              <a:rPr spc="-10" dirty="0"/>
              <a:t>location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950" y="1052436"/>
            <a:ext cx="8221980" cy="189230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  <a:tabLst>
                <a:tab pos="832485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Input.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Graph</a:t>
            </a:r>
            <a:r>
              <a:rPr sz="1850" spc="4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4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weight</a:t>
            </a:r>
            <a:r>
              <a:rPr sz="1850" spc="5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on</a:t>
            </a:r>
            <a:r>
              <a:rPr sz="1850" spc="4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4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node.</a:t>
            </a: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887730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Game.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Two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competing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players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alternate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selecting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nodes.</a:t>
            </a: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50" dirty="0">
                <a:latin typeface="Lucida Sans"/>
                <a:cs typeface="Lucida Sans"/>
              </a:rPr>
              <a:t>Not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allowed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select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node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if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any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its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neighbors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have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been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selected.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tabLst>
                <a:tab pos="749300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Goal.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Select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maximum</a:t>
            </a:r>
            <a:r>
              <a:rPr sz="1850" spc="1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weight</a:t>
            </a:r>
            <a:r>
              <a:rPr sz="1850" spc="2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subset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nodes.</a:t>
            </a:r>
            <a:endParaRPr sz="1850">
              <a:latin typeface="Lucida Sans"/>
              <a:cs typeface="Lucida San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10095" y="4854956"/>
            <a:ext cx="8709025" cy="389255"/>
            <a:chOff x="710095" y="4854956"/>
            <a:chExt cx="8709025" cy="389255"/>
          </a:xfrm>
        </p:grpSpPr>
        <p:sp>
          <p:nvSpPr>
            <p:cNvPr id="5" name="object 5"/>
            <p:cNvSpPr/>
            <p:nvPr/>
          </p:nvSpPr>
          <p:spPr>
            <a:xfrm>
              <a:off x="1635794" y="4866722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80" h="373379">
                  <a:moveTo>
                    <a:pt x="186636" y="0"/>
                  </a:moveTo>
                  <a:lnTo>
                    <a:pt x="139290" y="6072"/>
                  </a:lnTo>
                  <a:lnTo>
                    <a:pt x="94461" y="24290"/>
                  </a:lnTo>
                  <a:lnTo>
                    <a:pt x="54663" y="54654"/>
                  </a:lnTo>
                  <a:lnTo>
                    <a:pt x="24295" y="94451"/>
                  </a:lnTo>
                  <a:lnTo>
                    <a:pt x="6073" y="139281"/>
                  </a:lnTo>
                  <a:lnTo>
                    <a:pt x="0" y="186626"/>
                  </a:lnTo>
                  <a:lnTo>
                    <a:pt x="6073" y="233971"/>
                  </a:lnTo>
                  <a:lnTo>
                    <a:pt x="24295" y="278801"/>
                  </a:lnTo>
                  <a:lnTo>
                    <a:pt x="54663" y="318598"/>
                  </a:lnTo>
                  <a:lnTo>
                    <a:pt x="94461" y="348967"/>
                  </a:lnTo>
                  <a:lnTo>
                    <a:pt x="139290" y="367188"/>
                  </a:lnTo>
                  <a:lnTo>
                    <a:pt x="186636" y="373262"/>
                  </a:lnTo>
                  <a:lnTo>
                    <a:pt x="233981" y="367188"/>
                  </a:lnTo>
                  <a:lnTo>
                    <a:pt x="278810" y="348967"/>
                  </a:lnTo>
                  <a:lnTo>
                    <a:pt x="318608" y="318598"/>
                  </a:lnTo>
                  <a:lnTo>
                    <a:pt x="348971" y="278801"/>
                  </a:lnTo>
                  <a:lnTo>
                    <a:pt x="367189" y="233971"/>
                  </a:lnTo>
                  <a:lnTo>
                    <a:pt x="373262" y="186626"/>
                  </a:lnTo>
                  <a:lnTo>
                    <a:pt x="367189" y="139281"/>
                  </a:lnTo>
                  <a:lnTo>
                    <a:pt x="348971" y="94451"/>
                  </a:lnTo>
                  <a:lnTo>
                    <a:pt x="318608" y="54654"/>
                  </a:lnTo>
                  <a:lnTo>
                    <a:pt x="278810" y="24290"/>
                  </a:lnTo>
                  <a:lnTo>
                    <a:pt x="233981" y="6072"/>
                  </a:lnTo>
                  <a:lnTo>
                    <a:pt x="186636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35795" y="4866714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80" h="373379">
                  <a:moveTo>
                    <a:pt x="318597" y="54663"/>
                  </a:moveTo>
                  <a:lnTo>
                    <a:pt x="348966" y="94459"/>
                  </a:lnTo>
                  <a:lnTo>
                    <a:pt x="367187" y="139286"/>
                  </a:lnTo>
                  <a:lnTo>
                    <a:pt x="373260" y="186630"/>
                  </a:lnTo>
                  <a:lnTo>
                    <a:pt x="367187" y="233973"/>
                  </a:lnTo>
                  <a:lnTo>
                    <a:pt x="348966" y="278801"/>
                  </a:lnTo>
                  <a:lnTo>
                    <a:pt x="318597" y="318597"/>
                  </a:lnTo>
                  <a:lnTo>
                    <a:pt x="278801" y="348966"/>
                  </a:lnTo>
                  <a:lnTo>
                    <a:pt x="233973" y="367187"/>
                  </a:lnTo>
                  <a:lnTo>
                    <a:pt x="186630" y="373260"/>
                  </a:lnTo>
                  <a:lnTo>
                    <a:pt x="139286" y="367187"/>
                  </a:lnTo>
                  <a:lnTo>
                    <a:pt x="94459" y="348966"/>
                  </a:lnTo>
                  <a:lnTo>
                    <a:pt x="54663" y="318597"/>
                  </a:lnTo>
                  <a:lnTo>
                    <a:pt x="24294" y="278801"/>
                  </a:lnTo>
                  <a:lnTo>
                    <a:pt x="6073" y="233973"/>
                  </a:lnTo>
                  <a:lnTo>
                    <a:pt x="0" y="186630"/>
                  </a:lnTo>
                  <a:lnTo>
                    <a:pt x="6073" y="139286"/>
                  </a:lnTo>
                  <a:lnTo>
                    <a:pt x="24294" y="94459"/>
                  </a:lnTo>
                  <a:lnTo>
                    <a:pt x="54663" y="54663"/>
                  </a:lnTo>
                  <a:lnTo>
                    <a:pt x="94459" y="24294"/>
                  </a:lnTo>
                  <a:lnTo>
                    <a:pt x="139286" y="6073"/>
                  </a:lnTo>
                  <a:lnTo>
                    <a:pt x="186630" y="0"/>
                  </a:lnTo>
                  <a:lnTo>
                    <a:pt x="233973" y="6073"/>
                  </a:lnTo>
                  <a:lnTo>
                    <a:pt x="278801" y="24294"/>
                  </a:lnTo>
                  <a:lnTo>
                    <a:pt x="318597" y="5466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3779" y="4866722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80" h="373379">
                  <a:moveTo>
                    <a:pt x="186630" y="0"/>
                  </a:moveTo>
                  <a:lnTo>
                    <a:pt x="139287" y="6072"/>
                  </a:lnTo>
                  <a:lnTo>
                    <a:pt x="94459" y="24290"/>
                  </a:lnTo>
                  <a:lnTo>
                    <a:pt x="54663" y="54654"/>
                  </a:lnTo>
                  <a:lnTo>
                    <a:pt x="24294" y="94451"/>
                  </a:lnTo>
                  <a:lnTo>
                    <a:pt x="6073" y="139281"/>
                  </a:lnTo>
                  <a:lnTo>
                    <a:pt x="0" y="186626"/>
                  </a:lnTo>
                  <a:lnTo>
                    <a:pt x="6073" y="233971"/>
                  </a:lnTo>
                  <a:lnTo>
                    <a:pt x="24294" y="278801"/>
                  </a:lnTo>
                  <a:lnTo>
                    <a:pt x="54663" y="318598"/>
                  </a:lnTo>
                  <a:lnTo>
                    <a:pt x="94459" y="348967"/>
                  </a:lnTo>
                  <a:lnTo>
                    <a:pt x="139287" y="367188"/>
                  </a:lnTo>
                  <a:lnTo>
                    <a:pt x="186630" y="373262"/>
                  </a:lnTo>
                  <a:lnTo>
                    <a:pt x="233974" y="367188"/>
                  </a:lnTo>
                  <a:lnTo>
                    <a:pt x="278801" y="348967"/>
                  </a:lnTo>
                  <a:lnTo>
                    <a:pt x="318598" y="318598"/>
                  </a:lnTo>
                  <a:lnTo>
                    <a:pt x="348966" y="278801"/>
                  </a:lnTo>
                  <a:lnTo>
                    <a:pt x="367187" y="233971"/>
                  </a:lnTo>
                  <a:lnTo>
                    <a:pt x="373261" y="186626"/>
                  </a:lnTo>
                  <a:lnTo>
                    <a:pt x="367187" y="139281"/>
                  </a:lnTo>
                  <a:lnTo>
                    <a:pt x="348966" y="94451"/>
                  </a:lnTo>
                  <a:lnTo>
                    <a:pt x="318598" y="54654"/>
                  </a:lnTo>
                  <a:lnTo>
                    <a:pt x="278801" y="24290"/>
                  </a:lnTo>
                  <a:lnTo>
                    <a:pt x="233974" y="6072"/>
                  </a:lnTo>
                  <a:lnTo>
                    <a:pt x="18663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3779" y="4866714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80" h="373379">
                  <a:moveTo>
                    <a:pt x="318600" y="54663"/>
                  </a:moveTo>
                  <a:lnTo>
                    <a:pt x="348969" y="94459"/>
                  </a:lnTo>
                  <a:lnTo>
                    <a:pt x="367190" y="139286"/>
                  </a:lnTo>
                  <a:lnTo>
                    <a:pt x="373263" y="186630"/>
                  </a:lnTo>
                  <a:lnTo>
                    <a:pt x="367190" y="233973"/>
                  </a:lnTo>
                  <a:lnTo>
                    <a:pt x="348969" y="278801"/>
                  </a:lnTo>
                  <a:lnTo>
                    <a:pt x="318600" y="318597"/>
                  </a:lnTo>
                  <a:lnTo>
                    <a:pt x="278803" y="348966"/>
                  </a:lnTo>
                  <a:lnTo>
                    <a:pt x="233974" y="367187"/>
                  </a:lnTo>
                  <a:lnTo>
                    <a:pt x="186630" y="373260"/>
                  </a:lnTo>
                  <a:lnTo>
                    <a:pt x="139286" y="367187"/>
                  </a:lnTo>
                  <a:lnTo>
                    <a:pt x="94458" y="348966"/>
                  </a:lnTo>
                  <a:lnTo>
                    <a:pt x="54662" y="318597"/>
                  </a:lnTo>
                  <a:lnTo>
                    <a:pt x="24294" y="278801"/>
                  </a:lnTo>
                  <a:lnTo>
                    <a:pt x="6073" y="233973"/>
                  </a:lnTo>
                  <a:lnTo>
                    <a:pt x="0" y="186630"/>
                  </a:lnTo>
                  <a:lnTo>
                    <a:pt x="6073" y="139286"/>
                  </a:lnTo>
                  <a:lnTo>
                    <a:pt x="24294" y="94459"/>
                  </a:lnTo>
                  <a:lnTo>
                    <a:pt x="54662" y="54663"/>
                  </a:lnTo>
                  <a:lnTo>
                    <a:pt x="94458" y="24294"/>
                  </a:lnTo>
                  <a:lnTo>
                    <a:pt x="139286" y="6073"/>
                  </a:lnTo>
                  <a:lnTo>
                    <a:pt x="186630" y="0"/>
                  </a:lnTo>
                  <a:lnTo>
                    <a:pt x="233974" y="6073"/>
                  </a:lnTo>
                  <a:lnTo>
                    <a:pt x="278803" y="24294"/>
                  </a:lnTo>
                  <a:lnTo>
                    <a:pt x="318600" y="5466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90343" y="5053344"/>
              <a:ext cx="542290" cy="0"/>
            </a:xfrm>
            <a:custGeom>
              <a:avLst/>
              <a:gdLst/>
              <a:ahLst/>
              <a:cxnLst/>
              <a:rect l="l" t="t" r="r" b="b"/>
              <a:pathLst>
                <a:path w="542289">
                  <a:moveTo>
                    <a:pt x="0" y="0"/>
                  </a:moveTo>
                  <a:lnTo>
                    <a:pt x="0" y="0"/>
                  </a:lnTo>
                  <a:lnTo>
                    <a:pt x="492489" y="0"/>
                  </a:lnTo>
                  <a:lnTo>
                    <a:pt x="541738" y="0"/>
                  </a:lnTo>
                </a:path>
              </a:pathLst>
            </a:custGeom>
            <a:ln w="196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57814" y="4866722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80" h="373379">
                  <a:moveTo>
                    <a:pt x="186636" y="0"/>
                  </a:moveTo>
                  <a:lnTo>
                    <a:pt x="139290" y="6072"/>
                  </a:lnTo>
                  <a:lnTo>
                    <a:pt x="94461" y="24290"/>
                  </a:lnTo>
                  <a:lnTo>
                    <a:pt x="54663" y="54654"/>
                  </a:lnTo>
                  <a:lnTo>
                    <a:pt x="24295" y="94451"/>
                  </a:lnTo>
                  <a:lnTo>
                    <a:pt x="6073" y="139281"/>
                  </a:lnTo>
                  <a:lnTo>
                    <a:pt x="0" y="186626"/>
                  </a:lnTo>
                  <a:lnTo>
                    <a:pt x="6073" y="233971"/>
                  </a:lnTo>
                  <a:lnTo>
                    <a:pt x="24295" y="278801"/>
                  </a:lnTo>
                  <a:lnTo>
                    <a:pt x="54663" y="318598"/>
                  </a:lnTo>
                  <a:lnTo>
                    <a:pt x="94461" y="348967"/>
                  </a:lnTo>
                  <a:lnTo>
                    <a:pt x="139290" y="367188"/>
                  </a:lnTo>
                  <a:lnTo>
                    <a:pt x="186636" y="373262"/>
                  </a:lnTo>
                  <a:lnTo>
                    <a:pt x="233981" y="367188"/>
                  </a:lnTo>
                  <a:lnTo>
                    <a:pt x="278810" y="348967"/>
                  </a:lnTo>
                  <a:lnTo>
                    <a:pt x="318608" y="318598"/>
                  </a:lnTo>
                  <a:lnTo>
                    <a:pt x="348971" y="278801"/>
                  </a:lnTo>
                  <a:lnTo>
                    <a:pt x="367189" y="233971"/>
                  </a:lnTo>
                  <a:lnTo>
                    <a:pt x="373262" y="186626"/>
                  </a:lnTo>
                  <a:lnTo>
                    <a:pt x="367189" y="139281"/>
                  </a:lnTo>
                  <a:lnTo>
                    <a:pt x="348971" y="94451"/>
                  </a:lnTo>
                  <a:lnTo>
                    <a:pt x="318608" y="54654"/>
                  </a:lnTo>
                  <a:lnTo>
                    <a:pt x="278810" y="24290"/>
                  </a:lnTo>
                  <a:lnTo>
                    <a:pt x="233981" y="6072"/>
                  </a:lnTo>
                  <a:lnTo>
                    <a:pt x="186636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57818" y="4866714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80" h="373379">
                  <a:moveTo>
                    <a:pt x="318597" y="54663"/>
                  </a:moveTo>
                  <a:lnTo>
                    <a:pt x="348966" y="94459"/>
                  </a:lnTo>
                  <a:lnTo>
                    <a:pt x="367187" y="139286"/>
                  </a:lnTo>
                  <a:lnTo>
                    <a:pt x="373260" y="186630"/>
                  </a:lnTo>
                  <a:lnTo>
                    <a:pt x="367187" y="233973"/>
                  </a:lnTo>
                  <a:lnTo>
                    <a:pt x="348966" y="278801"/>
                  </a:lnTo>
                  <a:lnTo>
                    <a:pt x="318597" y="318597"/>
                  </a:lnTo>
                  <a:lnTo>
                    <a:pt x="278801" y="348966"/>
                  </a:lnTo>
                  <a:lnTo>
                    <a:pt x="233973" y="367187"/>
                  </a:lnTo>
                  <a:lnTo>
                    <a:pt x="186630" y="373260"/>
                  </a:lnTo>
                  <a:lnTo>
                    <a:pt x="139286" y="367187"/>
                  </a:lnTo>
                  <a:lnTo>
                    <a:pt x="94459" y="348966"/>
                  </a:lnTo>
                  <a:lnTo>
                    <a:pt x="54663" y="318597"/>
                  </a:lnTo>
                  <a:lnTo>
                    <a:pt x="24294" y="278801"/>
                  </a:lnTo>
                  <a:lnTo>
                    <a:pt x="6073" y="233973"/>
                  </a:lnTo>
                  <a:lnTo>
                    <a:pt x="0" y="186630"/>
                  </a:lnTo>
                  <a:lnTo>
                    <a:pt x="6073" y="139286"/>
                  </a:lnTo>
                  <a:lnTo>
                    <a:pt x="24294" y="94459"/>
                  </a:lnTo>
                  <a:lnTo>
                    <a:pt x="54663" y="54663"/>
                  </a:lnTo>
                  <a:lnTo>
                    <a:pt x="94459" y="24294"/>
                  </a:lnTo>
                  <a:lnTo>
                    <a:pt x="139286" y="6073"/>
                  </a:lnTo>
                  <a:lnTo>
                    <a:pt x="186630" y="0"/>
                  </a:lnTo>
                  <a:lnTo>
                    <a:pt x="233973" y="6073"/>
                  </a:lnTo>
                  <a:lnTo>
                    <a:pt x="278801" y="24294"/>
                  </a:lnTo>
                  <a:lnTo>
                    <a:pt x="318597" y="5466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012366" y="5053344"/>
              <a:ext cx="542290" cy="0"/>
            </a:xfrm>
            <a:custGeom>
              <a:avLst/>
              <a:gdLst/>
              <a:ahLst/>
              <a:cxnLst/>
              <a:rect l="l" t="t" r="r" b="b"/>
              <a:pathLst>
                <a:path w="542289">
                  <a:moveTo>
                    <a:pt x="0" y="0"/>
                  </a:moveTo>
                  <a:lnTo>
                    <a:pt x="0" y="0"/>
                  </a:lnTo>
                  <a:lnTo>
                    <a:pt x="492489" y="0"/>
                  </a:lnTo>
                  <a:lnTo>
                    <a:pt x="541738" y="0"/>
                  </a:lnTo>
                </a:path>
              </a:pathLst>
            </a:custGeom>
            <a:ln w="196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79834" y="4866722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186636" y="0"/>
                  </a:moveTo>
                  <a:lnTo>
                    <a:pt x="139290" y="6072"/>
                  </a:lnTo>
                  <a:lnTo>
                    <a:pt x="94461" y="24290"/>
                  </a:lnTo>
                  <a:lnTo>
                    <a:pt x="54663" y="54654"/>
                  </a:lnTo>
                  <a:lnTo>
                    <a:pt x="24295" y="94451"/>
                  </a:lnTo>
                  <a:lnTo>
                    <a:pt x="6073" y="139281"/>
                  </a:lnTo>
                  <a:lnTo>
                    <a:pt x="0" y="186626"/>
                  </a:lnTo>
                  <a:lnTo>
                    <a:pt x="6073" y="233971"/>
                  </a:lnTo>
                  <a:lnTo>
                    <a:pt x="24295" y="278801"/>
                  </a:lnTo>
                  <a:lnTo>
                    <a:pt x="54663" y="318598"/>
                  </a:lnTo>
                  <a:lnTo>
                    <a:pt x="94461" y="348967"/>
                  </a:lnTo>
                  <a:lnTo>
                    <a:pt x="139290" y="367188"/>
                  </a:lnTo>
                  <a:lnTo>
                    <a:pt x="186636" y="373262"/>
                  </a:lnTo>
                  <a:lnTo>
                    <a:pt x="233981" y="367188"/>
                  </a:lnTo>
                  <a:lnTo>
                    <a:pt x="278810" y="348967"/>
                  </a:lnTo>
                  <a:lnTo>
                    <a:pt x="318608" y="318598"/>
                  </a:lnTo>
                  <a:lnTo>
                    <a:pt x="348971" y="278801"/>
                  </a:lnTo>
                  <a:lnTo>
                    <a:pt x="367189" y="233971"/>
                  </a:lnTo>
                  <a:lnTo>
                    <a:pt x="373262" y="186626"/>
                  </a:lnTo>
                  <a:lnTo>
                    <a:pt x="367189" y="139281"/>
                  </a:lnTo>
                  <a:lnTo>
                    <a:pt x="348971" y="94451"/>
                  </a:lnTo>
                  <a:lnTo>
                    <a:pt x="318608" y="54654"/>
                  </a:lnTo>
                  <a:lnTo>
                    <a:pt x="278810" y="24290"/>
                  </a:lnTo>
                  <a:lnTo>
                    <a:pt x="233981" y="6072"/>
                  </a:lnTo>
                  <a:lnTo>
                    <a:pt x="186636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79840" y="4866714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318597" y="54663"/>
                  </a:moveTo>
                  <a:lnTo>
                    <a:pt x="348966" y="94459"/>
                  </a:lnTo>
                  <a:lnTo>
                    <a:pt x="367187" y="139286"/>
                  </a:lnTo>
                  <a:lnTo>
                    <a:pt x="373260" y="186630"/>
                  </a:lnTo>
                  <a:lnTo>
                    <a:pt x="367187" y="233973"/>
                  </a:lnTo>
                  <a:lnTo>
                    <a:pt x="348966" y="278801"/>
                  </a:lnTo>
                  <a:lnTo>
                    <a:pt x="318597" y="318597"/>
                  </a:lnTo>
                  <a:lnTo>
                    <a:pt x="278801" y="348966"/>
                  </a:lnTo>
                  <a:lnTo>
                    <a:pt x="233973" y="367187"/>
                  </a:lnTo>
                  <a:lnTo>
                    <a:pt x="186630" y="373260"/>
                  </a:lnTo>
                  <a:lnTo>
                    <a:pt x="139286" y="367187"/>
                  </a:lnTo>
                  <a:lnTo>
                    <a:pt x="94459" y="348966"/>
                  </a:lnTo>
                  <a:lnTo>
                    <a:pt x="54663" y="318597"/>
                  </a:lnTo>
                  <a:lnTo>
                    <a:pt x="24294" y="278801"/>
                  </a:lnTo>
                  <a:lnTo>
                    <a:pt x="6073" y="233973"/>
                  </a:lnTo>
                  <a:lnTo>
                    <a:pt x="0" y="186630"/>
                  </a:lnTo>
                  <a:lnTo>
                    <a:pt x="6073" y="139286"/>
                  </a:lnTo>
                  <a:lnTo>
                    <a:pt x="24294" y="94459"/>
                  </a:lnTo>
                  <a:lnTo>
                    <a:pt x="54663" y="54663"/>
                  </a:lnTo>
                  <a:lnTo>
                    <a:pt x="94459" y="24294"/>
                  </a:lnTo>
                  <a:lnTo>
                    <a:pt x="139286" y="6073"/>
                  </a:lnTo>
                  <a:lnTo>
                    <a:pt x="186630" y="0"/>
                  </a:lnTo>
                  <a:lnTo>
                    <a:pt x="233973" y="6073"/>
                  </a:lnTo>
                  <a:lnTo>
                    <a:pt x="278801" y="24294"/>
                  </a:lnTo>
                  <a:lnTo>
                    <a:pt x="318597" y="5466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34389" y="5053344"/>
              <a:ext cx="542290" cy="0"/>
            </a:xfrm>
            <a:custGeom>
              <a:avLst/>
              <a:gdLst/>
              <a:ahLst/>
              <a:cxnLst/>
              <a:rect l="l" t="t" r="r" b="b"/>
              <a:pathLst>
                <a:path w="542289">
                  <a:moveTo>
                    <a:pt x="0" y="0"/>
                  </a:moveTo>
                  <a:lnTo>
                    <a:pt x="0" y="0"/>
                  </a:lnTo>
                  <a:lnTo>
                    <a:pt x="492480" y="0"/>
                  </a:lnTo>
                  <a:lnTo>
                    <a:pt x="541728" y="0"/>
                  </a:lnTo>
                </a:path>
              </a:pathLst>
            </a:custGeom>
            <a:ln w="196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01855" y="4866722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186636" y="0"/>
                  </a:moveTo>
                  <a:lnTo>
                    <a:pt x="139290" y="6072"/>
                  </a:lnTo>
                  <a:lnTo>
                    <a:pt x="94461" y="24290"/>
                  </a:lnTo>
                  <a:lnTo>
                    <a:pt x="54663" y="54654"/>
                  </a:lnTo>
                  <a:lnTo>
                    <a:pt x="24295" y="94451"/>
                  </a:lnTo>
                  <a:lnTo>
                    <a:pt x="6073" y="139281"/>
                  </a:lnTo>
                  <a:lnTo>
                    <a:pt x="0" y="186626"/>
                  </a:lnTo>
                  <a:lnTo>
                    <a:pt x="6073" y="233971"/>
                  </a:lnTo>
                  <a:lnTo>
                    <a:pt x="24295" y="278801"/>
                  </a:lnTo>
                  <a:lnTo>
                    <a:pt x="54663" y="318598"/>
                  </a:lnTo>
                  <a:lnTo>
                    <a:pt x="94461" y="348967"/>
                  </a:lnTo>
                  <a:lnTo>
                    <a:pt x="139290" y="367188"/>
                  </a:lnTo>
                  <a:lnTo>
                    <a:pt x="186636" y="373262"/>
                  </a:lnTo>
                  <a:lnTo>
                    <a:pt x="233981" y="367188"/>
                  </a:lnTo>
                  <a:lnTo>
                    <a:pt x="278810" y="348967"/>
                  </a:lnTo>
                  <a:lnTo>
                    <a:pt x="318608" y="318598"/>
                  </a:lnTo>
                  <a:lnTo>
                    <a:pt x="348971" y="278801"/>
                  </a:lnTo>
                  <a:lnTo>
                    <a:pt x="367189" y="233971"/>
                  </a:lnTo>
                  <a:lnTo>
                    <a:pt x="373262" y="186626"/>
                  </a:lnTo>
                  <a:lnTo>
                    <a:pt x="367189" y="139281"/>
                  </a:lnTo>
                  <a:lnTo>
                    <a:pt x="348971" y="94451"/>
                  </a:lnTo>
                  <a:lnTo>
                    <a:pt x="318608" y="54654"/>
                  </a:lnTo>
                  <a:lnTo>
                    <a:pt x="278810" y="24290"/>
                  </a:lnTo>
                  <a:lnTo>
                    <a:pt x="233981" y="6072"/>
                  </a:lnTo>
                  <a:lnTo>
                    <a:pt x="186636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01853" y="4866714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318597" y="54663"/>
                  </a:moveTo>
                  <a:lnTo>
                    <a:pt x="348966" y="94459"/>
                  </a:lnTo>
                  <a:lnTo>
                    <a:pt x="367187" y="139286"/>
                  </a:lnTo>
                  <a:lnTo>
                    <a:pt x="373260" y="186630"/>
                  </a:lnTo>
                  <a:lnTo>
                    <a:pt x="367187" y="233973"/>
                  </a:lnTo>
                  <a:lnTo>
                    <a:pt x="348966" y="278801"/>
                  </a:lnTo>
                  <a:lnTo>
                    <a:pt x="318597" y="318597"/>
                  </a:lnTo>
                  <a:lnTo>
                    <a:pt x="278801" y="348966"/>
                  </a:lnTo>
                  <a:lnTo>
                    <a:pt x="233973" y="367187"/>
                  </a:lnTo>
                  <a:lnTo>
                    <a:pt x="186630" y="373260"/>
                  </a:lnTo>
                  <a:lnTo>
                    <a:pt x="139286" y="367187"/>
                  </a:lnTo>
                  <a:lnTo>
                    <a:pt x="94459" y="348966"/>
                  </a:lnTo>
                  <a:lnTo>
                    <a:pt x="54663" y="318597"/>
                  </a:lnTo>
                  <a:lnTo>
                    <a:pt x="24294" y="278801"/>
                  </a:lnTo>
                  <a:lnTo>
                    <a:pt x="6073" y="233973"/>
                  </a:lnTo>
                  <a:lnTo>
                    <a:pt x="0" y="186630"/>
                  </a:lnTo>
                  <a:lnTo>
                    <a:pt x="6073" y="139286"/>
                  </a:lnTo>
                  <a:lnTo>
                    <a:pt x="24294" y="94459"/>
                  </a:lnTo>
                  <a:lnTo>
                    <a:pt x="54663" y="54663"/>
                  </a:lnTo>
                  <a:lnTo>
                    <a:pt x="94459" y="24294"/>
                  </a:lnTo>
                  <a:lnTo>
                    <a:pt x="139286" y="6073"/>
                  </a:lnTo>
                  <a:lnTo>
                    <a:pt x="186630" y="0"/>
                  </a:lnTo>
                  <a:lnTo>
                    <a:pt x="233973" y="6073"/>
                  </a:lnTo>
                  <a:lnTo>
                    <a:pt x="278801" y="24294"/>
                  </a:lnTo>
                  <a:lnTo>
                    <a:pt x="318597" y="5466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56401" y="5053344"/>
              <a:ext cx="542290" cy="0"/>
            </a:xfrm>
            <a:custGeom>
              <a:avLst/>
              <a:gdLst/>
              <a:ahLst/>
              <a:cxnLst/>
              <a:rect l="l" t="t" r="r" b="b"/>
              <a:pathLst>
                <a:path w="542289">
                  <a:moveTo>
                    <a:pt x="0" y="0"/>
                  </a:moveTo>
                  <a:lnTo>
                    <a:pt x="0" y="0"/>
                  </a:lnTo>
                  <a:lnTo>
                    <a:pt x="492489" y="0"/>
                  </a:lnTo>
                  <a:lnTo>
                    <a:pt x="541738" y="0"/>
                  </a:lnTo>
                </a:path>
              </a:pathLst>
            </a:custGeom>
            <a:ln w="196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41337" y="4858648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186636" y="0"/>
                  </a:moveTo>
                  <a:lnTo>
                    <a:pt x="139290" y="6073"/>
                  </a:lnTo>
                  <a:lnTo>
                    <a:pt x="94461" y="24295"/>
                  </a:lnTo>
                  <a:lnTo>
                    <a:pt x="54663" y="54663"/>
                  </a:lnTo>
                  <a:lnTo>
                    <a:pt x="24295" y="94455"/>
                  </a:lnTo>
                  <a:lnTo>
                    <a:pt x="6073" y="139281"/>
                  </a:lnTo>
                  <a:lnTo>
                    <a:pt x="0" y="186624"/>
                  </a:lnTo>
                  <a:lnTo>
                    <a:pt x="6073" y="233969"/>
                  </a:lnTo>
                  <a:lnTo>
                    <a:pt x="24295" y="278798"/>
                  </a:lnTo>
                  <a:lnTo>
                    <a:pt x="54663" y="318595"/>
                  </a:lnTo>
                  <a:lnTo>
                    <a:pt x="94461" y="348964"/>
                  </a:lnTo>
                  <a:lnTo>
                    <a:pt x="139290" y="367185"/>
                  </a:lnTo>
                  <a:lnTo>
                    <a:pt x="186636" y="373259"/>
                  </a:lnTo>
                  <a:lnTo>
                    <a:pt x="233981" y="367185"/>
                  </a:lnTo>
                  <a:lnTo>
                    <a:pt x="278810" y="348964"/>
                  </a:lnTo>
                  <a:lnTo>
                    <a:pt x="318608" y="318595"/>
                  </a:lnTo>
                  <a:lnTo>
                    <a:pt x="348971" y="278798"/>
                  </a:lnTo>
                  <a:lnTo>
                    <a:pt x="367189" y="233969"/>
                  </a:lnTo>
                  <a:lnTo>
                    <a:pt x="373262" y="186624"/>
                  </a:lnTo>
                  <a:lnTo>
                    <a:pt x="367189" y="139281"/>
                  </a:lnTo>
                  <a:lnTo>
                    <a:pt x="348971" y="94455"/>
                  </a:lnTo>
                  <a:lnTo>
                    <a:pt x="318608" y="54663"/>
                  </a:lnTo>
                  <a:lnTo>
                    <a:pt x="278810" y="24295"/>
                  </a:lnTo>
                  <a:lnTo>
                    <a:pt x="233981" y="6073"/>
                  </a:lnTo>
                  <a:lnTo>
                    <a:pt x="186636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41341" y="4858639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318597" y="54663"/>
                  </a:moveTo>
                  <a:lnTo>
                    <a:pt x="348966" y="94459"/>
                  </a:lnTo>
                  <a:lnTo>
                    <a:pt x="367187" y="139286"/>
                  </a:lnTo>
                  <a:lnTo>
                    <a:pt x="373260" y="186630"/>
                  </a:lnTo>
                  <a:lnTo>
                    <a:pt x="367187" y="233973"/>
                  </a:lnTo>
                  <a:lnTo>
                    <a:pt x="348966" y="278801"/>
                  </a:lnTo>
                  <a:lnTo>
                    <a:pt x="318597" y="318597"/>
                  </a:lnTo>
                  <a:lnTo>
                    <a:pt x="278801" y="348966"/>
                  </a:lnTo>
                  <a:lnTo>
                    <a:pt x="233973" y="367187"/>
                  </a:lnTo>
                  <a:lnTo>
                    <a:pt x="186630" y="373260"/>
                  </a:lnTo>
                  <a:lnTo>
                    <a:pt x="139286" y="367187"/>
                  </a:lnTo>
                  <a:lnTo>
                    <a:pt x="94459" y="348966"/>
                  </a:lnTo>
                  <a:lnTo>
                    <a:pt x="54663" y="318597"/>
                  </a:lnTo>
                  <a:lnTo>
                    <a:pt x="24294" y="278801"/>
                  </a:lnTo>
                  <a:lnTo>
                    <a:pt x="6073" y="233973"/>
                  </a:lnTo>
                  <a:lnTo>
                    <a:pt x="0" y="186630"/>
                  </a:lnTo>
                  <a:lnTo>
                    <a:pt x="6073" y="139286"/>
                  </a:lnTo>
                  <a:lnTo>
                    <a:pt x="24294" y="94459"/>
                  </a:lnTo>
                  <a:lnTo>
                    <a:pt x="54663" y="54663"/>
                  </a:lnTo>
                  <a:lnTo>
                    <a:pt x="94459" y="24294"/>
                  </a:lnTo>
                  <a:lnTo>
                    <a:pt x="139286" y="6073"/>
                  </a:lnTo>
                  <a:lnTo>
                    <a:pt x="186630" y="0"/>
                  </a:lnTo>
                  <a:lnTo>
                    <a:pt x="233973" y="6073"/>
                  </a:lnTo>
                  <a:lnTo>
                    <a:pt x="278801" y="24294"/>
                  </a:lnTo>
                  <a:lnTo>
                    <a:pt x="318597" y="5466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78257" y="5046900"/>
              <a:ext cx="560070" cy="5080"/>
            </a:xfrm>
            <a:custGeom>
              <a:avLst/>
              <a:gdLst/>
              <a:ahLst/>
              <a:cxnLst/>
              <a:rect l="l" t="t" r="r" b="b"/>
              <a:pathLst>
                <a:path w="560070" h="5079">
                  <a:moveTo>
                    <a:pt x="0" y="4813"/>
                  </a:moveTo>
                  <a:lnTo>
                    <a:pt x="50912" y="4376"/>
                  </a:lnTo>
                  <a:lnTo>
                    <a:pt x="101825" y="3938"/>
                  </a:lnTo>
                  <a:lnTo>
                    <a:pt x="152737" y="3501"/>
                  </a:lnTo>
                  <a:lnTo>
                    <a:pt x="203649" y="3063"/>
                  </a:lnTo>
                  <a:lnTo>
                    <a:pt x="254561" y="2625"/>
                  </a:lnTo>
                  <a:lnTo>
                    <a:pt x="305473" y="2187"/>
                  </a:lnTo>
                  <a:lnTo>
                    <a:pt x="356385" y="1749"/>
                  </a:lnTo>
                  <a:lnTo>
                    <a:pt x="407296" y="1311"/>
                  </a:lnTo>
                  <a:lnTo>
                    <a:pt x="458207" y="874"/>
                  </a:lnTo>
                  <a:lnTo>
                    <a:pt x="509118" y="436"/>
                  </a:lnTo>
                  <a:lnTo>
                    <a:pt x="560028" y="0"/>
                  </a:lnTo>
                </a:path>
              </a:pathLst>
            </a:custGeom>
            <a:ln w="196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63357" y="4858648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186636" y="0"/>
                  </a:moveTo>
                  <a:lnTo>
                    <a:pt x="139290" y="6073"/>
                  </a:lnTo>
                  <a:lnTo>
                    <a:pt x="94461" y="24295"/>
                  </a:lnTo>
                  <a:lnTo>
                    <a:pt x="54663" y="54663"/>
                  </a:lnTo>
                  <a:lnTo>
                    <a:pt x="24295" y="94455"/>
                  </a:lnTo>
                  <a:lnTo>
                    <a:pt x="6073" y="139281"/>
                  </a:lnTo>
                  <a:lnTo>
                    <a:pt x="0" y="186624"/>
                  </a:lnTo>
                  <a:lnTo>
                    <a:pt x="6073" y="233969"/>
                  </a:lnTo>
                  <a:lnTo>
                    <a:pt x="24295" y="278798"/>
                  </a:lnTo>
                  <a:lnTo>
                    <a:pt x="54663" y="318595"/>
                  </a:lnTo>
                  <a:lnTo>
                    <a:pt x="94461" y="348964"/>
                  </a:lnTo>
                  <a:lnTo>
                    <a:pt x="139290" y="367185"/>
                  </a:lnTo>
                  <a:lnTo>
                    <a:pt x="186636" y="373259"/>
                  </a:lnTo>
                  <a:lnTo>
                    <a:pt x="233981" y="367185"/>
                  </a:lnTo>
                  <a:lnTo>
                    <a:pt x="278810" y="348964"/>
                  </a:lnTo>
                  <a:lnTo>
                    <a:pt x="318608" y="318595"/>
                  </a:lnTo>
                  <a:lnTo>
                    <a:pt x="348976" y="278798"/>
                  </a:lnTo>
                  <a:lnTo>
                    <a:pt x="367198" y="233969"/>
                  </a:lnTo>
                  <a:lnTo>
                    <a:pt x="373272" y="186624"/>
                  </a:lnTo>
                  <a:lnTo>
                    <a:pt x="367198" y="139281"/>
                  </a:lnTo>
                  <a:lnTo>
                    <a:pt x="348976" y="94455"/>
                  </a:lnTo>
                  <a:lnTo>
                    <a:pt x="318608" y="54663"/>
                  </a:lnTo>
                  <a:lnTo>
                    <a:pt x="278810" y="24295"/>
                  </a:lnTo>
                  <a:lnTo>
                    <a:pt x="233981" y="6073"/>
                  </a:lnTo>
                  <a:lnTo>
                    <a:pt x="186636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63361" y="4858639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318600" y="54663"/>
                  </a:moveTo>
                  <a:lnTo>
                    <a:pt x="348968" y="94459"/>
                  </a:lnTo>
                  <a:lnTo>
                    <a:pt x="367189" y="139286"/>
                  </a:lnTo>
                  <a:lnTo>
                    <a:pt x="373263" y="186630"/>
                  </a:lnTo>
                  <a:lnTo>
                    <a:pt x="367189" y="233973"/>
                  </a:lnTo>
                  <a:lnTo>
                    <a:pt x="348968" y="278801"/>
                  </a:lnTo>
                  <a:lnTo>
                    <a:pt x="318600" y="318597"/>
                  </a:lnTo>
                  <a:lnTo>
                    <a:pt x="278799" y="348966"/>
                  </a:lnTo>
                  <a:lnTo>
                    <a:pt x="233969" y="367187"/>
                  </a:lnTo>
                  <a:lnTo>
                    <a:pt x="186624" y="373260"/>
                  </a:lnTo>
                  <a:lnTo>
                    <a:pt x="139279" y="367187"/>
                  </a:lnTo>
                  <a:lnTo>
                    <a:pt x="94452" y="348966"/>
                  </a:lnTo>
                  <a:lnTo>
                    <a:pt x="54655" y="318597"/>
                  </a:lnTo>
                  <a:lnTo>
                    <a:pt x="24291" y="278801"/>
                  </a:lnTo>
                  <a:lnTo>
                    <a:pt x="6072" y="233973"/>
                  </a:lnTo>
                  <a:lnTo>
                    <a:pt x="0" y="186630"/>
                  </a:lnTo>
                  <a:lnTo>
                    <a:pt x="6072" y="139286"/>
                  </a:lnTo>
                  <a:lnTo>
                    <a:pt x="24291" y="94459"/>
                  </a:lnTo>
                  <a:lnTo>
                    <a:pt x="54655" y="54663"/>
                  </a:lnTo>
                  <a:lnTo>
                    <a:pt x="94452" y="24294"/>
                  </a:lnTo>
                  <a:lnTo>
                    <a:pt x="139279" y="6073"/>
                  </a:lnTo>
                  <a:lnTo>
                    <a:pt x="186624" y="0"/>
                  </a:lnTo>
                  <a:lnTo>
                    <a:pt x="233969" y="6073"/>
                  </a:lnTo>
                  <a:lnTo>
                    <a:pt x="278799" y="24294"/>
                  </a:lnTo>
                  <a:lnTo>
                    <a:pt x="318600" y="5466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17902" y="5045270"/>
              <a:ext cx="542290" cy="0"/>
            </a:xfrm>
            <a:custGeom>
              <a:avLst/>
              <a:gdLst/>
              <a:ahLst/>
              <a:cxnLst/>
              <a:rect l="l" t="t" r="r" b="b"/>
              <a:pathLst>
                <a:path w="542289">
                  <a:moveTo>
                    <a:pt x="0" y="0"/>
                  </a:moveTo>
                  <a:lnTo>
                    <a:pt x="0" y="0"/>
                  </a:lnTo>
                  <a:lnTo>
                    <a:pt x="492489" y="0"/>
                  </a:lnTo>
                  <a:lnTo>
                    <a:pt x="541738" y="0"/>
                  </a:lnTo>
                </a:path>
              </a:pathLst>
            </a:custGeom>
            <a:ln w="196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85377" y="4858648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186636" y="0"/>
                  </a:moveTo>
                  <a:lnTo>
                    <a:pt x="139290" y="6073"/>
                  </a:lnTo>
                  <a:lnTo>
                    <a:pt x="94461" y="24295"/>
                  </a:lnTo>
                  <a:lnTo>
                    <a:pt x="54663" y="54663"/>
                  </a:lnTo>
                  <a:lnTo>
                    <a:pt x="24295" y="94455"/>
                  </a:lnTo>
                  <a:lnTo>
                    <a:pt x="6073" y="139281"/>
                  </a:lnTo>
                  <a:lnTo>
                    <a:pt x="0" y="186624"/>
                  </a:lnTo>
                  <a:lnTo>
                    <a:pt x="6073" y="233969"/>
                  </a:lnTo>
                  <a:lnTo>
                    <a:pt x="24295" y="278798"/>
                  </a:lnTo>
                  <a:lnTo>
                    <a:pt x="54663" y="318595"/>
                  </a:lnTo>
                  <a:lnTo>
                    <a:pt x="94461" y="348964"/>
                  </a:lnTo>
                  <a:lnTo>
                    <a:pt x="139290" y="367185"/>
                  </a:lnTo>
                  <a:lnTo>
                    <a:pt x="186636" y="373259"/>
                  </a:lnTo>
                  <a:lnTo>
                    <a:pt x="233981" y="367185"/>
                  </a:lnTo>
                  <a:lnTo>
                    <a:pt x="278810" y="348964"/>
                  </a:lnTo>
                  <a:lnTo>
                    <a:pt x="318608" y="318595"/>
                  </a:lnTo>
                  <a:lnTo>
                    <a:pt x="348976" y="278798"/>
                  </a:lnTo>
                  <a:lnTo>
                    <a:pt x="367198" y="233969"/>
                  </a:lnTo>
                  <a:lnTo>
                    <a:pt x="373272" y="186624"/>
                  </a:lnTo>
                  <a:lnTo>
                    <a:pt x="367198" y="139281"/>
                  </a:lnTo>
                  <a:lnTo>
                    <a:pt x="348976" y="94455"/>
                  </a:lnTo>
                  <a:lnTo>
                    <a:pt x="318608" y="54663"/>
                  </a:lnTo>
                  <a:lnTo>
                    <a:pt x="278810" y="24295"/>
                  </a:lnTo>
                  <a:lnTo>
                    <a:pt x="233981" y="6073"/>
                  </a:lnTo>
                  <a:lnTo>
                    <a:pt x="186636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85376" y="4858639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318597" y="54663"/>
                  </a:moveTo>
                  <a:lnTo>
                    <a:pt x="348966" y="94459"/>
                  </a:lnTo>
                  <a:lnTo>
                    <a:pt x="367187" y="139286"/>
                  </a:lnTo>
                  <a:lnTo>
                    <a:pt x="373260" y="186630"/>
                  </a:lnTo>
                  <a:lnTo>
                    <a:pt x="367187" y="233973"/>
                  </a:lnTo>
                  <a:lnTo>
                    <a:pt x="348966" y="278801"/>
                  </a:lnTo>
                  <a:lnTo>
                    <a:pt x="318597" y="318597"/>
                  </a:lnTo>
                  <a:lnTo>
                    <a:pt x="278801" y="348966"/>
                  </a:lnTo>
                  <a:lnTo>
                    <a:pt x="233973" y="367187"/>
                  </a:lnTo>
                  <a:lnTo>
                    <a:pt x="186630" y="373260"/>
                  </a:lnTo>
                  <a:lnTo>
                    <a:pt x="139286" y="367187"/>
                  </a:lnTo>
                  <a:lnTo>
                    <a:pt x="94459" y="348966"/>
                  </a:lnTo>
                  <a:lnTo>
                    <a:pt x="54663" y="318597"/>
                  </a:lnTo>
                  <a:lnTo>
                    <a:pt x="24294" y="278801"/>
                  </a:lnTo>
                  <a:lnTo>
                    <a:pt x="6073" y="233973"/>
                  </a:lnTo>
                  <a:lnTo>
                    <a:pt x="0" y="186630"/>
                  </a:lnTo>
                  <a:lnTo>
                    <a:pt x="6073" y="139286"/>
                  </a:lnTo>
                  <a:lnTo>
                    <a:pt x="24294" y="94459"/>
                  </a:lnTo>
                  <a:lnTo>
                    <a:pt x="54663" y="54663"/>
                  </a:lnTo>
                  <a:lnTo>
                    <a:pt x="94459" y="24294"/>
                  </a:lnTo>
                  <a:lnTo>
                    <a:pt x="139286" y="6073"/>
                  </a:lnTo>
                  <a:lnTo>
                    <a:pt x="186630" y="0"/>
                  </a:lnTo>
                  <a:lnTo>
                    <a:pt x="233973" y="6073"/>
                  </a:lnTo>
                  <a:lnTo>
                    <a:pt x="278801" y="24294"/>
                  </a:lnTo>
                  <a:lnTo>
                    <a:pt x="318597" y="5466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39924" y="5045270"/>
              <a:ext cx="542290" cy="0"/>
            </a:xfrm>
            <a:custGeom>
              <a:avLst/>
              <a:gdLst/>
              <a:ahLst/>
              <a:cxnLst/>
              <a:rect l="l" t="t" r="r" b="b"/>
              <a:pathLst>
                <a:path w="542290">
                  <a:moveTo>
                    <a:pt x="0" y="0"/>
                  </a:moveTo>
                  <a:lnTo>
                    <a:pt x="0" y="0"/>
                  </a:lnTo>
                  <a:lnTo>
                    <a:pt x="492489" y="0"/>
                  </a:lnTo>
                  <a:lnTo>
                    <a:pt x="541738" y="0"/>
                  </a:lnTo>
                </a:path>
              </a:pathLst>
            </a:custGeom>
            <a:ln w="196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107397" y="4858648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186636" y="0"/>
                  </a:moveTo>
                  <a:lnTo>
                    <a:pt x="139290" y="6073"/>
                  </a:lnTo>
                  <a:lnTo>
                    <a:pt x="94461" y="24295"/>
                  </a:lnTo>
                  <a:lnTo>
                    <a:pt x="54663" y="54663"/>
                  </a:lnTo>
                  <a:lnTo>
                    <a:pt x="24295" y="94455"/>
                  </a:lnTo>
                  <a:lnTo>
                    <a:pt x="6073" y="139281"/>
                  </a:lnTo>
                  <a:lnTo>
                    <a:pt x="0" y="186624"/>
                  </a:lnTo>
                  <a:lnTo>
                    <a:pt x="6073" y="233969"/>
                  </a:lnTo>
                  <a:lnTo>
                    <a:pt x="24295" y="278798"/>
                  </a:lnTo>
                  <a:lnTo>
                    <a:pt x="54663" y="318595"/>
                  </a:lnTo>
                  <a:lnTo>
                    <a:pt x="94461" y="348964"/>
                  </a:lnTo>
                  <a:lnTo>
                    <a:pt x="139290" y="367185"/>
                  </a:lnTo>
                  <a:lnTo>
                    <a:pt x="186636" y="373259"/>
                  </a:lnTo>
                  <a:lnTo>
                    <a:pt x="233981" y="367185"/>
                  </a:lnTo>
                  <a:lnTo>
                    <a:pt x="278810" y="348964"/>
                  </a:lnTo>
                  <a:lnTo>
                    <a:pt x="318608" y="318595"/>
                  </a:lnTo>
                  <a:lnTo>
                    <a:pt x="348976" y="278798"/>
                  </a:lnTo>
                  <a:lnTo>
                    <a:pt x="367198" y="233969"/>
                  </a:lnTo>
                  <a:lnTo>
                    <a:pt x="373272" y="186624"/>
                  </a:lnTo>
                  <a:lnTo>
                    <a:pt x="367198" y="139281"/>
                  </a:lnTo>
                  <a:lnTo>
                    <a:pt x="348976" y="94455"/>
                  </a:lnTo>
                  <a:lnTo>
                    <a:pt x="318608" y="54663"/>
                  </a:lnTo>
                  <a:lnTo>
                    <a:pt x="278810" y="24295"/>
                  </a:lnTo>
                  <a:lnTo>
                    <a:pt x="233981" y="6073"/>
                  </a:lnTo>
                  <a:lnTo>
                    <a:pt x="186636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07399" y="4858639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318597" y="54663"/>
                  </a:moveTo>
                  <a:lnTo>
                    <a:pt x="348966" y="94459"/>
                  </a:lnTo>
                  <a:lnTo>
                    <a:pt x="367187" y="139286"/>
                  </a:lnTo>
                  <a:lnTo>
                    <a:pt x="373260" y="186630"/>
                  </a:lnTo>
                  <a:lnTo>
                    <a:pt x="367187" y="233973"/>
                  </a:lnTo>
                  <a:lnTo>
                    <a:pt x="348966" y="278801"/>
                  </a:lnTo>
                  <a:lnTo>
                    <a:pt x="318597" y="318597"/>
                  </a:lnTo>
                  <a:lnTo>
                    <a:pt x="278801" y="348966"/>
                  </a:lnTo>
                  <a:lnTo>
                    <a:pt x="233973" y="367187"/>
                  </a:lnTo>
                  <a:lnTo>
                    <a:pt x="186630" y="373260"/>
                  </a:lnTo>
                  <a:lnTo>
                    <a:pt x="139286" y="367187"/>
                  </a:lnTo>
                  <a:lnTo>
                    <a:pt x="94459" y="348966"/>
                  </a:lnTo>
                  <a:lnTo>
                    <a:pt x="54663" y="318597"/>
                  </a:lnTo>
                  <a:lnTo>
                    <a:pt x="24294" y="278801"/>
                  </a:lnTo>
                  <a:lnTo>
                    <a:pt x="6073" y="233973"/>
                  </a:lnTo>
                  <a:lnTo>
                    <a:pt x="0" y="186630"/>
                  </a:lnTo>
                  <a:lnTo>
                    <a:pt x="6073" y="139286"/>
                  </a:lnTo>
                  <a:lnTo>
                    <a:pt x="24294" y="94459"/>
                  </a:lnTo>
                  <a:lnTo>
                    <a:pt x="54663" y="54663"/>
                  </a:lnTo>
                  <a:lnTo>
                    <a:pt x="94459" y="24294"/>
                  </a:lnTo>
                  <a:lnTo>
                    <a:pt x="139286" y="6073"/>
                  </a:lnTo>
                  <a:lnTo>
                    <a:pt x="186630" y="0"/>
                  </a:lnTo>
                  <a:lnTo>
                    <a:pt x="233973" y="6073"/>
                  </a:lnTo>
                  <a:lnTo>
                    <a:pt x="278801" y="24294"/>
                  </a:lnTo>
                  <a:lnTo>
                    <a:pt x="318597" y="5466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61947" y="5045270"/>
              <a:ext cx="542290" cy="0"/>
            </a:xfrm>
            <a:custGeom>
              <a:avLst/>
              <a:gdLst/>
              <a:ahLst/>
              <a:cxnLst/>
              <a:rect l="l" t="t" r="r" b="b"/>
              <a:pathLst>
                <a:path w="542290">
                  <a:moveTo>
                    <a:pt x="0" y="0"/>
                  </a:moveTo>
                  <a:lnTo>
                    <a:pt x="0" y="0"/>
                  </a:lnTo>
                  <a:lnTo>
                    <a:pt x="492489" y="0"/>
                  </a:lnTo>
                  <a:lnTo>
                    <a:pt x="541738" y="0"/>
                  </a:lnTo>
                </a:path>
              </a:pathLst>
            </a:custGeom>
            <a:ln w="196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041647" y="4866722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186629" y="0"/>
                  </a:moveTo>
                  <a:lnTo>
                    <a:pt x="139287" y="6072"/>
                  </a:lnTo>
                  <a:lnTo>
                    <a:pt x="94460" y="24290"/>
                  </a:lnTo>
                  <a:lnTo>
                    <a:pt x="54663" y="54654"/>
                  </a:lnTo>
                  <a:lnTo>
                    <a:pt x="24295" y="94451"/>
                  </a:lnTo>
                  <a:lnTo>
                    <a:pt x="6073" y="139281"/>
                  </a:lnTo>
                  <a:lnTo>
                    <a:pt x="0" y="186626"/>
                  </a:lnTo>
                  <a:lnTo>
                    <a:pt x="6073" y="233971"/>
                  </a:lnTo>
                  <a:lnTo>
                    <a:pt x="24295" y="278801"/>
                  </a:lnTo>
                  <a:lnTo>
                    <a:pt x="54663" y="318598"/>
                  </a:lnTo>
                  <a:lnTo>
                    <a:pt x="94460" y="348967"/>
                  </a:lnTo>
                  <a:lnTo>
                    <a:pt x="139287" y="367188"/>
                  </a:lnTo>
                  <a:lnTo>
                    <a:pt x="186629" y="373262"/>
                  </a:lnTo>
                  <a:lnTo>
                    <a:pt x="233971" y="367188"/>
                  </a:lnTo>
                  <a:lnTo>
                    <a:pt x="278798" y="348967"/>
                  </a:lnTo>
                  <a:lnTo>
                    <a:pt x="318595" y="318598"/>
                  </a:lnTo>
                  <a:lnTo>
                    <a:pt x="348964" y="278801"/>
                  </a:lnTo>
                  <a:lnTo>
                    <a:pt x="367185" y="233971"/>
                  </a:lnTo>
                  <a:lnTo>
                    <a:pt x="373259" y="186626"/>
                  </a:lnTo>
                  <a:lnTo>
                    <a:pt x="367185" y="139281"/>
                  </a:lnTo>
                  <a:lnTo>
                    <a:pt x="348964" y="94451"/>
                  </a:lnTo>
                  <a:lnTo>
                    <a:pt x="318595" y="54654"/>
                  </a:lnTo>
                  <a:lnTo>
                    <a:pt x="278798" y="24290"/>
                  </a:lnTo>
                  <a:lnTo>
                    <a:pt x="233971" y="6072"/>
                  </a:lnTo>
                  <a:lnTo>
                    <a:pt x="186629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041641" y="4866714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318597" y="54663"/>
                  </a:moveTo>
                  <a:lnTo>
                    <a:pt x="348966" y="94459"/>
                  </a:lnTo>
                  <a:lnTo>
                    <a:pt x="367187" y="139286"/>
                  </a:lnTo>
                  <a:lnTo>
                    <a:pt x="373260" y="186630"/>
                  </a:lnTo>
                  <a:lnTo>
                    <a:pt x="367187" y="233973"/>
                  </a:lnTo>
                  <a:lnTo>
                    <a:pt x="348966" y="278801"/>
                  </a:lnTo>
                  <a:lnTo>
                    <a:pt x="318597" y="318597"/>
                  </a:lnTo>
                  <a:lnTo>
                    <a:pt x="278801" y="348966"/>
                  </a:lnTo>
                  <a:lnTo>
                    <a:pt x="233973" y="367187"/>
                  </a:lnTo>
                  <a:lnTo>
                    <a:pt x="186630" y="373260"/>
                  </a:lnTo>
                  <a:lnTo>
                    <a:pt x="139286" y="367187"/>
                  </a:lnTo>
                  <a:lnTo>
                    <a:pt x="94459" y="348966"/>
                  </a:lnTo>
                  <a:lnTo>
                    <a:pt x="54663" y="318597"/>
                  </a:lnTo>
                  <a:lnTo>
                    <a:pt x="24294" y="278801"/>
                  </a:lnTo>
                  <a:lnTo>
                    <a:pt x="6073" y="233973"/>
                  </a:lnTo>
                  <a:lnTo>
                    <a:pt x="0" y="186630"/>
                  </a:lnTo>
                  <a:lnTo>
                    <a:pt x="6073" y="139286"/>
                  </a:lnTo>
                  <a:lnTo>
                    <a:pt x="24294" y="94459"/>
                  </a:lnTo>
                  <a:lnTo>
                    <a:pt x="54663" y="54663"/>
                  </a:lnTo>
                  <a:lnTo>
                    <a:pt x="94459" y="24294"/>
                  </a:lnTo>
                  <a:lnTo>
                    <a:pt x="139286" y="6073"/>
                  </a:lnTo>
                  <a:lnTo>
                    <a:pt x="186630" y="0"/>
                  </a:lnTo>
                  <a:lnTo>
                    <a:pt x="233973" y="6073"/>
                  </a:lnTo>
                  <a:lnTo>
                    <a:pt x="278801" y="24294"/>
                  </a:lnTo>
                  <a:lnTo>
                    <a:pt x="318597" y="5466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483675" y="5046910"/>
              <a:ext cx="554990" cy="5080"/>
            </a:xfrm>
            <a:custGeom>
              <a:avLst/>
              <a:gdLst/>
              <a:ahLst/>
              <a:cxnLst/>
              <a:rect l="l" t="t" r="r" b="b"/>
              <a:pathLst>
                <a:path w="554990" h="5079">
                  <a:moveTo>
                    <a:pt x="0" y="0"/>
                  </a:moveTo>
                  <a:lnTo>
                    <a:pt x="50430" y="436"/>
                  </a:lnTo>
                  <a:lnTo>
                    <a:pt x="100859" y="872"/>
                  </a:lnTo>
                  <a:lnTo>
                    <a:pt x="151289" y="1308"/>
                  </a:lnTo>
                  <a:lnTo>
                    <a:pt x="201718" y="1743"/>
                  </a:lnTo>
                  <a:lnTo>
                    <a:pt x="252146" y="2179"/>
                  </a:lnTo>
                  <a:lnTo>
                    <a:pt x="302575" y="2614"/>
                  </a:lnTo>
                  <a:lnTo>
                    <a:pt x="353003" y="3049"/>
                  </a:lnTo>
                  <a:lnTo>
                    <a:pt x="403431" y="3485"/>
                  </a:lnTo>
                  <a:lnTo>
                    <a:pt x="453859" y="3920"/>
                  </a:lnTo>
                  <a:lnTo>
                    <a:pt x="504286" y="4357"/>
                  </a:lnTo>
                  <a:lnTo>
                    <a:pt x="554714" y="4793"/>
                  </a:lnTo>
                </a:path>
              </a:pathLst>
            </a:custGeom>
            <a:ln w="196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69925" y="4921684"/>
            <a:ext cx="249554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latin typeface="Lucida Sans"/>
                <a:cs typeface="Lucida Sans"/>
              </a:rPr>
              <a:t>10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35" name="object 35"/>
          <p:cNvSpPr txBox="1"/>
          <p:nvPr/>
        </p:nvSpPr>
        <p:spPr>
          <a:xfrm>
            <a:off x="1761994" y="4918852"/>
            <a:ext cx="13779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latin typeface="Lucida Sans"/>
                <a:cs typeface="Lucida Sans"/>
              </a:rPr>
              <a:t>1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70209" y="4918852"/>
            <a:ext cx="13779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latin typeface="Lucida Sans"/>
                <a:cs typeface="Lucida Sans"/>
              </a:rPr>
              <a:t>5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560644" y="4918852"/>
            <a:ext cx="249554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latin typeface="Lucida Sans"/>
                <a:cs typeface="Lucida Sans"/>
              </a:rPr>
              <a:t>15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24079" y="4918852"/>
            <a:ext cx="13779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latin typeface="Lucida Sans"/>
                <a:cs typeface="Lucida Sans"/>
              </a:rPr>
              <a:t>5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467536" y="4914700"/>
            <a:ext cx="13779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latin typeface="Lucida Sans"/>
                <a:cs typeface="Lucida Sans"/>
              </a:rPr>
              <a:t>1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385569" y="4914700"/>
            <a:ext cx="13779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latin typeface="Lucida Sans"/>
                <a:cs typeface="Lucida Sans"/>
              </a:rPr>
              <a:t>5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311576" y="4914700"/>
            <a:ext cx="13779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latin typeface="Lucida Sans"/>
                <a:cs typeface="Lucida Sans"/>
              </a:rPr>
              <a:t>1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188207" y="4914700"/>
            <a:ext cx="249554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latin typeface="Lucida Sans"/>
                <a:cs typeface="Lucida Sans"/>
              </a:rPr>
              <a:t>15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112639" y="4918852"/>
            <a:ext cx="249554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latin typeface="Lucida Sans"/>
                <a:cs typeface="Lucida Sans"/>
              </a:rPr>
              <a:t>10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713237" y="5563000"/>
            <a:ext cx="358838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dirty="0">
                <a:latin typeface="Lucida Sans"/>
                <a:cs typeface="Lucida Sans"/>
              </a:rPr>
              <a:t>Second</a:t>
            </a:r>
            <a:r>
              <a:rPr sz="1200" b="1" spc="114" dirty="0">
                <a:latin typeface="Lucida Sans"/>
                <a:cs typeface="Lucida Sans"/>
              </a:rPr>
              <a:t> </a:t>
            </a:r>
            <a:r>
              <a:rPr sz="1200" b="1" dirty="0">
                <a:latin typeface="Lucida Sans"/>
                <a:cs typeface="Lucida Sans"/>
              </a:rPr>
              <a:t>player</a:t>
            </a:r>
            <a:r>
              <a:rPr sz="1200" b="1" spc="114" dirty="0">
                <a:latin typeface="Lucida Sans"/>
                <a:cs typeface="Lucida Sans"/>
              </a:rPr>
              <a:t> </a:t>
            </a:r>
            <a:r>
              <a:rPr sz="1200" b="1" dirty="0">
                <a:latin typeface="Lucida Sans"/>
                <a:cs typeface="Lucida Sans"/>
              </a:rPr>
              <a:t>can</a:t>
            </a:r>
            <a:r>
              <a:rPr sz="1200" b="1" spc="114" dirty="0">
                <a:latin typeface="Lucida Sans"/>
                <a:cs typeface="Lucida Sans"/>
              </a:rPr>
              <a:t> </a:t>
            </a:r>
            <a:r>
              <a:rPr sz="1200" b="1" dirty="0">
                <a:latin typeface="Lucida Sans"/>
                <a:cs typeface="Lucida Sans"/>
              </a:rPr>
              <a:t>guarantee</a:t>
            </a:r>
            <a:r>
              <a:rPr sz="1200" b="1" spc="114" dirty="0">
                <a:latin typeface="Lucida Sans"/>
                <a:cs typeface="Lucida Sans"/>
              </a:rPr>
              <a:t> </a:t>
            </a:r>
            <a:r>
              <a:rPr sz="1200" b="1" dirty="0">
                <a:latin typeface="Lucida Sans"/>
                <a:cs typeface="Lucida Sans"/>
              </a:rPr>
              <a:t>20,</a:t>
            </a:r>
            <a:r>
              <a:rPr sz="1200" b="1" spc="120" dirty="0">
                <a:latin typeface="Lucida Sans"/>
                <a:cs typeface="Lucida Sans"/>
              </a:rPr>
              <a:t> </a:t>
            </a:r>
            <a:r>
              <a:rPr sz="1200" b="1" dirty="0">
                <a:latin typeface="Lucida Sans"/>
                <a:cs typeface="Lucida Sans"/>
              </a:rPr>
              <a:t>but</a:t>
            </a:r>
            <a:r>
              <a:rPr sz="1200" b="1" spc="114" dirty="0">
                <a:latin typeface="Lucida Sans"/>
                <a:cs typeface="Lucida Sans"/>
              </a:rPr>
              <a:t> </a:t>
            </a:r>
            <a:r>
              <a:rPr sz="1200" b="1" dirty="0">
                <a:latin typeface="Lucida Sans"/>
                <a:cs typeface="Lucida Sans"/>
              </a:rPr>
              <a:t>not</a:t>
            </a:r>
            <a:r>
              <a:rPr sz="1200" b="1" spc="114" dirty="0">
                <a:latin typeface="Lucida Sans"/>
                <a:cs typeface="Lucida Sans"/>
              </a:rPr>
              <a:t> </a:t>
            </a:r>
            <a:r>
              <a:rPr sz="1200" b="1" spc="-25" dirty="0">
                <a:latin typeface="Lucida Sans"/>
                <a:cs typeface="Lucida Sans"/>
              </a:rPr>
              <a:t>25.</a:t>
            </a:r>
            <a:endParaRPr sz="12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Five</a:t>
            </a:r>
            <a:r>
              <a:rPr spc="-5" dirty="0"/>
              <a:t> </a:t>
            </a:r>
            <a:r>
              <a:rPr dirty="0"/>
              <a:t>representative</a:t>
            </a:r>
            <a:r>
              <a:rPr spc="-5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77850" y="1142804"/>
            <a:ext cx="8552180" cy="2548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2764790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Variations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on</a:t>
            </a: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a</a:t>
            </a: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theme: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independent </a:t>
            </a:r>
            <a:r>
              <a:rPr sz="1850" spc="-20" dirty="0">
                <a:latin typeface="Lucida Sans"/>
                <a:cs typeface="Lucida Sans"/>
              </a:rPr>
              <a:t>set.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50">
              <a:latin typeface="Lucida Sans"/>
              <a:cs typeface="Lucida Sans"/>
            </a:endParaRPr>
          </a:p>
          <a:p>
            <a:pPr marL="50800">
              <a:lnSpc>
                <a:spcPct val="100000"/>
              </a:lnSpc>
              <a:tabLst>
                <a:tab pos="2455545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Interval</a:t>
            </a:r>
            <a:r>
              <a:rPr sz="1850" spc="6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scheduling: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i="1" dirty="0">
                <a:latin typeface="Times New Roman"/>
                <a:cs typeface="Times New Roman"/>
              </a:rPr>
              <a:t>O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log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greedy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algorithm.</a:t>
            </a:r>
            <a:endParaRPr sz="1850">
              <a:latin typeface="Lucida Sans"/>
              <a:cs typeface="Lucida Sans"/>
            </a:endParaRPr>
          </a:p>
          <a:p>
            <a:pPr marL="50800" marR="43180">
              <a:lnSpc>
                <a:spcPct val="132400"/>
              </a:lnSpc>
              <a:tabLst>
                <a:tab pos="2371090" algn="l"/>
                <a:tab pos="3582670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Weighted</a:t>
            </a:r>
            <a:r>
              <a:rPr sz="1850" spc="-1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interval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 scheduling: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i="1" dirty="0">
                <a:latin typeface="Times New Roman"/>
                <a:cs typeface="Times New Roman"/>
              </a:rPr>
              <a:t>O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log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dynamic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programming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algorithm.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Bipartite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matching: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i="1" dirty="0">
                <a:latin typeface="Times New Roman"/>
                <a:cs typeface="Times New Roman"/>
              </a:rPr>
              <a:t>O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00" i="1" baseline="25462" dirty="0">
                <a:latin typeface="Times New Roman"/>
                <a:cs typeface="Times New Roman"/>
              </a:rPr>
              <a:t>k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spc="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max-flow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based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algorithm.</a:t>
            </a:r>
            <a:endParaRPr sz="1850">
              <a:latin typeface="Lucida Sans"/>
              <a:cs typeface="Lucida Sans"/>
            </a:endParaRPr>
          </a:p>
          <a:p>
            <a:pPr marL="50800">
              <a:lnSpc>
                <a:spcPct val="100000"/>
              </a:lnSpc>
              <a:spcBef>
                <a:spcPts val="720"/>
              </a:spcBef>
              <a:tabLst>
                <a:tab pos="2122170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Independent </a:t>
            </a: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set: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b="1" spc="-10" dirty="0">
                <a:latin typeface="Lucida Sans"/>
                <a:cs typeface="Lucida Sans"/>
              </a:rPr>
              <a:t>NP</a:t>
            </a:r>
            <a:r>
              <a:rPr sz="1850" spc="-10" dirty="0">
                <a:latin typeface="Lucida Sans"/>
                <a:cs typeface="Lucida Sans"/>
              </a:rPr>
              <a:t>-complete.</a:t>
            </a:r>
            <a:endParaRPr sz="1850">
              <a:latin typeface="Lucida Sans"/>
              <a:cs typeface="Lucida Sans"/>
            </a:endParaRPr>
          </a:p>
          <a:p>
            <a:pPr marL="50800">
              <a:lnSpc>
                <a:spcPct val="100000"/>
              </a:lnSpc>
              <a:spcBef>
                <a:spcPts val="715"/>
              </a:spcBef>
              <a:tabLst>
                <a:tab pos="3486785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Competitive</a:t>
            </a:r>
            <a:r>
              <a:rPr sz="1850" spc="80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facility</a:t>
            </a:r>
            <a:r>
              <a:rPr sz="1850" spc="8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location: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b="1" spc="-10" dirty="0">
                <a:latin typeface="Lucida Sans"/>
                <a:cs typeface="Lucida Sans"/>
              </a:rPr>
              <a:t>PSPACE</a:t>
            </a:r>
            <a:r>
              <a:rPr sz="1850" spc="-10" dirty="0">
                <a:latin typeface="Lucida Sans"/>
                <a:cs typeface="Lucida Sans"/>
              </a:rPr>
              <a:t>-complete.</a:t>
            </a:r>
            <a:endParaRPr sz="18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2966</Words>
  <Application>Microsoft Macintosh PowerPoint</Application>
  <PresentationFormat>自定义</PresentationFormat>
  <Paragraphs>715</Paragraphs>
  <Slides>32</Slides>
  <Notes>1</Notes>
  <HiddenSlides>10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等线</vt:lpstr>
      <vt:lpstr>PMingLiU</vt:lpstr>
      <vt:lpstr>Arial</vt:lpstr>
      <vt:lpstr>Calibri</vt:lpstr>
      <vt:lpstr>Century Gothic</vt:lpstr>
      <vt:lpstr>Lucida Sans</vt:lpstr>
      <vt:lpstr>Lucida Sans Typewriter</vt:lpstr>
      <vt:lpstr>Lucida Sans Unicode</vt:lpstr>
      <vt:lpstr>Symbol</vt:lpstr>
      <vt:lpstr>Times New Roman</vt:lpstr>
      <vt:lpstr>Office Theme</vt:lpstr>
      <vt:lpstr>1. Representative  Problems</vt:lpstr>
      <vt:lpstr>1. Representative  Problems</vt:lpstr>
      <vt:lpstr>Matching med-school students to hospitals</vt:lpstr>
      <vt:lpstr>Stable matching problem</vt:lpstr>
      <vt:lpstr>Perfect matching</vt:lpstr>
      <vt:lpstr>Unstable pair</vt:lpstr>
      <vt:lpstr>Stable matching problem</vt:lpstr>
      <vt:lpstr>Stable roommate problem</vt:lpstr>
      <vt:lpstr>Gale-Shapley deferred acceptance algorithm</vt:lpstr>
      <vt:lpstr>Proof of correctness: termination</vt:lpstr>
      <vt:lpstr>Proof of correctness: perfection</vt:lpstr>
      <vt:lpstr>Proof of correctness: stability</vt:lpstr>
      <vt:lpstr>Summary</vt:lpstr>
      <vt:lpstr>Efficient implementation</vt:lpstr>
      <vt:lpstr>Efficient implementation (continued)</vt:lpstr>
      <vt:lpstr>Understanding the solution</vt:lpstr>
      <vt:lpstr>Understanding the solution</vt:lpstr>
      <vt:lpstr>Understanding the solution</vt:lpstr>
      <vt:lpstr>Man optimality</vt:lpstr>
      <vt:lpstr>Woman pessimality</vt:lpstr>
      <vt:lpstr>Deceit: Machiavelli meets Gale-Shapley</vt:lpstr>
      <vt:lpstr>Extensions: matching residents to hospitals</vt:lpstr>
      <vt:lpstr>https://www.youtube.com/watch?v=fudb8DuzQlM</vt:lpstr>
      <vt:lpstr>2012 Nobel Prize in Economics</vt:lpstr>
      <vt:lpstr>Lessons learned</vt:lpstr>
      <vt:lpstr>1. Representative  Problems</vt:lpstr>
      <vt:lpstr>Interval scheduling</vt:lpstr>
      <vt:lpstr>Weighted interval scheduling</vt:lpstr>
      <vt:lpstr>Bipartite matching</vt:lpstr>
      <vt:lpstr>Independent set</vt:lpstr>
      <vt:lpstr>Competitive facility location</vt:lpstr>
      <vt:lpstr>Five representative problems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Fan B</cp:lastModifiedBy>
  <cp:revision>2</cp:revision>
  <dcterms:created xsi:type="dcterms:W3CDTF">2025-09-02T03:02:59Z</dcterms:created>
  <dcterms:modified xsi:type="dcterms:W3CDTF">2025-10-28T01:07:24Z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2025-09-02T00:00:00Z</vt:filetime>
  </property>
  <property fmtid="{D5CDD505-2E9C-101B-9397-08002B2CF9AE}" pid="3" name="Producer">
    <vt:lpwstr>3-Heights(TM) PDF Security Shell 4.8.25.2 (http://www.pdf-tools.com)</vt:lpwstr>
  </property>
</Properties>
</file>
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867" y="475073"/>
            <a:ext cx="571754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4467" y="1218991"/>
            <a:ext cx="7573645" cy="2112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421831" y="7234878"/>
            <a:ext cx="234315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hyperlink" Target="mailto:mthorup@diku.dk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40930" y="1527352"/>
            <a:ext cx="3337560" cy="3832225"/>
            <a:chOff x="640930" y="1527352"/>
            <a:chExt cx="3337560" cy="38322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0" y="1527352"/>
              <a:ext cx="3337534" cy="383204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38300"/>
              <a:ext cx="558800" cy="609600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4487059" y="1985146"/>
            <a:ext cx="4893945" cy="0"/>
          </a:xfrm>
          <a:custGeom>
            <a:avLst/>
            <a:gdLst/>
            <a:ahLst/>
            <a:cxnLst/>
            <a:rect l="l" t="t" r="r" b="b"/>
            <a:pathLst>
              <a:path w="4893945" h="0">
                <a:moveTo>
                  <a:pt x="0" y="0"/>
                </a:moveTo>
                <a:lnTo>
                  <a:pt x="4893384" y="0"/>
                </a:lnTo>
              </a:path>
            </a:pathLst>
          </a:custGeom>
          <a:ln w="14306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3631565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dirty="0" cap="small" sz="2700" spc="-2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cap="small" sz="2700" spc="-25" b="1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dirty="0" cap="small" sz="27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cap="small" sz="2700" spc="-1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cap="small" sz="2700" spc="-100" b="1">
                <a:solidFill>
                  <a:srgbClr val="FFFFFF"/>
                </a:solidFill>
                <a:latin typeface="Tahoma"/>
                <a:cs typeface="Tahoma"/>
              </a:rPr>
              <a:t>lgorith</a:t>
            </a:r>
            <a:r>
              <a:rPr dirty="0" cap="small" sz="2700" spc="-10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cap="small" sz="27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cap="small" sz="2700" spc="-135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cap="small" sz="2700" spc="-135" b="1">
                <a:solidFill>
                  <a:srgbClr val="FFFFFF"/>
                </a:solidFill>
                <a:latin typeface="Tahoma"/>
                <a:cs typeface="Tahoma"/>
              </a:rPr>
              <a:t>na</a:t>
            </a:r>
            <a:r>
              <a:rPr dirty="0" cap="small" sz="2700" spc="-135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cap="small" sz="2700" spc="-135" b="1">
                <a:solidFill>
                  <a:srgbClr val="FFFFFF"/>
                </a:solidFill>
                <a:latin typeface="Tahoma"/>
                <a:cs typeface="Tahoma"/>
              </a:rPr>
              <a:t>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12541" y="2115618"/>
            <a:ext cx="4163060" cy="145605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0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15" i="1">
                <a:solidFill>
                  <a:srgbClr val="FFFFFF"/>
                </a:solidFill>
                <a:latin typeface="Verdana"/>
                <a:cs typeface="Verdana"/>
              </a:rPr>
              <a:t>computational</a:t>
            </a:r>
            <a:r>
              <a:rPr dirty="0" sz="2250" spc="-8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100" i="1">
                <a:solidFill>
                  <a:srgbClr val="FFFFFF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35" i="1">
                <a:solidFill>
                  <a:srgbClr val="FFFFFF"/>
                </a:solidFill>
                <a:latin typeface="Verdana"/>
                <a:cs typeface="Verdana"/>
              </a:rPr>
              <a:t>asymptotic</a:t>
            </a:r>
            <a:r>
              <a:rPr dirty="0" sz="2250" spc="-1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190" i="1">
                <a:solidFill>
                  <a:srgbClr val="FFFFFF"/>
                </a:solidFill>
                <a:latin typeface="Verdana"/>
                <a:cs typeface="Verdana"/>
              </a:rPr>
              <a:t>order</a:t>
            </a:r>
            <a:r>
              <a:rPr dirty="0" sz="225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170" i="1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2250" spc="-12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50" i="1">
                <a:solidFill>
                  <a:srgbClr val="FFFFFF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54" i="1">
                <a:solidFill>
                  <a:srgbClr val="FFFFFF"/>
                </a:solidFill>
                <a:latin typeface="Verdana"/>
                <a:cs typeface="Verdana"/>
              </a:rPr>
              <a:t>survey</a:t>
            </a:r>
            <a:r>
              <a:rPr dirty="0" sz="2250" spc="-1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170" i="1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2250" spc="-1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275" i="1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dirty="0" sz="2250" spc="-12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200" i="1">
                <a:solidFill>
                  <a:srgbClr val="FFFFFF"/>
                </a:solidFill>
                <a:latin typeface="Verdana"/>
                <a:cs typeface="Verdana"/>
              </a:rPr>
              <a:t>running</a:t>
            </a:r>
            <a:r>
              <a:rPr dirty="0" sz="2250" spc="-1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50" spc="-300" i="1">
                <a:solidFill>
                  <a:srgbClr val="FFFFFF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40930" y="1527340"/>
            <a:ext cx="3337560" cy="3832225"/>
            <a:chOff x="640930" y="1527340"/>
            <a:chExt cx="3337560" cy="38322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0" y="1527340"/>
              <a:ext cx="3337534" cy="383205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2"/>
              <a:ext cx="552411" cy="606107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 h="0">
                <a:moveTo>
                  <a:pt x="0" y="0"/>
                </a:moveTo>
                <a:lnTo>
                  <a:pt x="4892687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773707" y="5444060"/>
            <a:ext cx="10826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500" spc="85" b="1">
                <a:latin typeface="Trebuchet MS"/>
                <a:cs typeface="Trebuchet MS"/>
              </a:rPr>
              <a:t>Section</a:t>
            </a:r>
            <a:r>
              <a:rPr dirty="0" cap="small" sz="1500" spc="65" b="1">
                <a:latin typeface="Trebuchet MS"/>
                <a:cs typeface="Trebuchet MS"/>
              </a:rPr>
              <a:t> </a:t>
            </a:r>
            <a:r>
              <a:rPr dirty="0" cap="small" sz="1500" spc="-45" b="1">
                <a:latin typeface="Trebuchet MS"/>
                <a:cs typeface="Trebuchet MS"/>
              </a:rPr>
              <a:t>2.1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3631565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dirty="0" cap="small" sz="2700" spc="-25" b="1">
                <a:latin typeface="Tahoma"/>
                <a:cs typeface="Tahoma"/>
              </a:rPr>
              <a:t>2</a:t>
            </a:r>
            <a:r>
              <a:rPr dirty="0" cap="small" sz="2700" spc="-25" b="1">
                <a:latin typeface="Tahoma"/>
                <a:cs typeface="Tahoma"/>
              </a:rPr>
              <a:t>.</a:t>
            </a:r>
            <a:r>
              <a:rPr dirty="0" cap="small" sz="2700" b="1">
                <a:latin typeface="Tahoma"/>
                <a:cs typeface="Tahoma"/>
              </a:rPr>
              <a:t>	</a:t>
            </a:r>
            <a:r>
              <a:rPr dirty="0" cap="small" sz="2700" spc="-100" b="1">
                <a:latin typeface="Tahoma"/>
                <a:cs typeface="Tahoma"/>
              </a:rPr>
              <a:t>A</a:t>
            </a:r>
            <a:r>
              <a:rPr dirty="0" cap="small" sz="2700" spc="-100" b="1">
                <a:latin typeface="Tahoma"/>
                <a:cs typeface="Tahoma"/>
              </a:rPr>
              <a:t>lgorith</a:t>
            </a:r>
            <a:r>
              <a:rPr dirty="0" cap="small" sz="2700" spc="-100" b="1">
                <a:latin typeface="Tahoma"/>
                <a:cs typeface="Tahoma"/>
              </a:rPr>
              <a:t>m</a:t>
            </a:r>
            <a:r>
              <a:rPr dirty="0" cap="small" sz="2700" b="1">
                <a:latin typeface="Tahoma"/>
                <a:cs typeface="Tahoma"/>
              </a:rPr>
              <a:t> </a:t>
            </a:r>
            <a:r>
              <a:rPr dirty="0" cap="small" sz="2700" spc="-135" b="1">
                <a:latin typeface="Tahoma"/>
                <a:cs typeface="Tahoma"/>
              </a:rPr>
              <a:t>A</a:t>
            </a:r>
            <a:r>
              <a:rPr dirty="0" cap="small" sz="2700" spc="-135" b="1">
                <a:latin typeface="Tahoma"/>
                <a:cs typeface="Tahoma"/>
              </a:rPr>
              <a:t>na</a:t>
            </a:r>
            <a:r>
              <a:rPr dirty="0" cap="small" sz="2700" spc="-135" b="1">
                <a:latin typeface="Tahoma"/>
                <a:cs typeface="Tahoma"/>
              </a:rPr>
              <a:t>l</a:t>
            </a:r>
            <a:r>
              <a:rPr dirty="0" cap="small" sz="2700" spc="-135" b="1">
                <a:latin typeface="Tahoma"/>
                <a:cs typeface="Tahoma"/>
              </a:rPr>
              <a:t>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12541" y="2115618"/>
            <a:ext cx="4163060" cy="145605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0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15" i="1">
                <a:latin typeface="Verdana"/>
                <a:cs typeface="Verdana"/>
              </a:rPr>
              <a:t>computational</a:t>
            </a:r>
            <a:r>
              <a:rPr dirty="0" sz="2250" spc="-80" i="1">
                <a:latin typeface="Verdana"/>
                <a:cs typeface="Verdana"/>
              </a:rPr>
              <a:t> </a:t>
            </a:r>
            <a:r>
              <a:rPr dirty="0" sz="2250" spc="-100" i="1"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35" i="1">
                <a:solidFill>
                  <a:srgbClr val="D5D5D5"/>
                </a:solidFill>
                <a:latin typeface="Verdana"/>
                <a:cs typeface="Verdana"/>
              </a:rPr>
              <a:t>asymptotic</a:t>
            </a:r>
            <a:r>
              <a:rPr dirty="0" sz="2250" spc="-12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90" i="1">
                <a:solidFill>
                  <a:srgbClr val="D5D5D5"/>
                </a:solidFill>
                <a:latin typeface="Verdana"/>
                <a:cs typeface="Verdana"/>
              </a:rPr>
              <a:t>order</a:t>
            </a:r>
            <a:r>
              <a:rPr dirty="0" sz="2250" spc="-114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70" i="1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dirty="0" sz="2250" spc="-125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50" i="1">
                <a:solidFill>
                  <a:srgbClr val="D5D5D5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54" i="1">
                <a:solidFill>
                  <a:srgbClr val="D5D5D5"/>
                </a:solidFill>
                <a:latin typeface="Verdana"/>
                <a:cs typeface="Verdana"/>
              </a:rPr>
              <a:t>survey</a:t>
            </a:r>
            <a:r>
              <a:rPr dirty="0" sz="2250" spc="-135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70" i="1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dirty="0" sz="2250" spc="-12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275" i="1">
                <a:solidFill>
                  <a:srgbClr val="D5D5D5"/>
                </a:solidFill>
                <a:latin typeface="Verdana"/>
                <a:cs typeface="Verdana"/>
              </a:rPr>
              <a:t>common</a:t>
            </a:r>
            <a:r>
              <a:rPr dirty="0" sz="2250" spc="-125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200" i="1">
                <a:solidFill>
                  <a:srgbClr val="D5D5D5"/>
                </a:solidFill>
                <a:latin typeface="Verdana"/>
                <a:cs typeface="Verdana"/>
              </a:rPr>
              <a:t>running</a:t>
            </a:r>
            <a:r>
              <a:rPr dirty="0" sz="2250" spc="-12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300" i="1">
                <a:solidFill>
                  <a:srgbClr val="D5D5D5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4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19"/>
                </a:moveTo>
                <a:lnTo>
                  <a:pt x="8535975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A</a:t>
            </a:r>
            <a:r>
              <a:rPr dirty="0" spc="204"/>
              <a:t> </a:t>
            </a:r>
            <a:r>
              <a:rPr dirty="0"/>
              <a:t>strikingly</a:t>
            </a:r>
            <a:r>
              <a:rPr dirty="0" spc="204"/>
              <a:t> </a:t>
            </a:r>
            <a:r>
              <a:rPr dirty="0"/>
              <a:t>modern</a:t>
            </a:r>
            <a:r>
              <a:rPr dirty="0" spc="210"/>
              <a:t> </a:t>
            </a:r>
            <a:r>
              <a:rPr dirty="0" spc="-10"/>
              <a:t>thought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05431" y="6955738"/>
            <a:ext cx="12414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rebuchet MS"/>
                <a:cs typeface="Trebuchet MS"/>
              </a:rPr>
              <a:t>Analytic</a:t>
            </a:r>
            <a:r>
              <a:rPr dirty="0" sz="1200" spc="400" b="1">
                <a:latin typeface="Trebuchet MS"/>
                <a:cs typeface="Trebuchet MS"/>
              </a:rPr>
              <a:t> </a:t>
            </a:r>
            <a:r>
              <a:rPr dirty="0" sz="1200" spc="55" b="1">
                <a:latin typeface="Trebuchet MS"/>
                <a:cs typeface="Trebuchet MS"/>
              </a:rPr>
              <a:t>Engine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4266" y="1536887"/>
            <a:ext cx="6962775" cy="15170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9685" rIns="0" bIns="0" rtlCol="0" vert="horz">
            <a:spAutoFit/>
          </a:bodyPr>
          <a:lstStyle/>
          <a:p>
            <a:pPr marL="307975" marR="266700" indent="-157480">
              <a:lnSpc>
                <a:spcPct val="137800"/>
              </a:lnSpc>
              <a:spcBef>
                <a:spcPts val="155"/>
              </a:spcBef>
              <a:tabLst>
                <a:tab pos="3467100" algn="l"/>
              </a:tabLst>
            </a:pPr>
            <a:r>
              <a:rPr dirty="0" sz="1650" i="1">
                <a:latin typeface="Times New Roman"/>
                <a:cs typeface="Times New Roman"/>
              </a:rPr>
              <a:t>“</a:t>
            </a:r>
            <a:r>
              <a:rPr dirty="0" sz="1650" spc="-5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As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soon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as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an</a:t>
            </a:r>
            <a:r>
              <a:rPr dirty="0" sz="1650" spc="-5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Analytic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Engine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exists,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it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will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necessarily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guide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spc="-10" i="1">
                <a:latin typeface="Times New Roman"/>
                <a:cs typeface="Times New Roman"/>
              </a:rPr>
              <a:t>future </a:t>
            </a:r>
            <a:r>
              <a:rPr dirty="0" sz="1650" i="1">
                <a:latin typeface="Times New Roman"/>
                <a:cs typeface="Times New Roman"/>
              </a:rPr>
              <a:t>course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of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science.</a:t>
            </a:r>
            <a:r>
              <a:rPr dirty="0" sz="1650" spc="36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Whenever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any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result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is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sought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by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its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aid,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spc="-10" i="1">
                <a:latin typeface="Times New Roman"/>
                <a:cs typeface="Times New Roman"/>
              </a:rPr>
              <a:t>question </a:t>
            </a:r>
            <a:r>
              <a:rPr dirty="0" sz="1650" i="1">
                <a:latin typeface="Times New Roman"/>
                <a:cs typeface="Times New Roman"/>
              </a:rPr>
              <a:t>will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arise—By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what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course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of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calculation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can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these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results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arrived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at</a:t>
            </a:r>
            <a:r>
              <a:rPr dirty="0" sz="1650" spc="-25" i="1">
                <a:latin typeface="Times New Roman"/>
                <a:cs typeface="Times New Roman"/>
              </a:rPr>
              <a:t> by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machine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in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shortest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time?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spc="-50" i="1">
                <a:latin typeface="Times New Roman"/>
                <a:cs typeface="Times New Roman"/>
              </a:rPr>
              <a:t>”</a:t>
            </a:r>
            <a:r>
              <a:rPr dirty="0" sz="1650" i="1">
                <a:latin typeface="Times New Roman"/>
                <a:cs typeface="Times New Roman"/>
              </a:rPr>
              <a:t>	</a:t>
            </a:r>
            <a:r>
              <a:rPr dirty="0" sz="1650" i="1">
                <a:solidFill>
                  <a:srgbClr val="003F83"/>
                </a:solidFill>
                <a:latin typeface="Times New Roman"/>
                <a:cs typeface="Times New Roman"/>
              </a:rPr>
              <a:t>—</a:t>
            </a:r>
            <a:r>
              <a:rPr dirty="0" sz="1650" spc="365" i="1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dirty="0" sz="1650" i="1">
                <a:solidFill>
                  <a:srgbClr val="003F83"/>
                </a:solidFill>
                <a:latin typeface="Times New Roman"/>
                <a:cs typeface="Times New Roman"/>
              </a:rPr>
              <a:t>Charles</a:t>
            </a:r>
            <a:r>
              <a:rPr dirty="0" sz="1650" spc="-20" i="1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dirty="0" sz="1650" i="1">
                <a:solidFill>
                  <a:srgbClr val="003F83"/>
                </a:solidFill>
                <a:latin typeface="Times New Roman"/>
                <a:cs typeface="Times New Roman"/>
              </a:rPr>
              <a:t>Babbage</a:t>
            </a:r>
            <a:r>
              <a:rPr dirty="0" sz="1650" spc="-25" i="1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dirty="0" sz="1650" spc="-10" i="1">
                <a:solidFill>
                  <a:srgbClr val="003F83"/>
                </a:solidFill>
                <a:latin typeface="Times New Roman"/>
                <a:cs typeface="Times New Roman"/>
              </a:rPr>
              <a:t>(1864)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200400" y="3556000"/>
            <a:ext cx="4136390" cy="3289300"/>
            <a:chOff x="3200400" y="3556000"/>
            <a:chExt cx="4136390" cy="328930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3556000"/>
              <a:ext cx="3632200" cy="32893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643847" y="4965735"/>
              <a:ext cx="683895" cy="683895"/>
            </a:xfrm>
            <a:custGeom>
              <a:avLst/>
              <a:gdLst/>
              <a:ahLst/>
              <a:cxnLst/>
              <a:rect l="l" t="t" r="r" b="b"/>
              <a:pathLst>
                <a:path w="683895" h="683895">
                  <a:moveTo>
                    <a:pt x="0" y="683412"/>
                  </a:moveTo>
                  <a:lnTo>
                    <a:pt x="6742" y="676669"/>
                  </a:lnTo>
                  <a:lnTo>
                    <a:pt x="683402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602035" y="5593847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4" h="97154">
                  <a:moveTo>
                    <a:pt x="32372" y="0"/>
                  </a:moveTo>
                  <a:lnTo>
                    <a:pt x="0" y="97116"/>
                  </a:lnTo>
                  <a:lnTo>
                    <a:pt x="97116" y="64744"/>
                  </a:lnTo>
                  <a:lnTo>
                    <a:pt x="48552" y="48552"/>
                  </a:lnTo>
                  <a:lnTo>
                    <a:pt x="3237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442661" y="4595230"/>
            <a:ext cx="1814195" cy="3994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49530" marR="5080" indent="-37465">
              <a:lnSpc>
                <a:spcPct val="104299"/>
              </a:lnSpc>
              <a:spcBef>
                <a:spcPts val="40"/>
              </a:spcBef>
            </a:pP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how</a:t>
            </a:r>
            <a:r>
              <a:rPr dirty="0" sz="1200" spc="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many</a:t>
            </a:r>
            <a:r>
              <a:rPr dirty="0" sz="1200" spc="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times</a:t>
            </a:r>
            <a:r>
              <a:rPr dirty="0" sz="1200" spc="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do</a:t>
            </a:r>
            <a:r>
              <a:rPr dirty="0" sz="1200" spc="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8D3124"/>
                </a:solidFill>
                <a:latin typeface="Lucida Sans Unicode"/>
                <a:cs typeface="Lucida Sans Unicode"/>
              </a:rPr>
              <a:t>you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have to</a:t>
            </a:r>
            <a:r>
              <a:rPr dirty="0" sz="1200" spc="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turn</a:t>
            </a:r>
            <a:r>
              <a:rPr dirty="0" sz="1200" spc="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the</a:t>
            </a:r>
            <a:r>
              <a:rPr dirty="0" sz="1200" spc="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8D3124"/>
                </a:solidFill>
                <a:latin typeface="Lucida Sans Unicode"/>
                <a:cs typeface="Lucida Sans Unicode"/>
              </a:rPr>
              <a:t>crank?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1536700"/>
            <a:ext cx="1282700" cy="1511300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Brute</a:t>
            </a:r>
            <a:r>
              <a:rPr dirty="0" spc="-15"/>
              <a:t> </a:t>
            </a:r>
            <a:r>
              <a:rPr dirty="0" spc="-20"/>
              <a:t>force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19867" y="1131247"/>
            <a:ext cx="8116570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  <a:tabLst>
                <a:tab pos="146685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Brute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force.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For many nontrivial problems, there is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 natural </a:t>
            </a:r>
            <a:r>
              <a:rPr dirty="0" sz="1800" spc="-65">
                <a:latin typeface="Lucida Sans Unicode"/>
                <a:cs typeface="Lucida Sans Unicode"/>
              </a:rPr>
              <a:t>brute-</a:t>
            </a:r>
            <a:r>
              <a:rPr dirty="0" sz="1800" spc="-10">
                <a:latin typeface="Lucida Sans Unicode"/>
                <a:cs typeface="Lucida Sans Unicode"/>
              </a:rPr>
              <a:t>force </a:t>
            </a:r>
            <a:r>
              <a:rPr dirty="0" sz="1800">
                <a:latin typeface="Lucida Sans Unicode"/>
                <a:cs typeface="Lucida Sans Unicode"/>
              </a:rPr>
              <a:t>search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checks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every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possible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solution.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2780"/>
              </a:lnSpc>
            </a:pPr>
            <a:r>
              <a:rPr dirty="0" baseline="-6822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Typically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takes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baseline="18518" sz="1800" i="1">
                <a:latin typeface="Times New Roman"/>
                <a:cs typeface="Times New Roman"/>
              </a:rPr>
              <a:t>n</a:t>
            </a:r>
            <a:r>
              <a:rPr dirty="0" baseline="18518" sz="1800" spc="405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time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or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worse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inputs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size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135"/>
              </a:lnSpc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Unacceptable in </a:t>
            </a:r>
            <a:r>
              <a:rPr dirty="0" sz="1800" spc="-1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610348" y="3569489"/>
            <a:ext cx="2572385" cy="2527300"/>
            <a:chOff x="3610348" y="3569489"/>
            <a:chExt cx="2572385" cy="25273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0348" y="3569489"/>
              <a:ext cx="2572081" cy="25273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698615" y="3904885"/>
              <a:ext cx="934719" cy="629920"/>
            </a:xfrm>
            <a:custGeom>
              <a:avLst/>
              <a:gdLst/>
              <a:ahLst/>
              <a:cxnLst/>
              <a:rect l="l" t="t" r="r" b="b"/>
              <a:pathLst>
                <a:path w="934720" h="629920">
                  <a:moveTo>
                    <a:pt x="169623" y="464872"/>
                  </a:moveTo>
                  <a:lnTo>
                    <a:pt x="164722" y="467919"/>
                  </a:lnTo>
                  <a:lnTo>
                    <a:pt x="175655" y="484206"/>
                  </a:lnTo>
                  <a:lnTo>
                    <a:pt x="182754" y="489229"/>
                  </a:lnTo>
                  <a:lnTo>
                    <a:pt x="191236" y="493117"/>
                  </a:lnTo>
                  <a:lnTo>
                    <a:pt x="199970" y="497257"/>
                  </a:lnTo>
                  <a:lnTo>
                    <a:pt x="207824" y="503036"/>
                  </a:lnTo>
                  <a:lnTo>
                    <a:pt x="227763" y="510708"/>
                  </a:lnTo>
                  <a:lnTo>
                    <a:pt x="247701" y="519009"/>
                  </a:lnTo>
                  <a:lnTo>
                    <a:pt x="268142" y="527058"/>
                  </a:lnTo>
                  <a:lnTo>
                    <a:pt x="289588" y="533972"/>
                  </a:lnTo>
                  <a:lnTo>
                    <a:pt x="339497" y="536179"/>
                  </a:lnTo>
                  <a:lnTo>
                    <a:pt x="364148" y="539520"/>
                  </a:lnTo>
                  <a:lnTo>
                    <a:pt x="374976" y="554210"/>
                  </a:lnTo>
                  <a:lnTo>
                    <a:pt x="383417" y="590463"/>
                  </a:lnTo>
                  <a:lnTo>
                    <a:pt x="392945" y="602610"/>
                  </a:lnTo>
                  <a:lnTo>
                    <a:pt x="401344" y="612992"/>
                  </a:lnTo>
                  <a:lnTo>
                    <a:pt x="411501" y="621861"/>
                  </a:lnTo>
                  <a:lnTo>
                    <a:pt x="426308" y="629469"/>
                  </a:lnTo>
                  <a:lnTo>
                    <a:pt x="432675" y="627850"/>
                  </a:lnTo>
                  <a:lnTo>
                    <a:pt x="483946" y="610638"/>
                  </a:lnTo>
                  <a:lnTo>
                    <a:pt x="517288" y="574154"/>
                  </a:lnTo>
                  <a:lnTo>
                    <a:pt x="535781" y="551814"/>
                  </a:lnTo>
                  <a:lnTo>
                    <a:pt x="545605" y="540697"/>
                  </a:lnTo>
                  <a:lnTo>
                    <a:pt x="560621" y="535191"/>
                  </a:lnTo>
                  <a:lnTo>
                    <a:pt x="574255" y="529937"/>
                  </a:lnTo>
                  <a:lnTo>
                    <a:pt x="587638" y="523674"/>
                  </a:lnTo>
                  <a:lnTo>
                    <a:pt x="601901" y="515142"/>
                  </a:lnTo>
                  <a:lnTo>
                    <a:pt x="641967" y="504991"/>
                  </a:lnTo>
                  <a:lnTo>
                    <a:pt x="682158" y="495471"/>
                  </a:lnTo>
                  <a:lnTo>
                    <a:pt x="720086" y="481664"/>
                  </a:lnTo>
                  <a:lnTo>
                    <a:pt x="744035" y="465103"/>
                  </a:lnTo>
                  <a:lnTo>
                    <a:pt x="171508" y="465103"/>
                  </a:lnTo>
                  <a:lnTo>
                    <a:pt x="169623" y="464872"/>
                  </a:lnTo>
                  <a:close/>
                </a:path>
                <a:path w="934720" h="629920">
                  <a:moveTo>
                    <a:pt x="463839" y="0"/>
                  </a:moveTo>
                  <a:lnTo>
                    <a:pt x="358095" y="7944"/>
                  </a:lnTo>
                  <a:lnTo>
                    <a:pt x="276415" y="15341"/>
                  </a:lnTo>
                  <a:lnTo>
                    <a:pt x="205332" y="26858"/>
                  </a:lnTo>
                  <a:lnTo>
                    <a:pt x="167822" y="49030"/>
                  </a:lnTo>
                  <a:lnTo>
                    <a:pt x="161580" y="58003"/>
                  </a:lnTo>
                  <a:lnTo>
                    <a:pt x="153328" y="66221"/>
                  </a:lnTo>
                  <a:lnTo>
                    <a:pt x="144826" y="75321"/>
                  </a:lnTo>
                  <a:lnTo>
                    <a:pt x="105179" y="94676"/>
                  </a:lnTo>
                  <a:lnTo>
                    <a:pt x="71941" y="123237"/>
                  </a:lnTo>
                  <a:lnTo>
                    <a:pt x="46997" y="159111"/>
                  </a:lnTo>
                  <a:lnTo>
                    <a:pt x="32231" y="200408"/>
                  </a:lnTo>
                  <a:lnTo>
                    <a:pt x="12607" y="229241"/>
                  </a:lnTo>
                  <a:lnTo>
                    <a:pt x="1905" y="265641"/>
                  </a:lnTo>
                  <a:lnTo>
                    <a:pt x="0" y="304058"/>
                  </a:lnTo>
                  <a:lnTo>
                    <a:pt x="6764" y="338945"/>
                  </a:lnTo>
                  <a:lnTo>
                    <a:pt x="25655" y="357523"/>
                  </a:lnTo>
                  <a:lnTo>
                    <a:pt x="45300" y="374587"/>
                  </a:lnTo>
                  <a:lnTo>
                    <a:pt x="64443" y="392661"/>
                  </a:lnTo>
                  <a:lnTo>
                    <a:pt x="81826" y="414266"/>
                  </a:lnTo>
                  <a:lnTo>
                    <a:pt x="98749" y="421768"/>
                  </a:lnTo>
                  <a:lnTo>
                    <a:pt x="117682" y="432928"/>
                  </a:lnTo>
                  <a:lnTo>
                    <a:pt x="136113" y="445852"/>
                  </a:lnTo>
                  <a:lnTo>
                    <a:pt x="151527" y="458651"/>
                  </a:lnTo>
                  <a:lnTo>
                    <a:pt x="171508" y="465103"/>
                  </a:lnTo>
                  <a:lnTo>
                    <a:pt x="744035" y="465103"/>
                  </a:lnTo>
                  <a:lnTo>
                    <a:pt x="753365" y="458651"/>
                  </a:lnTo>
                  <a:lnTo>
                    <a:pt x="767712" y="452304"/>
                  </a:lnTo>
                  <a:lnTo>
                    <a:pt x="778666" y="444192"/>
                  </a:lnTo>
                  <a:lnTo>
                    <a:pt x="789368" y="435575"/>
                  </a:lnTo>
                  <a:lnTo>
                    <a:pt x="802960" y="427715"/>
                  </a:lnTo>
                  <a:lnTo>
                    <a:pt x="835339" y="412353"/>
                  </a:lnTo>
                  <a:lnTo>
                    <a:pt x="855906" y="401656"/>
                  </a:lnTo>
                  <a:lnTo>
                    <a:pt x="870441" y="385158"/>
                  </a:lnTo>
                  <a:lnTo>
                    <a:pt x="884724" y="352394"/>
                  </a:lnTo>
                  <a:lnTo>
                    <a:pt x="907176" y="320534"/>
                  </a:lnTo>
                  <a:lnTo>
                    <a:pt x="920580" y="288170"/>
                  </a:lnTo>
                  <a:lnTo>
                    <a:pt x="928455" y="253283"/>
                  </a:lnTo>
                  <a:lnTo>
                    <a:pt x="934320" y="213857"/>
                  </a:lnTo>
                  <a:lnTo>
                    <a:pt x="924581" y="180779"/>
                  </a:lnTo>
                  <a:lnTo>
                    <a:pt x="913711" y="148961"/>
                  </a:lnTo>
                  <a:lnTo>
                    <a:pt x="899071" y="119664"/>
                  </a:lnTo>
                  <a:lnTo>
                    <a:pt x="878023" y="94151"/>
                  </a:lnTo>
                  <a:lnTo>
                    <a:pt x="853100" y="84841"/>
                  </a:lnTo>
                  <a:lnTo>
                    <a:pt x="830438" y="74144"/>
                  </a:lnTo>
                  <a:lnTo>
                    <a:pt x="809788" y="60673"/>
                  </a:lnTo>
                  <a:lnTo>
                    <a:pt x="790896" y="43041"/>
                  </a:lnTo>
                  <a:lnTo>
                    <a:pt x="743166" y="30210"/>
                  </a:lnTo>
                  <a:lnTo>
                    <a:pt x="697920" y="20273"/>
                  </a:lnTo>
                  <a:lnTo>
                    <a:pt x="653871" y="12831"/>
                  </a:lnTo>
                  <a:lnTo>
                    <a:pt x="609728" y="7482"/>
                  </a:lnTo>
                  <a:lnTo>
                    <a:pt x="564201" y="3827"/>
                  </a:lnTo>
                  <a:lnTo>
                    <a:pt x="516002" y="1466"/>
                  </a:lnTo>
                  <a:lnTo>
                    <a:pt x="463839" y="0"/>
                  </a:lnTo>
                  <a:close/>
                </a:path>
              </a:pathLst>
            </a:custGeom>
            <a:solidFill>
              <a:srgbClr val="9CAF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000" y="5435600"/>
            <a:ext cx="886951" cy="1155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5078" y="5437685"/>
            <a:ext cx="907067" cy="11349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5960" y="5437685"/>
            <a:ext cx="974639" cy="11540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2408" y="5422900"/>
            <a:ext cx="982352" cy="114973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32257" y="6596177"/>
            <a:ext cx="97345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985" marR="5080" indent="-248920">
              <a:lnSpc>
                <a:spcPct val="119200"/>
              </a:lnSpc>
              <a:spcBef>
                <a:spcPts val="100"/>
              </a:spcBef>
            </a:pPr>
            <a:r>
              <a:rPr dirty="0" sz="1050" spc="65" b="1">
                <a:latin typeface="Trebuchet MS"/>
                <a:cs typeface="Trebuchet MS"/>
              </a:rPr>
              <a:t>von</a:t>
            </a:r>
            <a:r>
              <a:rPr dirty="0" sz="1050" spc="25" b="1">
                <a:latin typeface="Trebuchet MS"/>
                <a:cs typeface="Trebuchet MS"/>
              </a:rPr>
              <a:t> </a:t>
            </a:r>
            <a:r>
              <a:rPr dirty="0" sz="1050" spc="55" b="1">
                <a:latin typeface="Trebuchet MS"/>
                <a:cs typeface="Trebuchet MS"/>
              </a:rPr>
              <a:t>Neumann </a:t>
            </a:r>
            <a:r>
              <a:rPr dirty="0" sz="1050" spc="40" b="1">
                <a:latin typeface="Trebuchet MS"/>
                <a:cs typeface="Trebuchet MS"/>
              </a:rPr>
              <a:t>(1953)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18190" y="6596177"/>
            <a:ext cx="476884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940">
              <a:lnSpc>
                <a:spcPct val="119200"/>
              </a:lnSpc>
              <a:spcBef>
                <a:spcPts val="100"/>
              </a:spcBef>
            </a:pPr>
            <a:r>
              <a:rPr dirty="0" sz="1050" spc="40" b="1">
                <a:latin typeface="Trebuchet MS"/>
                <a:cs typeface="Trebuchet MS"/>
              </a:rPr>
              <a:t>Gödel (1956)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520041" y="6596177"/>
            <a:ext cx="65976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39" marR="5080" indent="-92075">
              <a:lnSpc>
                <a:spcPct val="119200"/>
              </a:lnSpc>
              <a:spcBef>
                <a:spcPts val="100"/>
              </a:spcBef>
            </a:pPr>
            <a:r>
              <a:rPr dirty="0" sz="1050" spc="65" b="1">
                <a:latin typeface="Trebuchet MS"/>
                <a:cs typeface="Trebuchet MS"/>
              </a:rPr>
              <a:t>Edmonds </a:t>
            </a:r>
            <a:r>
              <a:rPr dirty="0" sz="1050" spc="40" b="1">
                <a:latin typeface="Trebuchet MS"/>
                <a:cs typeface="Trebuchet MS"/>
              </a:rPr>
              <a:t>(1965)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943693" y="6596177"/>
            <a:ext cx="476884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480">
              <a:lnSpc>
                <a:spcPct val="119200"/>
              </a:lnSpc>
              <a:spcBef>
                <a:spcPts val="100"/>
              </a:spcBef>
            </a:pPr>
            <a:r>
              <a:rPr dirty="0" sz="1050" spc="50" b="1">
                <a:latin typeface="Trebuchet MS"/>
                <a:cs typeface="Trebuchet MS"/>
              </a:rPr>
              <a:t>Rabin </a:t>
            </a:r>
            <a:r>
              <a:rPr dirty="0" sz="1050" spc="40" b="1">
                <a:latin typeface="Trebuchet MS"/>
                <a:cs typeface="Trebuchet MS"/>
              </a:rPr>
              <a:t>(1966)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1774" y="5437685"/>
            <a:ext cx="972814" cy="1140541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258225" y="6586640"/>
            <a:ext cx="58991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 marR="5080" indent="-57150">
              <a:lnSpc>
                <a:spcPct val="119200"/>
              </a:lnSpc>
              <a:spcBef>
                <a:spcPts val="100"/>
              </a:spcBef>
            </a:pPr>
            <a:r>
              <a:rPr dirty="0" sz="1050" spc="65" b="1">
                <a:latin typeface="Trebuchet MS"/>
                <a:cs typeface="Trebuchet MS"/>
              </a:rPr>
              <a:t>Cobham </a:t>
            </a:r>
            <a:r>
              <a:rPr dirty="0" sz="1050" spc="40" b="1">
                <a:latin typeface="Trebuchet MS"/>
                <a:cs typeface="Trebuchet MS"/>
              </a:rPr>
              <a:t>(1964)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8900" y="5456632"/>
            <a:ext cx="809077" cy="1134667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787865" y="6596177"/>
            <a:ext cx="476884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3340">
              <a:lnSpc>
                <a:spcPct val="119200"/>
              </a:lnSpc>
              <a:spcBef>
                <a:spcPts val="100"/>
              </a:spcBef>
            </a:pPr>
            <a:r>
              <a:rPr dirty="0" sz="1050" spc="65" b="1">
                <a:latin typeface="Trebuchet MS"/>
                <a:cs typeface="Trebuchet MS"/>
              </a:rPr>
              <a:t>Nash </a:t>
            </a:r>
            <a:r>
              <a:rPr dirty="0" sz="1050" spc="40" b="1">
                <a:latin typeface="Trebuchet MS"/>
                <a:cs typeface="Trebuchet MS"/>
              </a:rPr>
              <a:t>(1955)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dirty="0" spc="220"/>
              <a:t> </a:t>
            </a:r>
            <a:r>
              <a:rPr dirty="0"/>
              <a:t>running</a:t>
            </a:r>
            <a:r>
              <a:rPr dirty="0" spc="220"/>
              <a:t> </a:t>
            </a:r>
            <a:r>
              <a:rPr dirty="0" spc="-20"/>
              <a:t>time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745267" y="1131247"/>
            <a:ext cx="7940040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312420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Desirable</a:t>
            </a:r>
            <a:r>
              <a:rPr dirty="0" sz="1800" spc="-4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scaling</a:t>
            </a:r>
            <a:r>
              <a:rPr dirty="0" sz="1800" spc="-4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property.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When the input size doubles, the </a:t>
            </a:r>
            <a:r>
              <a:rPr dirty="0" sz="1800" spc="-10">
                <a:latin typeface="Lucida Sans Unicode"/>
                <a:cs typeface="Lucida Sans Unicode"/>
              </a:rPr>
              <a:t>algorithm </a:t>
            </a:r>
            <a:r>
              <a:rPr dirty="0" sz="1800">
                <a:latin typeface="Lucida Sans Unicode"/>
                <a:cs typeface="Lucida Sans Unicode"/>
              </a:rPr>
              <a:t>should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only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slow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down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by</a:t>
            </a:r>
            <a:r>
              <a:rPr dirty="0" sz="1800" spc="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some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constant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factor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C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45267" y="3031097"/>
            <a:ext cx="747458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dirty="0" sz="1800" spc="-2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spc="-55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dirty="0" sz="1800" spc="-2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dirty="0" sz="18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above scaling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property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holds.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965805" y="4302326"/>
            <a:ext cx="11080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dirty="0" sz="1200" spc="-19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dirty="0" baseline="20833" sz="1200" spc="-37">
                <a:solidFill>
                  <a:srgbClr val="8D3124"/>
                </a:solidFill>
                <a:latin typeface="Lucida Sans Unicode"/>
                <a:cs typeface="Lucida Sans Unicode"/>
              </a:rPr>
              <a:t>d</a:t>
            </a:r>
            <a:endParaRPr baseline="20833" sz="12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711708" y="3759102"/>
            <a:ext cx="5913755" cy="1287780"/>
          </a:xfrm>
          <a:custGeom>
            <a:avLst/>
            <a:gdLst/>
            <a:ahLst/>
            <a:cxnLst/>
            <a:rect l="l" t="t" r="r" b="b"/>
            <a:pathLst>
              <a:path w="5913755" h="1287779">
                <a:moveTo>
                  <a:pt x="0" y="0"/>
                </a:moveTo>
                <a:lnTo>
                  <a:pt x="5913188" y="0"/>
                </a:lnTo>
                <a:lnTo>
                  <a:pt x="5913188" y="1287548"/>
                </a:lnTo>
                <a:lnTo>
                  <a:pt x="0" y="1287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2036989" y="3889463"/>
            <a:ext cx="5262880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96215">
              <a:lnSpc>
                <a:spcPct val="133500"/>
              </a:lnSpc>
              <a:spcBef>
                <a:spcPts val="100"/>
              </a:spcBef>
            </a:pPr>
            <a:r>
              <a:rPr dirty="0" sz="1500" spc="50" b="1">
                <a:latin typeface="Trebuchet MS"/>
                <a:cs typeface="Trebuchet MS"/>
              </a:rPr>
              <a:t>There </a:t>
            </a:r>
            <a:r>
              <a:rPr dirty="0" sz="1500" spc="80" b="1">
                <a:latin typeface="Trebuchet MS"/>
                <a:cs typeface="Trebuchet MS"/>
              </a:rPr>
              <a:t>exists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85" b="1">
                <a:latin typeface="Trebuchet MS"/>
                <a:cs typeface="Trebuchet MS"/>
              </a:rPr>
              <a:t>constants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b="1">
                <a:latin typeface="Trebuchet MS"/>
                <a:cs typeface="Trebuchet MS"/>
              </a:rPr>
              <a:t>c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315" b="1">
                <a:latin typeface="Trebuchet MS"/>
                <a:cs typeface="Trebuchet MS"/>
              </a:rPr>
              <a:t>&gt;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110" b="1">
                <a:latin typeface="Trebuchet MS"/>
                <a:cs typeface="Trebuchet MS"/>
              </a:rPr>
              <a:t>0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90" b="1">
                <a:latin typeface="Trebuchet MS"/>
                <a:cs typeface="Trebuchet MS"/>
              </a:rPr>
              <a:t>and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110" b="1">
                <a:latin typeface="Trebuchet MS"/>
                <a:cs typeface="Trebuchet MS"/>
              </a:rPr>
              <a:t>d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315" b="1">
                <a:latin typeface="Trebuchet MS"/>
                <a:cs typeface="Trebuchet MS"/>
              </a:rPr>
              <a:t>&gt;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110" b="1">
                <a:latin typeface="Trebuchet MS"/>
                <a:cs typeface="Trebuchet MS"/>
              </a:rPr>
              <a:t>0</a:t>
            </a:r>
            <a:r>
              <a:rPr dirty="0" sz="1500" spc="50" b="1">
                <a:latin typeface="Trebuchet MS"/>
                <a:cs typeface="Trebuchet MS"/>
              </a:rPr>
              <a:t> </a:t>
            </a:r>
            <a:r>
              <a:rPr dirty="0" sz="1500" spc="105" b="1">
                <a:latin typeface="Trebuchet MS"/>
                <a:cs typeface="Trebuchet MS"/>
              </a:rPr>
              <a:t>such</a:t>
            </a:r>
            <a:r>
              <a:rPr dirty="0" sz="1500" spc="55" b="1">
                <a:latin typeface="Trebuchet MS"/>
                <a:cs typeface="Trebuchet MS"/>
              </a:rPr>
              <a:t> </a:t>
            </a:r>
            <a:r>
              <a:rPr dirty="0" sz="1500" spc="-20" b="1">
                <a:latin typeface="Trebuchet MS"/>
                <a:cs typeface="Trebuchet MS"/>
              </a:rPr>
              <a:t>that </a:t>
            </a:r>
            <a:r>
              <a:rPr dirty="0" sz="1500" spc="95" b="1">
                <a:latin typeface="Trebuchet MS"/>
                <a:cs typeface="Trebuchet MS"/>
              </a:rPr>
              <a:t>on</a:t>
            </a:r>
            <a:r>
              <a:rPr dirty="0" sz="1500" spc="60" b="1">
                <a:latin typeface="Trebuchet MS"/>
                <a:cs typeface="Trebuchet MS"/>
              </a:rPr>
              <a:t> </a:t>
            </a:r>
            <a:r>
              <a:rPr dirty="0" sz="1500" b="1">
                <a:latin typeface="Trebuchet MS"/>
                <a:cs typeface="Trebuchet MS"/>
              </a:rPr>
              <a:t>every</a:t>
            </a:r>
            <a:r>
              <a:rPr dirty="0" sz="1500" spc="65" b="1">
                <a:latin typeface="Trebuchet MS"/>
                <a:cs typeface="Trebuchet MS"/>
              </a:rPr>
              <a:t> input</a:t>
            </a:r>
            <a:r>
              <a:rPr dirty="0" sz="1500" spc="60" b="1">
                <a:latin typeface="Trebuchet MS"/>
                <a:cs typeface="Trebuchet MS"/>
              </a:rPr>
              <a:t> </a:t>
            </a:r>
            <a:r>
              <a:rPr dirty="0" sz="1500" spc="85" b="1">
                <a:latin typeface="Trebuchet MS"/>
                <a:cs typeface="Trebuchet MS"/>
              </a:rPr>
              <a:t>of</a:t>
            </a:r>
            <a:r>
              <a:rPr dirty="0" sz="1500" spc="65" b="1">
                <a:latin typeface="Trebuchet MS"/>
                <a:cs typeface="Trebuchet MS"/>
              </a:rPr>
              <a:t> </a:t>
            </a:r>
            <a:r>
              <a:rPr dirty="0" sz="1500" spc="85" b="1">
                <a:latin typeface="Trebuchet MS"/>
                <a:cs typeface="Trebuchet MS"/>
              </a:rPr>
              <a:t>size</a:t>
            </a:r>
            <a:r>
              <a:rPr dirty="0" sz="1500" spc="65" b="1">
                <a:latin typeface="Trebuchet MS"/>
                <a:cs typeface="Trebuchet MS"/>
              </a:rPr>
              <a:t> </a:t>
            </a:r>
            <a:r>
              <a:rPr dirty="0" sz="1500" b="1">
                <a:latin typeface="Trebuchet MS"/>
                <a:cs typeface="Trebuchet MS"/>
              </a:rPr>
              <a:t>n,</a:t>
            </a:r>
            <a:r>
              <a:rPr dirty="0" sz="1500" spc="60" b="1">
                <a:latin typeface="Trebuchet MS"/>
                <a:cs typeface="Trebuchet MS"/>
              </a:rPr>
              <a:t> </a:t>
            </a:r>
            <a:r>
              <a:rPr dirty="0" sz="1500" spc="75" b="1">
                <a:latin typeface="Trebuchet MS"/>
                <a:cs typeface="Trebuchet MS"/>
              </a:rPr>
              <a:t>its</a:t>
            </a:r>
            <a:r>
              <a:rPr dirty="0" sz="1500" spc="65" b="1">
                <a:latin typeface="Trebuchet MS"/>
                <a:cs typeface="Trebuchet MS"/>
              </a:rPr>
              <a:t> </a:t>
            </a:r>
            <a:r>
              <a:rPr dirty="0" sz="1500" spc="95" b="1">
                <a:latin typeface="Trebuchet MS"/>
                <a:cs typeface="Trebuchet MS"/>
              </a:rPr>
              <a:t>running</a:t>
            </a:r>
            <a:r>
              <a:rPr dirty="0" sz="1500" spc="65" b="1">
                <a:latin typeface="Trebuchet MS"/>
                <a:cs typeface="Trebuchet MS"/>
              </a:rPr>
              <a:t> </a:t>
            </a:r>
            <a:r>
              <a:rPr dirty="0" sz="1500" spc="55" b="1">
                <a:latin typeface="Trebuchet MS"/>
                <a:cs typeface="Trebuchet MS"/>
              </a:rPr>
              <a:t>time</a:t>
            </a:r>
            <a:r>
              <a:rPr dirty="0" sz="1500" spc="60" b="1">
                <a:latin typeface="Trebuchet MS"/>
                <a:cs typeface="Trebuchet MS"/>
              </a:rPr>
              <a:t> </a:t>
            </a:r>
            <a:r>
              <a:rPr dirty="0" sz="1500" spc="114" b="1">
                <a:latin typeface="Trebuchet MS"/>
                <a:cs typeface="Trebuchet MS"/>
              </a:rPr>
              <a:t>is</a:t>
            </a:r>
            <a:r>
              <a:rPr dirty="0" sz="1500" spc="65" b="1">
                <a:latin typeface="Trebuchet MS"/>
                <a:cs typeface="Trebuchet MS"/>
              </a:rPr>
              <a:t> </a:t>
            </a:r>
            <a:r>
              <a:rPr dirty="0" sz="1500" spc="80" b="1">
                <a:latin typeface="Trebuchet MS"/>
                <a:cs typeface="Trebuchet MS"/>
              </a:rPr>
              <a:t>bounded</a:t>
            </a:r>
            <a:endParaRPr sz="1500">
              <a:latin typeface="Trebuchet MS"/>
              <a:cs typeface="Trebuchet MS"/>
            </a:endParaRPr>
          </a:p>
          <a:p>
            <a:pPr marL="782955">
              <a:lnSpc>
                <a:spcPct val="100000"/>
              </a:lnSpc>
              <a:spcBef>
                <a:spcPts val="600"/>
              </a:spcBef>
            </a:pPr>
            <a:r>
              <a:rPr dirty="0" sz="1500" spc="90" b="1">
                <a:latin typeface="Trebuchet MS"/>
                <a:cs typeface="Trebuchet MS"/>
              </a:rPr>
              <a:t>by</a:t>
            </a:r>
            <a:r>
              <a:rPr dirty="0" sz="1500" spc="60" b="1">
                <a:latin typeface="Trebuchet MS"/>
                <a:cs typeface="Trebuchet MS"/>
              </a:rPr>
              <a:t> </a:t>
            </a:r>
            <a:r>
              <a:rPr dirty="0" sz="1500" b="1">
                <a:latin typeface="Trebuchet MS"/>
                <a:cs typeface="Trebuchet MS"/>
              </a:rPr>
              <a:t>c</a:t>
            </a:r>
            <a:r>
              <a:rPr dirty="0" sz="1500" spc="-110" b="1">
                <a:latin typeface="Trebuchet MS"/>
                <a:cs typeface="Trebuchet MS"/>
              </a:rPr>
              <a:t> </a:t>
            </a:r>
            <a:r>
              <a:rPr dirty="0" sz="1500" spc="90" b="1">
                <a:latin typeface="Trebuchet MS"/>
                <a:cs typeface="Trebuchet MS"/>
              </a:rPr>
              <a:t>n</a:t>
            </a:r>
            <a:r>
              <a:rPr dirty="0" baseline="27777" sz="1500" spc="135" b="1">
                <a:latin typeface="Trebuchet MS"/>
                <a:cs typeface="Trebuchet MS"/>
              </a:rPr>
              <a:t>d</a:t>
            </a:r>
            <a:r>
              <a:rPr dirty="0" baseline="27777" sz="1500" spc="60" b="1">
                <a:latin typeface="Trebuchet MS"/>
                <a:cs typeface="Trebuchet MS"/>
              </a:rPr>
              <a:t> </a:t>
            </a:r>
            <a:r>
              <a:rPr dirty="0" sz="1500" spc="55" b="1">
                <a:latin typeface="Trebuchet MS"/>
                <a:cs typeface="Trebuchet MS"/>
              </a:rPr>
              <a:t>primitive</a:t>
            </a:r>
            <a:r>
              <a:rPr dirty="0" sz="1500" spc="65" b="1">
                <a:latin typeface="Trebuchet MS"/>
                <a:cs typeface="Trebuchet MS"/>
              </a:rPr>
              <a:t> </a:t>
            </a:r>
            <a:r>
              <a:rPr dirty="0" sz="1500" spc="70" b="1">
                <a:latin typeface="Trebuchet MS"/>
                <a:cs typeface="Trebuchet MS"/>
              </a:rPr>
              <a:t>computational</a:t>
            </a:r>
            <a:r>
              <a:rPr dirty="0" sz="1500" spc="65" b="1">
                <a:latin typeface="Trebuchet MS"/>
                <a:cs typeface="Trebuchet MS"/>
              </a:rPr>
              <a:t> </a:t>
            </a:r>
            <a:r>
              <a:rPr dirty="0" sz="1500" spc="45" b="1">
                <a:latin typeface="Trebuchet MS"/>
                <a:cs typeface="Trebuchet MS"/>
              </a:rPr>
              <a:t>steps.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395701" y="4381238"/>
            <a:ext cx="454659" cy="92075"/>
            <a:chOff x="7395701" y="4381238"/>
            <a:chExt cx="454659" cy="92075"/>
          </a:xfrm>
        </p:grpSpPr>
        <p:sp>
          <p:nvSpPr>
            <p:cNvPr id="22" name="object 22" descr=""/>
            <p:cNvSpPr/>
            <p:nvPr/>
          </p:nvSpPr>
          <p:spPr>
            <a:xfrm>
              <a:off x="7454833" y="442701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 h="0">
                  <a:moveTo>
                    <a:pt x="0" y="3"/>
                  </a:moveTo>
                  <a:lnTo>
                    <a:pt x="9537" y="3"/>
                  </a:lnTo>
                  <a:lnTo>
                    <a:pt x="395283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95701" y="4381238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68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5267" y="1218991"/>
            <a:ext cx="7778115" cy="1025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Lucida Sans Unicode"/>
                <a:cs typeface="Lucida Sans Unicode"/>
              </a:rPr>
              <a:t>We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say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efficient</a:t>
            </a:r>
            <a:r>
              <a:rPr dirty="0" sz="18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has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polynomial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running</a:t>
            </a:r>
            <a:r>
              <a:rPr dirty="0" sz="1800" spc="-10">
                <a:latin typeface="Lucida Sans Unicode"/>
                <a:cs typeface="Lucida Sans Unicode"/>
              </a:rPr>
              <a:t> time.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54051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Justification.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It</a:t>
            </a:r>
            <a:r>
              <a:rPr dirty="0" sz="1800" spc="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really</a:t>
            </a:r>
            <a:r>
              <a:rPr dirty="0" sz="1800" spc="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works</a:t>
            </a:r>
            <a:r>
              <a:rPr dirty="0" sz="1800" spc="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dirty="0" sz="1800" spc="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8D3124"/>
                </a:solidFill>
                <a:latin typeface="Lucida Sans Unicode"/>
                <a:cs typeface="Lucida Sans Unicode"/>
              </a:rPr>
              <a:t>practice!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83988" y="2668676"/>
            <a:ext cx="33667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Lucida Sans Unicode"/>
                <a:cs typeface="Lucida Sans Unicode"/>
              </a:rPr>
              <a:t>constants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low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exponents.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15241" y="2168916"/>
            <a:ext cx="7847330" cy="15252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In practice,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-55">
                <a:latin typeface="Lucida Sans Unicode"/>
                <a:cs typeface="Lucida Sans Unicode"/>
              </a:rPr>
              <a:t>poly-</a:t>
            </a:r>
            <a:r>
              <a:rPr dirty="0" sz="1800" spc="-20">
                <a:latin typeface="Lucida Sans Unicode"/>
                <a:cs typeface="Lucida Sans Unicode"/>
              </a:rPr>
              <a:t>time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people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develop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have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low</a:t>
            </a:r>
            <a:endParaRPr sz="1800">
              <a:latin typeface="Lucida Sans Unicode"/>
              <a:cs typeface="Lucida Sans Unicode"/>
            </a:endParaRPr>
          </a:p>
          <a:p>
            <a:pPr marL="381000" marR="295275" indent="-343535">
              <a:lnSpc>
                <a:spcPct val="114100"/>
              </a:lnSpc>
              <a:spcBef>
                <a:spcPts val="1805"/>
              </a:spcBef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Breaking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through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exponential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barrier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brute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force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typically </a:t>
            </a:r>
            <a:r>
              <a:rPr dirty="0" sz="1800">
                <a:latin typeface="Lucida Sans Unicode"/>
                <a:cs typeface="Lucida Sans Unicode"/>
              </a:rPr>
              <a:t>exposes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some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crucial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structure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problem.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5267" y="4030617"/>
            <a:ext cx="7107555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43510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Some </a:t>
            </a:r>
            <a:r>
              <a:rPr dirty="0" sz="1800" spc="-55">
                <a:latin typeface="Lucida Sans Unicode"/>
                <a:cs typeface="Lucida Sans Unicode"/>
              </a:rPr>
              <a:t>poly-</a:t>
            </a:r>
            <a:r>
              <a:rPr dirty="0" sz="1800" spc="-20">
                <a:latin typeface="Lucida Sans Unicode"/>
                <a:cs typeface="Lucida Sans Unicode"/>
              </a:rPr>
              <a:t>time</a:t>
            </a:r>
            <a:r>
              <a:rPr dirty="0" sz="1800">
                <a:latin typeface="Lucida Sans Unicode"/>
                <a:cs typeface="Lucida Sans Unicode"/>
              </a:rPr>
              <a:t> algorithms do have high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constants </a:t>
            </a:r>
            <a:r>
              <a:rPr dirty="0" sz="1800">
                <a:latin typeface="Lucida Sans Unicode"/>
                <a:cs typeface="Lucida Sans Unicode"/>
              </a:rPr>
              <a:t>and/or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exponents,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and/or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useless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5267" y="5205625"/>
            <a:ext cx="30651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Which</a:t>
            </a:r>
            <a:r>
              <a:rPr dirty="0" sz="1800" spc="6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would</a:t>
            </a:r>
            <a:r>
              <a:rPr dirty="0" sz="1800" spc="6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you</a:t>
            </a:r>
            <a:r>
              <a:rPr dirty="0" sz="1800" spc="6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prefer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91361" y="5151834"/>
            <a:ext cx="21107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baseline="-12345" sz="2700">
                <a:latin typeface="Times New Roman"/>
                <a:cs typeface="Times New Roman"/>
              </a:rPr>
              <a:t>20</a:t>
            </a:r>
            <a:r>
              <a:rPr dirty="0" baseline="-12345" sz="2700" spc="-217">
                <a:latin typeface="Times New Roman"/>
                <a:cs typeface="Times New Roman"/>
              </a:rPr>
              <a:t> </a:t>
            </a:r>
            <a:r>
              <a:rPr dirty="0" baseline="-12345" sz="2700" i="1">
                <a:latin typeface="Times New Roman"/>
                <a:cs typeface="Times New Roman"/>
              </a:rPr>
              <a:t>n</a:t>
            </a:r>
            <a:r>
              <a:rPr dirty="0" baseline="2314" sz="1800">
                <a:latin typeface="Times New Roman"/>
                <a:cs typeface="Times New Roman"/>
              </a:rPr>
              <a:t>100</a:t>
            </a:r>
            <a:r>
              <a:rPr dirty="0" baseline="2314" sz="1800" spc="240">
                <a:latin typeface="Times New Roman"/>
                <a:cs typeface="Times New Roman"/>
              </a:rPr>
              <a:t>  </a:t>
            </a:r>
            <a:r>
              <a:rPr dirty="0" baseline="-12345" sz="2700">
                <a:latin typeface="Lucida Sans Unicode"/>
                <a:cs typeface="Lucida Sans Unicode"/>
              </a:rPr>
              <a:t>vs.</a:t>
            </a:r>
            <a:r>
              <a:rPr dirty="0" baseline="-12345" sz="2700" spc="15">
                <a:latin typeface="Lucida Sans Unicode"/>
                <a:cs typeface="Lucida Sans Unicode"/>
              </a:rPr>
              <a:t> </a:t>
            </a:r>
            <a:r>
              <a:rPr dirty="0" baseline="-12345" sz="2700" i="1">
                <a:latin typeface="Times New Roman"/>
                <a:cs typeface="Times New Roman"/>
              </a:rPr>
              <a:t>n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0.02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82747" y="5205625"/>
            <a:ext cx="1225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Lucida Sans Unicode"/>
                <a:cs typeface="Lucida Sans Unicode"/>
              </a:rPr>
              <a:t>?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dirty="0" spc="220"/>
              <a:t> </a:t>
            </a:r>
            <a:r>
              <a:rPr dirty="0"/>
              <a:t>running</a:t>
            </a:r>
            <a:r>
              <a:rPr dirty="0" spc="220"/>
              <a:t> </a:t>
            </a:r>
            <a:r>
              <a:rPr dirty="0" spc="-20"/>
              <a:t>time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6804679" y="4741454"/>
            <a:ext cx="2384425" cy="2499360"/>
            <a:chOff x="6804679" y="4741454"/>
            <a:chExt cx="2384425" cy="2499360"/>
          </a:xfrm>
        </p:grpSpPr>
        <p:sp>
          <p:nvSpPr>
            <p:cNvPr id="12" name="object 12" descr=""/>
            <p:cNvSpPr/>
            <p:nvPr/>
          </p:nvSpPr>
          <p:spPr>
            <a:xfrm>
              <a:off x="6804679" y="4741454"/>
              <a:ext cx="2384425" cy="2499360"/>
            </a:xfrm>
            <a:custGeom>
              <a:avLst/>
              <a:gdLst/>
              <a:ahLst/>
              <a:cxnLst/>
              <a:rect l="l" t="t" r="r" b="b"/>
              <a:pathLst>
                <a:path w="2384425" h="2499359">
                  <a:moveTo>
                    <a:pt x="0" y="0"/>
                  </a:moveTo>
                  <a:lnTo>
                    <a:pt x="2384351" y="0"/>
                  </a:lnTo>
                  <a:lnTo>
                    <a:pt x="2384351" y="2498799"/>
                  </a:lnTo>
                  <a:lnTo>
                    <a:pt x="0" y="249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4038" y="5257719"/>
              <a:ext cx="22919" cy="24676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804679" y="4741454"/>
            <a:ext cx="2384425" cy="249936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750">
              <a:latin typeface="Times New Roman"/>
              <a:cs typeface="Times New Roman"/>
            </a:endParaRPr>
          </a:p>
          <a:p>
            <a:pPr algn="ctr" marR="54610">
              <a:lnSpc>
                <a:spcPct val="100000"/>
              </a:lnSpc>
              <a:spcBef>
                <a:spcPts val="5"/>
              </a:spcBef>
            </a:pPr>
            <a:r>
              <a:rPr dirty="0" sz="750" b="1">
                <a:latin typeface="Times New Roman"/>
                <a:cs typeface="Times New Roman"/>
              </a:rPr>
              <a:t>Map</a:t>
            </a:r>
            <a:r>
              <a:rPr dirty="0" sz="750" spc="55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graphs</a:t>
            </a:r>
            <a:r>
              <a:rPr dirty="0" sz="750" spc="65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in</a:t>
            </a:r>
            <a:r>
              <a:rPr dirty="0" sz="750" spc="40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polynomial</a:t>
            </a:r>
            <a:r>
              <a:rPr dirty="0" sz="750" spc="30" b="1">
                <a:latin typeface="Times New Roman"/>
                <a:cs typeface="Times New Roman"/>
              </a:rPr>
              <a:t> </a:t>
            </a:r>
            <a:r>
              <a:rPr dirty="0" sz="750" spc="-20" b="1">
                <a:latin typeface="Times New Roman"/>
                <a:cs typeface="Times New Roman"/>
              </a:rPr>
              <a:t>time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750">
              <a:latin typeface="Times New Roman"/>
              <a:cs typeface="Times New Roman"/>
            </a:endParaRPr>
          </a:p>
          <a:p>
            <a:pPr algn="ctr" marR="56515">
              <a:lnSpc>
                <a:spcPct val="100000"/>
              </a:lnSpc>
              <a:spcBef>
                <a:spcPts val="5"/>
              </a:spcBef>
            </a:pPr>
            <a:r>
              <a:rPr dirty="0" sz="650">
                <a:latin typeface="Times New Roman"/>
                <a:cs typeface="Times New Roman"/>
              </a:rPr>
              <a:t>Mikkel</a:t>
            </a:r>
            <a:r>
              <a:rPr dirty="0" sz="650" spc="10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Thorup</a:t>
            </a:r>
            <a:endParaRPr sz="650">
              <a:latin typeface="Times New Roman"/>
              <a:cs typeface="Times New Roman"/>
            </a:endParaRPr>
          </a:p>
          <a:p>
            <a:pPr algn="ctr" marL="128270" marR="185420">
              <a:lnSpc>
                <a:spcPct val="103200"/>
              </a:lnSpc>
            </a:pPr>
            <a:r>
              <a:rPr dirty="0" sz="650">
                <a:latin typeface="Times New Roman"/>
                <a:cs typeface="Times New Roman"/>
              </a:rPr>
              <a:t>Department</a:t>
            </a:r>
            <a:r>
              <a:rPr dirty="0" sz="650" spc="2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of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Computer</a:t>
            </a:r>
            <a:r>
              <a:rPr dirty="0" sz="650" spc="3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Science,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University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of</a:t>
            </a:r>
            <a:r>
              <a:rPr dirty="0" sz="650" spc="15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Copenhagen</a:t>
            </a:r>
            <a:r>
              <a:rPr dirty="0" sz="650" spc="50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Universitetsparken</a:t>
            </a:r>
            <a:r>
              <a:rPr dirty="0" sz="650" spc="1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1,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DK-2100</a:t>
            </a:r>
            <a:r>
              <a:rPr dirty="0" sz="650" spc="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Copenhagen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East,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Denmark</a:t>
            </a:r>
            <a:r>
              <a:rPr dirty="0" sz="650" spc="500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  <a:hlinkClick r:id="rId3"/>
              </a:rPr>
              <a:t>mthorup@diku.dk</a:t>
            </a:r>
            <a:endParaRPr sz="650">
              <a:latin typeface="Times New Roman"/>
              <a:cs typeface="Times New Roman"/>
            </a:endParaRPr>
          </a:p>
          <a:p>
            <a:pPr algn="ctr" marR="100965">
              <a:lnSpc>
                <a:spcPct val="100000"/>
              </a:lnSpc>
              <a:spcBef>
                <a:spcPts val="545"/>
              </a:spcBef>
            </a:pPr>
            <a:r>
              <a:rPr dirty="0" sz="650" spc="-10" b="1">
                <a:latin typeface="Times New Roman"/>
                <a:cs typeface="Times New Roman"/>
              </a:rPr>
              <a:t>Abstract</a:t>
            </a:r>
            <a:endParaRPr sz="650">
              <a:latin typeface="Times New Roman"/>
              <a:cs typeface="Times New Roman"/>
            </a:endParaRPr>
          </a:p>
          <a:p>
            <a:pPr algn="just" marL="269240" marR="368300" indent="87630">
              <a:lnSpc>
                <a:spcPct val="104900"/>
              </a:lnSpc>
              <a:spcBef>
                <a:spcPts val="665"/>
              </a:spcBef>
            </a:pPr>
            <a:r>
              <a:rPr dirty="0" sz="550" spc="-10" i="1">
                <a:latin typeface="Times New Roman"/>
                <a:cs typeface="Times New Roman"/>
              </a:rPr>
              <a:t>Chen,</a:t>
            </a:r>
            <a:r>
              <a:rPr dirty="0" sz="550" spc="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Grigni,</a:t>
            </a:r>
            <a:r>
              <a:rPr dirty="0" sz="550" spc="30" i="1">
                <a:latin typeface="Times New Roman"/>
                <a:cs typeface="Times New Roman"/>
              </a:rPr>
              <a:t> </a:t>
            </a:r>
            <a:r>
              <a:rPr dirty="0" sz="550" spc="-20" i="1">
                <a:latin typeface="Times New Roman"/>
                <a:cs typeface="Times New Roman"/>
              </a:rPr>
              <a:t>and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Papadimitriou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spc="-20" i="1">
                <a:latin typeface="Times New Roman"/>
                <a:cs typeface="Times New Roman"/>
              </a:rPr>
              <a:t>(WADS’97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spc="-20" i="1">
                <a:latin typeface="Times New Roman"/>
                <a:cs typeface="Times New Roman"/>
              </a:rPr>
              <a:t>and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STOC’98)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have</a:t>
            </a:r>
            <a:r>
              <a:rPr dirty="0" sz="550" spc="6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introduced</a:t>
            </a:r>
            <a:r>
              <a:rPr dirty="0" sz="550" spc="7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</a:t>
            </a:r>
            <a:r>
              <a:rPr dirty="0" sz="550" spc="7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modified</a:t>
            </a:r>
            <a:r>
              <a:rPr dirty="0" sz="550" spc="7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notion</a:t>
            </a:r>
            <a:r>
              <a:rPr dirty="0" sz="550" spc="7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of</a:t>
            </a:r>
            <a:r>
              <a:rPr dirty="0" sz="550" spc="7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planarity,</a:t>
            </a:r>
            <a:r>
              <a:rPr dirty="0" sz="550" spc="8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where</a:t>
            </a:r>
            <a:r>
              <a:rPr dirty="0" sz="550" spc="55" i="1">
                <a:latin typeface="Times New Roman"/>
                <a:cs typeface="Times New Roman"/>
              </a:rPr>
              <a:t> </a:t>
            </a:r>
            <a:r>
              <a:rPr dirty="0" sz="550" spc="-25" i="1">
                <a:latin typeface="Times New Roman"/>
                <a:cs typeface="Times New Roman"/>
              </a:rPr>
              <a:t>two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faces are</a:t>
            </a:r>
            <a:r>
              <a:rPr dirty="0" sz="550" spc="-10" i="1">
                <a:latin typeface="Times New Roman"/>
                <a:cs typeface="Times New Roman"/>
              </a:rPr>
              <a:t> considered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adjacent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if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they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share</a:t>
            </a:r>
            <a:r>
              <a:rPr dirty="0" sz="550" spc="-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at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least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one </a:t>
            </a:r>
            <a:r>
              <a:rPr dirty="0" sz="550" spc="-10" i="1">
                <a:latin typeface="Times New Roman"/>
                <a:cs typeface="Times New Roman"/>
              </a:rPr>
              <a:t>point.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The</a:t>
            </a:r>
            <a:r>
              <a:rPr dirty="0" sz="550" spc="8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corresponding</a:t>
            </a:r>
            <a:r>
              <a:rPr dirty="0" sz="550" spc="5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abstract</a:t>
            </a:r>
            <a:r>
              <a:rPr dirty="0" sz="550" spc="7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graphs</a:t>
            </a:r>
            <a:r>
              <a:rPr dirty="0" sz="550" spc="7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are</a:t>
            </a:r>
            <a:r>
              <a:rPr dirty="0" sz="550" spc="7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called</a:t>
            </a:r>
            <a:r>
              <a:rPr dirty="0" sz="550" spc="75" i="1">
                <a:latin typeface="Times New Roman"/>
                <a:cs typeface="Times New Roman"/>
              </a:rPr>
              <a:t> </a:t>
            </a:r>
            <a:r>
              <a:rPr dirty="0" sz="550">
                <a:latin typeface="Times New Roman"/>
                <a:cs typeface="Times New Roman"/>
              </a:rPr>
              <a:t>map</a:t>
            </a:r>
            <a:r>
              <a:rPr dirty="0" sz="550" spc="80"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graphs</a:t>
            </a:r>
            <a:r>
              <a:rPr dirty="0" sz="550" spc="-10" i="1">
                <a:latin typeface="Times New Roman"/>
                <a:cs typeface="Times New Roman"/>
              </a:rPr>
              <a:t>.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Chen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et.al.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raised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the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question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of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whether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map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graphs can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spc="-25" i="1">
                <a:latin typeface="Times New Roman"/>
                <a:cs typeface="Times New Roman"/>
              </a:rPr>
              <a:t>be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recognized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in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polynomial</a:t>
            </a:r>
            <a:r>
              <a:rPr dirty="0" sz="550" spc="-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time.</a:t>
            </a:r>
            <a:r>
              <a:rPr dirty="0" sz="550" spc="5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They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showed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that the</a:t>
            </a:r>
            <a:r>
              <a:rPr dirty="0" sz="550" spc="-10" i="1">
                <a:latin typeface="Times New Roman"/>
                <a:cs typeface="Times New Roman"/>
              </a:rPr>
              <a:t> decision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problem</a:t>
            </a:r>
            <a:r>
              <a:rPr dirty="0" sz="550" spc="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is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in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NP and</a:t>
            </a:r>
            <a:r>
              <a:rPr dirty="0" sz="550" spc="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presented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</a:t>
            </a:r>
            <a:r>
              <a:rPr dirty="0" sz="550" spc="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polynomial time</a:t>
            </a:r>
            <a:r>
              <a:rPr dirty="0" sz="550" spc="20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algorithm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for</a:t>
            </a:r>
            <a:r>
              <a:rPr dirty="0" sz="550" spc="-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the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special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case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where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we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allow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at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most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4</a:t>
            </a:r>
            <a:r>
              <a:rPr dirty="0" sz="550" spc="-10" i="1">
                <a:latin typeface="Times New Roman"/>
                <a:cs typeface="Times New Roman"/>
              </a:rPr>
              <a:t> faces</a:t>
            </a:r>
            <a:r>
              <a:rPr dirty="0" sz="550" i="1">
                <a:latin typeface="Times New Roman"/>
                <a:cs typeface="Times New Roman"/>
              </a:rPr>
              <a:t> to</a:t>
            </a:r>
            <a:r>
              <a:rPr dirty="0" sz="550" spc="-10" i="1">
                <a:latin typeface="Times New Roman"/>
                <a:cs typeface="Times New Roman"/>
              </a:rPr>
              <a:t> intersect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in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any point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—</a:t>
            </a:r>
            <a:r>
              <a:rPr dirty="0" sz="550" spc="-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if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only</a:t>
            </a:r>
            <a:r>
              <a:rPr dirty="0" sz="550" spc="-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3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are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allowed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to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intersect</a:t>
            </a:r>
            <a:r>
              <a:rPr dirty="0" sz="550" spc="-3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in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point, </a:t>
            </a:r>
            <a:r>
              <a:rPr dirty="0" sz="550" spc="-25" i="1">
                <a:latin typeface="Times New Roman"/>
                <a:cs typeface="Times New Roman"/>
              </a:rPr>
              <a:t>we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get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the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usual</a:t>
            </a:r>
            <a:r>
              <a:rPr dirty="0" sz="550" spc="-2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planar</a:t>
            </a:r>
            <a:r>
              <a:rPr dirty="0" sz="550" spc="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graphs.</a:t>
            </a:r>
            <a:endParaRPr sz="550">
              <a:latin typeface="Times New Roman"/>
              <a:cs typeface="Times New Roman"/>
            </a:endParaRPr>
          </a:p>
          <a:p>
            <a:pPr algn="just" marL="269240" marR="366395" indent="87630">
              <a:lnSpc>
                <a:spcPts val="690"/>
              </a:lnSpc>
              <a:spcBef>
                <a:spcPts val="15"/>
              </a:spcBef>
            </a:pPr>
            <a:r>
              <a:rPr dirty="0" sz="550" i="1">
                <a:latin typeface="Times New Roman"/>
                <a:cs typeface="Times New Roman"/>
              </a:rPr>
              <a:t>Chen</a:t>
            </a:r>
            <a:r>
              <a:rPr dirty="0" sz="550" spc="-3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et.al. </a:t>
            </a:r>
            <a:r>
              <a:rPr dirty="0" sz="550" spc="-10" i="1">
                <a:latin typeface="Times New Roman"/>
                <a:cs typeface="Times New Roman"/>
              </a:rPr>
              <a:t>conjectured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that</a:t>
            </a:r>
            <a:r>
              <a:rPr dirty="0" sz="550" spc="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map</a:t>
            </a:r>
            <a:r>
              <a:rPr dirty="0" sz="550" spc="-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graphs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can be </a:t>
            </a:r>
            <a:r>
              <a:rPr dirty="0" sz="550" spc="-10" i="1">
                <a:latin typeface="Times New Roman"/>
                <a:cs typeface="Times New Roman"/>
              </a:rPr>
              <a:t>recognized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spc="-20" i="1">
                <a:latin typeface="Times New Roman"/>
                <a:cs typeface="Times New Roman"/>
              </a:rPr>
              <a:t>in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polynomial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time,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and</a:t>
            </a:r>
            <a:r>
              <a:rPr dirty="0" sz="550" spc="5" i="1">
                <a:latin typeface="Times New Roman"/>
                <a:cs typeface="Times New Roman"/>
              </a:rPr>
              <a:t> </a:t>
            </a:r>
            <a:r>
              <a:rPr dirty="0" sz="550" spc="-20" i="1">
                <a:latin typeface="Times New Roman"/>
                <a:cs typeface="Times New Roman"/>
              </a:rPr>
              <a:t>in</a:t>
            </a:r>
            <a:r>
              <a:rPr dirty="0" sz="550" spc="-10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this</a:t>
            </a:r>
            <a:r>
              <a:rPr dirty="0" sz="550" spc="5" i="1">
                <a:latin typeface="Times New Roman"/>
                <a:cs typeface="Times New Roman"/>
              </a:rPr>
              <a:t> </a:t>
            </a:r>
            <a:r>
              <a:rPr dirty="0" sz="550" spc="-20" i="1">
                <a:latin typeface="Times New Roman"/>
                <a:cs typeface="Times New Roman"/>
              </a:rPr>
              <a:t>paper,</a:t>
            </a:r>
            <a:r>
              <a:rPr dirty="0" sz="550" spc="-1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their</a:t>
            </a:r>
            <a:r>
              <a:rPr dirty="0" sz="550" spc="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conjecture</a:t>
            </a:r>
            <a:r>
              <a:rPr dirty="0" sz="550" spc="-25" i="1">
                <a:latin typeface="Times New Roman"/>
                <a:cs typeface="Times New Roman"/>
              </a:rPr>
              <a:t> </a:t>
            </a:r>
            <a:r>
              <a:rPr dirty="0" sz="550" i="1">
                <a:latin typeface="Times New Roman"/>
                <a:cs typeface="Times New Roman"/>
              </a:rPr>
              <a:t>is</a:t>
            </a:r>
            <a:r>
              <a:rPr dirty="0" sz="550" spc="5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settled</a:t>
            </a:r>
            <a:r>
              <a:rPr dirty="0" sz="550" spc="500" i="1">
                <a:latin typeface="Times New Roman"/>
                <a:cs typeface="Times New Roman"/>
              </a:rPr>
              <a:t> </a:t>
            </a:r>
            <a:r>
              <a:rPr dirty="0" sz="550" spc="-10" i="1">
                <a:latin typeface="Times New Roman"/>
                <a:cs typeface="Times New Roman"/>
              </a:rPr>
              <a:t>affirmatively.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19867" y="1218991"/>
            <a:ext cx="6733540" cy="1052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  <a:tabLst>
                <a:tab pos="143954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Worst</a:t>
            </a:r>
            <a:r>
              <a:rPr dirty="0" sz="1800" spc="-7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case.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Running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time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guarantee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dirty="0" sz="1800" spc="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dirty="0" sz="1800" spc="1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size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2960"/>
              </a:lnSpc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Generally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captures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efficiency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135"/>
              </a:lnSpc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Draconian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view</a:t>
            </a:r>
            <a:r>
              <a:rPr dirty="0" sz="1800" spc="-5">
                <a:latin typeface="Lucida Sans Unicode"/>
                <a:cs typeface="Lucida Sans Unicode"/>
              </a:rPr>
              <a:t>, </a:t>
            </a:r>
            <a:r>
              <a:rPr dirty="0" sz="1800">
                <a:latin typeface="Lucida Sans Unicode"/>
                <a:cs typeface="Lucida Sans Unicode"/>
              </a:rPr>
              <a:t>but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hard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find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effective</a:t>
            </a:r>
            <a:r>
              <a:rPr dirty="0" sz="1800" spc="-10">
                <a:latin typeface="Lucida Sans Unicode"/>
                <a:cs typeface="Lucida Sans Unicode"/>
              </a:rPr>
              <a:t> alternative.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5267" y="2943353"/>
            <a:ext cx="8317230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43510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Some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35">
                <a:latin typeface="Lucida Sans Unicode"/>
                <a:cs typeface="Lucida Sans Unicode"/>
              </a:rPr>
              <a:t>exponential-</a:t>
            </a:r>
            <a:r>
              <a:rPr dirty="0" sz="1800">
                <a:latin typeface="Lucida Sans Unicode"/>
                <a:cs typeface="Lucida Sans Unicode"/>
              </a:rPr>
              <a:t>time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algorithms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used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widely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practice </a:t>
            </a:r>
            <a:r>
              <a:rPr dirty="0" sz="1800">
                <a:latin typeface="Lucida Sans Unicode"/>
                <a:cs typeface="Lucida Sans Unicode"/>
              </a:rPr>
              <a:t>because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-45">
                <a:latin typeface="Lucida Sans Unicode"/>
                <a:cs typeface="Lucida Sans Unicode"/>
              </a:rPr>
              <a:t>worst-</a:t>
            </a:r>
            <a:r>
              <a:rPr dirty="0" sz="1800" spc="-10">
                <a:latin typeface="Lucida Sans Unicode"/>
                <a:cs typeface="Lucida Sans Unicode"/>
              </a:rPr>
              <a:t>case </a:t>
            </a:r>
            <a:r>
              <a:rPr dirty="0" sz="1800">
                <a:latin typeface="Lucida Sans Unicode"/>
                <a:cs typeface="Lucida Sans Unicode"/>
              </a:rPr>
              <a:t>instances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seem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be</a:t>
            </a:r>
            <a:r>
              <a:rPr dirty="0" sz="1800" spc="-10">
                <a:latin typeface="Lucida Sans Unicode"/>
                <a:cs typeface="Lucida Sans Unicode"/>
              </a:rPr>
              <a:t> rare.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Worst-</a:t>
            </a:r>
            <a:r>
              <a:rPr dirty="0"/>
              <a:t>case</a:t>
            </a:r>
            <a:r>
              <a:rPr dirty="0" spc="-50"/>
              <a:t> </a:t>
            </a:r>
            <a:r>
              <a:rPr dirty="0" spc="-10"/>
              <a:t>analysis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6629" y="4800600"/>
            <a:ext cx="1573670" cy="1714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3932" y="4860439"/>
            <a:ext cx="2432037" cy="165497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000" y="5054600"/>
            <a:ext cx="2908300" cy="14605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36668" y="6731609"/>
            <a:ext cx="14566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 b="1">
                <a:latin typeface="Trebuchet MS"/>
                <a:cs typeface="Trebuchet MS"/>
              </a:rPr>
              <a:t>simplex</a:t>
            </a:r>
            <a:r>
              <a:rPr dirty="0" sz="1200" spc="55" b="1">
                <a:latin typeface="Trebuchet MS"/>
                <a:cs typeface="Trebuchet MS"/>
              </a:rPr>
              <a:t> algorithm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4870119" y="6731609"/>
            <a:ext cx="8655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rebuchet MS"/>
                <a:cs typeface="Trebuchet MS"/>
              </a:rPr>
              <a:t>Linux</a:t>
            </a:r>
            <a:r>
              <a:rPr dirty="0" sz="1200" spc="260" b="1">
                <a:latin typeface="Trebuchet MS"/>
                <a:cs typeface="Trebuchet MS"/>
              </a:rPr>
              <a:t> </a:t>
            </a:r>
            <a:r>
              <a:rPr dirty="0" sz="1200" spc="55" b="1">
                <a:latin typeface="Trebuchet MS"/>
                <a:cs typeface="Trebuchet MS"/>
              </a:rPr>
              <a:t>grep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169751" y="6731609"/>
            <a:ext cx="15494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30" b="1">
                <a:latin typeface="Trebuchet MS"/>
                <a:cs typeface="Trebuchet MS"/>
              </a:rPr>
              <a:t>k-</a:t>
            </a:r>
            <a:r>
              <a:rPr dirty="0" sz="1200" spc="105" b="1">
                <a:latin typeface="Trebuchet MS"/>
                <a:cs typeface="Trebuchet MS"/>
              </a:rPr>
              <a:t>means</a:t>
            </a:r>
            <a:r>
              <a:rPr dirty="0" sz="1200" spc="60" b="1">
                <a:latin typeface="Trebuchet MS"/>
                <a:cs typeface="Trebuchet MS"/>
              </a:rPr>
              <a:t> </a:t>
            </a:r>
            <a:r>
              <a:rPr dirty="0" sz="1200" spc="55" b="1">
                <a:latin typeface="Trebuchet MS"/>
                <a:cs typeface="Trebuchet MS"/>
              </a:rPr>
              <a:t>algorithm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Types</a:t>
            </a:r>
            <a:r>
              <a:rPr dirty="0"/>
              <a:t> </a:t>
            </a:r>
            <a:r>
              <a:rPr dirty="0" spc="60"/>
              <a:t>of</a:t>
            </a:r>
            <a:r>
              <a:rPr dirty="0" spc="5"/>
              <a:t> </a:t>
            </a:r>
            <a:r>
              <a:rPr dirty="0" spc="-10"/>
              <a:t>analyses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81767" y="1131247"/>
            <a:ext cx="8314055" cy="473710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790"/>
              </a:spcBef>
              <a:tabLst>
                <a:tab pos="147764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Worst</a:t>
            </a:r>
            <a:r>
              <a:rPr dirty="0" sz="1800" spc="-7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case.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Running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time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guarantee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dirty="0" sz="1800" spc="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dirty="0" sz="1800" spc="1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size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  <a:tabLst>
                <a:tab pos="55689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Heapsort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requires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at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most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</a:t>
            </a:r>
            <a:r>
              <a:rPr dirty="0" baseline="-6944" sz="1800">
                <a:latin typeface="Times New Roman"/>
                <a:cs typeface="Times New Roman"/>
              </a:rPr>
              <a:t>2</a:t>
            </a:r>
            <a:r>
              <a:rPr dirty="0" baseline="-6944" sz="1800" spc="-7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0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compares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05" i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1649095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Probabilistic.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Expected</a:t>
            </a:r>
            <a:r>
              <a:rPr dirty="0" sz="18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running time of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randomized </a:t>
            </a:r>
            <a:r>
              <a:rPr dirty="0" sz="1800" spc="-10">
                <a:solidFill>
                  <a:srgbClr val="8D3124"/>
                </a:solidFill>
                <a:latin typeface="Lucida Sans Unicode"/>
                <a:cs typeface="Lucida Sans Unicode"/>
              </a:rPr>
              <a:t>algorithm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 spc="-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expected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number of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compares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 quicksort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1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elements 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~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ln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 marR="382270">
              <a:lnSpc>
                <a:spcPct val="132100"/>
              </a:lnSpc>
              <a:tabLst>
                <a:tab pos="556895" algn="l"/>
                <a:tab pos="1453515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Amortized.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65">
                <a:latin typeface="Lucida Sans Unicode"/>
                <a:cs typeface="Lucida Sans Unicode"/>
              </a:rPr>
              <a:t>Worst-</a:t>
            </a:r>
            <a:r>
              <a:rPr dirty="0" sz="1800" spc="-30">
                <a:latin typeface="Lucida Sans Unicode"/>
                <a:cs typeface="Lucida Sans Unicode"/>
              </a:rPr>
              <a:t>case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running time for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any sequence </a:t>
            </a:r>
            <a:r>
              <a:rPr dirty="0" sz="1800">
                <a:latin typeface="Lucida Sans Unicode"/>
                <a:cs typeface="Lucida Sans Unicode"/>
              </a:rPr>
              <a:t>of </a:t>
            </a:r>
            <a:r>
              <a:rPr dirty="0" sz="1800" i="1">
                <a:latin typeface="Times New Roman"/>
                <a:cs typeface="Times New Roman"/>
              </a:rPr>
              <a:t>n </a:t>
            </a:r>
            <a:r>
              <a:rPr dirty="0" sz="1800" spc="-10">
                <a:latin typeface="Lucida Sans Unicode"/>
                <a:cs typeface="Lucida Sans Unicode"/>
              </a:rPr>
              <a:t>operations. </a:t>
            </a: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Starting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from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empty stack,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any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sequence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1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push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 </a:t>
            </a:r>
            <a:r>
              <a:rPr dirty="0" sz="1800" spc="-25">
                <a:latin typeface="Lucida Sans Unicode"/>
                <a:cs typeface="Lucida Sans Unicode"/>
              </a:rPr>
              <a:t>pop </a:t>
            </a:r>
            <a:r>
              <a:rPr dirty="0" sz="1800">
                <a:latin typeface="Lucida Sans Unicode"/>
                <a:cs typeface="Lucida Sans Unicode"/>
              </a:rPr>
              <a:t>operations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takes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operations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using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resizing</a:t>
            </a:r>
            <a:r>
              <a:rPr dirty="0" sz="1800" spc="-10">
                <a:latin typeface="Lucida Sans Unicode"/>
                <a:cs typeface="Lucida Sans Unicode"/>
              </a:rPr>
              <a:t> array.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</a:pPr>
            <a:r>
              <a:rPr dirty="0" sz="1800" spc="-45">
                <a:solidFill>
                  <a:srgbClr val="0048AA"/>
                </a:solidFill>
                <a:latin typeface="Lucida Sans Unicode"/>
                <a:cs typeface="Lucida Sans Unicode"/>
              </a:rPr>
              <a:t>Average-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case.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Expected</a:t>
            </a:r>
            <a:r>
              <a:rPr dirty="0" sz="1800" spc="-1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running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time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random</a:t>
            </a:r>
            <a:r>
              <a:rPr dirty="0" sz="18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dirty="0" sz="1800" spc="-1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size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 marR="432434">
              <a:lnSpc>
                <a:spcPct val="132100"/>
              </a:lnSpc>
              <a:tabLst>
                <a:tab pos="55689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expected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number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character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compares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performed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by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-60">
                <a:latin typeface="Lucida Sans Unicode"/>
                <a:cs typeface="Lucida Sans Unicode"/>
              </a:rPr>
              <a:t>3-</a:t>
            </a:r>
            <a:r>
              <a:rPr dirty="0" sz="1800" spc="-35">
                <a:latin typeface="Lucida Sans Unicode"/>
                <a:cs typeface="Lucida Sans Unicode"/>
              </a:rPr>
              <a:t>way </a:t>
            </a:r>
            <a:r>
              <a:rPr dirty="0" sz="1800">
                <a:latin typeface="Lucida Sans Unicode"/>
                <a:cs typeface="Lucida Sans Unicode"/>
              </a:rPr>
              <a:t>radix quicksort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on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2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uniformly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random strings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~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ln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5267" y="6655310"/>
            <a:ext cx="55797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Also.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Smoothed</a:t>
            </a:r>
            <a:r>
              <a:rPr dirty="0" sz="1800" spc="6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analysis,</a:t>
            </a:r>
            <a:r>
              <a:rPr dirty="0" sz="1800" spc="6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competitive</a:t>
            </a:r>
            <a:r>
              <a:rPr dirty="0" sz="1800" spc="6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analysis,</a:t>
            </a:r>
            <a:r>
              <a:rPr dirty="0" sz="1800" spc="65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...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1776095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0"/>
              <a:t>Why</a:t>
            </a:r>
            <a:r>
              <a:rPr dirty="0" spc="80"/>
              <a:t> </a:t>
            </a:r>
            <a:r>
              <a:rPr dirty="0"/>
              <a:t>it</a:t>
            </a:r>
            <a:r>
              <a:rPr dirty="0" spc="85"/>
              <a:t> </a:t>
            </a:r>
            <a:r>
              <a:rPr dirty="0" spc="-10"/>
              <a:t>matters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0" y="1752600"/>
            <a:ext cx="9347200" cy="424180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 h="0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500" spc="85" b="1">
                <a:latin typeface="Trebuchet MS"/>
                <a:cs typeface="Trebuchet MS"/>
              </a:rPr>
              <a:t>Section</a:t>
            </a:r>
            <a:r>
              <a:rPr dirty="0" cap="small" sz="1500" spc="65" b="1">
                <a:latin typeface="Trebuchet MS"/>
                <a:cs typeface="Trebuchet MS"/>
              </a:rPr>
              <a:t> </a:t>
            </a:r>
            <a:r>
              <a:rPr dirty="0" cap="small" sz="1500" spc="-45" b="1">
                <a:latin typeface="Trebuchet MS"/>
                <a:cs typeface="Trebuchet MS"/>
              </a:rPr>
              <a:t>2.2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3631565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dirty="0" cap="small" sz="2700" spc="-25" b="1">
                <a:latin typeface="Tahoma"/>
                <a:cs typeface="Tahoma"/>
              </a:rPr>
              <a:t>2</a:t>
            </a:r>
            <a:r>
              <a:rPr dirty="0" cap="small" sz="2700" spc="-25" b="1">
                <a:latin typeface="Tahoma"/>
                <a:cs typeface="Tahoma"/>
              </a:rPr>
              <a:t>.</a:t>
            </a:r>
            <a:r>
              <a:rPr dirty="0" cap="small" sz="2700" b="1">
                <a:latin typeface="Tahoma"/>
                <a:cs typeface="Tahoma"/>
              </a:rPr>
              <a:t>	</a:t>
            </a:r>
            <a:r>
              <a:rPr dirty="0" cap="small" sz="2700" spc="-100" b="1">
                <a:latin typeface="Tahoma"/>
                <a:cs typeface="Tahoma"/>
              </a:rPr>
              <a:t>A</a:t>
            </a:r>
            <a:r>
              <a:rPr dirty="0" cap="small" sz="2700" spc="-100" b="1">
                <a:latin typeface="Tahoma"/>
                <a:cs typeface="Tahoma"/>
              </a:rPr>
              <a:t>lgorith</a:t>
            </a:r>
            <a:r>
              <a:rPr dirty="0" cap="small" sz="2700" spc="-100" b="1">
                <a:latin typeface="Tahoma"/>
                <a:cs typeface="Tahoma"/>
              </a:rPr>
              <a:t>m</a:t>
            </a:r>
            <a:r>
              <a:rPr dirty="0" cap="small" sz="2700" b="1">
                <a:latin typeface="Tahoma"/>
                <a:cs typeface="Tahoma"/>
              </a:rPr>
              <a:t> </a:t>
            </a:r>
            <a:r>
              <a:rPr dirty="0" cap="small" sz="2700" spc="-135" b="1">
                <a:latin typeface="Tahoma"/>
                <a:cs typeface="Tahoma"/>
              </a:rPr>
              <a:t>A</a:t>
            </a:r>
            <a:r>
              <a:rPr dirty="0" cap="small" sz="2700" spc="-135" b="1">
                <a:latin typeface="Tahoma"/>
                <a:cs typeface="Tahoma"/>
              </a:rPr>
              <a:t>na</a:t>
            </a:r>
            <a:r>
              <a:rPr dirty="0" cap="small" sz="2700" spc="-135" b="1">
                <a:latin typeface="Tahoma"/>
                <a:cs typeface="Tahoma"/>
              </a:rPr>
              <a:t>l</a:t>
            </a:r>
            <a:r>
              <a:rPr dirty="0" cap="small" sz="2700" spc="-135" b="1">
                <a:latin typeface="Tahoma"/>
                <a:cs typeface="Tahoma"/>
              </a:rPr>
              <a:t>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12541" y="2115505"/>
            <a:ext cx="4163060" cy="145605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15" i="1">
                <a:solidFill>
                  <a:srgbClr val="D5D5D5"/>
                </a:solidFill>
                <a:latin typeface="Verdana"/>
                <a:cs typeface="Verdana"/>
              </a:rPr>
              <a:t>computational</a:t>
            </a:r>
            <a:r>
              <a:rPr dirty="0" sz="2250" spc="-8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00" i="1">
                <a:solidFill>
                  <a:srgbClr val="D5D5D5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35" i="1">
                <a:latin typeface="Verdana"/>
                <a:cs typeface="Verdana"/>
              </a:rPr>
              <a:t>asymptotic</a:t>
            </a:r>
            <a:r>
              <a:rPr dirty="0" sz="2250" spc="-120" i="1">
                <a:latin typeface="Verdana"/>
                <a:cs typeface="Verdana"/>
              </a:rPr>
              <a:t> </a:t>
            </a:r>
            <a:r>
              <a:rPr dirty="0" sz="2250" spc="-190" i="1">
                <a:latin typeface="Verdana"/>
                <a:cs typeface="Verdana"/>
              </a:rPr>
              <a:t>order</a:t>
            </a:r>
            <a:r>
              <a:rPr dirty="0" sz="2250" spc="-114" i="1">
                <a:latin typeface="Verdana"/>
                <a:cs typeface="Verdana"/>
              </a:rPr>
              <a:t> </a:t>
            </a:r>
            <a:r>
              <a:rPr dirty="0" sz="2250" spc="-170" i="1">
                <a:latin typeface="Verdana"/>
                <a:cs typeface="Verdana"/>
              </a:rPr>
              <a:t>of</a:t>
            </a:r>
            <a:r>
              <a:rPr dirty="0" sz="2250" spc="-125" i="1">
                <a:latin typeface="Verdana"/>
                <a:cs typeface="Verdana"/>
              </a:rPr>
              <a:t> </a:t>
            </a:r>
            <a:r>
              <a:rPr dirty="0" sz="2250" spc="-50" i="1"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54" i="1">
                <a:solidFill>
                  <a:srgbClr val="D5D5D5"/>
                </a:solidFill>
                <a:latin typeface="Verdana"/>
                <a:cs typeface="Verdana"/>
              </a:rPr>
              <a:t>survey</a:t>
            </a:r>
            <a:r>
              <a:rPr dirty="0" sz="2250" spc="-135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70" i="1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dirty="0" sz="2250" spc="-12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275" i="1">
                <a:solidFill>
                  <a:srgbClr val="D5D5D5"/>
                </a:solidFill>
                <a:latin typeface="Verdana"/>
                <a:cs typeface="Verdana"/>
              </a:rPr>
              <a:t>common</a:t>
            </a:r>
            <a:r>
              <a:rPr dirty="0" sz="2250" spc="-125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200" i="1">
                <a:solidFill>
                  <a:srgbClr val="D5D5D5"/>
                </a:solidFill>
                <a:latin typeface="Verdana"/>
                <a:cs typeface="Verdana"/>
              </a:rPr>
              <a:t>running</a:t>
            </a:r>
            <a:r>
              <a:rPr dirty="0" sz="2250" spc="-12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300" i="1">
                <a:solidFill>
                  <a:srgbClr val="D5D5D5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 32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3148" sz="1800">
                <a:latin typeface="Times New Roman"/>
                <a:cs typeface="Times New Roman"/>
              </a:rPr>
              <a:t>2</a:t>
            </a:r>
            <a:r>
              <a:rPr dirty="0" baseline="23148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+ 17</a:t>
            </a:r>
            <a:r>
              <a:rPr dirty="0" sz="1800" i="1">
                <a:latin typeface="Times New Roman"/>
                <a:cs typeface="Times New Roman"/>
              </a:rPr>
              <a:t>n </a:t>
            </a:r>
            <a:r>
              <a:rPr dirty="0" sz="1800">
                <a:latin typeface="Times New Roman"/>
                <a:cs typeface="Times New Roman"/>
              </a:rPr>
              <a:t>+ </a:t>
            </a:r>
            <a:r>
              <a:rPr dirty="0" sz="1800" spc="-25">
                <a:latin typeface="Times New Roman"/>
                <a:cs typeface="Times New Roman"/>
              </a:rPr>
              <a:t>1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5241" y="2531337"/>
            <a:ext cx="1745614" cy="465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 </a:t>
            </a:r>
            <a:r>
              <a:rPr dirty="0" sz="1800" spc="-10" i="1">
                <a:latin typeface="Times New Roman"/>
                <a:cs typeface="Times New Roman"/>
              </a:rPr>
              <a:t>O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baseline="23148" sz="1800" spc="-15">
                <a:latin typeface="Times New Roman"/>
                <a:cs typeface="Times New Roman"/>
              </a:rPr>
              <a:t>2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2541" y="2893759"/>
            <a:ext cx="4010025" cy="827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ts val="3135"/>
              </a:lnSpc>
              <a:spcBef>
                <a:spcPts val="130"/>
              </a:spcBef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 also </a:t>
            </a:r>
            <a:r>
              <a:rPr dirty="0" sz="1800" spc="-10" i="1">
                <a:latin typeface="Times New Roman"/>
                <a:cs typeface="Times New Roman"/>
              </a:rPr>
              <a:t>O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baseline="23148" sz="1800" spc="-15">
                <a:latin typeface="Times New Roman"/>
                <a:cs typeface="Times New Roman"/>
              </a:rPr>
              <a:t>3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ts val="3135"/>
              </a:lnSpc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 neither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nor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 </a:t>
            </a:r>
            <a:r>
              <a:rPr dirty="0" sz="1800">
                <a:latin typeface="Times New Roman"/>
                <a:cs typeface="Times New Roman"/>
              </a:rPr>
              <a:t>log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Times New Roman"/>
                <a:cs typeface="Times New Roman"/>
              </a:rPr>
              <a:t>)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9867" y="4118361"/>
            <a:ext cx="74402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5577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dirty="0" sz="1800" spc="-14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Insertion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makes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5462" sz="1800">
                <a:latin typeface="Times New Roman"/>
                <a:cs typeface="Times New Roman"/>
              </a:rPr>
              <a:t>2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compares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10" i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5267" y="5568046"/>
            <a:ext cx="40601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807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Alternate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definition.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))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if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Big-</a:t>
            </a:r>
            <a:r>
              <a:rPr dirty="0" spc="105"/>
              <a:t>Oh</a:t>
            </a:r>
            <a:r>
              <a:rPr dirty="0" spc="100"/>
              <a:t> </a:t>
            </a:r>
            <a:r>
              <a:rPr dirty="0" spc="-10"/>
              <a:t>notation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3292402" y="2726179"/>
            <a:ext cx="16084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dirty="0" baseline="4629" sz="1800" spc="-284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 50, n</a:t>
            </a:r>
            <a:r>
              <a:rPr dirty="0" sz="80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dirty="0" sz="800" spc="1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284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75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baseline="4629" sz="180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732209" y="2797732"/>
            <a:ext cx="372745" cy="92075"/>
            <a:chOff x="2732209" y="2797732"/>
            <a:chExt cx="372745" cy="92075"/>
          </a:xfrm>
        </p:grpSpPr>
        <p:sp>
          <p:nvSpPr>
            <p:cNvPr id="11" name="object 11" descr=""/>
            <p:cNvSpPr/>
            <p:nvPr/>
          </p:nvSpPr>
          <p:spPr>
            <a:xfrm>
              <a:off x="2791342" y="2843511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 h="0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732209" y="2797732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70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921581" y="5588381"/>
            <a:ext cx="648970" cy="414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785"/>
              </a:lnSpc>
              <a:spcBef>
                <a:spcPts val="135"/>
              </a:spcBef>
            </a:pPr>
            <a:r>
              <a:rPr dirty="0" sz="1550" spc="90">
                <a:latin typeface="Calibri"/>
                <a:cs typeface="Calibri"/>
              </a:rPr>
              <a:t>lim</a:t>
            </a:r>
            <a:r>
              <a:rPr dirty="0" sz="1550" spc="-85">
                <a:latin typeface="Calibri"/>
                <a:cs typeface="Calibri"/>
              </a:rPr>
              <a:t> </a:t>
            </a:r>
            <a:r>
              <a:rPr dirty="0" sz="1550" spc="30">
                <a:latin typeface="Calibri"/>
                <a:cs typeface="Calibri"/>
              </a:rPr>
              <a:t>sup</a:t>
            </a:r>
            <a:endParaRPr sz="1550">
              <a:latin typeface="Calibri"/>
              <a:cs typeface="Calibri"/>
            </a:endParaRPr>
          </a:p>
          <a:p>
            <a:pPr marL="111760">
              <a:lnSpc>
                <a:spcPts val="1245"/>
              </a:lnSpc>
            </a:pPr>
            <a:r>
              <a:rPr dirty="0" sz="1100" spc="265" i="1">
                <a:latin typeface="Calibri"/>
                <a:cs typeface="Calibri"/>
              </a:rPr>
              <a:t>n</a:t>
            </a:r>
            <a:r>
              <a:rPr dirty="0" sz="1100" spc="265" i="1">
                <a:latin typeface="Arial"/>
                <a:cs typeface="Arial"/>
              </a:rPr>
              <a:t>→∞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659554" y="5452221"/>
            <a:ext cx="45339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180" i="1">
                <a:latin typeface="Calibri"/>
                <a:cs typeface="Calibri"/>
              </a:rPr>
              <a:t>T</a:t>
            </a:r>
            <a:r>
              <a:rPr dirty="0" sz="1550" spc="-130" i="1">
                <a:latin typeface="Calibri"/>
                <a:cs typeface="Calibri"/>
              </a:rPr>
              <a:t> </a:t>
            </a:r>
            <a:r>
              <a:rPr dirty="0" sz="1550" spc="120">
                <a:latin typeface="Calibri"/>
                <a:cs typeface="Calibri"/>
              </a:rPr>
              <a:t>(</a:t>
            </a:r>
            <a:r>
              <a:rPr dirty="0" sz="1550" spc="120" i="1">
                <a:latin typeface="Calibri"/>
                <a:cs typeface="Calibri"/>
              </a:rPr>
              <a:t>n</a:t>
            </a:r>
            <a:r>
              <a:rPr dirty="0" sz="1550" spc="120">
                <a:latin typeface="Calibri"/>
                <a:cs typeface="Calibri"/>
              </a:rPr>
              <a:t>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672254" y="5751848"/>
            <a:ext cx="427990" cy="0"/>
          </a:xfrm>
          <a:custGeom>
            <a:avLst/>
            <a:gdLst/>
            <a:ahLst/>
            <a:cxnLst/>
            <a:rect l="l" t="t" r="r" b="b"/>
            <a:pathLst>
              <a:path w="427989" h="0">
                <a:moveTo>
                  <a:pt x="0" y="0"/>
                </a:moveTo>
                <a:lnTo>
                  <a:pt x="427827" y="0"/>
                </a:lnTo>
              </a:path>
            </a:pathLst>
          </a:custGeom>
          <a:ln w="80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672425" y="5726360"/>
            <a:ext cx="42799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305" i="1">
                <a:latin typeface="Calibri"/>
                <a:cs typeface="Calibri"/>
              </a:rPr>
              <a:t>f</a:t>
            </a:r>
            <a:r>
              <a:rPr dirty="0" sz="1550" spc="-180" i="1">
                <a:latin typeface="Calibri"/>
                <a:cs typeface="Calibri"/>
              </a:rPr>
              <a:t> </a:t>
            </a:r>
            <a:r>
              <a:rPr dirty="0" sz="1550" spc="120">
                <a:latin typeface="Calibri"/>
                <a:cs typeface="Calibri"/>
              </a:rPr>
              <a:t>(</a:t>
            </a:r>
            <a:r>
              <a:rPr dirty="0" sz="1550" spc="120" i="1">
                <a:latin typeface="Calibri"/>
                <a:cs typeface="Calibri"/>
              </a:rPr>
              <a:t>n</a:t>
            </a:r>
            <a:r>
              <a:rPr dirty="0" sz="1550" spc="120">
                <a:latin typeface="Calibri"/>
                <a:cs typeface="Calibri"/>
              </a:rPr>
              <a:t>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24883" y="5588381"/>
            <a:ext cx="55689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465" i="1">
                <a:latin typeface="Calibri"/>
                <a:cs typeface="Calibri"/>
              </a:rPr>
              <a:t>&lt;</a:t>
            </a:r>
            <a:r>
              <a:rPr dirty="0" sz="1550" spc="90" i="1">
                <a:latin typeface="Calibri"/>
                <a:cs typeface="Calibri"/>
              </a:rPr>
              <a:t>  </a:t>
            </a:r>
            <a:r>
              <a:rPr dirty="0" sz="1550" spc="25" i="1">
                <a:latin typeface="Verdana"/>
                <a:cs typeface="Verdana"/>
              </a:rPr>
              <a:t>∞</a:t>
            </a:r>
            <a:r>
              <a:rPr dirty="0" sz="1550" spc="25" i="1">
                <a:latin typeface="Calibri"/>
                <a:cs typeface="Calibri"/>
              </a:rPr>
              <a:t>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9" name="object 19" descr="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 h="0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w="0"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59227" y="1041580"/>
                  </a:lnTo>
                  <a:lnTo>
                    <a:pt x="209238" y="908176"/>
                  </a:lnTo>
                  <a:lnTo>
                    <a:pt x="408530" y="797424"/>
                  </a:lnTo>
                  <a:lnTo>
                    <a:pt x="615597" y="800624"/>
                  </a:lnTo>
                  <a:lnTo>
                    <a:pt x="874968" y="711554"/>
                  </a:lnTo>
                  <a:lnTo>
                    <a:pt x="1264446" y="432337"/>
                  </a:lnTo>
                  <a:lnTo>
                    <a:pt x="1619089" y="137106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94467" y="1131247"/>
            <a:ext cx="8829675" cy="102171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790"/>
              </a:spcBef>
              <a:tabLst>
                <a:tab pos="1850389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Upper</a:t>
            </a:r>
            <a:r>
              <a:rPr dirty="0" sz="1800" spc="-5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there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exist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constants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6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Lucida Sans Unicode"/>
                <a:cs typeface="Lucida Sans Unicode"/>
              </a:rPr>
              <a:t>such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≤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·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44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baseline="-18518" sz="1800" spc="-37">
                <a:latin typeface="Times New Roman"/>
                <a:cs typeface="Times New Roman"/>
              </a:rPr>
              <a:t>0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algn="r" marR="17780">
              <a:lnSpc>
                <a:spcPct val="100000"/>
              </a:lnSpc>
              <a:spcBef>
                <a:spcPts val="695"/>
              </a:spcBef>
            </a:pP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spc="-100">
                <a:latin typeface="Times New Roman"/>
                <a:cs typeface="Times New Roman"/>
              </a:rPr>
              <a:t>·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f</a:t>
            </a:r>
            <a:r>
              <a:rPr dirty="0" sz="1200" spc="-100" i="1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(</a:t>
            </a:r>
            <a:r>
              <a:rPr dirty="0" sz="1200" spc="-25" i="1">
                <a:latin typeface="Times New Roman"/>
                <a:cs typeface="Times New Roman"/>
              </a:rPr>
              <a:t>n</a:t>
            </a:r>
            <a:r>
              <a:rPr dirty="0" sz="1200" spc="-25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128839" y="3679641"/>
            <a:ext cx="2038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5" i="1">
                <a:latin typeface="Times New Roman"/>
                <a:cs typeface="Times New Roman"/>
              </a:rPr>
              <a:t>n</a:t>
            </a:r>
            <a:r>
              <a:rPr dirty="0" baseline="-6944" sz="1200" spc="-37">
                <a:latin typeface="Times New Roman"/>
                <a:cs typeface="Times New Roman"/>
              </a:rPr>
              <a:t>0</a:t>
            </a:r>
            <a:endParaRPr baseline="-6944" sz="1200">
              <a:latin typeface="Times New Roman"/>
              <a:cs typeface="Times New Roman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263138" y="2638531"/>
            <a:ext cx="1783714" cy="965835"/>
            <a:chOff x="7263138" y="2638531"/>
            <a:chExt cx="1783714" cy="965835"/>
          </a:xfrm>
        </p:grpSpPr>
        <p:sp>
          <p:nvSpPr>
            <p:cNvPr id="28" name="object 28" descr=""/>
            <p:cNvSpPr/>
            <p:nvPr/>
          </p:nvSpPr>
          <p:spPr>
            <a:xfrm>
              <a:off x="8235292" y="2862931"/>
              <a:ext cx="2540" cy="734060"/>
            </a:xfrm>
            <a:custGeom>
              <a:avLst/>
              <a:gdLst/>
              <a:ahLst/>
              <a:cxnLst/>
              <a:rect l="l" t="t" r="r" b="b"/>
              <a:pathLst>
                <a:path w="2540" h="734060">
                  <a:moveTo>
                    <a:pt x="1918" y="0"/>
                  </a:moveTo>
                  <a:lnTo>
                    <a:pt x="0" y="734035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67907" y="2643299"/>
              <a:ext cx="1774189" cy="694690"/>
            </a:xfrm>
            <a:custGeom>
              <a:avLst/>
              <a:gdLst/>
              <a:ahLst/>
              <a:cxnLst/>
              <a:rect l="l" t="t" r="r" b="b"/>
              <a:pathLst>
                <a:path w="1774190" h="694689">
                  <a:moveTo>
                    <a:pt x="0" y="472439"/>
                  </a:moveTo>
                  <a:lnTo>
                    <a:pt x="34837" y="510822"/>
                  </a:lnTo>
                  <a:lnTo>
                    <a:pt x="116696" y="593280"/>
                  </a:lnTo>
                  <a:lnTo>
                    <a:pt x="211597" y="670770"/>
                  </a:lnTo>
                  <a:lnTo>
                    <a:pt x="285561" y="694252"/>
                  </a:lnTo>
                  <a:lnTo>
                    <a:pt x="312410" y="678528"/>
                  </a:lnTo>
                  <a:lnTo>
                    <a:pt x="353629" y="623930"/>
                  </a:lnTo>
                  <a:lnTo>
                    <a:pt x="369977" y="587693"/>
                  </a:lnTo>
                  <a:lnTo>
                    <a:pt x="384804" y="547255"/>
                  </a:lnTo>
                  <a:lnTo>
                    <a:pt x="399097" y="503935"/>
                  </a:lnTo>
                  <a:lnTo>
                    <a:pt x="413846" y="459050"/>
                  </a:lnTo>
                  <a:lnTo>
                    <a:pt x="430041" y="413919"/>
                  </a:lnTo>
                  <a:lnTo>
                    <a:pt x="448669" y="369860"/>
                  </a:lnTo>
                  <a:lnTo>
                    <a:pt x="470721" y="328193"/>
                  </a:lnTo>
                  <a:lnTo>
                    <a:pt x="497186" y="290234"/>
                  </a:lnTo>
                  <a:lnTo>
                    <a:pt x="529051" y="257303"/>
                  </a:lnTo>
                  <a:lnTo>
                    <a:pt x="567307" y="230718"/>
                  </a:lnTo>
                  <a:lnTo>
                    <a:pt x="601471" y="210952"/>
                  </a:lnTo>
                  <a:lnTo>
                    <a:pt x="652482" y="186183"/>
                  </a:lnTo>
                  <a:lnTo>
                    <a:pt x="718827" y="166575"/>
                  </a:lnTo>
                  <a:lnTo>
                    <a:pt x="757278" y="161884"/>
                  </a:lnTo>
                  <a:lnTo>
                    <a:pt x="798995" y="162296"/>
                  </a:lnTo>
                  <a:lnTo>
                    <a:pt x="843791" y="169082"/>
                  </a:lnTo>
                  <a:lnTo>
                    <a:pt x="891475" y="183512"/>
                  </a:lnTo>
                  <a:lnTo>
                    <a:pt x="941860" y="206857"/>
                  </a:lnTo>
                  <a:lnTo>
                    <a:pt x="994756" y="240387"/>
                  </a:lnTo>
                  <a:lnTo>
                    <a:pt x="1049974" y="285375"/>
                  </a:lnTo>
                  <a:lnTo>
                    <a:pt x="1107325" y="343089"/>
                  </a:lnTo>
                  <a:lnTo>
                    <a:pt x="1132534" y="364916"/>
                  </a:lnTo>
                  <a:lnTo>
                    <a:pt x="1160734" y="378654"/>
                  </a:lnTo>
                  <a:lnTo>
                    <a:pt x="1191593" y="384948"/>
                  </a:lnTo>
                  <a:lnTo>
                    <a:pt x="1224776" y="384444"/>
                  </a:lnTo>
                  <a:lnTo>
                    <a:pt x="1296775" y="365622"/>
                  </a:lnTo>
                  <a:lnTo>
                    <a:pt x="1334922" y="348596"/>
                  </a:lnTo>
                  <a:lnTo>
                    <a:pt x="1374055" y="327353"/>
                  </a:lnTo>
                  <a:lnTo>
                    <a:pt x="1413840" y="302540"/>
                  </a:lnTo>
                  <a:lnTo>
                    <a:pt x="1453943" y="274800"/>
                  </a:lnTo>
                  <a:lnTo>
                    <a:pt x="1494028" y="244781"/>
                  </a:lnTo>
                  <a:lnTo>
                    <a:pt x="1533761" y="213127"/>
                  </a:lnTo>
                  <a:lnTo>
                    <a:pt x="1572808" y="180484"/>
                  </a:lnTo>
                  <a:lnTo>
                    <a:pt x="1610835" y="147498"/>
                  </a:lnTo>
                  <a:lnTo>
                    <a:pt x="1647507" y="114813"/>
                  </a:lnTo>
                  <a:lnTo>
                    <a:pt x="1682489" y="83075"/>
                  </a:lnTo>
                  <a:lnTo>
                    <a:pt x="1715448" y="52930"/>
                  </a:lnTo>
                  <a:lnTo>
                    <a:pt x="1746049" y="25023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9101535" y="2439778"/>
            <a:ext cx="2882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i="1">
                <a:latin typeface="Times New Roman"/>
                <a:cs typeface="Times New Roman"/>
              </a:rPr>
              <a:t>T</a:t>
            </a:r>
            <a:r>
              <a:rPr dirty="0" sz="1200" spc="-20">
                <a:latin typeface="Times New Roman"/>
                <a:cs typeface="Times New Roman"/>
              </a:rPr>
              <a:t>(</a:t>
            </a:r>
            <a:r>
              <a:rPr dirty="0" sz="1200" spc="-20" i="1">
                <a:latin typeface="Times New Roman"/>
                <a:cs typeface="Times New Roman"/>
              </a:rPr>
              <a:t>n</a:t>
            </a:r>
            <a:r>
              <a:rPr dirty="0" sz="1200" spc="-2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1767" y="1131247"/>
            <a:ext cx="8648700" cy="222758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790"/>
              </a:spcBef>
              <a:tabLst>
                <a:tab pos="155194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Equals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sign.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 a set of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functions, but computer scientists often </a:t>
            </a:r>
            <a:r>
              <a:rPr dirty="0" sz="1800" spc="-10">
                <a:latin typeface="Lucida Sans Unicode"/>
                <a:cs typeface="Lucida Sans Unicode"/>
              </a:rPr>
              <a:t>write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</a:pP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))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instead of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Symbol"/>
                <a:cs typeface="Symbol"/>
              </a:rPr>
              <a:t></a:t>
            </a:r>
            <a:r>
              <a:rPr dirty="0" sz="1800" spc="4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sz="1800" spc="-10">
                <a:latin typeface="Times New Roman"/>
                <a:cs typeface="Times New Roman"/>
              </a:rPr>
              <a:t>))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ts val="1980"/>
              </a:lnSpc>
              <a:tabLst>
                <a:tab pos="264668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Ex. </a:t>
            </a:r>
            <a:r>
              <a:rPr dirty="0" sz="1800">
                <a:latin typeface="Lucida Sans Unicode"/>
                <a:cs typeface="Lucida Sans Unicode"/>
              </a:rPr>
              <a:t>Consider</a:t>
            </a:r>
            <a:r>
              <a:rPr dirty="0" sz="1800" spc="30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 = </a:t>
            </a:r>
            <a:r>
              <a:rPr dirty="0" sz="1800" spc="-25">
                <a:latin typeface="Times New Roman"/>
                <a:cs typeface="Times New Roman"/>
              </a:rPr>
              <a:t>5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baseline="25462" sz="1800" spc="-37">
                <a:latin typeface="Times New Roman"/>
                <a:cs typeface="Times New Roman"/>
              </a:rPr>
              <a:t>3</a:t>
            </a:r>
            <a:r>
              <a:rPr dirty="0" baseline="25462" sz="1800">
                <a:latin typeface="Times New Roman"/>
                <a:cs typeface="Times New Roman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g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5462" sz="1800">
                <a:latin typeface="Times New Roman"/>
                <a:cs typeface="Times New Roman"/>
              </a:rPr>
              <a:t>2</a:t>
            </a:r>
            <a:r>
              <a:rPr dirty="0" baseline="25462" sz="1800" spc="382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71450">
              <a:lnSpc>
                <a:spcPts val="2960"/>
              </a:lnSpc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We have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 =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5462" sz="1800">
                <a:latin typeface="Times New Roman"/>
                <a:cs typeface="Times New Roman"/>
              </a:rPr>
              <a:t>3</a:t>
            </a:r>
            <a:r>
              <a:rPr dirty="0" sz="1800">
                <a:latin typeface="Times New Roman"/>
                <a:cs typeface="Times New Roman"/>
              </a:rPr>
              <a:t>) = </a:t>
            </a:r>
            <a:r>
              <a:rPr dirty="0" sz="1800" spc="-20" i="1">
                <a:latin typeface="Times New Roman"/>
                <a:cs typeface="Times New Roman"/>
              </a:rPr>
              <a:t>g</a:t>
            </a:r>
            <a:r>
              <a:rPr dirty="0" sz="1800" spc="-20">
                <a:latin typeface="Times New Roman"/>
                <a:cs typeface="Times New Roman"/>
              </a:rPr>
              <a:t>(</a:t>
            </a:r>
            <a:r>
              <a:rPr dirty="0" sz="1800" spc="-20" i="1">
                <a:latin typeface="Times New Roman"/>
                <a:cs typeface="Times New Roman"/>
              </a:rPr>
              <a:t>n</a:t>
            </a:r>
            <a:r>
              <a:rPr dirty="0" sz="1800" spc="-2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  <a:p>
            <a:pPr marL="171450">
              <a:lnSpc>
                <a:spcPts val="3135"/>
              </a:lnSpc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Thus,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 = </a:t>
            </a:r>
            <a:r>
              <a:rPr dirty="0" sz="1800" spc="-20" i="1">
                <a:latin typeface="Times New Roman"/>
                <a:cs typeface="Times New Roman"/>
              </a:rPr>
              <a:t>g</a:t>
            </a:r>
            <a:r>
              <a:rPr dirty="0" sz="1800" spc="-20">
                <a:latin typeface="Times New Roman"/>
                <a:cs typeface="Times New Roman"/>
              </a:rPr>
              <a:t>(</a:t>
            </a:r>
            <a:r>
              <a:rPr dirty="0" sz="1800" spc="-20" i="1">
                <a:latin typeface="Times New Roman"/>
                <a:cs typeface="Times New Roman"/>
              </a:rPr>
              <a:t>n</a:t>
            </a:r>
            <a:r>
              <a:rPr dirty="0" sz="1800" spc="-20">
                <a:latin typeface="Times New Roman"/>
                <a:cs typeface="Times New Roman"/>
              </a:rPr>
              <a:t>)</a:t>
            </a:r>
            <a:r>
              <a:rPr dirty="0" sz="1800" spc="-2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5267" y="3755940"/>
            <a:ext cx="81343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966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Domain.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domain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4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typically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natural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numbers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{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…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}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15241" y="3884581"/>
            <a:ext cx="6910070" cy="896619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Sometimes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we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restrict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subset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natural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numbers.</a:t>
            </a:r>
            <a:endParaRPr sz="1800">
              <a:latin typeface="Lucida Sans Unicode"/>
              <a:cs typeface="Lucida Sans Unicode"/>
            </a:endParaRPr>
          </a:p>
          <a:p>
            <a:pPr marL="381000">
              <a:lnSpc>
                <a:spcPct val="100000"/>
              </a:lnSpc>
              <a:spcBef>
                <a:spcPts val="484"/>
              </a:spcBef>
            </a:pPr>
            <a:r>
              <a:rPr dirty="0" sz="1800">
                <a:latin typeface="Lucida Sans Unicode"/>
                <a:cs typeface="Lucida Sans Unicode"/>
              </a:rPr>
              <a:t>Other times </a:t>
            </a:r>
            <a:r>
              <a:rPr dirty="0" sz="1800" spc="55">
                <a:latin typeface="Lucida Sans Unicode"/>
                <a:cs typeface="Lucida Sans Unicode"/>
              </a:rPr>
              <a:t>we</a:t>
            </a:r>
            <a:r>
              <a:rPr dirty="0" sz="1800">
                <a:latin typeface="Lucida Sans Unicode"/>
                <a:cs typeface="Lucida Sans Unicode"/>
              </a:rPr>
              <a:t> extend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 the </a:t>
            </a:r>
            <a:r>
              <a:rPr dirty="0" sz="1800" spc="-10">
                <a:latin typeface="Lucida Sans Unicode"/>
                <a:cs typeface="Lucida Sans Unicode"/>
              </a:rPr>
              <a:t>reals.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5267" y="5117881"/>
            <a:ext cx="8181340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273939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Nonnegative</a:t>
            </a:r>
            <a:r>
              <a:rPr dirty="0" sz="1800" spc="10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functions.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When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using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-85">
                <a:latin typeface="Lucida Sans Unicode"/>
                <a:cs typeface="Lucida Sans Unicode"/>
              </a:rPr>
              <a:t>big-</a:t>
            </a:r>
            <a:r>
              <a:rPr dirty="0" sz="1800" spc="-60">
                <a:latin typeface="Lucida Sans Unicode"/>
                <a:cs typeface="Lucida Sans Unicode"/>
              </a:rPr>
              <a:t>Oh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notation,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we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assume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the </a:t>
            </a:r>
            <a:r>
              <a:rPr dirty="0" sz="1800">
                <a:latin typeface="Lucida Sans Unicode"/>
                <a:cs typeface="Lucida Sans Unicode"/>
              </a:rPr>
              <a:t>functions</a:t>
            </a:r>
            <a:r>
              <a:rPr dirty="0" sz="1800" spc="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involved</a:t>
            </a:r>
            <a:r>
              <a:rPr dirty="0" sz="1800" spc="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5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(asymptotically)</a:t>
            </a:r>
            <a:r>
              <a:rPr dirty="0" sz="1800" spc="6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nonnegative.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5267" y="6655310"/>
            <a:ext cx="62325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114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Bottom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line.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OK to abuse notation; not OK to misuse </a:t>
            </a:r>
            <a:r>
              <a:rPr dirty="0" sz="1800" spc="-25">
                <a:latin typeface="Lucida Sans Unicode"/>
                <a:cs typeface="Lucida Sans Unicode"/>
              </a:rPr>
              <a:t>it.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Notational</a:t>
            </a:r>
            <a:r>
              <a:rPr dirty="0" spc="95"/>
              <a:t> </a:t>
            </a:r>
            <a:r>
              <a:rPr dirty="0" spc="-25"/>
              <a:t>abuses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Big-</a:t>
            </a:r>
            <a:r>
              <a:rPr dirty="0" spc="60"/>
              <a:t>Omega</a:t>
            </a:r>
            <a:r>
              <a:rPr dirty="0" spc="110"/>
              <a:t> </a:t>
            </a:r>
            <a:r>
              <a:rPr dirty="0" spc="-10"/>
              <a:t>notation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 32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3148" sz="1800">
                <a:latin typeface="Times New Roman"/>
                <a:cs typeface="Times New Roman"/>
              </a:rPr>
              <a:t>2</a:t>
            </a:r>
            <a:r>
              <a:rPr dirty="0" baseline="23148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+ 17</a:t>
            </a:r>
            <a:r>
              <a:rPr dirty="0" sz="1800" i="1">
                <a:latin typeface="Times New Roman"/>
                <a:cs typeface="Times New Roman"/>
              </a:rPr>
              <a:t>n </a:t>
            </a:r>
            <a:r>
              <a:rPr dirty="0" sz="1800">
                <a:latin typeface="Times New Roman"/>
                <a:cs typeface="Times New Roman"/>
              </a:rPr>
              <a:t>+ </a:t>
            </a:r>
            <a:r>
              <a:rPr dirty="0" sz="1800" spc="-25">
                <a:latin typeface="Times New Roman"/>
                <a:cs typeface="Times New Roman"/>
              </a:rPr>
              <a:t>1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15241" y="2531337"/>
            <a:ext cx="3328670" cy="465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0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both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Ω(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3148" sz="1800">
                <a:latin typeface="Times New Roman"/>
                <a:cs typeface="Times New Roman"/>
              </a:rPr>
              <a:t>2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Ω(</a:t>
            </a:r>
            <a:r>
              <a:rPr dirty="0" sz="1800" spc="-20" i="1">
                <a:latin typeface="Times New Roman"/>
                <a:cs typeface="Times New Roman"/>
              </a:rPr>
              <a:t>n</a:t>
            </a:r>
            <a:r>
              <a:rPr dirty="0" sz="1800" spc="-20">
                <a:latin typeface="Times New Roman"/>
                <a:cs typeface="Times New Roman"/>
              </a:rPr>
              <a:t>)</a:t>
            </a:r>
            <a:r>
              <a:rPr dirty="0" sz="1800" spc="-2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5241" y="2893759"/>
            <a:ext cx="4147185" cy="465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 neither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Ω(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3148" sz="1800">
                <a:latin typeface="Times New Roman"/>
                <a:cs typeface="Times New Roman"/>
              </a:rPr>
              <a:t>3</a:t>
            </a:r>
            <a:r>
              <a:rPr dirty="0" sz="1800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nor </a:t>
            </a:r>
            <a:r>
              <a:rPr dirty="0" sz="1800">
                <a:latin typeface="Times New Roman"/>
                <a:cs typeface="Times New Roman"/>
              </a:rPr>
              <a:t>Ω(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3148" sz="1800">
                <a:latin typeface="Times New Roman"/>
                <a:cs typeface="Times New Roman"/>
              </a:rPr>
              <a:t>3</a:t>
            </a:r>
            <a:r>
              <a:rPr dirty="0" baseline="23148" sz="1800" spc="217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Times New Roman"/>
                <a:cs typeface="Times New Roman"/>
              </a:rPr>
              <a:t>)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5267" y="4030617"/>
            <a:ext cx="7952740" cy="75057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73037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dirty="0" sz="1800" spc="-14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Any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-30">
                <a:latin typeface="Lucida Sans Unicode"/>
                <a:cs typeface="Lucida Sans Unicode"/>
              </a:rPr>
              <a:t>compare-</a:t>
            </a:r>
            <a:r>
              <a:rPr dirty="0" sz="1800" spc="-60">
                <a:latin typeface="Lucida Sans Unicode"/>
                <a:cs typeface="Lucida Sans Unicode"/>
              </a:rPr>
              <a:t>based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sorting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requires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Ω(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Lucida Sans Unicode"/>
                <a:cs typeface="Lucida Sans Unicode"/>
              </a:rPr>
              <a:t>compares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worst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case.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5267" y="5480302"/>
            <a:ext cx="7974965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278320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Meaningless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statement.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Any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spc="-30">
                <a:latin typeface="Lucida Sans Unicode"/>
                <a:cs typeface="Lucida Sans Unicode"/>
              </a:rPr>
              <a:t>compare-</a:t>
            </a:r>
            <a:r>
              <a:rPr dirty="0" sz="1800" spc="-60">
                <a:latin typeface="Lucida Sans Unicode"/>
                <a:cs typeface="Lucida Sans Unicode"/>
              </a:rPr>
              <a:t>based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sorting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requires </a:t>
            </a:r>
            <a:r>
              <a:rPr dirty="0" sz="1800">
                <a:latin typeface="Lucida Sans Unicode"/>
                <a:cs typeface="Lucida Sans Unicode"/>
              </a:rPr>
              <a:t>at least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O(</a:t>
            </a:r>
            <a:r>
              <a:rPr dirty="0" sz="1800" i="1">
                <a:latin typeface="Times New Roman"/>
                <a:cs typeface="Times New Roman"/>
              </a:rPr>
              <a:t>n </a:t>
            </a:r>
            <a:r>
              <a:rPr dirty="0" sz="1800">
                <a:latin typeface="Times New Roman"/>
                <a:cs typeface="Times New Roman"/>
              </a:rPr>
              <a:t>log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compares in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worst </a:t>
            </a:r>
            <a:r>
              <a:rPr dirty="0" sz="1800" spc="-10">
                <a:latin typeface="Lucida Sans Unicode"/>
                <a:cs typeface="Lucida Sans Unicode"/>
              </a:rPr>
              <a:t>case.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09134" y="2735717"/>
            <a:ext cx="16084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dirty="0" baseline="4629" sz="1800" spc="-284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 32, n</a:t>
            </a:r>
            <a:r>
              <a:rPr dirty="0" sz="80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dirty="0" sz="800" spc="1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284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75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baseline="4629" sz="180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448942" y="2807270"/>
            <a:ext cx="372745" cy="92075"/>
            <a:chOff x="4448942" y="2807270"/>
            <a:chExt cx="372745" cy="92075"/>
          </a:xfrm>
        </p:grpSpPr>
        <p:sp>
          <p:nvSpPr>
            <p:cNvPr id="11" name="object 11" descr=""/>
            <p:cNvSpPr/>
            <p:nvPr/>
          </p:nvSpPr>
          <p:spPr>
            <a:xfrm>
              <a:off x="4508074" y="2853049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 h="0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48942" y="280727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8"/>
                  </a:lnTo>
                  <a:lnTo>
                    <a:pt x="91559" y="91558"/>
                  </a:lnTo>
                  <a:lnTo>
                    <a:pt x="68670" y="45778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4" name="object 14" descr="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 h="0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w="0"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59227" y="1041580"/>
                  </a:lnTo>
                  <a:lnTo>
                    <a:pt x="209238" y="908176"/>
                  </a:lnTo>
                  <a:lnTo>
                    <a:pt x="408530" y="797424"/>
                  </a:lnTo>
                  <a:lnTo>
                    <a:pt x="615597" y="800624"/>
                  </a:lnTo>
                  <a:lnTo>
                    <a:pt x="874968" y="711554"/>
                  </a:lnTo>
                  <a:lnTo>
                    <a:pt x="1264446" y="432337"/>
                  </a:lnTo>
                  <a:lnTo>
                    <a:pt x="1619089" y="137106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94467" y="1131247"/>
            <a:ext cx="8670925" cy="102171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790"/>
              </a:spcBef>
              <a:tabLst>
                <a:tab pos="185801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Lower</a:t>
            </a:r>
            <a:r>
              <a:rPr dirty="0" sz="1800" spc="10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Ω(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there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exist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constants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6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Lucida Sans Unicode"/>
                <a:cs typeface="Lucida Sans Unicode"/>
              </a:rPr>
              <a:t>such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·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44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baseline="-18518" sz="1800" spc="-37">
                <a:latin typeface="Times New Roman"/>
                <a:cs typeface="Times New Roman"/>
              </a:rPr>
              <a:t>0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algn="r" marR="17780">
              <a:lnSpc>
                <a:spcPct val="100000"/>
              </a:lnSpc>
              <a:spcBef>
                <a:spcPts val="695"/>
              </a:spcBef>
            </a:pPr>
            <a:r>
              <a:rPr dirty="0" sz="1200" spc="-20" i="1">
                <a:latin typeface="Times New Roman"/>
                <a:cs typeface="Times New Roman"/>
              </a:rPr>
              <a:t>T</a:t>
            </a:r>
            <a:r>
              <a:rPr dirty="0" sz="1200" spc="-20">
                <a:latin typeface="Times New Roman"/>
                <a:cs typeface="Times New Roman"/>
              </a:rPr>
              <a:t>(</a:t>
            </a:r>
            <a:r>
              <a:rPr dirty="0" sz="1200" spc="-20" i="1">
                <a:latin typeface="Times New Roman"/>
                <a:cs typeface="Times New Roman"/>
              </a:rPr>
              <a:t>n</a:t>
            </a:r>
            <a:r>
              <a:rPr dirty="0" sz="1200" spc="-2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128839" y="3679641"/>
            <a:ext cx="2038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5" i="1">
                <a:latin typeface="Times New Roman"/>
                <a:cs typeface="Times New Roman"/>
              </a:rPr>
              <a:t>n</a:t>
            </a:r>
            <a:r>
              <a:rPr dirty="0" baseline="-6944" sz="1200" spc="-37">
                <a:latin typeface="Times New Roman"/>
                <a:cs typeface="Times New Roman"/>
              </a:rPr>
              <a:t>0</a:t>
            </a:r>
            <a:endParaRPr baseline="-6944" sz="1200">
              <a:latin typeface="Times New Roman"/>
              <a:cs typeface="Times New Roma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263138" y="2638531"/>
            <a:ext cx="1783714" cy="965835"/>
            <a:chOff x="7263138" y="2638531"/>
            <a:chExt cx="1783714" cy="965835"/>
          </a:xfrm>
        </p:grpSpPr>
        <p:sp>
          <p:nvSpPr>
            <p:cNvPr id="23" name="object 23" descr=""/>
            <p:cNvSpPr/>
            <p:nvPr/>
          </p:nvSpPr>
          <p:spPr>
            <a:xfrm>
              <a:off x="8235292" y="2862931"/>
              <a:ext cx="2540" cy="734060"/>
            </a:xfrm>
            <a:custGeom>
              <a:avLst/>
              <a:gdLst/>
              <a:ahLst/>
              <a:cxnLst/>
              <a:rect l="l" t="t" r="r" b="b"/>
              <a:pathLst>
                <a:path w="2540" h="734060">
                  <a:moveTo>
                    <a:pt x="1918" y="0"/>
                  </a:moveTo>
                  <a:lnTo>
                    <a:pt x="0" y="734035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67907" y="2643299"/>
              <a:ext cx="1774189" cy="694690"/>
            </a:xfrm>
            <a:custGeom>
              <a:avLst/>
              <a:gdLst/>
              <a:ahLst/>
              <a:cxnLst/>
              <a:rect l="l" t="t" r="r" b="b"/>
              <a:pathLst>
                <a:path w="1774190" h="694689">
                  <a:moveTo>
                    <a:pt x="0" y="472439"/>
                  </a:moveTo>
                  <a:lnTo>
                    <a:pt x="34837" y="510822"/>
                  </a:lnTo>
                  <a:lnTo>
                    <a:pt x="116696" y="593280"/>
                  </a:lnTo>
                  <a:lnTo>
                    <a:pt x="211597" y="670770"/>
                  </a:lnTo>
                  <a:lnTo>
                    <a:pt x="285561" y="694252"/>
                  </a:lnTo>
                  <a:lnTo>
                    <a:pt x="312410" y="678528"/>
                  </a:lnTo>
                  <a:lnTo>
                    <a:pt x="353629" y="623930"/>
                  </a:lnTo>
                  <a:lnTo>
                    <a:pt x="369977" y="587693"/>
                  </a:lnTo>
                  <a:lnTo>
                    <a:pt x="384804" y="547255"/>
                  </a:lnTo>
                  <a:lnTo>
                    <a:pt x="399097" y="503935"/>
                  </a:lnTo>
                  <a:lnTo>
                    <a:pt x="413846" y="459050"/>
                  </a:lnTo>
                  <a:lnTo>
                    <a:pt x="430041" y="413919"/>
                  </a:lnTo>
                  <a:lnTo>
                    <a:pt x="448669" y="369860"/>
                  </a:lnTo>
                  <a:lnTo>
                    <a:pt x="470721" y="328193"/>
                  </a:lnTo>
                  <a:lnTo>
                    <a:pt x="497186" y="290234"/>
                  </a:lnTo>
                  <a:lnTo>
                    <a:pt x="529051" y="257303"/>
                  </a:lnTo>
                  <a:lnTo>
                    <a:pt x="567307" y="230718"/>
                  </a:lnTo>
                  <a:lnTo>
                    <a:pt x="601471" y="210952"/>
                  </a:lnTo>
                  <a:lnTo>
                    <a:pt x="652482" y="186183"/>
                  </a:lnTo>
                  <a:lnTo>
                    <a:pt x="718827" y="166575"/>
                  </a:lnTo>
                  <a:lnTo>
                    <a:pt x="757278" y="161884"/>
                  </a:lnTo>
                  <a:lnTo>
                    <a:pt x="798995" y="162296"/>
                  </a:lnTo>
                  <a:lnTo>
                    <a:pt x="843791" y="169082"/>
                  </a:lnTo>
                  <a:lnTo>
                    <a:pt x="891475" y="183512"/>
                  </a:lnTo>
                  <a:lnTo>
                    <a:pt x="941860" y="206857"/>
                  </a:lnTo>
                  <a:lnTo>
                    <a:pt x="994756" y="240387"/>
                  </a:lnTo>
                  <a:lnTo>
                    <a:pt x="1049974" y="285375"/>
                  </a:lnTo>
                  <a:lnTo>
                    <a:pt x="1107325" y="343089"/>
                  </a:lnTo>
                  <a:lnTo>
                    <a:pt x="1132534" y="364916"/>
                  </a:lnTo>
                  <a:lnTo>
                    <a:pt x="1160734" y="378654"/>
                  </a:lnTo>
                  <a:lnTo>
                    <a:pt x="1191593" y="384948"/>
                  </a:lnTo>
                  <a:lnTo>
                    <a:pt x="1224776" y="384444"/>
                  </a:lnTo>
                  <a:lnTo>
                    <a:pt x="1296775" y="365622"/>
                  </a:lnTo>
                  <a:lnTo>
                    <a:pt x="1334922" y="348596"/>
                  </a:lnTo>
                  <a:lnTo>
                    <a:pt x="1374055" y="327353"/>
                  </a:lnTo>
                  <a:lnTo>
                    <a:pt x="1413840" y="302540"/>
                  </a:lnTo>
                  <a:lnTo>
                    <a:pt x="1453943" y="274800"/>
                  </a:lnTo>
                  <a:lnTo>
                    <a:pt x="1494028" y="244781"/>
                  </a:lnTo>
                  <a:lnTo>
                    <a:pt x="1533761" y="213127"/>
                  </a:lnTo>
                  <a:lnTo>
                    <a:pt x="1572808" y="180484"/>
                  </a:lnTo>
                  <a:lnTo>
                    <a:pt x="1610835" y="147498"/>
                  </a:lnTo>
                  <a:lnTo>
                    <a:pt x="1647507" y="114813"/>
                  </a:lnTo>
                  <a:lnTo>
                    <a:pt x="1682489" y="83075"/>
                  </a:lnTo>
                  <a:lnTo>
                    <a:pt x="1715448" y="52930"/>
                  </a:lnTo>
                  <a:lnTo>
                    <a:pt x="1746049" y="25023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095263" y="2439778"/>
            <a:ext cx="4533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spc="-100">
                <a:latin typeface="Times New Roman"/>
                <a:cs typeface="Times New Roman"/>
              </a:rPr>
              <a:t>·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f</a:t>
            </a:r>
            <a:r>
              <a:rPr dirty="0" sz="1200" spc="-100" i="1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(</a:t>
            </a:r>
            <a:r>
              <a:rPr dirty="0" sz="1200" spc="-25" i="1">
                <a:latin typeface="Times New Roman"/>
                <a:cs typeface="Times New Roman"/>
              </a:rPr>
              <a:t>n</a:t>
            </a:r>
            <a:r>
              <a:rPr dirty="0" sz="1200" spc="-25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Big-</a:t>
            </a:r>
            <a:r>
              <a:rPr dirty="0"/>
              <a:t>Theta</a:t>
            </a:r>
            <a:r>
              <a:rPr dirty="0" spc="-100"/>
              <a:t> </a:t>
            </a:r>
            <a:r>
              <a:rPr dirty="0" spc="-10"/>
              <a:t>notation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07167" y="1131247"/>
            <a:ext cx="8406765" cy="75057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90"/>
              </a:spcBef>
              <a:tabLst>
                <a:tab pos="174117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Tight</a:t>
            </a:r>
            <a:r>
              <a:rPr dirty="0" sz="1800" spc="-11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Θ(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if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there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exist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constants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baseline="-6944" sz="1800">
                <a:latin typeface="Times New Roman"/>
                <a:cs typeface="Times New Roman"/>
              </a:rPr>
              <a:t>1</a:t>
            </a:r>
            <a:r>
              <a:rPr dirty="0" baseline="-6944" sz="1800" spc="217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baseline="-6944" sz="1800">
                <a:latin typeface="Times New Roman"/>
                <a:cs typeface="Times New Roman"/>
              </a:rPr>
              <a:t>2</a:t>
            </a:r>
            <a:r>
              <a:rPr dirty="0" baseline="-6944" sz="1800" spc="217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6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Lucida Sans Unicode"/>
                <a:cs typeface="Lucida Sans Unicode"/>
              </a:rPr>
              <a:t>such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baseline="-6944" sz="1800">
                <a:latin typeface="Times New Roman"/>
                <a:cs typeface="Times New Roman"/>
              </a:rPr>
              <a:t>1</a:t>
            </a:r>
            <a:r>
              <a:rPr dirty="0" baseline="-6944" sz="1800" spc="217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·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≤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≤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baseline="-6944" sz="1800">
                <a:latin typeface="Times New Roman"/>
                <a:cs typeface="Times New Roman"/>
              </a:rPr>
              <a:t>2</a:t>
            </a:r>
            <a:r>
              <a:rPr dirty="0" baseline="-6944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·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 all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44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baseline="-18518" sz="1800" spc="-37">
                <a:latin typeface="Times New Roman"/>
                <a:cs typeface="Times New Roman"/>
              </a:rPr>
              <a:t>0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 32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3148" sz="1800">
                <a:latin typeface="Times New Roman"/>
                <a:cs typeface="Times New Roman"/>
              </a:rPr>
              <a:t>2</a:t>
            </a:r>
            <a:r>
              <a:rPr dirty="0" baseline="23148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+ 17</a:t>
            </a:r>
            <a:r>
              <a:rPr dirty="0" sz="1800" i="1">
                <a:latin typeface="Times New Roman"/>
                <a:cs typeface="Times New Roman"/>
              </a:rPr>
              <a:t>n </a:t>
            </a:r>
            <a:r>
              <a:rPr dirty="0" sz="1800">
                <a:latin typeface="Times New Roman"/>
                <a:cs typeface="Times New Roman"/>
              </a:rPr>
              <a:t>+ </a:t>
            </a:r>
            <a:r>
              <a:rPr dirty="0" sz="1800" spc="-25">
                <a:latin typeface="Times New Roman"/>
                <a:cs typeface="Times New Roman"/>
              </a:rPr>
              <a:t>1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5241" y="2531337"/>
            <a:ext cx="1745614" cy="465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 </a:t>
            </a:r>
            <a:r>
              <a:rPr dirty="0" sz="1800" spc="-10">
                <a:latin typeface="Times New Roman"/>
                <a:cs typeface="Times New Roman"/>
              </a:rPr>
              <a:t>Θ(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baseline="23148" sz="1800" spc="-15">
                <a:latin typeface="Times New Roman"/>
                <a:cs typeface="Times New Roman"/>
              </a:rPr>
              <a:t>2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15241" y="2893759"/>
            <a:ext cx="3554729" cy="465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7797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 neither </a:t>
            </a:r>
            <a:r>
              <a:rPr dirty="0" sz="1800">
                <a:latin typeface="Times New Roman"/>
                <a:cs typeface="Times New Roman"/>
              </a:rPr>
              <a:t>Θ(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nor </a:t>
            </a:r>
            <a:r>
              <a:rPr dirty="0" sz="1800" spc="-10">
                <a:latin typeface="Times New Roman"/>
                <a:cs typeface="Times New Roman"/>
              </a:rPr>
              <a:t>Θ(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baseline="23148" sz="1800" spc="-15">
                <a:latin typeface="Times New Roman"/>
                <a:cs typeface="Times New Roman"/>
              </a:rPr>
              <a:t>3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5267" y="4843204"/>
            <a:ext cx="79749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037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dirty="0" sz="1800" spc="-14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Mergesort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makes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Θ(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-1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compares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10" i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90352" y="2726179"/>
            <a:ext cx="22987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choose c</a:t>
            </a:r>
            <a:r>
              <a:rPr dirty="0" sz="80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r>
              <a:rPr dirty="0" sz="800" spc="1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284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baseline="4629" sz="1800" spc="7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32, c</a:t>
            </a:r>
            <a:r>
              <a:rPr dirty="0" sz="80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dirty="0" sz="800" spc="12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284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 50,</a:t>
            </a:r>
            <a:r>
              <a:rPr dirty="0" baseline="4629" sz="1800" spc="7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n</a:t>
            </a:r>
            <a:r>
              <a:rPr dirty="0" sz="80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dirty="0" sz="800" spc="1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284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dirty="0" baseline="4629" sz="180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baseline="4629" sz="1800" spc="-75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baseline="4629" sz="180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722672" y="2797732"/>
            <a:ext cx="372745" cy="92075"/>
            <a:chOff x="2722672" y="2797732"/>
            <a:chExt cx="372745" cy="92075"/>
          </a:xfrm>
        </p:grpSpPr>
        <p:sp>
          <p:nvSpPr>
            <p:cNvPr id="11" name="object 11" descr=""/>
            <p:cNvSpPr/>
            <p:nvPr/>
          </p:nvSpPr>
          <p:spPr>
            <a:xfrm>
              <a:off x="2781804" y="2843511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 h="0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722672" y="2797732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8" y="0"/>
                  </a:moveTo>
                  <a:lnTo>
                    <a:pt x="0" y="45779"/>
                  </a:lnTo>
                  <a:lnTo>
                    <a:pt x="91558" y="91559"/>
                  </a:lnTo>
                  <a:lnTo>
                    <a:pt x="68668" y="45779"/>
                  </a:lnTo>
                  <a:lnTo>
                    <a:pt x="91558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4" name="object 14" descr="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 h="0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w="0"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82751" y="1027955"/>
                  </a:lnTo>
                  <a:lnTo>
                    <a:pt x="281426" y="869459"/>
                  </a:lnTo>
                  <a:lnTo>
                    <a:pt x="521652" y="745820"/>
                  </a:lnTo>
                  <a:lnTo>
                    <a:pt x="729059" y="772012"/>
                  </a:lnTo>
                  <a:lnTo>
                    <a:pt x="999672" y="741440"/>
                  </a:lnTo>
                  <a:lnTo>
                    <a:pt x="1346928" y="466055"/>
                  </a:lnTo>
                  <a:lnTo>
                    <a:pt x="1646474" y="150645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77781" y="2986559"/>
              <a:ext cx="0" cy="629920"/>
            </a:xfrm>
            <a:custGeom>
              <a:avLst/>
              <a:gdLst/>
              <a:ahLst/>
              <a:cxnLst/>
              <a:rect l="l" t="t" r="r" b="b"/>
              <a:pathLst>
                <a:path w="0" h="629920">
                  <a:moveTo>
                    <a:pt x="0" y="0"/>
                  </a:moveTo>
                  <a:lnTo>
                    <a:pt x="0" y="629481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67907" y="2643299"/>
              <a:ext cx="1774189" cy="641985"/>
            </a:xfrm>
            <a:custGeom>
              <a:avLst/>
              <a:gdLst/>
              <a:ahLst/>
              <a:cxnLst/>
              <a:rect l="l" t="t" r="r" b="b"/>
              <a:pathLst>
                <a:path w="1774190" h="641985">
                  <a:moveTo>
                    <a:pt x="0" y="472439"/>
                  </a:moveTo>
                  <a:lnTo>
                    <a:pt x="73632" y="496166"/>
                  </a:lnTo>
                  <a:lnTo>
                    <a:pt x="242007" y="549106"/>
                  </a:lnTo>
                  <a:lnTo>
                    <a:pt x="426343" y="603892"/>
                  </a:lnTo>
                  <a:lnTo>
                    <a:pt x="547860" y="633157"/>
                  </a:lnTo>
                  <a:lnTo>
                    <a:pt x="597303" y="637995"/>
                  </a:lnTo>
                  <a:lnTo>
                    <a:pt x="662036" y="641249"/>
                  </a:lnTo>
                  <a:lnTo>
                    <a:pt x="699067" y="641412"/>
                  </a:lnTo>
                  <a:lnTo>
                    <a:pt x="738640" y="640137"/>
                  </a:lnTo>
                  <a:lnTo>
                    <a:pt x="780327" y="637076"/>
                  </a:lnTo>
                  <a:lnTo>
                    <a:pt x="823700" y="631880"/>
                  </a:lnTo>
                  <a:lnTo>
                    <a:pt x="868333" y="624203"/>
                  </a:lnTo>
                  <a:lnTo>
                    <a:pt x="913798" y="613695"/>
                  </a:lnTo>
                  <a:lnTo>
                    <a:pt x="959669" y="600011"/>
                  </a:lnTo>
                  <a:lnTo>
                    <a:pt x="1005518" y="582802"/>
                  </a:lnTo>
                  <a:lnTo>
                    <a:pt x="1050917" y="561720"/>
                  </a:lnTo>
                  <a:lnTo>
                    <a:pt x="1095441" y="536418"/>
                  </a:lnTo>
                  <a:lnTo>
                    <a:pt x="1138662" y="506548"/>
                  </a:lnTo>
                  <a:lnTo>
                    <a:pt x="1180152" y="471762"/>
                  </a:lnTo>
                  <a:lnTo>
                    <a:pt x="1219485" y="431713"/>
                  </a:lnTo>
                  <a:lnTo>
                    <a:pt x="1256233" y="386054"/>
                  </a:lnTo>
                  <a:lnTo>
                    <a:pt x="1289970" y="334435"/>
                  </a:lnTo>
                  <a:lnTo>
                    <a:pt x="1320268" y="276511"/>
                  </a:lnTo>
                  <a:lnTo>
                    <a:pt x="1343625" y="234550"/>
                  </a:lnTo>
                  <a:lnTo>
                    <a:pt x="1370139" y="201016"/>
                  </a:lnTo>
                  <a:lnTo>
                    <a:pt x="1399474" y="174550"/>
                  </a:lnTo>
                  <a:lnTo>
                    <a:pt x="1465260" y="137393"/>
                  </a:lnTo>
                  <a:lnTo>
                    <a:pt x="1501038" y="123987"/>
                  </a:lnTo>
                  <a:lnTo>
                    <a:pt x="1538292" y="112220"/>
                  </a:lnTo>
                  <a:lnTo>
                    <a:pt x="1576684" y="100733"/>
                  </a:lnTo>
                  <a:lnTo>
                    <a:pt x="1615879" y="88170"/>
                  </a:lnTo>
                  <a:lnTo>
                    <a:pt x="1655540" y="73172"/>
                  </a:lnTo>
                  <a:lnTo>
                    <a:pt x="1695331" y="54383"/>
                  </a:lnTo>
                  <a:lnTo>
                    <a:pt x="1734915" y="30445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9102422" y="2086894"/>
            <a:ext cx="2882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i="1">
                <a:latin typeface="Times New Roman"/>
                <a:cs typeface="Times New Roman"/>
              </a:rPr>
              <a:t>T</a:t>
            </a:r>
            <a:r>
              <a:rPr dirty="0" sz="1200" spc="-20">
                <a:latin typeface="Times New Roman"/>
                <a:cs typeface="Times New Roman"/>
              </a:rPr>
              <a:t>(</a:t>
            </a:r>
            <a:r>
              <a:rPr dirty="0" sz="1200" spc="-20" i="1">
                <a:latin typeface="Times New Roman"/>
                <a:cs typeface="Times New Roman"/>
              </a:rPr>
              <a:t>n</a:t>
            </a:r>
            <a:r>
              <a:rPr dirty="0" sz="1200" spc="-2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880867" y="3679641"/>
            <a:ext cx="2038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5" i="1">
                <a:latin typeface="Times New Roman"/>
                <a:cs typeface="Times New Roman"/>
              </a:rPr>
              <a:t>n</a:t>
            </a:r>
            <a:r>
              <a:rPr dirty="0" baseline="-6944" sz="1200" spc="-37">
                <a:latin typeface="Times New Roman"/>
                <a:cs typeface="Times New Roman"/>
              </a:rPr>
              <a:t>0</a:t>
            </a:r>
            <a:endParaRPr baseline="-6944" sz="12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044430" y="2477927"/>
            <a:ext cx="5556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baseline="-6944" sz="1200">
                <a:latin typeface="Times New Roman"/>
                <a:cs typeface="Times New Roman"/>
              </a:rPr>
              <a:t>1</a:t>
            </a:r>
            <a:r>
              <a:rPr dirty="0" baseline="-6944" sz="1200" spc="142">
                <a:latin typeface="Times New Roman"/>
                <a:cs typeface="Times New Roman"/>
              </a:rPr>
              <a:t> </a:t>
            </a:r>
            <a:r>
              <a:rPr dirty="0" sz="1200" spc="-100">
                <a:latin typeface="Times New Roman"/>
                <a:cs typeface="Times New Roman"/>
              </a:rPr>
              <a:t>·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f</a:t>
            </a:r>
            <a:r>
              <a:rPr dirty="0" sz="1200" spc="-100" i="1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(</a:t>
            </a:r>
            <a:r>
              <a:rPr dirty="0" sz="1200" spc="-25" i="1">
                <a:latin typeface="Times New Roman"/>
                <a:cs typeface="Times New Roman"/>
              </a:rPr>
              <a:t>n</a:t>
            </a:r>
            <a:r>
              <a:rPr dirty="0" sz="1200" spc="-25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7252939" y="1855728"/>
            <a:ext cx="1793239" cy="1198880"/>
          </a:xfrm>
          <a:custGeom>
            <a:avLst/>
            <a:gdLst/>
            <a:ahLst/>
            <a:cxnLst/>
            <a:rect l="l" t="t" r="r" b="b"/>
            <a:pathLst>
              <a:path w="1793240" h="1198880">
                <a:moveTo>
                  <a:pt x="1793031" y="0"/>
                </a:moveTo>
                <a:lnTo>
                  <a:pt x="1749716" y="53945"/>
                </a:lnTo>
                <a:lnTo>
                  <a:pt x="1651343" y="176264"/>
                </a:lnTo>
                <a:lnTo>
                  <a:pt x="1545271" y="307677"/>
                </a:lnTo>
                <a:lnTo>
                  <a:pt x="1478857" y="388905"/>
                </a:lnTo>
                <a:lnTo>
                  <a:pt x="1469438" y="400231"/>
                </a:lnTo>
                <a:lnTo>
                  <a:pt x="1456851" y="415618"/>
                </a:lnTo>
                <a:lnTo>
                  <a:pt x="1422844" y="457301"/>
                </a:lnTo>
                <a:lnTo>
                  <a:pt x="1378181" y="511398"/>
                </a:lnTo>
                <a:lnTo>
                  <a:pt x="1352275" y="542303"/>
                </a:lnTo>
                <a:lnTo>
                  <a:pt x="1324208" y="575352"/>
                </a:lnTo>
                <a:lnTo>
                  <a:pt x="1294151" y="610226"/>
                </a:lnTo>
                <a:lnTo>
                  <a:pt x="1262270" y="646606"/>
                </a:lnTo>
                <a:lnTo>
                  <a:pt x="1228734" y="684172"/>
                </a:lnTo>
                <a:lnTo>
                  <a:pt x="1193712" y="722603"/>
                </a:lnTo>
                <a:lnTo>
                  <a:pt x="1157371" y="761582"/>
                </a:lnTo>
                <a:lnTo>
                  <a:pt x="1119879" y="800787"/>
                </a:lnTo>
                <a:lnTo>
                  <a:pt x="1081404" y="839900"/>
                </a:lnTo>
                <a:lnTo>
                  <a:pt x="1042116" y="878600"/>
                </a:lnTo>
                <a:lnTo>
                  <a:pt x="1002181" y="916569"/>
                </a:lnTo>
                <a:lnTo>
                  <a:pt x="961769" y="953486"/>
                </a:lnTo>
                <a:lnTo>
                  <a:pt x="921047" y="989033"/>
                </a:lnTo>
                <a:lnTo>
                  <a:pt x="880183" y="1022888"/>
                </a:lnTo>
                <a:lnTo>
                  <a:pt x="839345" y="1054734"/>
                </a:lnTo>
                <a:lnTo>
                  <a:pt x="798703" y="1084250"/>
                </a:lnTo>
                <a:lnTo>
                  <a:pt x="758423" y="1111116"/>
                </a:lnTo>
                <a:lnTo>
                  <a:pt x="718674" y="1135013"/>
                </a:lnTo>
                <a:lnTo>
                  <a:pt x="679624" y="1155622"/>
                </a:lnTo>
                <a:lnTo>
                  <a:pt x="641442" y="1172623"/>
                </a:lnTo>
                <a:lnTo>
                  <a:pt x="604295" y="1185696"/>
                </a:lnTo>
                <a:lnTo>
                  <a:pt x="533779" y="1198779"/>
                </a:lnTo>
                <a:lnTo>
                  <a:pt x="500748" y="1198151"/>
                </a:lnTo>
                <a:lnTo>
                  <a:pt x="439976" y="1180956"/>
                </a:lnTo>
                <a:lnTo>
                  <a:pt x="387382" y="1140380"/>
                </a:lnTo>
                <a:lnTo>
                  <a:pt x="348446" y="1097585"/>
                </a:lnTo>
                <a:lnTo>
                  <a:pt x="312636" y="1059734"/>
                </a:lnTo>
                <a:lnTo>
                  <a:pt x="279159" y="1027455"/>
                </a:lnTo>
                <a:lnTo>
                  <a:pt x="247221" y="1001373"/>
                </a:lnTo>
                <a:lnTo>
                  <a:pt x="184780" y="970312"/>
                </a:lnTo>
                <a:lnTo>
                  <a:pt x="152691" y="966586"/>
                </a:lnTo>
                <a:lnTo>
                  <a:pt x="118962" y="971566"/>
                </a:lnTo>
                <a:lnTo>
                  <a:pt x="82800" y="985878"/>
                </a:lnTo>
                <a:lnTo>
                  <a:pt x="43411" y="1010149"/>
                </a:lnTo>
                <a:lnTo>
                  <a:pt x="0" y="1045007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9053966" y="1762623"/>
            <a:ext cx="5556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baseline="-6944" sz="1200">
                <a:latin typeface="Times New Roman"/>
                <a:cs typeface="Times New Roman"/>
              </a:rPr>
              <a:t>2</a:t>
            </a:r>
            <a:r>
              <a:rPr dirty="0" baseline="-6944" sz="1200" spc="142">
                <a:latin typeface="Times New Roman"/>
                <a:cs typeface="Times New Roman"/>
              </a:rPr>
              <a:t> </a:t>
            </a:r>
            <a:r>
              <a:rPr dirty="0" sz="1200" spc="-100">
                <a:latin typeface="Times New Roman"/>
                <a:cs typeface="Times New Roman"/>
              </a:rPr>
              <a:t>·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f</a:t>
            </a:r>
            <a:r>
              <a:rPr dirty="0" sz="1200" spc="-100" i="1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(</a:t>
            </a:r>
            <a:r>
              <a:rPr dirty="0" sz="1200" spc="-25" i="1">
                <a:latin typeface="Times New Roman"/>
                <a:cs typeface="Times New Roman"/>
              </a:rPr>
              <a:t>n</a:t>
            </a:r>
            <a:r>
              <a:rPr dirty="0" sz="1200" spc="-25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Useful</a:t>
            </a:r>
            <a:r>
              <a:rPr dirty="0" spc="-35"/>
              <a:t> </a:t>
            </a:r>
            <a:r>
              <a:rPr dirty="0" spc="-20"/>
              <a:t>facts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45267" y="1218991"/>
            <a:ext cx="165036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717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Proposition.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25">
                <a:latin typeface="Lucida Sans Unicode"/>
                <a:cs typeface="Lucida Sans Unicode"/>
              </a:rPr>
              <a:t>If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9867" y="1943833"/>
            <a:ext cx="80498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6545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By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definition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limit, there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exists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such such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44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baseline="-18518" sz="1800" spc="-37">
                <a:latin typeface="Times New Roman"/>
                <a:cs typeface="Times New Roman"/>
              </a:rPr>
              <a:t>0</a:t>
            </a:r>
            <a:endParaRPr baseline="-18518" sz="1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2541" y="3256180"/>
            <a:ext cx="7878445" cy="827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ts val="3135"/>
              </a:lnSpc>
              <a:spcBef>
                <a:spcPts val="130"/>
              </a:spcBef>
              <a:tabLst>
                <a:tab pos="5742305" algn="l"/>
              </a:tabLst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Thus,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≤</a:t>
            </a:r>
            <a:r>
              <a:rPr dirty="0" sz="1800" spc="45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sz="1800" spc="-14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g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459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59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which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implies</a:t>
            </a:r>
            <a:r>
              <a:rPr dirty="0" sz="1800"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6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 </a:t>
            </a:r>
            <a:r>
              <a:rPr dirty="0" sz="1800" spc="-10" i="1">
                <a:latin typeface="Times New Roman"/>
                <a:cs typeface="Times New Roman"/>
              </a:rPr>
              <a:t>O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g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sz="1800" spc="-10">
                <a:latin typeface="Times New Roman"/>
                <a:cs typeface="Times New Roman"/>
              </a:rPr>
              <a:t>))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ts val="3135"/>
              </a:lnSpc>
              <a:tabLst>
                <a:tab pos="1562735" algn="l"/>
                <a:tab pos="2343150" algn="l"/>
                <a:tab pos="6354445" algn="l"/>
              </a:tabLst>
            </a:pPr>
            <a:r>
              <a:rPr dirty="0" baseline="-8771" sz="4275" spc="2175">
                <a:latin typeface="MS PGothic"/>
                <a:cs typeface="MS PGothic"/>
              </a:rPr>
              <a:t>・</a:t>
            </a:r>
            <a:r>
              <a:rPr dirty="0" sz="1800" spc="-10">
                <a:latin typeface="Lucida Sans Unicode"/>
                <a:cs typeface="Lucida Sans Unicode"/>
              </a:rPr>
              <a:t>Similarly,</a:t>
            </a:r>
            <a:r>
              <a:rPr dirty="0" sz="1800"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5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≥</a:t>
            </a:r>
            <a:r>
              <a:rPr dirty="0" sz="1800">
                <a:latin typeface="Times New Roman"/>
                <a:cs typeface="Times New Roman"/>
              </a:rPr>
              <a:t>	½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sz="1800" spc="-14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g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46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59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which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implies</a:t>
            </a:r>
            <a:r>
              <a:rPr dirty="0" sz="1800"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6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 </a:t>
            </a:r>
            <a:r>
              <a:rPr dirty="0" sz="1800" spc="-10">
                <a:latin typeface="Times New Roman"/>
                <a:cs typeface="Times New Roman"/>
              </a:rPr>
              <a:t>Ω(</a:t>
            </a:r>
            <a:r>
              <a:rPr dirty="0" sz="1800" spc="-10" i="1">
                <a:latin typeface="Times New Roman"/>
                <a:cs typeface="Times New Roman"/>
              </a:rPr>
              <a:t>g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sz="1800" spc="-10">
                <a:latin typeface="Times New Roman"/>
                <a:cs typeface="Times New Roman"/>
              </a:rPr>
              <a:t>))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5267" y="4843204"/>
            <a:ext cx="165036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717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Proposition.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25">
                <a:latin typeface="Lucida Sans Unicode"/>
                <a:cs typeface="Lucida Sans Unicode"/>
              </a:rPr>
              <a:t>If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26040" y="1234631"/>
            <a:ext cx="461645" cy="384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85090">
              <a:lnSpc>
                <a:spcPts val="1695"/>
              </a:lnSpc>
              <a:spcBef>
                <a:spcPts val="125"/>
              </a:spcBef>
            </a:pPr>
            <a:r>
              <a:rPr dirty="0" sz="1600" spc="65">
                <a:latin typeface="Calibri"/>
                <a:cs typeface="Calibri"/>
              </a:rPr>
              <a:t>lim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095"/>
              </a:lnSpc>
            </a:pPr>
            <a:r>
              <a:rPr dirty="0" sz="1100" spc="290" i="1">
                <a:latin typeface="Calibri"/>
                <a:cs typeface="Calibri"/>
              </a:rPr>
              <a:t>n</a:t>
            </a:r>
            <a:r>
              <a:rPr dirty="0" sz="1100" spc="290" i="1">
                <a:latin typeface="Arial"/>
                <a:cs typeface="Arial"/>
              </a:rPr>
              <a:t>→∞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80179" y="1094887"/>
            <a:ext cx="438150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310" i="1">
                <a:latin typeface="Calibri"/>
                <a:cs typeface="Calibri"/>
              </a:rPr>
              <a:t>f</a:t>
            </a:r>
            <a:r>
              <a:rPr dirty="0" sz="1600" spc="-185" i="1">
                <a:latin typeface="Calibri"/>
                <a:cs typeface="Calibri"/>
              </a:rPr>
              <a:t> </a:t>
            </a:r>
            <a:r>
              <a:rPr dirty="0" sz="1600" spc="120">
                <a:latin typeface="Calibri"/>
                <a:cs typeface="Calibri"/>
              </a:rPr>
              <a:t>(</a:t>
            </a:r>
            <a:r>
              <a:rPr dirty="0" sz="1600" spc="120" i="1">
                <a:latin typeface="Calibri"/>
                <a:cs typeface="Calibri"/>
              </a:rPr>
              <a:t>n</a:t>
            </a:r>
            <a:r>
              <a:rPr dirty="0" sz="1600" spc="12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92879" y="1402065"/>
            <a:ext cx="412750" cy="0"/>
          </a:xfrm>
          <a:custGeom>
            <a:avLst/>
            <a:gdLst/>
            <a:ahLst/>
            <a:cxnLst/>
            <a:rect l="l" t="t" r="r" b="b"/>
            <a:pathLst>
              <a:path w="412750" h="0">
                <a:moveTo>
                  <a:pt x="0" y="0"/>
                </a:moveTo>
                <a:lnTo>
                  <a:pt x="412616" y="0"/>
                </a:lnTo>
              </a:path>
            </a:pathLst>
          </a:custGeom>
          <a:ln w="82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088984" y="1376241"/>
            <a:ext cx="420370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90" i="1">
                <a:latin typeface="Calibri"/>
                <a:cs typeface="Calibri"/>
              </a:rPr>
              <a:t>g</a:t>
            </a:r>
            <a:r>
              <a:rPr dirty="0" sz="1600" spc="90">
                <a:latin typeface="Calibri"/>
                <a:cs typeface="Calibri"/>
              </a:rPr>
              <a:t>(</a:t>
            </a:r>
            <a:r>
              <a:rPr dirty="0" sz="1600" spc="90" i="1">
                <a:latin typeface="Calibri"/>
                <a:cs typeface="Calibri"/>
              </a:rPr>
              <a:t>n</a:t>
            </a:r>
            <a:r>
              <a:rPr dirty="0" sz="1600" spc="9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633898" y="1234631"/>
            <a:ext cx="39433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470">
                <a:latin typeface="Calibri"/>
                <a:cs typeface="Calibri"/>
              </a:rPr>
              <a:t>=</a:t>
            </a:r>
            <a:r>
              <a:rPr dirty="0" sz="1600" spc="90">
                <a:latin typeface="Calibri"/>
                <a:cs typeface="Calibri"/>
              </a:rPr>
              <a:t>  </a:t>
            </a:r>
            <a:r>
              <a:rPr dirty="0" sz="1600" spc="-50" i="1"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18669" y="1218991"/>
            <a:ext cx="26174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736" sz="2400" spc="705" i="1">
                <a:latin typeface="Calibri"/>
                <a:cs typeface="Calibri"/>
              </a:rPr>
              <a:t>&gt;</a:t>
            </a:r>
            <a:r>
              <a:rPr dirty="0" baseline="1736" sz="2400" spc="142" i="1">
                <a:latin typeface="Calibri"/>
                <a:cs typeface="Calibri"/>
              </a:rPr>
              <a:t>  </a:t>
            </a:r>
            <a:r>
              <a:rPr dirty="0" baseline="1736" sz="2400">
                <a:latin typeface="Calibri"/>
                <a:cs typeface="Calibri"/>
              </a:rPr>
              <a:t>0</a:t>
            </a:r>
            <a:r>
              <a:rPr dirty="0" baseline="1736" sz="2400" spc="-89">
                <a:latin typeface="Calibri"/>
                <a:cs typeface="Calibri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, then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12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Θ(</a:t>
            </a:r>
            <a:r>
              <a:rPr dirty="0" sz="1800" spc="-10" i="1">
                <a:latin typeface="Times New Roman"/>
                <a:cs typeface="Times New Roman"/>
              </a:rPr>
              <a:t>g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sz="1800" spc="-10">
                <a:latin typeface="Times New Roman"/>
                <a:cs typeface="Times New Roman"/>
              </a:rPr>
              <a:t>))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561233" y="2697465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 h="0">
                <a:moveTo>
                  <a:pt x="0" y="0"/>
                </a:moveTo>
                <a:lnTo>
                  <a:pt x="104324" y="0"/>
                </a:lnTo>
              </a:path>
            </a:pathLst>
          </a:custGeom>
          <a:ln w="82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234941" y="2697465"/>
            <a:ext cx="412750" cy="0"/>
          </a:xfrm>
          <a:custGeom>
            <a:avLst/>
            <a:gdLst/>
            <a:ahLst/>
            <a:cxnLst/>
            <a:rect l="l" t="t" r="r" b="b"/>
            <a:pathLst>
              <a:path w="412750" h="0">
                <a:moveTo>
                  <a:pt x="0" y="0"/>
                </a:moveTo>
                <a:lnTo>
                  <a:pt x="412268" y="0"/>
                </a:lnTo>
              </a:path>
            </a:pathLst>
          </a:custGeom>
          <a:ln w="82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548533" y="2356815"/>
            <a:ext cx="1111250" cy="58864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685800" indent="-673100">
              <a:lnSpc>
                <a:spcPct val="100000"/>
              </a:lnSpc>
              <a:spcBef>
                <a:spcPts val="390"/>
              </a:spcBef>
              <a:buFont typeface="Calibri"/>
              <a:buAutoNum type="arabicPlain"/>
              <a:tabLst>
                <a:tab pos="685800" algn="l"/>
              </a:tabLst>
            </a:pPr>
            <a:r>
              <a:rPr dirty="0" sz="1600" spc="310" i="1">
                <a:latin typeface="Calibri"/>
                <a:cs typeface="Calibri"/>
              </a:rPr>
              <a:t>f</a:t>
            </a:r>
            <a:r>
              <a:rPr dirty="0" sz="1600" spc="-185" i="1">
                <a:latin typeface="Calibri"/>
                <a:cs typeface="Calibri"/>
              </a:rPr>
              <a:t> </a:t>
            </a:r>
            <a:r>
              <a:rPr dirty="0" sz="1600" spc="120">
                <a:latin typeface="Calibri"/>
                <a:cs typeface="Calibri"/>
              </a:rPr>
              <a:t>(</a:t>
            </a:r>
            <a:r>
              <a:rPr dirty="0" sz="1600" spc="120" i="1">
                <a:latin typeface="Calibri"/>
                <a:cs typeface="Calibri"/>
              </a:rPr>
              <a:t>n</a:t>
            </a:r>
            <a:r>
              <a:rPr dirty="0" sz="1600" spc="12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694690" indent="-681990">
              <a:lnSpc>
                <a:spcPct val="100000"/>
              </a:lnSpc>
              <a:spcBef>
                <a:spcPts val="295"/>
              </a:spcBef>
              <a:buFont typeface="Calibri"/>
              <a:buAutoNum type="arabicPlain"/>
              <a:tabLst>
                <a:tab pos="694690" algn="l"/>
              </a:tabLst>
            </a:pPr>
            <a:r>
              <a:rPr dirty="0" sz="1600" spc="90" i="1">
                <a:latin typeface="Calibri"/>
                <a:cs typeface="Calibri"/>
              </a:rPr>
              <a:t>g</a:t>
            </a:r>
            <a:r>
              <a:rPr dirty="0" sz="1600" spc="90">
                <a:latin typeface="Calibri"/>
                <a:cs typeface="Calibri"/>
              </a:rPr>
              <a:t>(</a:t>
            </a:r>
            <a:r>
              <a:rPr dirty="0" sz="1600" spc="90" i="1">
                <a:latin typeface="Calibri"/>
                <a:cs typeface="Calibri"/>
              </a:rPr>
              <a:t>n</a:t>
            </a:r>
            <a:r>
              <a:rPr dirty="0" sz="1600" spc="9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712770" y="2530031"/>
            <a:ext cx="159575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75055" algn="l"/>
              </a:tabLst>
            </a:pPr>
            <a:r>
              <a:rPr dirty="0" sz="1600" i="1">
                <a:latin typeface="Calibri"/>
                <a:cs typeface="Calibri"/>
              </a:rPr>
              <a:t>c</a:t>
            </a:r>
            <a:r>
              <a:rPr dirty="0" sz="1600" spc="114" i="1">
                <a:latin typeface="Calibri"/>
                <a:cs typeface="Calibri"/>
              </a:rPr>
              <a:t>  </a:t>
            </a:r>
            <a:r>
              <a:rPr dirty="0" sz="1600" spc="420" i="1">
                <a:latin typeface="Calibri"/>
                <a:cs typeface="Calibri"/>
              </a:rPr>
              <a:t>&lt;</a:t>
            </a:r>
            <a:r>
              <a:rPr dirty="0" sz="1600" i="1">
                <a:latin typeface="Calibri"/>
                <a:cs typeface="Calibri"/>
              </a:rPr>
              <a:t>	</a:t>
            </a:r>
            <a:r>
              <a:rPr dirty="0" sz="1600" spc="470" i="1">
                <a:latin typeface="Calibri"/>
                <a:cs typeface="Calibri"/>
              </a:rPr>
              <a:t>&lt;</a:t>
            </a:r>
            <a:r>
              <a:rPr dirty="0" sz="1600" spc="95" i="1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1600" spc="-85">
                <a:latin typeface="Calibri"/>
                <a:cs typeface="Calibri"/>
              </a:rPr>
              <a:t> </a:t>
            </a:r>
            <a:r>
              <a:rPr dirty="0" sz="1600" spc="-50" i="1"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459078" y="4881881"/>
            <a:ext cx="467995" cy="3943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86360">
              <a:lnSpc>
                <a:spcPts val="1739"/>
              </a:lnSpc>
              <a:spcBef>
                <a:spcPts val="114"/>
              </a:spcBef>
            </a:pPr>
            <a:r>
              <a:rPr dirty="0" sz="1650" spc="55">
                <a:latin typeface="Calibri"/>
                <a:cs typeface="Calibri"/>
              </a:rPr>
              <a:t>lim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ts val="1140"/>
              </a:lnSpc>
            </a:pPr>
            <a:r>
              <a:rPr dirty="0" sz="1150" spc="275" i="1">
                <a:latin typeface="Calibri"/>
                <a:cs typeface="Calibri"/>
              </a:rPr>
              <a:t>n</a:t>
            </a:r>
            <a:r>
              <a:rPr dirty="0" sz="1150" spc="275" i="1">
                <a:latin typeface="Arial"/>
                <a:cs typeface="Arial"/>
              </a:rPr>
              <a:t>→∞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20451" y="4738555"/>
            <a:ext cx="44386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310" i="1">
                <a:latin typeface="Calibri"/>
                <a:cs typeface="Calibri"/>
              </a:rPr>
              <a:t>f</a:t>
            </a:r>
            <a:r>
              <a:rPr dirty="0" sz="1650" spc="-195" i="1">
                <a:latin typeface="Calibri"/>
                <a:cs typeface="Calibri"/>
              </a:rPr>
              <a:t> </a:t>
            </a:r>
            <a:r>
              <a:rPr dirty="0" sz="1650" spc="114">
                <a:latin typeface="Calibri"/>
                <a:cs typeface="Calibri"/>
              </a:rPr>
              <a:t>(</a:t>
            </a:r>
            <a:r>
              <a:rPr dirty="0" sz="1650" spc="114" i="1">
                <a:latin typeface="Calibri"/>
                <a:cs typeface="Calibri"/>
              </a:rPr>
              <a:t>n</a:t>
            </a:r>
            <a:r>
              <a:rPr dirty="0" sz="1650" spc="114">
                <a:latin typeface="Calibri"/>
                <a:cs typeface="Calibri"/>
              </a:rPr>
              <a:t>)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033151" y="5053283"/>
            <a:ext cx="418465" cy="0"/>
          </a:xfrm>
          <a:custGeom>
            <a:avLst/>
            <a:gdLst/>
            <a:ahLst/>
            <a:cxnLst/>
            <a:rect l="l" t="t" r="r" b="b"/>
            <a:pathLst>
              <a:path w="418464" h="0">
                <a:moveTo>
                  <a:pt x="0" y="0"/>
                </a:moveTo>
                <a:lnTo>
                  <a:pt x="418003" y="0"/>
                </a:lnTo>
              </a:path>
            </a:pathLst>
          </a:custGeom>
          <a:ln w="84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029372" y="5027122"/>
            <a:ext cx="426084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85" i="1">
                <a:latin typeface="Calibri"/>
                <a:cs typeface="Calibri"/>
              </a:rPr>
              <a:t>g</a:t>
            </a:r>
            <a:r>
              <a:rPr dirty="0" sz="1650" spc="85">
                <a:latin typeface="Calibri"/>
                <a:cs typeface="Calibri"/>
              </a:rPr>
              <a:t>(</a:t>
            </a:r>
            <a:r>
              <a:rPr dirty="0" sz="1650" spc="85" i="1">
                <a:latin typeface="Calibri"/>
                <a:cs typeface="Calibri"/>
              </a:rPr>
              <a:t>n</a:t>
            </a:r>
            <a:r>
              <a:rPr dirty="0" sz="1650" spc="85">
                <a:latin typeface="Calibri"/>
                <a:cs typeface="Calibri"/>
              </a:rPr>
              <a:t>)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22" name="object 22" descr=""/>
          <p:cNvSpPr txBox="1"/>
          <p:nvPr/>
        </p:nvSpPr>
        <p:spPr>
          <a:xfrm>
            <a:off x="3555999" y="4843204"/>
            <a:ext cx="26993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5050" sz="2475" spc="690">
                <a:latin typeface="Calibri"/>
                <a:cs typeface="Calibri"/>
              </a:rPr>
              <a:t>=</a:t>
            </a:r>
            <a:r>
              <a:rPr dirty="0" baseline="-5050" sz="2475" spc="127">
                <a:latin typeface="Calibri"/>
                <a:cs typeface="Calibri"/>
              </a:rPr>
              <a:t>  </a:t>
            </a:r>
            <a:r>
              <a:rPr dirty="0" baseline="-5050" sz="2475">
                <a:latin typeface="Calibri"/>
                <a:cs typeface="Calibri"/>
              </a:rPr>
              <a:t>0</a:t>
            </a:r>
            <a:r>
              <a:rPr dirty="0" baseline="-5050" sz="2475" spc="209">
                <a:latin typeface="Calibri"/>
                <a:cs typeface="Calibri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then </a:t>
            </a:r>
            <a:r>
              <a:rPr dirty="0" sz="1800" i="1">
                <a:latin typeface="Times New Roman"/>
                <a:cs typeface="Times New Roman"/>
              </a:rPr>
              <a:t>f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120">
                <a:latin typeface="Lucida Sans Unicode"/>
                <a:cs typeface="Lucida Sans Unicode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O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g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sz="1800" spc="-10">
                <a:latin typeface="Times New Roman"/>
                <a:cs typeface="Times New Roman"/>
              </a:rPr>
              <a:t>))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Asymptotic</a:t>
            </a:r>
            <a:r>
              <a:rPr dirty="0" spc="50"/>
              <a:t> </a:t>
            </a:r>
            <a:r>
              <a:rPr dirty="0"/>
              <a:t>bounds</a:t>
            </a:r>
            <a:r>
              <a:rPr dirty="0" spc="50"/>
              <a:t> </a:t>
            </a:r>
            <a:r>
              <a:rPr dirty="0" spc="75"/>
              <a:t>for</a:t>
            </a:r>
            <a:r>
              <a:rPr dirty="0" spc="55"/>
              <a:t> </a:t>
            </a:r>
            <a:r>
              <a:rPr dirty="0"/>
              <a:t>some</a:t>
            </a:r>
            <a:r>
              <a:rPr dirty="0" spc="50"/>
              <a:t> </a:t>
            </a:r>
            <a:r>
              <a:rPr dirty="0"/>
              <a:t>common</a:t>
            </a:r>
            <a:r>
              <a:rPr dirty="0" spc="55"/>
              <a:t> </a:t>
            </a:r>
            <a:r>
              <a:rPr dirty="0" spc="-10"/>
              <a:t>functions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19867" y="1218991"/>
            <a:ext cx="81089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89405" algn="l"/>
                <a:tab pos="473456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Polynomials.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Let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baseline="-18518" sz="1800">
                <a:latin typeface="Times New Roman"/>
                <a:cs typeface="Times New Roman"/>
              </a:rPr>
              <a:t>1 </a:t>
            </a:r>
            <a:r>
              <a:rPr dirty="0" sz="1800" i="1">
                <a:latin typeface="Times New Roman"/>
                <a:cs typeface="Times New Roman"/>
              </a:rPr>
              <a:t>n </a:t>
            </a:r>
            <a:r>
              <a:rPr dirty="0" sz="1800">
                <a:latin typeface="Times New Roman"/>
                <a:cs typeface="Times New Roman"/>
              </a:rPr>
              <a:t>+ … +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baseline="-18518" sz="1800" i="1">
                <a:latin typeface="Times New Roman"/>
                <a:cs typeface="Times New Roman"/>
              </a:rPr>
              <a:t>d </a:t>
            </a:r>
            <a:r>
              <a:rPr dirty="0" sz="1800" spc="-25" i="1">
                <a:latin typeface="Times New Roman"/>
                <a:cs typeface="Times New Roman"/>
              </a:rPr>
              <a:t>n</a:t>
            </a:r>
            <a:r>
              <a:rPr dirty="0" baseline="23148" sz="1800" spc="-37" i="1">
                <a:latin typeface="Times New Roman"/>
                <a:cs typeface="Times New Roman"/>
              </a:rPr>
              <a:t>d</a:t>
            </a:r>
            <a:r>
              <a:rPr dirty="0" baseline="23148" sz="1800" i="1">
                <a:latin typeface="Times New Roman"/>
                <a:cs typeface="Times New Roman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with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baseline="-18518" sz="1800" i="1">
                <a:latin typeface="Times New Roman"/>
                <a:cs typeface="Times New Roman"/>
              </a:rPr>
              <a:t>d</a:t>
            </a:r>
            <a:r>
              <a:rPr dirty="0" baseline="-18518" sz="1800" spc="70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4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>
                <a:latin typeface="Lucida Sans Unicode"/>
                <a:cs typeface="Lucida Sans Unicode"/>
              </a:rPr>
              <a:t>.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Then,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Θ(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baseline="23148" sz="1800" spc="-15" i="1">
                <a:latin typeface="Times New Roman"/>
                <a:cs typeface="Times New Roman"/>
              </a:rPr>
              <a:t>d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5267" y="1943833"/>
            <a:ext cx="3086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9867" y="3031097"/>
            <a:ext cx="64897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04315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Logarithms.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Θ(log</a:t>
            </a:r>
            <a:r>
              <a:rPr dirty="0" baseline="-18518" sz="1800" i="1">
                <a:latin typeface="Times New Roman"/>
                <a:cs typeface="Times New Roman"/>
              </a:rPr>
              <a:t>a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 </a:t>
            </a:r>
            <a:r>
              <a:rPr dirty="0" sz="1800">
                <a:latin typeface="Times New Roman"/>
                <a:cs typeface="Times New Roman"/>
              </a:rPr>
              <a:t>Θ(log</a:t>
            </a:r>
            <a:r>
              <a:rPr dirty="0" baseline="-18518" sz="1800" i="1">
                <a:latin typeface="Times New Roman"/>
                <a:cs typeface="Times New Roman"/>
              </a:rPr>
              <a:t>b</a:t>
            </a:r>
            <a:r>
              <a:rPr dirty="0" baseline="-18518" sz="1800" spc="7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any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constants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b</a:t>
            </a:r>
            <a:r>
              <a:rPr dirty="0" sz="1800" spc="45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0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9867" y="4118361"/>
            <a:ext cx="6618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1376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Logarithms</a:t>
            </a:r>
            <a:r>
              <a:rPr dirty="0" sz="1800" spc="-2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polynomials.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every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</a:t>
            </a:r>
            <a:r>
              <a:rPr dirty="0" sz="1800" spc="48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5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10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-140" i="1">
                <a:latin typeface="Times New Roman"/>
                <a:cs typeface="Times New Roman"/>
              </a:rPr>
              <a:t> </a:t>
            </a:r>
            <a:r>
              <a:rPr dirty="0" baseline="23148" sz="1800" spc="-37" i="1">
                <a:latin typeface="Times New Roman"/>
                <a:cs typeface="Times New Roman"/>
              </a:rPr>
              <a:t>d</a:t>
            </a:r>
            <a:r>
              <a:rPr dirty="0" sz="1800" spc="-25">
                <a:latin typeface="Times New Roman"/>
                <a:cs typeface="Times New Roman"/>
              </a:rPr>
              <a:t>)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5267" y="5568046"/>
            <a:ext cx="65424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044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Exponentials</a:t>
            </a:r>
            <a:r>
              <a:rPr dirty="0" sz="1800" spc="-2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polynomials.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every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r</a:t>
            </a:r>
            <a:r>
              <a:rPr dirty="0" sz="1800" spc="35" i="1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every</a:t>
            </a:r>
            <a:r>
              <a:rPr dirty="0" sz="1800" spc="45">
                <a:latin typeface="Lucida Sans Unicode"/>
                <a:cs typeface="Lucida Sans Unicode"/>
              </a:rPr>
              <a:t> </a:t>
            </a:r>
            <a:r>
              <a:rPr dirty="0" sz="1800" spc="-5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51286" y="5568046"/>
            <a:ext cx="173291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55625" algn="l"/>
              </a:tabLst>
            </a:pPr>
            <a:r>
              <a:rPr dirty="0" sz="1800">
                <a:latin typeface="Times New Roman"/>
                <a:cs typeface="Times New Roman"/>
              </a:rPr>
              <a:t>&gt; </a:t>
            </a:r>
            <a:r>
              <a:rPr dirty="0" sz="1800" spc="-25">
                <a:latin typeface="Times New Roman"/>
                <a:cs typeface="Times New Roman"/>
              </a:rPr>
              <a:t>0</a:t>
            </a:r>
            <a:r>
              <a:rPr dirty="0" sz="1800" spc="-25">
                <a:latin typeface="Lucida Sans Unicode"/>
                <a:cs typeface="Lucida Sans Unicode"/>
              </a:rPr>
              <a:t>,</a:t>
            </a:r>
            <a:r>
              <a:rPr dirty="0" sz="1800"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23148" sz="1800" i="1">
                <a:latin typeface="Times New Roman"/>
                <a:cs typeface="Times New Roman"/>
              </a:rPr>
              <a:t>d</a:t>
            </a:r>
            <a:r>
              <a:rPr dirty="0" baseline="23148" sz="1800" spc="225" i="1">
                <a:latin typeface="Times New Roman"/>
                <a:cs typeface="Times New Roman"/>
              </a:rPr>
              <a:t> 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12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r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baseline="23148" sz="1800" spc="-37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Times New Roman"/>
                <a:cs typeface="Times New Roman"/>
              </a:rPr>
              <a:t>)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45267" y="6292889"/>
            <a:ext cx="3086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692211" y="3003120"/>
            <a:ext cx="1974214" cy="3994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 indent="96520">
              <a:lnSpc>
                <a:spcPct val="104299"/>
              </a:lnSpc>
              <a:spcBef>
                <a:spcPts val="40"/>
              </a:spcBef>
            </a:pP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no</a:t>
            </a:r>
            <a:r>
              <a:rPr dirty="0" sz="1200" spc="1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need</a:t>
            </a:r>
            <a:r>
              <a:rPr dirty="0" sz="1200" spc="1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dirty="0" sz="1200" spc="1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specify</a:t>
            </a:r>
            <a:r>
              <a:rPr dirty="0" sz="1200" spc="1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8D3124"/>
                </a:solidFill>
                <a:latin typeface="Lucida Sans Unicode"/>
                <a:cs typeface="Lucida Sans Unicode"/>
              </a:rPr>
              <a:t>base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(assuming</a:t>
            </a:r>
            <a:r>
              <a:rPr dirty="0" sz="1200" spc="-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it</a:t>
            </a:r>
            <a:r>
              <a:rPr dirty="0" sz="1200" spc="-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dirty="0" sz="1200" spc="-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2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8D3124"/>
                </a:solidFill>
                <a:latin typeface="Lucida Sans Unicode"/>
                <a:cs typeface="Lucida Sans Unicode"/>
              </a:rPr>
              <a:t>constant)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290559" y="3167750"/>
            <a:ext cx="403225" cy="92075"/>
            <a:chOff x="7290559" y="3167750"/>
            <a:chExt cx="403225" cy="92075"/>
          </a:xfrm>
        </p:grpSpPr>
        <p:sp>
          <p:nvSpPr>
            <p:cNvPr id="13" name="object 13" descr=""/>
            <p:cNvSpPr/>
            <p:nvPr/>
          </p:nvSpPr>
          <p:spPr>
            <a:xfrm>
              <a:off x="7349691" y="3213526"/>
              <a:ext cx="344170" cy="0"/>
            </a:xfrm>
            <a:custGeom>
              <a:avLst/>
              <a:gdLst/>
              <a:ahLst/>
              <a:cxnLst/>
              <a:rect l="l" t="t" r="r" b="b"/>
              <a:pathLst>
                <a:path w="344170" h="0">
                  <a:moveTo>
                    <a:pt x="0" y="2"/>
                  </a:moveTo>
                  <a:lnTo>
                    <a:pt x="9537" y="2"/>
                  </a:lnTo>
                  <a:lnTo>
                    <a:pt x="343727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90559" y="316775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68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32927" y="1918248"/>
            <a:ext cx="477520" cy="40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>
              <a:lnSpc>
                <a:spcPts val="1780"/>
              </a:lnSpc>
              <a:spcBef>
                <a:spcPts val="100"/>
              </a:spcBef>
            </a:pPr>
            <a:r>
              <a:rPr dirty="0" sz="1700" spc="45">
                <a:latin typeface="Calibri"/>
                <a:cs typeface="Calibri"/>
              </a:rPr>
              <a:t>lim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180"/>
              </a:lnSpc>
            </a:pPr>
            <a:r>
              <a:rPr dirty="0" sz="1200" spc="265" i="1">
                <a:latin typeface="Calibri"/>
                <a:cs typeface="Calibri"/>
              </a:rPr>
              <a:t>n</a:t>
            </a:r>
            <a:r>
              <a:rPr dirty="0" sz="1200" spc="265" i="1">
                <a:latin typeface="Arial"/>
                <a:cs typeface="Arial"/>
              </a:rPr>
              <a:t>→∞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81049" y="1771875"/>
            <a:ext cx="210756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i="1">
                <a:latin typeface="Calibri"/>
                <a:cs typeface="Calibri"/>
              </a:rPr>
              <a:t>a</a:t>
            </a:r>
            <a:r>
              <a:rPr dirty="0" baseline="-11574" sz="1800">
                <a:latin typeface="Roboto"/>
                <a:cs typeface="Roboto"/>
              </a:rPr>
              <a:t>0</a:t>
            </a:r>
            <a:r>
              <a:rPr dirty="0" baseline="-11574" sz="1800" spc="262">
                <a:latin typeface="Roboto"/>
                <a:cs typeface="Roboto"/>
              </a:rPr>
              <a:t> </a:t>
            </a:r>
            <a:r>
              <a:rPr dirty="0" sz="1700" spc="465">
                <a:latin typeface="Calibri"/>
                <a:cs typeface="Calibri"/>
              </a:rPr>
              <a:t>+</a:t>
            </a:r>
            <a:r>
              <a:rPr dirty="0" sz="1700">
                <a:latin typeface="Calibri"/>
                <a:cs typeface="Calibri"/>
              </a:rPr>
              <a:t> </a:t>
            </a:r>
            <a:r>
              <a:rPr dirty="0" sz="1700" spc="80" i="1">
                <a:latin typeface="Calibri"/>
                <a:cs typeface="Calibri"/>
              </a:rPr>
              <a:t>a</a:t>
            </a:r>
            <a:r>
              <a:rPr dirty="0" baseline="-11574" sz="1800" spc="120">
                <a:latin typeface="Roboto"/>
                <a:cs typeface="Roboto"/>
              </a:rPr>
              <a:t>1</a:t>
            </a:r>
            <a:r>
              <a:rPr dirty="0" sz="1700" spc="80" i="1">
                <a:latin typeface="Calibri"/>
                <a:cs typeface="Calibri"/>
              </a:rPr>
              <a:t>n</a:t>
            </a:r>
            <a:r>
              <a:rPr dirty="0" sz="1700" i="1">
                <a:latin typeface="Calibri"/>
                <a:cs typeface="Calibri"/>
              </a:rPr>
              <a:t> </a:t>
            </a:r>
            <a:r>
              <a:rPr dirty="0" sz="1700" spc="465">
                <a:latin typeface="Calibri"/>
                <a:cs typeface="Calibri"/>
              </a:rPr>
              <a:t>+</a:t>
            </a:r>
            <a:r>
              <a:rPr dirty="0" sz="1700">
                <a:latin typeface="Calibri"/>
                <a:cs typeface="Calibri"/>
              </a:rPr>
              <a:t> </a:t>
            </a:r>
            <a:r>
              <a:rPr dirty="0" sz="1700" spc="180" i="1">
                <a:latin typeface="Calibri"/>
                <a:cs typeface="Calibri"/>
              </a:rPr>
              <a:t>..</a:t>
            </a:r>
            <a:r>
              <a:rPr dirty="0" sz="1700" spc="-95" i="1">
                <a:latin typeface="Calibri"/>
                <a:cs typeface="Calibri"/>
              </a:rPr>
              <a:t> </a:t>
            </a:r>
            <a:r>
              <a:rPr dirty="0" sz="1700" i="1">
                <a:latin typeface="Calibri"/>
                <a:cs typeface="Calibri"/>
              </a:rPr>
              <a:t>.</a:t>
            </a:r>
            <a:r>
              <a:rPr dirty="0" sz="1700" spc="10" i="1">
                <a:latin typeface="Calibri"/>
                <a:cs typeface="Calibri"/>
              </a:rPr>
              <a:t> </a:t>
            </a:r>
            <a:r>
              <a:rPr dirty="0" sz="1700" spc="465">
                <a:latin typeface="Calibri"/>
                <a:cs typeface="Calibri"/>
              </a:rPr>
              <a:t>+</a:t>
            </a:r>
            <a:r>
              <a:rPr dirty="0" sz="1700">
                <a:latin typeface="Calibri"/>
                <a:cs typeface="Calibri"/>
              </a:rPr>
              <a:t> </a:t>
            </a:r>
            <a:r>
              <a:rPr dirty="0" sz="1700" spc="85" i="1">
                <a:latin typeface="Calibri"/>
                <a:cs typeface="Calibri"/>
              </a:rPr>
              <a:t>a</a:t>
            </a:r>
            <a:r>
              <a:rPr dirty="0" baseline="-11574" sz="1800" spc="127" i="1">
                <a:latin typeface="Calibri"/>
                <a:cs typeface="Calibri"/>
              </a:rPr>
              <a:t>d</a:t>
            </a:r>
            <a:r>
              <a:rPr dirty="0" sz="1700" spc="85" i="1">
                <a:latin typeface="Calibri"/>
                <a:cs typeface="Calibri"/>
              </a:rPr>
              <a:t>n</a:t>
            </a:r>
            <a:r>
              <a:rPr dirty="0" baseline="27777" sz="1800" spc="127" i="1">
                <a:latin typeface="Calibri"/>
                <a:cs typeface="Calibri"/>
              </a:rPr>
              <a:t>d</a:t>
            </a:r>
            <a:endParaRPr baseline="27777"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2019149" y="2093239"/>
            <a:ext cx="2042160" cy="0"/>
          </a:xfrm>
          <a:custGeom>
            <a:avLst/>
            <a:gdLst/>
            <a:ahLst/>
            <a:cxnLst/>
            <a:rect l="l" t="t" r="r" b="b"/>
            <a:pathLst>
              <a:path w="2042160" h="0">
                <a:moveTo>
                  <a:pt x="0" y="0"/>
                </a:moveTo>
                <a:lnTo>
                  <a:pt x="2042031" y="0"/>
                </a:lnTo>
              </a:path>
            </a:pathLst>
          </a:custGeom>
          <a:ln w="86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912283" y="2066792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90" i="1">
                <a:latin typeface="Calibri"/>
                <a:cs typeface="Calibri"/>
              </a:rPr>
              <a:t>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41998" y="2069159"/>
            <a:ext cx="115570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40" i="1"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169064" y="1918248"/>
            <a:ext cx="109601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61035" algn="l"/>
              </a:tabLst>
            </a:pPr>
            <a:r>
              <a:rPr dirty="0" sz="1700" spc="465">
                <a:latin typeface="Calibri"/>
                <a:cs typeface="Calibri"/>
              </a:rPr>
              <a:t>=</a:t>
            </a:r>
            <a:r>
              <a:rPr dirty="0" sz="1700" spc="85">
                <a:latin typeface="Calibri"/>
                <a:cs typeface="Calibri"/>
              </a:rPr>
              <a:t>  </a:t>
            </a:r>
            <a:r>
              <a:rPr dirty="0" sz="1700" spc="15" i="1">
                <a:latin typeface="Calibri"/>
                <a:cs typeface="Calibri"/>
              </a:rPr>
              <a:t>a</a:t>
            </a:r>
            <a:r>
              <a:rPr dirty="0" baseline="-11574" sz="1800" spc="22" i="1">
                <a:latin typeface="Calibri"/>
                <a:cs typeface="Calibri"/>
              </a:rPr>
              <a:t>d</a:t>
            </a:r>
            <a:r>
              <a:rPr dirty="0" baseline="-11574" sz="1800" i="1">
                <a:latin typeface="Calibri"/>
                <a:cs typeface="Calibri"/>
              </a:rPr>
              <a:t>	</a:t>
            </a:r>
            <a:r>
              <a:rPr dirty="0" sz="1700" spc="465" i="1">
                <a:latin typeface="Calibri"/>
                <a:cs typeface="Calibri"/>
              </a:rPr>
              <a:t>&gt;</a:t>
            </a:r>
            <a:r>
              <a:rPr dirty="0" sz="1700" spc="85" i="1">
                <a:latin typeface="Calibri"/>
                <a:cs typeface="Calibri"/>
              </a:rPr>
              <a:t>  </a:t>
            </a:r>
            <a:r>
              <a:rPr dirty="0" sz="1700" spc="-50">
                <a:latin typeface="Calibri"/>
                <a:cs typeface="Calibri"/>
              </a:rPr>
              <a:t>0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868521" y="5980291"/>
            <a:ext cx="30797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0061" sz="2700" spc="150" i="1">
                <a:latin typeface="Calibri"/>
                <a:cs typeface="Calibri"/>
              </a:rPr>
              <a:t>n</a:t>
            </a:r>
            <a:r>
              <a:rPr dirty="0" sz="1250" spc="100" i="1">
                <a:latin typeface="Calibri"/>
                <a:cs typeface="Calibri"/>
              </a:rPr>
              <a:t>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906621" y="6400425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5" h="0">
                <a:moveTo>
                  <a:pt x="0" y="0"/>
                </a:moveTo>
                <a:lnTo>
                  <a:pt x="243001" y="0"/>
                </a:lnTo>
              </a:path>
            </a:pathLst>
          </a:custGeom>
          <a:ln w="90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898950" y="6373254"/>
            <a:ext cx="12827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135" i="1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24" name="object 24" descr=""/>
          <p:cNvSpPr txBox="1"/>
          <p:nvPr/>
        </p:nvSpPr>
        <p:spPr>
          <a:xfrm>
            <a:off x="2007993" y="6375746"/>
            <a:ext cx="13843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195" i="1"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89732" y="6216892"/>
            <a:ext cx="1443990" cy="422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2075">
              <a:lnSpc>
                <a:spcPts val="1895"/>
              </a:lnSpc>
              <a:spcBef>
                <a:spcPts val="90"/>
              </a:spcBef>
              <a:tabLst>
                <a:tab pos="1013460" algn="l"/>
              </a:tabLst>
            </a:pPr>
            <a:r>
              <a:rPr dirty="0" sz="1800" spc="40">
                <a:latin typeface="Calibri"/>
                <a:cs typeface="Calibri"/>
              </a:rPr>
              <a:t>lim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484">
                <a:latin typeface="Calibri"/>
                <a:cs typeface="Calibri"/>
              </a:rPr>
              <a:t>=</a:t>
            </a:r>
            <a:r>
              <a:rPr dirty="0" sz="1800" spc="85">
                <a:latin typeface="Calibri"/>
                <a:cs typeface="Calibri"/>
              </a:rPr>
              <a:t>  </a:t>
            </a:r>
            <a:r>
              <a:rPr dirty="0" sz="1800" spc="-5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235"/>
              </a:lnSpc>
            </a:pPr>
            <a:r>
              <a:rPr dirty="0" sz="1250" spc="290" i="1">
                <a:latin typeface="Calibri"/>
                <a:cs typeface="Calibri"/>
              </a:rPr>
              <a:t>n</a:t>
            </a:r>
            <a:r>
              <a:rPr dirty="0" sz="1250" spc="290" i="1">
                <a:latin typeface="Arial"/>
                <a:cs typeface="Arial"/>
              </a:rPr>
              <a:t>→∞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Big-</a:t>
            </a:r>
            <a:r>
              <a:rPr dirty="0" spc="105"/>
              <a:t>Oh</a:t>
            </a:r>
            <a:r>
              <a:rPr dirty="0" spc="215"/>
              <a:t> </a:t>
            </a:r>
            <a:r>
              <a:rPr dirty="0"/>
              <a:t>notation</a:t>
            </a:r>
            <a:r>
              <a:rPr dirty="0" spc="215"/>
              <a:t> </a:t>
            </a:r>
            <a:r>
              <a:rPr dirty="0"/>
              <a:t>with</a:t>
            </a:r>
            <a:r>
              <a:rPr dirty="0" spc="220"/>
              <a:t> </a:t>
            </a:r>
            <a:r>
              <a:rPr dirty="0"/>
              <a:t>multiple</a:t>
            </a:r>
            <a:r>
              <a:rPr dirty="0" spc="215"/>
              <a:t> </a:t>
            </a:r>
            <a:r>
              <a:rPr dirty="0" spc="-10"/>
              <a:t>variables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69067" y="1131247"/>
            <a:ext cx="8398510" cy="3287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 marR="447040">
              <a:lnSpc>
                <a:spcPct val="132100"/>
              </a:lnSpc>
              <a:spcBef>
                <a:spcPts val="100"/>
              </a:spcBef>
              <a:tabLst>
                <a:tab pos="1875789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Upper</a:t>
            </a:r>
            <a:r>
              <a:rPr dirty="0" sz="1800" spc="-5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>
                <a:latin typeface="Times New Roman"/>
                <a:cs typeface="Times New Roman"/>
              </a:rPr>
              <a:t>,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there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exist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constants </a:t>
            </a:r>
            <a:r>
              <a:rPr dirty="0" sz="1800" i="1">
                <a:latin typeface="Times New Roman"/>
                <a:cs typeface="Times New Roman"/>
              </a:rPr>
              <a:t>c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>
                <a:latin typeface="Lucida Sans Unicode"/>
                <a:cs typeface="Lucida Sans Unicode"/>
              </a:rPr>
              <a:t>,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667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0</a:t>
            </a:r>
            <a:r>
              <a:rPr dirty="0" sz="1800" spc="-25">
                <a:latin typeface="Lucida Sans Unicode"/>
                <a:cs typeface="Lucida Sans Unicode"/>
              </a:rPr>
              <a:t>,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such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>
                <a:latin typeface="Times New Roman"/>
                <a:cs typeface="Times New Roman"/>
              </a:rPr>
              <a:t>,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≤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 </a:t>
            </a:r>
            <a:r>
              <a:rPr dirty="0" sz="1800" spc="-150">
                <a:latin typeface="Times New Roman"/>
                <a:cs typeface="Times New Roman"/>
              </a:rPr>
              <a:t>·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for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44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-18518" sz="1800">
                <a:latin typeface="Times New Roman"/>
                <a:cs typeface="Times New Roman"/>
              </a:rPr>
              <a:t>0</a:t>
            </a:r>
            <a:r>
              <a:rPr dirty="0" baseline="-18518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 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 spc="44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≥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m</a:t>
            </a:r>
            <a:r>
              <a:rPr dirty="0" baseline="-18518" sz="1800" spc="-37">
                <a:latin typeface="Times New Roman"/>
                <a:cs typeface="Times New Roman"/>
              </a:rPr>
              <a:t>0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88900">
              <a:lnSpc>
                <a:spcPts val="1980"/>
              </a:lnSpc>
              <a:tabLst>
                <a:tab pos="64198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 =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32</a:t>
            </a:r>
            <a:r>
              <a:rPr dirty="0" sz="1800" i="1">
                <a:latin typeface="Times New Roman"/>
                <a:cs typeface="Times New Roman"/>
              </a:rPr>
              <a:t>mn</a:t>
            </a:r>
            <a:r>
              <a:rPr dirty="0" baseline="18518" sz="1800">
                <a:latin typeface="Times New Roman"/>
                <a:cs typeface="Times New Roman"/>
              </a:rPr>
              <a:t>2</a:t>
            </a:r>
            <a:r>
              <a:rPr dirty="0" baseline="18518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17</a:t>
            </a:r>
            <a:r>
              <a:rPr dirty="0" sz="1800" i="1">
                <a:latin typeface="Times New Roman"/>
                <a:cs typeface="Times New Roman"/>
              </a:rPr>
              <a:t>mn </a:t>
            </a:r>
            <a:r>
              <a:rPr dirty="0" sz="1800">
                <a:latin typeface="Times New Roman"/>
                <a:cs typeface="Times New Roman"/>
              </a:rPr>
              <a:t>+ </a:t>
            </a:r>
            <a:r>
              <a:rPr dirty="0" sz="1800" spc="-10">
                <a:latin typeface="Times New Roman"/>
                <a:cs typeface="Times New Roman"/>
              </a:rPr>
              <a:t>32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baseline="20833" sz="1800" spc="-15">
                <a:latin typeface="Times New Roman"/>
                <a:cs typeface="Times New Roman"/>
              </a:rPr>
              <a:t>3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ts val="2960"/>
              </a:lnSpc>
            </a:pPr>
            <a:r>
              <a:rPr dirty="0" baseline="-6822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 spc="-5">
                <a:latin typeface="Times New Roman"/>
                <a:cs typeface="Times New Roman"/>
              </a:rPr>
              <a:t>,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both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mn</a:t>
            </a:r>
            <a:r>
              <a:rPr dirty="0" baseline="18518" sz="1800">
                <a:latin typeface="Times New Roman"/>
                <a:cs typeface="Times New Roman"/>
              </a:rPr>
              <a:t>2</a:t>
            </a:r>
            <a:r>
              <a:rPr dirty="0" baseline="18518" sz="1800" spc="217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18518" sz="1800">
                <a:latin typeface="Times New Roman"/>
                <a:cs typeface="Times New Roman"/>
              </a:rPr>
              <a:t>3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O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mn</a:t>
            </a:r>
            <a:r>
              <a:rPr dirty="0" baseline="18518" sz="1800" spc="-15">
                <a:latin typeface="Times New Roman"/>
                <a:cs typeface="Times New Roman"/>
              </a:rPr>
              <a:t>3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ts val="3135"/>
              </a:lnSpc>
            </a:pPr>
            <a:r>
              <a:rPr dirty="0" baseline="-6822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>
                <a:latin typeface="Times New Roman"/>
                <a:cs typeface="Times New Roman"/>
              </a:rPr>
              <a:t>,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55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is neither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18518" sz="1800">
                <a:latin typeface="Times New Roman"/>
                <a:cs typeface="Times New Roman"/>
              </a:rPr>
              <a:t>3</a:t>
            </a:r>
            <a:r>
              <a:rPr dirty="0" sz="1800">
                <a:latin typeface="Times New Roman"/>
                <a:cs typeface="Times New Roman"/>
              </a:rPr>
              <a:t>) </a:t>
            </a:r>
            <a:r>
              <a:rPr dirty="0" sz="1800">
                <a:latin typeface="Lucida Sans Unicode"/>
                <a:cs typeface="Lucida Sans Unicode"/>
              </a:rPr>
              <a:t>nor </a:t>
            </a:r>
            <a:r>
              <a:rPr dirty="0" sz="1800" spc="-10" i="1">
                <a:latin typeface="Times New Roman"/>
                <a:cs typeface="Times New Roman"/>
              </a:rPr>
              <a:t>O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mn</a:t>
            </a:r>
            <a:r>
              <a:rPr dirty="0" baseline="18518" sz="1800" spc="-15">
                <a:latin typeface="Times New Roman"/>
                <a:cs typeface="Times New Roman"/>
              </a:rPr>
              <a:t>2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88900" marR="43180">
              <a:lnSpc>
                <a:spcPct val="132100"/>
              </a:lnSpc>
              <a:spcBef>
                <a:spcPts val="2645"/>
              </a:spcBef>
              <a:tabLst>
                <a:tab pos="180657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dirty="0" sz="1800" spc="-14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50">
                <a:latin typeface="Lucida Sans Unicode"/>
                <a:cs typeface="Lucida Sans Unicode"/>
              </a:rPr>
              <a:t>Breadth-</a:t>
            </a:r>
            <a:r>
              <a:rPr dirty="0" sz="1800" spc="-10">
                <a:latin typeface="Lucida Sans Unicode"/>
                <a:cs typeface="Lucida Sans Unicode"/>
              </a:rPr>
              <a:t>first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search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takes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 spc="-1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+</a:t>
            </a:r>
            <a:r>
              <a:rPr dirty="0" sz="1800" spc="-1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time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find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shortest </a:t>
            </a:r>
            <a:r>
              <a:rPr dirty="0" sz="1800">
                <a:latin typeface="Lucida Sans Unicode"/>
                <a:cs typeface="Lucida Sans Unicode"/>
              </a:rPr>
              <a:t>path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from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</a:t>
            </a:r>
            <a:r>
              <a:rPr dirty="0" sz="1800" spc="10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 spc="10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digraph.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 h="0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500" spc="85" b="1">
                <a:latin typeface="Trebuchet MS"/>
                <a:cs typeface="Trebuchet MS"/>
              </a:rPr>
              <a:t>Section</a:t>
            </a:r>
            <a:r>
              <a:rPr dirty="0" cap="small" sz="1500" spc="65" b="1">
                <a:latin typeface="Trebuchet MS"/>
                <a:cs typeface="Trebuchet MS"/>
              </a:rPr>
              <a:t> </a:t>
            </a:r>
            <a:r>
              <a:rPr dirty="0" cap="small" sz="1500" spc="-45" b="1">
                <a:latin typeface="Trebuchet MS"/>
                <a:cs typeface="Trebuchet MS"/>
              </a:rPr>
              <a:t>2.4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3631565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dirty="0" cap="small" sz="2700" spc="-25" b="1">
                <a:latin typeface="Tahoma"/>
                <a:cs typeface="Tahoma"/>
              </a:rPr>
              <a:t>2</a:t>
            </a:r>
            <a:r>
              <a:rPr dirty="0" cap="small" sz="2700" spc="-25" b="1">
                <a:latin typeface="Tahoma"/>
                <a:cs typeface="Tahoma"/>
              </a:rPr>
              <a:t>.</a:t>
            </a:r>
            <a:r>
              <a:rPr dirty="0" cap="small" sz="2700" b="1">
                <a:latin typeface="Tahoma"/>
                <a:cs typeface="Tahoma"/>
              </a:rPr>
              <a:t>	</a:t>
            </a:r>
            <a:r>
              <a:rPr dirty="0" cap="small" sz="2700" spc="-100" b="1">
                <a:latin typeface="Tahoma"/>
                <a:cs typeface="Tahoma"/>
              </a:rPr>
              <a:t>A</a:t>
            </a:r>
            <a:r>
              <a:rPr dirty="0" cap="small" sz="2700" spc="-100" b="1">
                <a:latin typeface="Tahoma"/>
                <a:cs typeface="Tahoma"/>
              </a:rPr>
              <a:t>lgorith</a:t>
            </a:r>
            <a:r>
              <a:rPr dirty="0" cap="small" sz="2700" spc="-100" b="1">
                <a:latin typeface="Tahoma"/>
                <a:cs typeface="Tahoma"/>
              </a:rPr>
              <a:t>m</a:t>
            </a:r>
            <a:r>
              <a:rPr dirty="0" cap="small" sz="2700" b="1">
                <a:latin typeface="Tahoma"/>
                <a:cs typeface="Tahoma"/>
              </a:rPr>
              <a:t> </a:t>
            </a:r>
            <a:r>
              <a:rPr dirty="0" cap="small" sz="2700" spc="-135" b="1">
                <a:latin typeface="Tahoma"/>
                <a:cs typeface="Tahoma"/>
              </a:rPr>
              <a:t>A</a:t>
            </a:r>
            <a:r>
              <a:rPr dirty="0" cap="small" sz="2700" spc="-135" b="1">
                <a:latin typeface="Tahoma"/>
                <a:cs typeface="Tahoma"/>
              </a:rPr>
              <a:t>na</a:t>
            </a:r>
            <a:r>
              <a:rPr dirty="0" cap="small" sz="2700" spc="-135" b="1">
                <a:latin typeface="Tahoma"/>
                <a:cs typeface="Tahoma"/>
              </a:rPr>
              <a:t>l</a:t>
            </a:r>
            <a:r>
              <a:rPr dirty="0" cap="small" sz="2700" spc="-135" b="1">
                <a:latin typeface="Tahoma"/>
                <a:cs typeface="Tahoma"/>
              </a:rPr>
              <a:t>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12541" y="2115505"/>
            <a:ext cx="4163060" cy="145605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15" i="1">
                <a:solidFill>
                  <a:srgbClr val="D5D5D5"/>
                </a:solidFill>
                <a:latin typeface="Verdana"/>
                <a:cs typeface="Verdana"/>
              </a:rPr>
              <a:t>computational</a:t>
            </a:r>
            <a:r>
              <a:rPr dirty="0" sz="2250" spc="-8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00" i="1">
                <a:solidFill>
                  <a:srgbClr val="D5D5D5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35" i="1">
                <a:solidFill>
                  <a:srgbClr val="D5D5D5"/>
                </a:solidFill>
                <a:latin typeface="Verdana"/>
                <a:cs typeface="Verdana"/>
              </a:rPr>
              <a:t>asymptotic</a:t>
            </a:r>
            <a:r>
              <a:rPr dirty="0" sz="2250" spc="-120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90" i="1">
                <a:solidFill>
                  <a:srgbClr val="D5D5D5"/>
                </a:solidFill>
                <a:latin typeface="Verdana"/>
                <a:cs typeface="Verdana"/>
              </a:rPr>
              <a:t>order</a:t>
            </a:r>
            <a:r>
              <a:rPr dirty="0" sz="2250" spc="-114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170" i="1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dirty="0" sz="2250" spc="-125" i="1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dirty="0" sz="2250" spc="-50" i="1">
                <a:solidFill>
                  <a:srgbClr val="D5D5D5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dirty="0" sz="2250" spc="-254" i="1">
                <a:latin typeface="Verdana"/>
                <a:cs typeface="Verdana"/>
              </a:rPr>
              <a:t>survey</a:t>
            </a:r>
            <a:r>
              <a:rPr dirty="0" sz="2250" spc="-135" i="1">
                <a:latin typeface="Verdana"/>
                <a:cs typeface="Verdana"/>
              </a:rPr>
              <a:t> </a:t>
            </a:r>
            <a:r>
              <a:rPr dirty="0" sz="2250" spc="-170" i="1">
                <a:latin typeface="Verdana"/>
                <a:cs typeface="Verdana"/>
              </a:rPr>
              <a:t>of</a:t>
            </a:r>
            <a:r>
              <a:rPr dirty="0" sz="2250" spc="-120" i="1">
                <a:latin typeface="Verdana"/>
                <a:cs typeface="Verdana"/>
              </a:rPr>
              <a:t> </a:t>
            </a:r>
            <a:r>
              <a:rPr dirty="0" sz="2250" spc="-275" i="1">
                <a:latin typeface="Verdana"/>
                <a:cs typeface="Verdana"/>
              </a:rPr>
              <a:t>common</a:t>
            </a:r>
            <a:r>
              <a:rPr dirty="0" sz="2250" spc="-125" i="1">
                <a:latin typeface="Verdana"/>
                <a:cs typeface="Verdana"/>
              </a:rPr>
              <a:t> </a:t>
            </a:r>
            <a:r>
              <a:rPr dirty="0" sz="2250" spc="-200" i="1">
                <a:latin typeface="Verdana"/>
                <a:cs typeface="Verdana"/>
              </a:rPr>
              <a:t>running</a:t>
            </a:r>
            <a:r>
              <a:rPr dirty="0" sz="2250" spc="-120" i="1">
                <a:latin typeface="Verdana"/>
                <a:cs typeface="Verdana"/>
              </a:rPr>
              <a:t> </a:t>
            </a:r>
            <a:r>
              <a:rPr dirty="0" sz="2250" spc="-300" i="1"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2173605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245" algn="l"/>
              </a:tabLst>
            </a:pPr>
            <a:r>
              <a:rPr dirty="0"/>
              <a:t>Linear</a:t>
            </a:r>
            <a:r>
              <a:rPr dirty="0" spc="45"/>
              <a:t> </a:t>
            </a:r>
            <a:r>
              <a:rPr dirty="0" spc="-20"/>
              <a:t>time:</a:t>
            </a:r>
            <a:r>
              <a:rPr dirty="0"/>
              <a:t>	</a:t>
            </a:r>
            <a:r>
              <a:rPr dirty="0" spc="65"/>
              <a:t>O(n)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07167" y="1218991"/>
            <a:ext cx="7889875" cy="1025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51003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Linear</a:t>
            </a:r>
            <a:r>
              <a:rPr dirty="0" sz="1800" spc="-5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Running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time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proportional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to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input</a:t>
            </a:r>
            <a:r>
              <a:rPr dirty="0" sz="1800" spc="-10">
                <a:latin typeface="Lucida Sans Unicode"/>
                <a:cs typeface="Lucida Sans Unicode"/>
              </a:rPr>
              <a:t> size.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311848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Computing the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maximum.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Compute maximum of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14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numbers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baseline="-18518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, …, </a:t>
            </a:r>
            <a:r>
              <a:rPr dirty="0" sz="1800" spc="-25" i="1">
                <a:latin typeface="Times New Roman"/>
                <a:cs typeface="Times New Roman"/>
              </a:rPr>
              <a:t>a</a:t>
            </a:r>
            <a:r>
              <a:rPr dirty="0" baseline="-18518" sz="1800" spc="-37" i="1">
                <a:latin typeface="Times New Roman"/>
                <a:cs typeface="Times New Roman"/>
              </a:rPr>
              <a:t>n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146981" y="3040405"/>
            <a:ext cx="2823210" cy="1831339"/>
          </a:xfrm>
          <a:custGeom>
            <a:avLst/>
            <a:gdLst/>
            <a:ahLst/>
            <a:cxnLst/>
            <a:rect l="l" t="t" r="r" b="b"/>
            <a:pathLst>
              <a:path w="2823210" h="1831339">
                <a:moveTo>
                  <a:pt x="0" y="0"/>
                </a:moveTo>
                <a:lnTo>
                  <a:pt x="2823071" y="0"/>
                </a:lnTo>
                <a:lnTo>
                  <a:pt x="2823071" y="1831182"/>
                </a:lnTo>
                <a:lnTo>
                  <a:pt x="0" y="1831182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342780" y="2989555"/>
            <a:ext cx="1913889" cy="73152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dirty="0" sz="1500">
                <a:latin typeface="Lucida Console"/>
                <a:cs typeface="Lucida Console"/>
              </a:rPr>
              <a:t>max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25">
                <a:latin typeface="Lucida Console"/>
                <a:cs typeface="Lucida Console"/>
              </a:rPr>
              <a:t>a</a:t>
            </a:r>
            <a:r>
              <a:rPr dirty="0" baseline="-16666" sz="1500" spc="-37">
                <a:latin typeface="Lucida Console"/>
                <a:cs typeface="Lucida Console"/>
              </a:rPr>
              <a:t>1</a:t>
            </a:r>
            <a:endParaRPr baseline="-16666" sz="1500">
              <a:latin typeface="Lucida Console"/>
              <a:cs typeface="Lucida Console"/>
            </a:endParaRPr>
          </a:p>
          <a:p>
            <a:pPr marL="38100">
              <a:lnSpc>
                <a:spcPct val="100000"/>
              </a:lnSpc>
              <a:spcBef>
                <a:spcPts val="98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dirty="0" sz="1500">
                <a:latin typeface="Lucida Console"/>
                <a:cs typeface="Lucida Console"/>
              </a:rPr>
              <a:t>i = 2 to n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3687271" y="3657174"/>
            <a:ext cx="765810" cy="73152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algn="r" marR="68580">
              <a:lnSpc>
                <a:spcPct val="100000"/>
              </a:lnSpc>
              <a:spcBef>
                <a:spcPts val="1075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dirty="0" sz="1500" spc="-25">
                <a:latin typeface="Lucida Console"/>
                <a:cs typeface="Lucida Console"/>
              </a:rPr>
              <a:t>(a</a:t>
            </a:r>
            <a:r>
              <a:rPr dirty="0" baseline="-16666" sz="1500" spc="-37">
                <a:latin typeface="Lucida Console"/>
                <a:cs typeface="Lucida Console"/>
              </a:rPr>
              <a:t>i</a:t>
            </a:r>
            <a:endParaRPr baseline="-16666" sz="1500">
              <a:latin typeface="Lucida Console"/>
              <a:cs typeface="Lucida Console"/>
            </a:endParaRPr>
          </a:p>
          <a:p>
            <a:pPr algn="r" marR="30480">
              <a:lnSpc>
                <a:spcPct val="100000"/>
              </a:lnSpc>
              <a:spcBef>
                <a:spcPts val="980"/>
              </a:spcBef>
            </a:pPr>
            <a:r>
              <a:rPr dirty="0" sz="1500" spc="-25">
                <a:latin typeface="Lucida Console"/>
                <a:cs typeface="Lucida Console"/>
              </a:rPr>
              <a:t>max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52806" y="3657174"/>
            <a:ext cx="765810" cy="73152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dirty="0" sz="1500">
                <a:latin typeface="Lucida Console"/>
                <a:cs typeface="Lucida Console"/>
              </a:rPr>
              <a:t>&gt; </a:t>
            </a:r>
            <a:r>
              <a:rPr dirty="0" sz="1500" spc="-20">
                <a:latin typeface="Lucida Console"/>
                <a:cs typeface="Lucida Console"/>
              </a:rPr>
              <a:t>max)</a:t>
            </a:r>
            <a:endParaRPr sz="1500">
              <a:latin typeface="Lucida Console"/>
              <a:cs typeface="Lucida Console"/>
            </a:endParaRPr>
          </a:p>
          <a:p>
            <a:pPr marL="76200">
              <a:lnSpc>
                <a:spcPct val="100000"/>
              </a:lnSpc>
              <a:spcBef>
                <a:spcPts val="980"/>
              </a:spcBef>
            </a:pP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25">
                <a:latin typeface="Lucida Console"/>
                <a:cs typeface="Lucida Console"/>
              </a:rPr>
              <a:t>a</a:t>
            </a:r>
            <a:r>
              <a:rPr dirty="0" baseline="-16666" sz="1500" spc="-37">
                <a:latin typeface="Lucida Console"/>
                <a:cs typeface="Lucida Console"/>
              </a:rPr>
              <a:t>i</a:t>
            </a:r>
            <a:endParaRPr baseline="-16666" sz="1500">
              <a:latin typeface="Lucida Console"/>
              <a:cs typeface="Lucida Consol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68180" y="4486928"/>
            <a:ext cx="1403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2173605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245" algn="l"/>
              </a:tabLst>
            </a:pPr>
            <a:r>
              <a:rPr dirty="0"/>
              <a:t>Linear</a:t>
            </a:r>
            <a:r>
              <a:rPr dirty="0" spc="45"/>
              <a:t> </a:t>
            </a:r>
            <a:r>
              <a:rPr dirty="0" spc="-20"/>
              <a:t>time:</a:t>
            </a:r>
            <a:r>
              <a:rPr dirty="0"/>
              <a:t>	</a:t>
            </a:r>
            <a:r>
              <a:rPr dirty="0" spc="65"/>
              <a:t>O(n)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19867" y="1131247"/>
            <a:ext cx="8402955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  <a:tabLst>
                <a:tab pos="93853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Merge.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Combine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two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sorted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lists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sz="1650" spc="5" i="1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=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baseline="-17676" sz="1650">
                <a:latin typeface="Times New Roman"/>
                <a:cs typeface="Times New Roman"/>
              </a:rPr>
              <a:t>1</a:t>
            </a:r>
            <a:r>
              <a:rPr dirty="0" sz="1650">
                <a:latin typeface="Times New Roman"/>
                <a:cs typeface="Times New Roman"/>
              </a:rPr>
              <a:t>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baseline="-17676" sz="1650">
                <a:latin typeface="Times New Roman"/>
                <a:cs typeface="Times New Roman"/>
              </a:rPr>
              <a:t>2</a:t>
            </a:r>
            <a:r>
              <a:rPr dirty="0" sz="1650">
                <a:latin typeface="Times New Roman"/>
                <a:cs typeface="Times New Roman"/>
              </a:rPr>
              <a:t>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…,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baseline="-17676" sz="1650" i="1">
                <a:latin typeface="Times New Roman"/>
                <a:cs typeface="Times New Roman"/>
              </a:rPr>
              <a:t>n</a:t>
            </a:r>
            <a:r>
              <a:rPr dirty="0" baseline="-17676" sz="1650" spc="202" i="1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with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</a:t>
            </a:r>
            <a:r>
              <a:rPr dirty="0" sz="1650" spc="5" i="1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=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</a:t>
            </a:r>
            <a:r>
              <a:rPr dirty="0" baseline="-17676" sz="1650">
                <a:latin typeface="Times New Roman"/>
                <a:cs typeface="Times New Roman"/>
              </a:rPr>
              <a:t>1</a:t>
            </a:r>
            <a:r>
              <a:rPr dirty="0" sz="1650">
                <a:latin typeface="Times New Roman"/>
                <a:cs typeface="Times New Roman"/>
              </a:rPr>
              <a:t>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</a:t>
            </a:r>
            <a:r>
              <a:rPr dirty="0" baseline="-17676" sz="1650">
                <a:latin typeface="Times New Roman"/>
                <a:cs typeface="Times New Roman"/>
              </a:rPr>
              <a:t>2</a:t>
            </a:r>
            <a:r>
              <a:rPr dirty="0" sz="1650">
                <a:latin typeface="Times New Roman"/>
                <a:cs typeface="Times New Roman"/>
              </a:rPr>
              <a:t>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…,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</a:t>
            </a:r>
            <a:r>
              <a:rPr dirty="0" baseline="-17676" sz="1650" i="1">
                <a:latin typeface="Times New Roman"/>
                <a:cs typeface="Times New Roman"/>
              </a:rPr>
              <a:t>n</a:t>
            </a:r>
            <a:r>
              <a:rPr dirty="0" baseline="-17676" sz="1650" spc="442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into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sorted whole.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5267" y="6205145"/>
            <a:ext cx="7123430" cy="75057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860425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Merging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two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lists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size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25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takes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44005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After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each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compare,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length of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output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list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increases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by </a:t>
            </a:r>
            <a:r>
              <a:rPr dirty="0" sz="1800" spc="-25">
                <a:latin typeface="Times New Roman"/>
                <a:cs typeface="Times New Roman"/>
              </a:rPr>
              <a:t>1</a:t>
            </a:r>
            <a:r>
              <a:rPr dirty="0" sz="1800" spc="-25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24240" y="3528721"/>
            <a:ext cx="7801609" cy="2089150"/>
          </a:xfrm>
          <a:prstGeom prst="rect">
            <a:avLst/>
          </a:prstGeom>
          <a:solidFill>
            <a:srgbClr val="CBCBCB"/>
          </a:solidFill>
        </p:spPr>
        <p:txBody>
          <a:bodyPr wrap="square" lIns="0" tIns="85725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dirty="0" sz="1500">
                <a:latin typeface="Lucida Console"/>
                <a:cs typeface="Lucida Console"/>
              </a:rPr>
              <a:t>i = 1, j = </a:t>
            </a:r>
            <a:r>
              <a:rPr dirty="0" sz="1500" spc="-5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while </a:t>
            </a:r>
            <a:r>
              <a:rPr dirty="0" sz="1500">
                <a:latin typeface="Lucida Console"/>
                <a:cs typeface="Lucida Console"/>
              </a:rPr>
              <a:t>(both lists are nonempty)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05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if</a:t>
            </a:r>
            <a:r>
              <a:rPr dirty="0" sz="1500" spc="-5">
                <a:solidFill>
                  <a:srgbClr val="0048AA"/>
                </a:solidFill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(a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Symbol"/>
                <a:cs typeface="Symbol"/>
              </a:rPr>
              <a:t>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Lucida Console"/>
                <a:cs typeface="Lucida Console"/>
              </a:rPr>
              <a:t>b</a:t>
            </a:r>
            <a:r>
              <a:rPr dirty="0" baseline="-16666" sz="1500">
                <a:latin typeface="Lucida Console"/>
                <a:cs typeface="Lucida Console"/>
              </a:rPr>
              <a:t>j</a:t>
            </a:r>
            <a:r>
              <a:rPr dirty="0" sz="1500">
                <a:latin typeface="Lucida Console"/>
                <a:cs typeface="Lucida Console"/>
              </a:rPr>
              <a:t>) append a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to</a:t>
            </a:r>
            <a:r>
              <a:rPr dirty="0" sz="1500" spc="-5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output list and increment </a:t>
            </a:r>
            <a:r>
              <a:rPr dirty="0" sz="1500" spc="-50">
                <a:latin typeface="Lucida Console"/>
                <a:cs typeface="Lucida Console"/>
              </a:rPr>
              <a:t>i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75"/>
              </a:spcBef>
              <a:tabLst>
                <a:tab pos="1984375" algn="l"/>
              </a:tabLst>
            </a:pPr>
            <a:r>
              <a:rPr dirty="0" sz="1500" spc="-20">
                <a:solidFill>
                  <a:srgbClr val="0048AA"/>
                </a:solidFill>
                <a:latin typeface="Lucida Console"/>
                <a:cs typeface="Lucida Console"/>
              </a:rPr>
              <a:t>else</a:t>
            </a: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	</a:t>
            </a:r>
            <a:r>
              <a:rPr dirty="0" sz="1500">
                <a:latin typeface="Lucida Console"/>
                <a:cs typeface="Lucida Console"/>
              </a:rPr>
              <a:t>append b</a:t>
            </a:r>
            <a:r>
              <a:rPr dirty="0" baseline="-16666" sz="1500">
                <a:latin typeface="Lucida Console"/>
                <a:cs typeface="Lucida Console"/>
              </a:rPr>
              <a:t>j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to output list and increment </a:t>
            </a:r>
            <a:r>
              <a:rPr dirty="0" sz="1500" spc="-50">
                <a:latin typeface="Lucida Console"/>
                <a:cs typeface="Lucida Console"/>
              </a:rPr>
              <a:t>j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98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dirty="0" sz="1500">
                <a:latin typeface="Lucida Console"/>
                <a:cs typeface="Lucida Console"/>
              </a:rPr>
              <a:t>append remainder of nonempty list to output </a:t>
            </a:r>
            <a:r>
              <a:rPr dirty="0" sz="1500" spc="-20">
                <a:latin typeface="Lucida Console"/>
                <a:cs typeface="Lucida Console"/>
              </a:rPr>
              <a:t>list</a:t>
            </a:r>
            <a:endParaRPr sz="1500">
              <a:latin typeface="Lucida Console"/>
              <a:cs typeface="Lucida Consol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3984" y="1914568"/>
            <a:ext cx="3704750" cy="1154662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3571875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79650" algn="l"/>
              </a:tabLst>
            </a:pPr>
            <a:r>
              <a:rPr dirty="0"/>
              <a:t>Linearithmic</a:t>
            </a:r>
            <a:r>
              <a:rPr dirty="0" spc="40"/>
              <a:t> </a:t>
            </a:r>
            <a:r>
              <a:rPr dirty="0" spc="-10"/>
              <a:t>time:</a:t>
            </a:r>
            <a:r>
              <a:rPr dirty="0"/>
              <a:t>	</a:t>
            </a:r>
            <a:r>
              <a:rPr dirty="0" spc="95"/>
              <a:t>O(n</a:t>
            </a:r>
            <a:r>
              <a:rPr dirty="0" spc="70"/>
              <a:t> </a:t>
            </a:r>
            <a:r>
              <a:rPr dirty="0" spc="80"/>
              <a:t>log</a:t>
            </a:r>
            <a:r>
              <a:rPr dirty="0" spc="70"/>
              <a:t> </a:t>
            </a:r>
            <a:r>
              <a:rPr dirty="0" spc="-25"/>
              <a:t>n)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745267" y="1218991"/>
            <a:ext cx="7712075" cy="138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928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O(n log n)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Arises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-45">
                <a:latin typeface="Lucida Sans Unicode"/>
                <a:cs typeface="Lucida Sans Unicode"/>
              </a:rPr>
              <a:t>divide-</a:t>
            </a:r>
            <a:r>
              <a:rPr dirty="0" sz="1800" spc="-60">
                <a:latin typeface="Lucida Sans Unicode"/>
                <a:cs typeface="Lucida Sans Unicode"/>
              </a:rPr>
              <a:t>and-</a:t>
            </a:r>
            <a:r>
              <a:rPr dirty="0" sz="1800" spc="-40">
                <a:latin typeface="Lucida Sans Unicode"/>
                <a:cs typeface="Lucida Sans Unicode"/>
              </a:rPr>
              <a:t>conquer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algorithms.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022985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Sorting.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Mergesort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and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heapsort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sorting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algorithms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perform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compares.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7167" y="3305774"/>
            <a:ext cx="8392795" cy="18376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>
              <a:lnSpc>
                <a:spcPct val="132100"/>
              </a:lnSpc>
              <a:spcBef>
                <a:spcPts val="100"/>
              </a:spcBef>
              <a:tabLst>
                <a:tab pos="276098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Largest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empty</a:t>
            </a:r>
            <a:r>
              <a:rPr dirty="0" sz="1800" spc="-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interval.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Given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30" i="1">
                <a:latin typeface="Times New Roman"/>
                <a:cs typeface="Times New Roman"/>
              </a:rPr>
              <a:t> </a:t>
            </a:r>
            <a:r>
              <a:rPr dirty="0" sz="1800" spc="-45">
                <a:latin typeface="Lucida Sans Unicode"/>
                <a:cs typeface="Lucida Sans Unicode"/>
              </a:rPr>
              <a:t>time-</a:t>
            </a:r>
            <a:r>
              <a:rPr dirty="0" sz="1800" spc="-25">
                <a:latin typeface="Lucida Sans Unicode"/>
                <a:cs typeface="Lucida Sans Unicode"/>
              </a:rPr>
              <a:t>stamps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x</a:t>
            </a:r>
            <a:r>
              <a:rPr dirty="0" baseline="-18518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…,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x</a:t>
            </a:r>
            <a:r>
              <a:rPr dirty="0" baseline="-18518" sz="1800" i="1">
                <a:latin typeface="Times New Roman"/>
                <a:cs typeface="Times New Roman"/>
              </a:rPr>
              <a:t>n</a:t>
            </a:r>
            <a:r>
              <a:rPr dirty="0" baseline="-18518" sz="1800" spc="419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on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which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copies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50">
                <a:latin typeface="Lucida Sans Unicode"/>
                <a:cs typeface="Lucida Sans Unicode"/>
              </a:rPr>
              <a:t>a </a:t>
            </a:r>
            <a:r>
              <a:rPr dirty="0" sz="1800">
                <a:latin typeface="Lucida Sans Unicode"/>
                <a:cs typeface="Lucida Sans Unicode"/>
              </a:rPr>
              <a:t>file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arrive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at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server,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what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largest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interval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when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no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copies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file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arrive?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 marR="465455">
              <a:lnSpc>
                <a:spcPct val="132100"/>
              </a:lnSpc>
              <a:tabLst>
                <a:tab pos="234378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O(n log n)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Sort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-45">
                <a:latin typeface="Lucida Sans Unicode"/>
                <a:cs typeface="Lucida Sans Unicode"/>
              </a:rPr>
              <a:t>time-</a:t>
            </a:r>
            <a:r>
              <a:rPr dirty="0" sz="1800" spc="-25">
                <a:latin typeface="Lucida Sans Unicode"/>
                <a:cs typeface="Lucida Sans Unicode"/>
              </a:rPr>
              <a:t>stamps.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Scan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sorted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list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-45">
                <a:latin typeface="Lucida Sans Unicode"/>
                <a:cs typeface="Lucida Sans Unicode"/>
              </a:rPr>
              <a:t>order, </a:t>
            </a:r>
            <a:r>
              <a:rPr dirty="0" sz="1800">
                <a:latin typeface="Lucida Sans Unicode"/>
                <a:cs typeface="Lucida Sans Unicode"/>
              </a:rPr>
              <a:t>identifying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maximum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gap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between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successive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 spc="-45">
                <a:latin typeface="Lucida Sans Unicode"/>
                <a:cs typeface="Lucida Sans Unicode"/>
              </a:rPr>
              <a:t>time-</a:t>
            </a:r>
            <a:r>
              <a:rPr dirty="0" sz="1800" spc="-10">
                <a:latin typeface="Lucida Sans Unicode"/>
                <a:cs typeface="Lucida Sans Unicode"/>
              </a:rPr>
              <a:t>stamps.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824480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94864" algn="l"/>
              </a:tabLst>
            </a:pPr>
            <a:r>
              <a:rPr dirty="0" spc="55"/>
              <a:t>Quadratic</a:t>
            </a:r>
            <a:r>
              <a:rPr dirty="0" spc="95"/>
              <a:t> </a:t>
            </a:r>
            <a:r>
              <a:rPr dirty="0" spc="-10"/>
              <a:t>time:</a:t>
            </a:r>
            <a:r>
              <a:rPr dirty="0"/>
              <a:t>	</a:t>
            </a:r>
            <a:r>
              <a:rPr dirty="0" spc="65"/>
              <a:t>O(n</a:t>
            </a:r>
            <a:r>
              <a:rPr dirty="0" baseline="27777" sz="2100" spc="97"/>
              <a:t>2</a:t>
            </a:r>
            <a:r>
              <a:rPr dirty="0" sz="2100" spc="65"/>
              <a:t>)</a:t>
            </a:r>
            <a:endParaRPr sz="2100"/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94467" y="1218991"/>
            <a:ext cx="8446135" cy="2112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544195" algn="l"/>
              </a:tabLst>
            </a:pP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Enumerate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pairs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63500" marR="55880">
              <a:lnSpc>
                <a:spcPct val="132100"/>
              </a:lnSpc>
              <a:tabLst>
                <a:tab pos="265874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Closest</a:t>
            </a:r>
            <a:r>
              <a:rPr dirty="0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pair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of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 points.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Given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 list of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14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points in the plane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x</a:t>
            </a:r>
            <a:r>
              <a:rPr dirty="0" baseline="-18518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, </a:t>
            </a:r>
            <a:r>
              <a:rPr dirty="0" sz="1800" i="1">
                <a:latin typeface="Times New Roman"/>
                <a:cs typeface="Times New Roman"/>
              </a:rPr>
              <a:t>y</a:t>
            </a:r>
            <a:r>
              <a:rPr dirty="0" baseline="-18518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), …, (</a:t>
            </a:r>
            <a:r>
              <a:rPr dirty="0" sz="1800" i="1">
                <a:latin typeface="Times New Roman"/>
                <a:cs typeface="Times New Roman"/>
              </a:rPr>
              <a:t>x</a:t>
            </a:r>
            <a:r>
              <a:rPr dirty="0" baseline="-18518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Times New Roman"/>
                <a:cs typeface="Times New Roman"/>
              </a:rPr>
              <a:t>, </a:t>
            </a:r>
            <a:r>
              <a:rPr dirty="0" sz="1800" spc="-20" i="1">
                <a:latin typeface="Times New Roman"/>
                <a:cs typeface="Times New Roman"/>
              </a:rPr>
              <a:t>y</a:t>
            </a:r>
            <a:r>
              <a:rPr dirty="0" baseline="-18518" sz="1800" spc="-30" i="1">
                <a:latin typeface="Times New Roman"/>
                <a:cs typeface="Times New Roman"/>
              </a:rPr>
              <a:t>n</a:t>
            </a:r>
            <a:r>
              <a:rPr dirty="0" sz="1800" spc="-20">
                <a:latin typeface="Times New Roman"/>
                <a:cs typeface="Times New Roman"/>
              </a:rPr>
              <a:t>)</a:t>
            </a:r>
            <a:r>
              <a:rPr dirty="0" sz="1800" spc="-20">
                <a:latin typeface="Lucida Sans Unicode"/>
                <a:cs typeface="Lucida Sans Unicode"/>
              </a:rPr>
              <a:t>, </a:t>
            </a:r>
            <a:r>
              <a:rPr dirty="0" sz="1800">
                <a:latin typeface="Lucida Sans Unicode"/>
                <a:cs typeface="Lucida Sans Unicode"/>
              </a:rPr>
              <a:t>find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pair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closest.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181737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dirty="0" baseline="20833" sz="180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Try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pairs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5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points.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9867" y="6655310"/>
            <a:ext cx="83737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94740" algn="l"/>
              </a:tabLst>
            </a:pP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Ω(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18518" sz="1800">
                <a:latin typeface="Times New Roman"/>
                <a:cs typeface="Times New Roman"/>
              </a:rPr>
              <a:t>2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seems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inevitable, but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this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 just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 illusion.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606060"/>
                </a:solidFill>
                <a:latin typeface="Lucida Sans Unicode"/>
                <a:cs typeface="Lucida Sans Unicode"/>
              </a:rPr>
              <a:t>[see</a:t>
            </a:r>
            <a:r>
              <a:rPr dirty="0" sz="1800" spc="-5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606060"/>
                </a:solidFill>
                <a:latin typeface="Lucida Sans Unicode"/>
                <a:cs typeface="Lucida Sans Unicode"/>
              </a:rPr>
              <a:t>Chapter </a:t>
            </a:r>
            <a:r>
              <a:rPr dirty="0" sz="1800" spc="-25">
                <a:solidFill>
                  <a:srgbClr val="606060"/>
                </a:solidFill>
                <a:latin typeface="Lucida Sans Unicode"/>
                <a:cs typeface="Lucida Sans Unicode"/>
              </a:rPr>
              <a:t>5]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63955" y="3686618"/>
            <a:ext cx="4711700" cy="273748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85725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dirty="0" sz="1500">
                <a:latin typeface="Lucida Console"/>
                <a:cs typeface="Lucida Console"/>
              </a:rPr>
              <a:t>min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Lucida Console"/>
                <a:cs typeface="Lucida Console"/>
              </a:rPr>
              <a:t>(x</a:t>
            </a:r>
            <a:r>
              <a:rPr dirty="0" baseline="-16666" sz="1500">
                <a:latin typeface="Lucida Console"/>
                <a:cs typeface="Lucida Console"/>
              </a:rPr>
              <a:t>1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- x</a:t>
            </a:r>
            <a:r>
              <a:rPr dirty="0" baseline="-16666" sz="1500">
                <a:latin typeface="Lucida Console"/>
                <a:cs typeface="Lucida Console"/>
              </a:rPr>
              <a:t>2</a:t>
            </a:r>
            <a:r>
              <a:rPr dirty="0" sz="1500">
                <a:latin typeface="Lucida Console"/>
                <a:cs typeface="Lucida Console"/>
              </a:rPr>
              <a:t>)</a:t>
            </a:r>
            <a:r>
              <a:rPr dirty="0" baseline="19444" sz="1500">
                <a:latin typeface="Lucida Console"/>
                <a:cs typeface="Lucida Console"/>
              </a:rPr>
              <a:t>2</a:t>
            </a:r>
            <a:r>
              <a:rPr dirty="0" baseline="19444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+ (y</a:t>
            </a:r>
            <a:r>
              <a:rPr dirty="0" baseline="-16666" sz="1500">
                <a:latin typeface="Lucida Console"/>
                <a:cs typeface="Lucida Console"/>
              </a:rPr>
              <a:t>1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- </a:t>
            </a:r>
            <a:r>
              <a:rPr dirty="0" sz="1500" spc="-20">
                <a:latin typeface="Lucida Console"/>
                <a:cs typeface="Lucida Console"/>
              </a:rPr>
              <a:t>y</a:t>
            </a:r>
            <a:r>
              <a:rPr dirty="0" baseline="-16666" sz="1500" spc="-30">
                <a:latin typeface="Lucida Console"/>
                <a:cs typeface="Lucida Console"/>
              </a:rPr>
              <a:t>2</a:t>
            </a:r>
            <a:r>
              <a:rPr dirty="0" sz="1500" spc="-20">
                <a:latin typeface="Lucida Console"/>
                <a:cs typeface="Lucida Console"/>
              </a:rPr>
              <a:t>)</a:t>
            </a:r>
            <a:r>
              <a:rPr dirty="0" baseline="19444" sz="1500" spc="-30">
                <a:latin typeface="Lucida Console"/>
                <a:cs typeface="Lucida Console"/>
              </a:rPr>
              <a:t>2</a:t>
            </a:r>
            <a:endParaRPr baseline="19444"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98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dirty="0" sz="1500">
                <a:latin typeface="Lucida Console"/>
                <a:cs typeface="Lucida Console"/>
              </a:rPr>
              <a:t>i = 1 to n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8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dirty="0" sz="1500">
                <a:latin typeface="Lucida Console"/>
                <a:cs typeface="Lucida Console"/>
              </a:rPr>
              <a:t>j = i+1 to n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00"/>
              </a:spcBef>
            </a:pPr>
            <a:r>
              <a:rPr dirty="0" sz="1500">
                <a:latin typeface="Lucida Console"/>
                <a:cs typeface="Lucida Console"/>
              </a:rPr>
              <a:t>d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Lucida Console"/>
                <a:cs typeface="Lucida Console"/>
              </a:rPr>
              <a:t>(x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- x</a:t>
            </a:r>
            <a:r>
              <a:rPr dirty="0" baseline="-16666" sz="1500">
                <a:latin typeface="Lucida Console"/>
                <a:cs typeface="Lucida Console"/>
              </a:rPr>
              <a:t>j</a:t>
            </a:r>
            <a:r>
              <a:rPr dirty="0" sz="1500">
                <a:latin typeface="Lucida Console"/>
                <a:cs typeface="Lucida Console"/>
              </a:rPr>
              <a:t>)</a:t>
            </a:r>
            <a:r>
              <a:rPr dirty="0" baseline="19444" sz="1500">
                <a:latin typeface="Lucida Console"/>
                <a:cs typeface="Lucida Console"/>
              </a:rPr>
              <a:t>2</a:t>
            </a:r>
            <a:r>
              <a:rPr dirty="0" baseline="19444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+ (y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- </a:t>
            </a:r>
            <a:r>
              <a:rPr dirty="0" sz="1500" spc="-20">
                <a:latin typeface="Lucida Console"/>
                <a:cs typeface="Lucida Console"/>
              </a:rPr>
              <a:t>y</a:t>
            </a:r>
            <a:r>
              <a:rPr dirty="0" baseline="-16666" sz="1500" spc="-30">
                <a:latin typeface="Lucida Console"/>
                <a:cs typeface="Lucida Console"/>
              </a:rPr>
              <a:t>j</a:t>
            </a:r>
            <a:r>
              <a:rPr dirty="0" sz="1500" spc="-20">
                <a:latin typeface="Lucida Console"/>
                <a:cs typeface="Lucida Console"/>
              </a:rPr>
              <a:t>)</a:t>
            </a:r>
            <a:r>
              <a:rPr dirty="0" baseline="19444" sz="1500" spc="-30">
                <a:latin typeface="Lucida Console"/>
                <a:cs typeface="Lucida Console"/>
              </a:rPr>
              <a:t>2</a:t>
            </a:r>
            <a:endParaRPr baseline="19444" sz="1500">
              <a:latin typeface="Lucida Console"/>
              <a:cs typeface="Lucida Console"/>
            </a:endParaRPr>
          </a:p>
          <a:p>
            <a:pPr marL="1266825" marR="2402840" indent="-344805">
              <a:lnSpc>
                <a:spcPct val="137700"/>
              </a:lnSpc>
              <a:spcBef>
                <a:spcPts val="30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dirty="0" sz="1500">
                <a:latin typeface="Lucida Console"/>
                <a:cs typeface="Lucida Console"/>
              </a:rPr>
              <a:t>(d &lt; </a:t>
            </a:r>
            <a:r>
              <a:rPr dirty="0" sz="1500" spc="-20">
                <a:latin typeface="Lucida Console"/>
                <a:cs typeface="Lucida Console"/>
              </a:rPr>
              <a:t>min) </a:t>
            </a:r>
            <a:r>
              <a:rPr dirty="0" sz="1500">
                <a:latin typeface="Lucida Console"/>
                <a:cs typeface="Lucida Console"/>
              </a:rPr>
              <a:t>min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50">
                <a:latin typeface="Lucida Console"/>
                <a:cs typeface="Lucida Console"/>
              </a:rPr>
              <a:t>d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05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5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281555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52575" algn="l"/>
              </a:tabLst>
            </a:pPr>
            <a:r>
              <a:rPr dirty="0"/>
              <a:t>Cubic</a:t>
            </a:r>
            <a:r>
              <a:rPr dirty="0" spc="80"/>
              <a:t> </a:t>
            </a:r>
            <a:r>
              <a:rPr dirty="0" spc="-10"/>
              <a:t>time:</a:t>
            </a:r>
            <a:r>
              <a:rPr dirty="0"/>
              <a:t>	</a:t>
            </a:r>
            <a:r>
              <a:rPr dirty="0" spc="65"/>
              <a:t>O(n</a:t>
            </a:r>
            <a:r>
              <a:rPr dirty="0" baseline="27777" sz="2100" spc="97"/>
              <a:t>3</a:t>
            </a:r>
            <a:r>
              <a:rPr dirty="0" sz="2100" spc="65"/>
              <a:t>)</a:t>
            </a:r>
            <a:endParaRPr sz="2100"/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474470" algn="l"/>
              </a:tabLst>
            </a:pPr>
            <a:r>
              <a:rPr dirty="0">
                <a:solidFill>
                  <a:srgbClr val="0048AA"/>
                </a:solidFill>
              </a:rPr>
              <a:t>Cubic </a:t>
            </a:r>
            <a:r>
              <a:rPr dirty="0" spc="-10">
                <a:solidFill>
                  <a:srgbClr val="0048AA"/>
                </a:solidFill>
              </a:rPr>
              <a:t>time.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Enumerate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20"/>
              <a:t> </a:t>
            </a:r>
            <a:r>
              <a:rPr dirty="0"/>
              <a:t>triples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elements.</a:t>
            </a:r>
          </a:p>
          <a:p>
            <a:pPr>
              <a:lnSpc>
                <a:spcPct val="100000"/>
              </a:lnSpc>
              <a:spcBef>
                <a:spcPts val="780"/>
              </a:spcBef>
            </a:pPr>
          </a:p>
          <a:p>
            <a:pPr marL="63500">
              <a:lnSpc>
                <a:spcPct val="100000"/>
              </a:lnSpc>
              <a:tabLst>
                <a:tab pos="2022475" algn="l"/>
              </a:tabLst>
            </a:pPr>
            <a:r>
              <a:rPr dirty="0">
                <a:solidFill>
                  <a:srgbClr val="0048AA"/>
                </a:solidFill>
              </a:rPr>
              <a:t>Set</a:t>
            </a:r>
            <a:r>
              <a:rPr dirty="0" spc="-30">
                <a:solidFill>
                  <a:srgbClr val="0048AA"/>
                </a:solidFill>
              </a:rPr>
              <a:t> </a:t>
            </a:r>
            <a:r>
              <a:rPr dirty="0" spc="-10">
                <a:solidFill>
                  <a:srgbClr val="0048AA"/>
                </a:solidFill>
              </a:rPr>
              <a:t>disjointness.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Given</a:t>
            </a:r>
            <a:r>
              <a:rPr dirty="0" spc="15"/>
              <a:t> </a:t>
            </a:r>
            <a:r>
              <a:rPr dirty="0" i="1">
                <a:latin typeface="Times New Roman"/>
                <a:cs typeface="Times New Roman"/>
              </a:rPr>
              <a:t>n</a:t>
            </a:r>
            <a:r>
              <a:rPr dirty="0" spc="130" i="1">
                <a:latin typeface="Times New Roman"/>
                <a:cs typeface="Times New Roman"/>
              </a:rPr>
              <a:t> </a:t>
            </a:r>
            <a:r>
              <a:rPr dirty="0"/>
              <a:t>sets</a:t>
            </a:r>
            <a:r>
              <a:rPr dirty="0" spc="15"/>
              <a:t> </a:t>
            </a:r>
            <a:r>
              <a:rPr dirty="0" i="1">
                <a:latin typeface="Times New Roman"/>
                <a:cs typeface="Times New Roman"/>
              </a:rPr>
              <a:t>S</a:t>
            </a:r>
            <a:r>
              <a:rPr dirty="0" baseline="-18518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…,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</a:t>
            </a:r>
            <a:r>
              <a:rPr dirty="0" baseline="-18518" sz="1800" i="1">
                <a:latin typeface="Times New Roman"/>
                <a:cs typeface="Times New Roman"/>
              </a:rPr>
              <a:t>n</a:t>
            </a:r>
            <a:r>
              <a:rPr dirty="0" baseline="-18518" sz="1800" spc="427" i="1">
                <a:latin typeface="Times New Roman"/>
                <a:cs typeface="Times New Roman"/>
              </a:rPr>
              <a:t> </a:t>
            </a:r>
            <a:r>
              <a:rPr dirty="0" sz="1800"/>
              <a:t>each</a:t>
            </a:r>
            <a:r>
              <a:rPr dirty="0" sz="1800" spc="15"/>
              <a:t> </a:t>
            </a:r>
            <a:r>
              <a:rPr dirty="0" sz="1800"/>
              <a:t>of</a:t>
            </a:r>
            <a:r>
              <a:rPr dirty="0" sz="1800" spc="15"/>
              <a:t> </a:t>
            </a:r>
            <a:r>
              <a:rPr dirty="0" sz="1800"/>
              <a:t>which</a:t>
            </a:r>
            <a:r>
              <a:rPr dirty="0" sz="1800" spc="15"/>
              <a:t> </a:t>
            </a:r>
            <a:r>
              <a:rPr dirty="0" sz="1800"/>
              <a:t>is</a:t>
            </a:r>
            <a:r>
              <a:rPr dirty="0" sz="1800" spc="20"/>
              <a:t> </a:t>
            </a:r>
            <a:r>
              <a:rPr dirty="0" sz="1800"/>
              <a:t>a</a:t>
            </a:r>
            <a:r>
              <a:rPr dirty="0" sz="1800" spc="15"/>
              <a:t> </a:t>
            </a:r>
            <a:r>
              <a:rPr dirty="0" sz="1800"/>
              <a:t>subset</a:t>
            </a:r>
            <a:r>
              <a:rPr dirty="0" sz="1800" spc="15"/>
              <a:t> </a:t>
            </a:r>
            <a:r>
              <a:rPr dirty="0" sz="1800" spc="-25"/>
              <a:t>of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dirty="0">
                <a:latin typeface="Times New Roman"/>
                <a:cs typeface="Times New Roman"/>
              </a:rPr>
              <a:t>1,</a:t>
            </a:r>
            <a:r>
              <a:rPr dirty="0" spc="-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2, …,</a:t>
            </a:r>
            <a:r>
              <a:rPr dirty="0" spc="-5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n</a:t>
            </a:r>
            <a:r>
              <a:rPr dirty="0"/>
              <a:t>,</a:t>
            </a:r>
            <a:r>
              <a:rPr dirty="0" spc="-5"/>
              <a:t> </a:t>
            </a:r>
            <a:r>
              <a:rPr dirty="0"/>
              <a:t>is there</a:t>
            </a:r>
            <a:r>
              <a:rPr dirty="0" spc="-5"/>
              <a:t> </a:t>
            </a:r>
            <a:r>
              <a:rPr dirty="0"/>
              <a:t>some</a:t>
            </a:r>
            <a:r>
              <a:rPr dirty="0" spc="-5"/>
              <a:t> </a:t>
            </a:r>
            <a:r>
              <a:rPr dirty="0"/>
              <a:t>pair of</a:t>
            </a:r>
            <a:r>
              <a:rPr dirty="0" spc="-5"/>
              <a:t> </a:t>
            </a:r>
            <a:r>
              <a:rPr dirty="0"/>
              <a:t>these which</a:t>
            </a:r>
            <a:r>
              <a:rPr dirty="0" spc="-5"/>
              <a:t> </a:t>
            </a:r>
            <a:r>
              <a:rPr dirty="0"/>
              <a:t>are</a:t>
            </a:r>
            <a:r>
              <a:rPr dirty="0" spc="-5"/>
              <a:t> </a:t>
            </a:r>
            <a:r>
              <a:rPr dirty="0" spc="-10"/>
              <a:t>disjoint?</a:t>
            </a:r>
          </a:p>
          <a:p>
            <a:pPr>
              <a:lnSpc>
                <a:spcPct val="100000"/>
              </a:lnSpc>
              <a:spcBef>
                <a:spcPts val="780"/>
              </a:spcBef>
            </a:p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1817370" algn="l"/>
              </a:tabLst>
            </a:pPr>
            <a:r>
              <a:rPr dirty="0">
                <a:solidFill>
                  <a:srgbClr val="0048AA"/>
                </a:solidFill>
              </a:rPr>
              <a:t>O(n</a:t>
            </a:r>
            <a:r>
              <a:rPr dirty="0" baseline="20833" sz="1800">
                <a:solidFill>
                  <a:srgbClr val="0048AA"/>
                </a:solidFill>
              </a:rPr>
              <a:t>3</a:t>
            </a:r>
            <a:r>
              <a:rPr dirty="0" sz="1800">
                <a:solidFill>
                  <a:srgbClr val="0048AA"/>
                </a:solidFill>
              </a:rPr>
              <a:t>)</a:t>
            </a:r>
            <a:r>
              <a:rPr dirty="0" sz="1800" spc="-15">
                <a:solidFill>
                  <a:srgbClr val="0048AA"/>
                </a:solidFill>
              </a:rPr>
              <a:t> </a:t>
            </a:r>
            <a:r>
              <a:rPr dirty="0" sz="1800" spc="-10">
                <a:solidFill>
                  <a:srgbClr val="0048AA"/>
                </a:solidFill>
              </a:rPr>
              <a:t>solution.</a:t>
            </a:r>
            <a:r>
              <a:rPr dirty="0" sz="1800">
                <a:solidFill>
                  <a:srgbClr val="0048AA"/>
                </a:solidFill>
              </a:rPr>
              <a:t>	</a:t>
            </a:r>
            <a:r>
              <a:rPr dirty="0" sz="1800"/>
              <a:t>For</a:t>
            </a:r>
            <a:r>
              <a:rPr dirty="0" sz="1800" spc="-5"/>
              <a:t> </a:t>
            </a:r>
            <a:r>
              <a:rPr dirty="0" sz="1800"/>
              <a:t>each</a:t>
            </a:r>
            <a:r>
              <a:rPr dirty="0" sz="1800" spc="-5"/>
              <a:t> </a:t>
            </a:r>
            <a:r>
              <a:rPr dirty="0" sz="1800"/>
              <a:t>pair of</a:t>
            </a:r>
            <a:r>
              <a:rPr dirty="0" sz="1800" spc="-5"/>
              <a:t> </a:t>
            </a:r>
            <a:r>
              <a:rPr dirty="0" sz="1800"/>
              <a:t>sets,</a:t>
            </a:r>
            <a:r>
              <a:rPr dirty="0" sz="1800" spc="-5"/>
              <a:t> </a:t>
            </a:r>
            <a:r>
              <a:rPr dirty="0" sz="1800"/>
              <a:t>determine if</a:t>
            </a:r>
            <a:r>
              <a:rPr dirty="0" sz="1800" spc="-5"/>
              <a:t> </a:t>
            </a:r>
            <a:r>
              <a:rPr dirty="0" sz="1800"/>
              <a:t>they</a:t>
            </a:r>
            <a:r>
              <a:rPr dirty="0" sz="1800" spc="-5"/>
              <a:t> </a:t>
            </a:r>
            <a:r>
              <a:rPr dirty="0" sz="1800"/>
              <a:t>are </a:t>
            </a:r>
            <a:r>
              <a:rPr dirty="0" sz="1800" spc="-10"/>
              <a:t>disjoint.</a:t>
            </a:r>
            <a:endParaRPr sz="1800"/>
          </a:p>
        </p:txBody>
      </p:sp>
      <p:sp>
        <p:nvSpPr>
          <p:cNvPr id="5" name="object 5" descr=""/>
          <p:cNvSpPr txBox="1"/>
          <p:nvPr/>
        </p:nvSpPr>
        <p:spPr>
          <a:xfrm>
            <a:off x="1415836" y="3854476"/>
            <a:ext cx="7077075" cy="320484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85725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dirty="0" sz="1500">
                <a:latin typeface="Lucida Console"/>
                <a:cs typeface="Lucida Console"/>
              </a:rPr>
              <a:t>set S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922655" marR="3313429" indent="-344805">
              <a:lnSpc>
                <a:spcPts val="2850"/>
              </a:lnSpc>
              <a:spcBef>
                <a:spcPts val="20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dirty="0" sz="1500">
                <a:latin typeface="Lucida Console"/>
                <a:cs typeface="Lucida Console"/>
              </a:rPr>
              <a:t>other set S</a:t>
            </a:r>
            <a:r>
              <a:rPr dirty="0" baseline="-16666" sz="1500">
                <a:latin typeface="Lucida Console"/>
                <a:cs typeface="Lucida Console"/>
              </a:rPr>
              <a:t>j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 spc="-50">
                <a:latin typeface="Lucida Console"/>
                <a:cs typeface="Lucida Console"/>
              </a:rPr>
              <a:t>{ </a:t>
            </a: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dirty="0" sz="1500">
                <a:latin typeface="Lucida Console"/>
                <a:cs typeface="Lucida Console"/>
              </a:rPr>
              <a:t>element p of S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1266825">
              <a:lnSpc>
                <a:spcPct val="100000"/>
              </a:lnSpc>
              <a:spcBef>
                <a:spcPts val="710"/>
              </a:spcBef>
            </a:pPr>
            <a:r>
              <a:rPr dirty="0" sz="1500">
                <a:latin typeface="Lucida Console"/>
                <a:cs typeface="Lucida Console"/>
              </a:rPr>
              <a:t>determine whether p also belongs to </a:t>
            </a:r>
            <a:r>
              <a:rPr dirty="0" sz="1500" spc="-25">
                <a:latin typeface="Lucida Console"/>
                <a:cs typeface="Lucida Console"/>
              </a:rPr>
              <a:t>S</a:t>
            </a:r>
            <a:r>
              <a:rPr dirty="0" baseline="-16666" sz="1500" spc="-37">
                <a:latin typeface="Lucida Console"/>
                <a:cs typeface="Lucida Console"/>
              </a:rPr>
              <a:t>j</a:t>
            </a:r>
            <a:endParaRPr baseline="-16666"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98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8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dirty="0" sz="1500">
                <a:latin typeface="Lucida Console"/>
                <a:cs typeface="Lucida Console"/>
              </a:rPr>
              <a:t>(no element of S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belongs to </a:t>
            </a:r>
            <a:r>
              <a:rPr dirty="0" sz="1500" spc="-25">
                <a:latin typeface="Lucida Console"/>
                <a:cs typeface="Lucida Console"/>
              </a:rPr>
              <a:t>S</a:t>
            </a:r>
            <a:r>
              <a:rPr dirty="0" baseline="-16666" sz="1500" spc="-37">
                <a:latin typeface="Lucida Console"/>
                <a:cs typeface="Lucida Console"/>
              </a:rPr>
              <a:t>j</a:t>
            </a:r>
            <a:r>
              <a:rPr dirty="0" sz="1500" spc="-25"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  <a:p>
            <a:pPr marL="1266825">
              <a:lnSpc>
                <a:spcPct val="100000"/>
              </a:lnSpc>
              <a:spcBef>
                <a:spcPts val="980"/>
              </a:spcBef>
            </a:pPr>
            <a:r>
              <a:rPr dirty="0" sz="1500">
                <a:latin typeface="Lucida Console"/>
                <a:cs typeface="Lucida Console"/>
              </a:rPr>
              <a:t>report that S</a:t>
            </a:r>
            <a:r>
              <a:rPr dirty="0" baseline="-16666" sz="1500">
                <a:latin typeface="Lucida Console"/>
                <a:cs typeface="Lucida Console"/>
              </a:rPr>
              <a:t>i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and S</a:t>
            </a:r>
            <a:r>
              <a:rPr dirty="0" baseline="-16666" sz="1500">
                <a:latin typeface="Lucida Console"/>
                <a:cs typeface="Lucida Console"/>
              </a:rPr>
              <a:t>j</a:t>
            </a:r>
            <a:r>
              <a:rPr dirty="0" baseline="-16666" sz="1500" spc="442"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are </a:t>
            </a:r>
            <a:r>
              <a:rPr dirty="0" sz="1500" spc="-10">
                <a:latin typeface="Lucida Console"/>
                <a:cs typeface="Lucida Console"/>
              </a:rPr>
              <a:t>disjoint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75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896235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188210" algn="l"/>
              </a:tabLst>
            </a:pPr>
            <a:r>
              <a:rPr dirty="0"/>
              <a:t>Polynomial</a:t>
            </a:r>
            <a:r>
              <a:rPr dirty="0" spc="185"/>
              <a:t> </a:t>
            </a:r>
            <a:r>
              <a:rPr dirty="0" spc="-10"/>
              <a:t>time:</a:t>
            </a:r>
            <a:r>
              <a:rPr dirty="0"/>
              <a:t>	</a:t>
            </a:r>
            <a:r>
              <a:rPr dirty="0" spc="50"/>
              <a:t>O(n</a:t>
            </a:r>
            <a:r>
              <a:rPr dirty="0" baseline="27777" sz="2100" spc="75"/>
              <a:t>k</a:t>
            </a:r>
            <a:r>
              <a:rPr dirty="0" sz="2100" spc="50"/>
              <a:t>)</a:t>
            </a:r>
            <a:endParaRPr sz="2100"/>
          </a:p>
        </p:txBody>
      </p:sp>
      <p:sp>
        <p:nvSpPr>
          <p:cNvPr id="4" name="object 4" descr=""/>
          <p:cNvSpPr txBox="1"/>
          <p:nvPr/>
        </p:nvSpPr>
        <p:spPr>
          <a:xfrm>
            <a:off x="815241" y="5068287"/>
            <a:ext cx="6623684" cy="465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6822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Check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whether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</a:t>
            </a:r>
            <a:r>
              <a:rPr dirty="0" sz="1800" spc="13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independent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set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takes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k</a:t>
            </a:r>
            <a:r>
              <a:rPr dirty="0" baseline="18518" sz="1800">
                <a:latin typeface="Times New Roman"/>
                <a:cs typeface="Times New Roman"/>
              </a:rPr>
              <a:t>2</a:t>
            </a:r>
            <a:r>
              <a:rPr dirty="0" sz="1800" spc="65">
                <a:latin typeface="Times New Roman"/>
                <a:cs typeface="Times New Roman"/>
              </a:rPr>
              <a:t>) </a:t>
            </a:r>
            <a:r>
              <a:rPr dirty="0" sz="1800" spc="-1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15241" y="5430708"/>
            <a:ext cx="3905250" cy="465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6822" sz="4275" spc="2175">
                <a:latin typeface="MS PGothic"/>
                <a:cs typeface="MS PGothic"/>
              </a:rPr>
              <a:t>・</a:t>
            </a:r>
            <a:r>
              <a:rPr dirty="0" sz="1800">
                <a:latin typeface="Lucida Sans Unicode"/>
                <a:cs typeface="Lucida Sans Unicode"/>
              </a:rPr>
              <a:t>Number of </a:t>
            </a:r>
            <a:r>
              <a:rPr dirty="0" sz="1800" i="1">
                <a:latin typeface="Times New Roman"/>
                <a:cs typeface="Times New Roman"/>
              </a:rPr>
              <a:t>k</a:t>
            </a:r>
            <a:r>
              <a:rPr dirty="0" sz="1800" spc="114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element subsets</a:t>
            </a:r>
            <a:r>
              <a:rPr dirty="0" sz="1800" spc="-170">
                <a:latin typeface="Lucida Sans Unicode"/>
                <a:cs typeface="Lucida Sans Unicode"/>
              </a:rPr>
              <a:t> 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80414" y="2908153"/>
            <a:ext cx="5226685" cy="1993900"/>
          </a:xfrm>
          <a:prstGeom prst="rect">
            <a:avLst/>
          </a:prstGeom>
          <a:solidFill>
            <a:srgbClr val="CBCBCB"/>
          </a:solidFill>
        </p:spPr>
        <p:txBody>
          <a:bodyPr wrap="square" lIns="0" tIns="85725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dirty="0" sz="1500">
                <a:latin typeface="Lucida Console"/>
                <a:cs typeface="Lucida Console"/>
              </a:rPr>
              <a:t>subset S of k nodes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 marR="391160">
              <a:lnSpc>
                <a:spcPct val="133500"/>
              </a:lnSpc>
              <a:spcBef>
                <a:spcPts val="75"/>
              </a:spcBef>
            </a:pPr>
            <a:r>
              <a:rPr dirty="0" sz="1500">
                <a:latin typeface="Lucida Console"/>
                <a:cs typeface="Lucida Console"/>
              </a:rPr>
              <a:t>check whether S in an independent </a:t>
            </a:r>
            <a:r>
              <a:rPr dirty="0" sz="1500" spc="-25">
                <a:latin typeface="Lucida Console"/>
                <a:cs typeface="Lucida Console"/>
              </a:rPr>
              <a:t>set </a:t>
            </a: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dirty="0" sz="1500">
                <a:latin typeface="Lucida Console"/>
                <a:cs typeface="Lucida Console"/>
              </a:rPr>
              <a:t>(S is an independent </a:t>
            </a:r>
            <a:r>
              <a:rPr dirty="0" sz="1500" spc="-20">
                <a:latin typeface="Lucida Console"/>
                <a:cs typeface="Lucida Console"/>
              </a:rPr>
              <a:t>set)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05"/>
              </a:spcBef>
            </a:pPr>
            <a:r>
              <a:rPr dirty="0" sz="1500">
                <a:latin typeface="Lucida Console"/>
                <a:cs typeface="Lucida Console"/>
              </a:rPr>
              <a:t>report S is an independent </a:t>
            </a:r>
            <a:r>
              <a:rPr dirty="0" sz="1500" spc="-25">
                <a:latin typeface="Lucida Console"/>
                <a:cs typeface="Lucida Console"/>
              </a:rPr>
              <a:t>set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8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915978" y="6297915"/>
            <a:ext cx="196215" cy="317500"/>
            <a:chOff x="2915978" y="6297915"/>
            <a:chExt cx="196215" cy="317500"/>
          </a:xfrm>
        </p:grpSpPr>
        <p:sp>
          <p:nvSpPr>
            <p:cNvPr id="8" name="object 8" descr=""/>
            <p:cNvSpPr/>
            <p:nvPr/>
          </p:nvSpPr>
          <p:spPr>
            <a:xfrm>
              <a:off x="2946637" y="6348479"/>
              <a:ext cx="156210" cy="257175"/>
            </a:xfrm>
            <a:custGeom>
              <a:avLst/>
              <a:gdLst/>
              <a:ahLst/>
              <a:cxnLst/>
              <a:rect l="l" t="t" r="r" b="b"/>
              <a:pathLst>
                <a:path w="156210" h="257175">
                  <a:moveTo>
                    <a:pt x="0" y="0"/>
                  </a:moveTo>
                  <a:lnTo>
                    <a:pt x="4944" y="8155"/>
                  </a:lnTo>
                  <a:lnTo>
                    <a:pt x="155835" y="25700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915978" y="6297915"/>
              <a:ext cx="86995" cy="102235"/>
            </a:xfrm>
            <a:custGeom>
              <a:avLst/>
              <a:gdLst/>
              <a:ahLst/>
              <a:cxnLst/>
              <a:rect l="l" t="t" r="r" b="b"/>
              <a:pathLst>
                <a:path w="86994" h="102235">
                  <a:moveTo>
                    <a:pt x="0" y="0"/>
                  </a:moveTo>
                  <a:lnTo>
                    <a:pt x="8324" y="102026"/>
                  </a:lnTo>
                  <a:lnTo>
                    <a:pt x="35603" y="58718"/>
                  </a:lnTo>
                  <a:lnTo>
                    <a:pt x="86616" y="54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15241" y="5793129"/>
            <a:ext cx="3634104" cy="12934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6822" sz="4275" spc="2175">
                <a:latin typeface="MS PGothic"/>
                <a:cs typeface="MS PGothic"/>
              </a:rPr>
              <a:t>・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k</a:t>
            </a:r>
            <a:r>
              <a:rPr dirty="0" baseline="18518" sz="1800">
                <a:latin typeface="Times New Roman"/>
                <a:cs typeface="Times New Roman"/>
              </a:rPr>
              <a:t>2</a:t>
            </a:r>
            <a:r>
              <a:rPr dirty="0" baseline="18518" sz="1800" spc="217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baseline="18518" sz="1800" i="1">
                <a:latin typeface="Times New Roman"/>
                <a:cs typeface="Times New Roman"/>
              </a:rPr>
              <a:t>k</a:t>
            </a:r>
            <a:r>
              <a:rPr dirty="0" baseline="18518" sz="1800" spc="225" i="1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/ </a:t>
            </a:r>
            <a:r>
              <a:rPr dirty="0" sz="1800" i="1">
                <a:latin typeface="Times New Roman"/>
                <a:cs typeface="Times New Roman"/>
              </a:rPr>
              <a:t>k</a:t>
            </a:r>
            <a:r>
              <a:rPr dirty="0" sz="1800">
                <a:latin typeface="Times New Roman"/>
                <a:cs typeface="Times New Roman"/>
              </a:rPr>
              <a:t>!) = </a:t>
            </a:r>
            <a:r>
              <a:rPr dirty="0" sz="1800" spc="-10" i="1">
                <a:latin typeface="Times New Roman"/>
                <a:cs typeface="Times New Roman"/>
              </a:rPr>
              <a:t>O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n</a:t>
            </a:r>
            <a:r>
              <a:rPr dirty="0" baseline="18518" sz="1800" spc="-15" i="1">
                <a:latin typeface="Times New Roman"/>
                <a:cs typeface="Times New Roman"/>
              </a:rPr>
              <a:t>k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r>
              <a:rPr dirty="0" sz="1800" spc="-1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2265680" marR="30480" indent="-105410">
              <a:lnSpc>
                <a:spcPct val="104299"/>
              </a:lnSpc>
              <a:spcBef>
                <a:spcPts val="5"/>
              </a:spcBef>
            </a:pPr>
            <a:r>
              <a:rPr dirty="0" sz="1200" spc="-4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dirty="0" sz="1200" spc="-2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dirty="0" sz="12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dirty="0" sz="12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8D3124"/>
                </a:solidFill>
                <a:latin typeface="Lucida Sans Unicode"/>
                <a:cs typeface="Lucida Sans Unicode"/>
              </a:rPr>
              <a:t>k=17,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but</a:t>
            </a:r>
            <a:r>
              <a:rPr dirty="0" sz="1200" spc="-1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not</a:t>
            </a:r>
            <a:r>
              <a:rPr dirty="0" sz="1200" spc="-10">
                <a:solidFill>
                  <a:srgbClr val="8D3124"/>
                </a:solidFill>
                <a:latin typeface="Lucida Sans Unicode"/>
                <a:cs typeface="Lucida Sans Unicode"/>
              </a:rPr>
              <a:t> practical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7167" y="1131247"/>
            <a:ext cx="8163559" cy="147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7780">
              <a:lnSpc>
                <a:spcPct val="132100"/>
              </a:lnSpc>
              <a:spcBef>
                <a:spcPts val="100"/>
              </a:spcBef>
              <a:tabLst>
                <a:tab pos="307911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Independent set of size </a:t>
            </a: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k.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Given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graph,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there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k</a:t>
            </a:r>
            <a:r>
              <a:rPr dirty="0" sz="1800" spc="105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nodes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such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that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no </a:t>
            </a:r>
            <a:r>
              <a:rPr dirty="0" sz="1800">
                <a:latin typeface="Lucida Sans Unicode"/>
                <a:cs typeface="Lucida Sans Unicode"/>
              </a:rPr>
              <a:t>two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are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joined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by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an</a:t>
            </a:r>
            <a:r>
              <a:rPr dirty="0" sz="1800" spc="3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edge?</a:t>
            </a:r>
            <a:endParaRPr sz="1800">
              <a:latin typeface="Lucida Sans Unicode"/>
              <a:cs typeface="Lucida Sans Unicode"/>
            </a:endParaRPr>
          </a:p>
          <a:p>
            <a:pPr algn="r" marR="894715">
              <a:lnSpc>
                <a:spcPts val="1175"/>
              </a:lnSpc>
            </a:pP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k</a:t>
            </a:r>
            <a:r>
              <a:rPr dirty="0" sz="12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dirty="0" sz="1200" spc="-5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8D3124"/>
                </a:solidFill>
                <a:latin typeface="Lucida Sans Unicode"/>
                <a:cs typeface="Lucida Sans Unicode"/>
              </a:rPr>
              <a:t>a </a:t>
            </a:r>
            <a:r>
              <a:rPr dirty="0" sz="1200" spc="-10">
                <a:solidFill>
                  <a:srgbClr val="8D3124"/>
                </a:solidFill>
                <a:latin typeface="Lucida Sans Unicode"/>
                <a:cs typeface="Lucida Sans Unicode"/>
              </a:rPr>
              <a:t>constant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797050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dirty="0" baseline="20833" sz="1800">
                <a:solidFill>
                  <a:srgbClr val="0048AA"/>
                </a:solidFill>
                <a:latin typeface="Lucida Sans Unicode"/>
                <a:cs typeface="Lucida Sans Unicode"/>
              </a:rPr>
              <a:t>k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 solution.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Enumerate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subsets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-5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k</a:t>
            </a:r>
            <a:r>
              <a:rPr dirty="0" sz="1800" spc="110" i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nodes.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1635" y="1538136"/>
            <a:ext cx="235657" cy="269072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969397" y="5503857"/>
            <a:ext cx="145415" cy="56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 marR="5080" indent="-5080">
              <a:lnSpc>
                <a:spcPct val="113900"/>
              </a:lnSpc>
              <a:spcBef>
                <a:spcPts val="100"/>
              </a:spcBef>
            </a:pPr>
            <a:r>
              <a:rPr dirty="0" sz="1550" spc="85" i="1">
                <a:latin typeface="Calibri"/>
                <a:cs typeface="Calibri"/>
              </a:rPr>
              <a:t>n </a:t>
            </a:r>
            <a:r>
              <a:rPr dirty="0" sz="1550" spc="60" i="1">
                <a:latin typeface="Calibri"/>
                <a:cs typeface="Calibri"/>
              </a:rPr>
              <a:t>k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088905" y="5391215"/>
            <a:ext cx="17208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latin typeface="Arial MT"/>
                <a:cs typeface="Arial MT"/>
              </a:rPr>
              <a:t> 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46108" y="5669573"/>
            <a:ext cx="18034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390">
                <a:latin typeface="Calibri"/>
                <a:cs typeface="Calibri"/>
              </a:rPr>
              <a:t>=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635487" y="5536040"/>
            <a:ext cx="306895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135" i="1">
                <a:latin typeface="Calibri"/>
                <a:cs typeface="Calibri"/>
              </a:rPr>
              <a:t>n</a:t>
            </a:r>
            <a:r>
              <a:rPr dirty="0" sz="1550" spc="135">
                <a:latin typeface="Calibri"/>
                <a:cs typeface="Calibri"/>
              </a:rPr>
              <a:t>(</a:t>
            </a:r>
            <a:r>
              <a:rPr dirty="0" sz="1550" spc="135" i="1">
                <a:latin typeface="Calibri"/>
                <a:cs typeface="Calibri"/>
              </a:rPr>
              <a:t>n</a:t>
            </a:r>
            <a:r>
              <a:rPr dirty="0" sz="1550" i="1">
                <a:latin typeface="Calibri"/>
                <a:cs typeface="Calibri"/>
              </a:rPr>
              <a:t> </a:t>
            </a:r>
            <a:r>
              <a:rPr dirty="0" sz="1550" spc="-345" i="1">
                <a:latin typeface="Verdana"/>
                <a:cs typeface="Verdana"/>
              </a:rPr>
              <a:t>—</a:t>
            </a:r>
            <a:r>
              <a:rPr dirty="0" sz="1550" spc="-190" i="1">
                <a:latin typeface="Verdana"/>
                <a:cs typeface="Verdana"/>
              </a:rPr>
              <a:t> </a:t>
            </a:r>
            <a:r>
              <a:rPr dirty="0" sz="1550" spc="95">
                <a:latin typeface="Calibri"/>
                <a:cs typeface="Calibri"/>
              </a:rPr>
              <a:t>1)(</a:t>
            </a:r>
            <a:r>
              <a:rPr dirty="0" sz="1550" spc="95" i="1">
                <a:latin typeface="Calibri"/>
                <a:cs typeface="Calibri"/>
              </a:rPr>
              <a:t>n</a:t>
            </a:r>
            <a:r>
              <a:rPr dirty="0" sz="1550" i="1">
                <a:latin typeface="Calibri"/>
                <a:cs typeface="Calibri"/>
              </a:rPr>
              <a:t> </a:t>
            </a:r>
            <a:r>
              <a:rPr dirty="0" sz="1550" spc="-345" i="1">
                <a:latin typeface="Verdana"/>
                <a:cs typeface="Verdana"/>
              </a:rPr>
              <a:t>—</a:t>
            </a:r>
            <a:r>
              <a:rPr dirty="0" sz="1550" spc="-195" i="1">
                <a:latin typeface="Verdana"/>
                <a:cs typeface="Verdana"/>
              </a:rPr>
              <a:t> </a:t>
            </a:r>
            <a:r>
              <a:rPr dirty="0" sz="1550" spc="60">
                <a:latin typeface="Calibri"/>
                <a:cs typeface="Calibri"/>
              </a:rPr>
              <a:t>2)</a:t>
            </a:r>
            <a:r>
              <a:rPr dirty="0" sz="1550">
                <a:latin typeface="Calibri"/>
                <a:cs typeface="Calibri"/>
              </a:rPr>
              <a:t> </a:t>
            </a:r>
            <a:r>
              <a:rPr dirty="0" sz="1550" spc="-60" i="1">
                <a:latin typeface="Verdana"/>
                <a:cs typeface="Verdana"/>
              </a:rPr>
              <a:t>×</a:t>
            </a:r>
            <a:r>
              <a:rPr dirty="0" sz="1550" spc="-195" i="1">
                <a:latin typeface="Verdana"/>
                <a:cs typeface="Verdana"/>
              </a:rPr>
              <a:t> </a:t>
            </a:r>
            <a:r>
              <a:rPr dirty="0" sz="1550" i="1">
                <a:latin typeface="Verdana"/>
                <a:cs typeface="Verdana"/>
              </a:rPr>
              <a:t>··</a:t>
            </a:r>
            <a:r>
              <a:rPr dirty="0" sz="1550" spc="-280" i="1">
                <a:latin typeface="Verdana"/>
                <a:cs typeface="Verdan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·</a:t>
            </a:r>
            <a:r>
              <a:rPr dirty="0" sz="1550" spc="-195" i="1">
                <a:latin typeface="Verdana"/>
                <a:cs typeface="Verdana"/>
              </a:rPr>
              <a:t> </a:t>
            </a:r>
            <a:r>
              <a:rPr dirty="0" sz="1550" spc="-60" i="1">
                <a:latin typeface="Verdana"/>
                <a:cs typeface="Verdana"/>
              </a:rPr>
              <a:t>×</a:t>
            </a:r>
            <a:r>
              <a:rPr dirty="0" sz="1550" spc="-190" i="1">
                <a:latin typeface="Verdana"/>
                <a:cs typeface="Verdana"/>
              </a:rPr>
              <a:t> </a:t>
            </a:r>
            <a:r>
              <a:rPr dirty="0" sz="1550" spc="130">
                <a:latin typeface="Calibri"/>
                <a:cs typeface="Calibri"/>
              </a:rPr>
              <a:t>(</a:t>
            </a:r>
            <a:r>
              <a:rPr dirty="0" sz="1550" spc="130" i="1">
                <a:latin typeface="Calibri"/>
                <a:cs typeface="Calibri"/>
              </a:rPr>
              <a:t>n</a:t>
            </a:r>
            <a:r>
              <a:rPr dirty="0" sz="1550" i="1">
                <a:latin typeface="Calibri"/>
                <a:cs typeface="Calibri"/>
              </a:rPr>
              <a:t> </a:t>
            </a:r>
            <a:r>
              <a:rPr dirty="0" sz="1550" spc="-345" i="1">
                <a:latin typeface="Verdana"/>
                <a:cs typeface="Verdana"/>
              </a:rPr>
              <a:t>—</a:t>
            </a:r>
            <a:r>
              <a:rPr dirty="0" sz="1550" spc="-190" i="1">
                <a:latin typeface="Verdana"/>
                <a:cs typeface="Verdana"/>
              </a:rPr>
              <a:t> </a:t>
            </a:r>
            <a:r>
              <a:rPr dirty="0" sz="1550" spc="110" i="1">
                <a:latin typeface="Calibri"/>
                <a:cs typeface="Calibri"/>
              </a:rPr>
              <a:t>k</a:t>
            </a:r>
            <a:r>
              <a:rPr dirty="0" sz="1550" spc="50" i="1">
                <a:latin typeface="Calibri"/>
                <a:cs typeface="Calibri"/>
              </a:rPr>
              <a:t> </a:t>
            </a:r>
            <a:r>
              <a:rPr dirty="0" sz="1550" spc="440">
                <a:latin typeface="Calibri"/>
                <a:cs typeface="Calibri"/>
              </a:rPr>
              <a:t>+</a:t>
            </a:r>
            <a:r>
              <a:rPr dirty="0" sz="1550">
                <a:latin typeface="Calibri"/>
                <a:cs typeface="Calibri"/>
              </a:rPr>
              <a:t> </a:t>
            </a:r>
            <a:r>
              <a:rPr dirty="0" sz="1550" spc="35">
                <a:latin typeface="Calibri"/>
                <a:cs typeface="Calibri"/>
              </a:rPr>
              <a:t>1)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648187" y="5830329"/>
            <a:ext cx="3043555" cy="0"/>
          </a:xfrm>
          <a:custGeom>
            <a:avLst/>
            <a:gdLst/>
            <a:ahLst/>
            <a:cxnLst/>
            <a:rect l="l" t="t" r="r" b="b"/>
            <a:pathLst>
              <a:path w="3043554" h="0">
                <a:moveTo>
                  <a:pt x="0" y="0"/>
                </a:moveTo>
                <a:lnTo>
                  <a:pt x="3043471" y="0"/>
                </a:lnTo>
              </a:path>
            </a:pathLst>
          </a:custGeom>
          <a:ln w="788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085342" y="5805087"/>
            <a:ext cx="216979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135" i="1">
                <a:latin typeface="Calibri"/>
                <a:cs typeface="Calibri"/>
              </a:rPr>
              <a:t>k</a:t>
            </a:r>
            <a:r>
              <a:rPr dirty="0" sz="1550" spc="135">
                <a:latin typeface="Calibri"/>
                <a:cs typeface="Calibri"/>
              </a:rPr>
              <a:t>(</a:t>
            </a:r>
            <a:r>
              <a:rPr dirty="0" sz="1550" spc="135" i="1">
                <a:latin typeface="Calibri"/>
                <a:cs typeface="Calibri"/>
              </a:rPr>
              <a:t>k</a:t>
            </a:r>
            <a:r>
              <a:rPr dirty="0" sz="1550" spc="50" i="1">
                <a:latin typeface="Calibri"/>
                <a:cs typeface="Calibri"/>
              </a:rPr>
              <a:t> </a:t>
            </a:r>
            <a:r>
              <a:rPr dirty="0" sz="1550" spc="-345" i="1">
                <a:latin typeface="Verdana"/>
                <a:cs typeface="Verdana"/>
              </a:rPr>
              <a:t>—</a:t>
            </a:r>
            <a:r>
              <a:rPr dirty="0" sz="1550" spc="-190" i="1">
                <a:latin typeface="Verdana"/>
                <a:cs typeface="Verdana"/>
              </a:rPr>
              <a:t> </a:t>
            </a:r>
            <a:r>
              <a:rPr dirty="0" sz="1550" spc="90">
                <a:latin typeface="Calibri"/>
                <a:cs typeface="Calibri"/>
              </a:rPr>
              <a:t>1)(</a:t>
            </a:r>
            <a:r>
              <a:rPr dirty="0" sz="1550" spc="90" i="1">
                <a:latin typeface="Calibri"/>
                <a:cs typeface="Calibri"/>
              </a:rPr>
              <a:t>k</a:t>
            </a:r>
            <a:r>
              <a:rPr dirty="0" sz="1550" spc="50" i="1">
                <a:latin typeface="Calibri"/>
                <a:cs typeface="Calibri"/>
              </a:rPr>
              <a:t> </a:t>
            </a:r>
            <a:r>
              <a:rPr dirty="0" sz="1550" spc="-345" i="1">
                <a:latin typeface="Verdana"/>
                <a:cs typeface="Verdana"/>
              </a:rPr>
              <a:t>—</a:t>
            </a:r>
            <a:r>
              <a:rPr dirty="0" sz="1550" spc="-190" i="1">
                <a:latin typeface="Verdana"/>
                <a:cs typeface="Verdana"/>
              </a:rPr>
              <a:t> </a:t>
            </a:r>
            <a:r>
              <a:rPr dirty="0" sz="1550" spc="60">
                <a:latin typeface="Calibri"/>
                <a:cs typeface="Calibri"/>
              </a:rPr>
              <a:t>2)</a:t>
            </a:r>
            <a:r>
              <a:rPr dirty="0" sz="1550">
                <a:latin typeface="Calibri"/>
                <a:cs typeface="Calibri"/>
              </a:rPr>
              <a:t> </a:t>
            </a:r>
            <a:r>
              <a:rPr dirty="0" sz="1550" spc="-60" i="1">
                <a:latin typeface="Verdana"/>
                <a:cs typeface="Verdana"/>
              </a:rPr>
              <a:t>×</a:t>
            </a:r>
            <a:r>
              <a:rPr dirty="0" sz="1550" spc="-195" i="1">
                <a:latin typeface="Verdana"/>
                <a:cs typeface="Verdana"/>
              </a:rPr>
              <a:t> </a:t>
            </a:r>
            <a:r>
              <a:rPr dirty="0" sz="1550" i="1">
                <a:latin typeface="Verdana"/>
                <a:cs typeface="Verdana"/>
              </a:rPr>
              <a:t>··</a:t>
            </a:r>
            <a:r>
              <a:rPr dirty="0" sz="1550" spc="-280" i="1">
                <a:latin typeface="Verdana"/>
                <a:cs typeface="Verdan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·</a:t>
            </a:r>
            <a:r>
              <a:rPr dirty="0" sz="1550" spc="-190" i="1">
                <a:latin typeface="Verdana"/>
                <a:cs typeface="Verdana"/>
              </a:rPr>
              <a:t> </a:t>
            </a:r>
            <a:r>
              <a:rPr dirty="0" sz="1550" spc="-60" i="1">
                <a:latin typeface="Verdana"/>
                <a:cs typeface="Verdana"/>
              </a:rPr>
              <a:t>×</a:t>
            </a:r>
            <a:r>
              <a:rPr dirty="0" sz="1550" spc="-190" i="1">
                <a:latin typeface="Verdana"/>
                <a:cs typeface="Verdana"/>
              </a:rPr>
              <a:t> </a:t>
            </a:r>
            <a:r>
              <a:rPr dirty="0" sz="1550" spc="-50"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813455" y="5669573"/>
            <a:ext cx="18034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0" i="1">
                <a:latin typeface="Verdana"/>
                <a:cs typeface="Verdana"/>
              </a:rPr>
              <a:t>≤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115533" y="5830329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 h="0">
                <a:moveTo>
                  <a:pt x="0" y="0"/>
                </a:moveTo>
                <a:lnTo>
                  <a:pt x="217433" y="0"/>
                </a:lnTo>
              </a:path>
            </a:pathLst>
          </a:custGeom>
          <a:ln w="788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9077434" y="5360815"/>
            <a:ext cx="280670" cy="706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 marR="30480" indent="-26034">
              <a:lnSpc>
                <a:spcPct val="144200"/>
              </a:lnSpc>
              <a:spcBef>
                <a:spcPts val="95"/>
              </a:spcBef>
            </a:pPr>
            <a:r>
              <a:rPr dirty="0" baseline="-19713" sz="2325" spc="202" i="1">
                <a:latin typeface="Calibri"/>
                <a:cs typeface="Calibri"/>
              </a:rPr>
              <a:t>n</a:t>
            </a:r>
            <a:r>
              <a:rPr dirty="0" sz="1050" spc="135" i="1">
                <a:latin typeface="Calibri"/>
                <a:cs typeface="Calibri"/>
              </a:rPr>
              <a:t>k </a:t>
            </a:r>
            <a:r>
              <a:rPr dirty="0" sz="1550" spc="-25" i="1">
                <a:latin typeface="Calibri"/>
                <a:cs typeface="Calibri"/>
              </a:rPr>
              <a:t>k</a:t>
            </a:r>
            <a:r>
              <a:rPr dirty="0" sz="1550" spc="-25">
                <a:latin typeface="Calibri"/>
                <a:cs typeface="Calibri"/>
              </a:rPr>
              <a:t>!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</a:t>
            </a:r>
            <a:r>
              <a:rPr dirty="0" spc="285"/>
              <a:t> </a:t>
            </a:r>
            <a:r>
              <a:rPr dirty="0" spc="-20"/>
              <a:t>time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707167" y="1131247"/>
            <a:ext cx="7644765" cy="147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7780">
              <a:lnSpc>
                <a:spcPct val="132100"/>
              </a:lnSpc>
              <a:spcBef>
                <a:spcPts val="100"/>
              </a:spcBef>
              <a:tabLst>
                <a:tab pos="206184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Independent </a:t>
            </a:r>
            <a:r>
              <a:rPr dirty="0" sz="1800" spc="-20">
                <a:solidFill>
                  <a:srgbClr val="0048AA"/>
                </a:solidFill>
                <a:latin typeface="Lucida Sans Unicode"/>
                <a:cs typeface="Lucida Sans Unicode"/>
              </a:rPr>
              <a:t>set.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Given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graph,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what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maximum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cardinality</a:t>
            </a:r>
            <a:r>
              <a:rPr dirty="0" sz="1800" spc="2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25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an </a:t>
            </a:r>
            <a:r>
              <a:rPr dirty="0" sz="1800">
                <a:latin typeface="Lucida Sans Unicode"/>
                <a:cs typeface="Lucida Sans Unicode"/>
              </a:rPr>
              <a:t>independent </a:t>
            </a:r>
            <a:r>
              <a:rPr dirty="0" sz="1800" spc="-20">
                <a:latin typeface="Lucida Sans Unicode"/>
                <a:cs typeface="Lucida Sans Unicode"/>
              </a:rPr>
              <a:t>set?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209232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dirty="0" baseline="20833" sz="180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dirty="0" baseline="20833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dirty="0" baseline="20833" sz="1800">
                <a:solidFill>
                  <a:srgbClr val="0048AA"/>
                </a:solidFill>
                <a:latin typeface="Lucida Sans Unicode"/>
                <a:cs typeface="Lucida Sans Unicode"/>
              </a:rPr>
              <a:t>n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Enumerate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all</a:t>
            </a:r>
            <a:r>
              <a:rPr dirty="0" sz="1800" spc="-10">
                <a:latin typeface="Lucida Sans Unicode"/>
                <a:cs typeface="Lucida Sans Unicode"/>
              </a:rPr>
              <a:t> subsets.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39684" y="3038711"/>
            <a:ext cx="6743065" cy="2374900"/>
          </a:xfrm>
          <a:prstGeom prst="rect">
            <a:avLst/>
          </a:prstGeom>
          <a:solidFill>
            <a:srgbClr val="CBCBCB"/>
          </a:solidFill>
        </p:spPr>
        <p:txBody>
          <a:bodyPr wrap="square" lIns="0" tIns="85725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dirty="0" sz="1500">
                <a:latin typeface="Lucida Console"/>
                <a:cs typeface="Lucida Console"/>
              </a:rPr>
              <a:t>S*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50">
                <a:latin typeface="Symbol"/>
                <a:cs typeface="Symbol"/>
              </a:rPr>
              <a:t></a:t>
            </a:r>
            <a:endParaRPr sz="1500">
              <a:latin typeface="Symbol"/>
              <a:cs typeface="Symbol"/>
            </a:endParaRPr>
          </a:p>
          <a:p>
            <a:pPr marL="233679">
              <a:lnSpc>
                <a:spcPct val="100000"/>
              </a:lnSpc>
              <a:spcBef>
                <a:spcPts val="905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dirty="0" sz="1500">
                <a:latin typeface="Lucida Console"/>
                <a:cs typeface="Lucida Console"/>
              </a:rPr>
              <a:t>subset S of nodes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05"/>
              </a:spcBef>
            </a:pPr>
            <a:r>
              <a:rPr dirty="0" sz="1500">
                <a:latin typeface="Lucida Console"/>
                <a:cs typeface="Lucida Console"/>
              </a:rPr>
              <a:t>check whether S in an independent </a:t>
            </a:r>
            <a:r>
              <a:rPr dirty="0" sz="1500" spc="-25">
                <a:latin typeface="Lucida Console"/>
                <a:cs typeface="Lucida Console"/>
              </a:rPr>
              <a:t>set</a:t>
            </a:r>
            <a:endParaRPr sz="1500">
              <a:latin typeface="Lucida Console"/>
              <a:cs typeface="Lucida Console"/>
            </a:endParaRPr>
          </a:p>
          <a:p>
            <a:pPr marL="922655" marR="989330" indent="-344805">
              <a:lnSpc>
                <a:spcPct val="133500"/>
              </a:lnSpc>
              <a:spcBef>
                <a:spcPts val="75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dirty="0" sz="1500">
                <a:latin typeface="Lucida Console"/>
                <a:cs typeface="Lucida Console"/>
              </a:rPr>
              <a:t>(S is largest independent set seen so </a:t>
            </a:r>
            <a:r>
              <a:rPr dirty="0" sz="1500" spc="-20">
                <a:latin typeface="Lucida Console"/>
                <a:cs typeface="Lucida Console"/>
              </a:rPr>
              <a:t>far) </a:t>
            </a:r>
            <a:r>
              <a:rPr dirty="0" sz="1500">
                <a:latin typeface="Lucida Console"/>
                <a:cs typeface="Lucida Console"/>
              </a:rPr>
              <a:t>update S*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50">
                <a:latin typeface="Lucida Console"/>
                <a:cs typeface="Lucida Console"/>
              </a:rPr>
              <a:t>S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0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5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Sublinear</a:t>
            </a:r>
            <a:r>
              <a:rPr dirty="0" spc="215"/>
              <a:t> </a:t>
            </a:r>
            <a:r>
              <a:rPr dirty="0" spc="-20"/>
              <a:t>time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45267" y="1131247"/>
            <a:ext cx="8057515" cy="147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2835275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Search</a:t>
            </a: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in</a:t>
            </a:r>
            <a:r>
              <a:rPr dirty="0" sz="1800" spc="-2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dirty="0" sz="1800" spc="-2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sorted</a:t>
            </a:r>
            <a:r>
              <a:rPr dirty="0" sz="1800" spc="-2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array.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Given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sorted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array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sz="1800" spc="13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of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 spc="130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numbers,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is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given </a:t>
            </a:r>
            <a:r>
              <a:rPr dirty="0" sz="1800">
                <a:latin typeface="Lucida Sans Unicode"/>
                <a:cs typeface="Lucida Sans Unicode"/>
              </a:rPr>
              <a:t>number</a:t>
            </a:r>
            <a:r>
              <a:rPr dirty="0" sz="1800" spc="-120">
                <a:latin typeface="Lucida Sans Unicode"/>
                <a:cs typeface="Lucida Sans Unicode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x</a:t>
            </a:r>
            <a:r>
              <a:rPr dirty="0" sz="1800" spc="114" i="1">
                <a:latin typeface="Times New Roman"/>
                <a:cs typeface="Times New Roman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 the </a:t>
            </a:r>
            <a:r>
              <a:rPr dirty="0" sz="1800" spc="-10">
                <a:latin typeface="Lucida Sans Unicode"/>
                <a:cs typeface="Lucida Sans Unicode"/>
              </a:rPr>
              <a:t>array?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2091689" algn="l"/>
              </a:tabLst>
            </a:pP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O(log</a:t>
            </a:r>
            <a:r>
              <a:rPr dirty="0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n)</a:t>
            </a:r>
            <a:r>
              <a:rPr dirty="0" sz="1800" spc="-15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dirty="0" sz="180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latin typeface="Lucida Sans Unicode"/>
                <a:cs typeface="Lucida Sans Unicode"/>
              </a:rPr>
              <a:t>Binary</a:t>
            </a:r>
            <a:r>
              <a:rPr dirty="0" sz="1800" spc="5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search.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035343" y="3086397"/>
            <a:ext cx="5121910" cy="2575560"/>
          </a:xfrm>
          <a:custGeom>
            <a:avLst/>
            <a:gdLst/>
            <a:ahLst/>
            <a:cxnLst/>
            <a:rect l="l" t="t" r="r" b="b"/>
            <a:pathLst>
              <a:path w="5121909" h="2575560">
                <a:moveTo>
                  <a:pt x="0" y="0"/>
                </a:moveTo>
                <a:lnTo>
                  <a:pt x="5121584" y="0"/>
                </a:lnTo>
                <a:lnTo>
                  <a:pt x="5121584" y="2575098"/>
                </a:lnTo>
                <a:lnTo>
                  <a:pt x="0" y="2575098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269243" y="3054622"/>
            <a:ext cx="2998470" cy="133223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25"/>
              </a:spcBef>
            </a:pPr>
            <a:r>
              <a:rPr dirty="0" sz="1500">
                <a:latin typeface="Lucida Console"/>
                <a:cs typeface="Lucida Console"/>
              </a:rPr>
              <a:t>lo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Lucida Sans Unicode"/>
                <a:cs typeface="Lucida Sans Unicode"/>
              </a:rPr>
              <a:t>1</a:t>
            </a:r>
            <a:r>
              <a:rPr dirty="0" sz="1500">
                <a:latin typeface="Symbol"/>
                <a:cs typeface="Symbol"/>
              </a:rPr>
              <a:t></a:t>
            </a:r>
            <a:r>
              <a:rPr dirty="0" sz="1500">
                <a:latin typeface="Times New Roman"/>
                <a:cs typeface="Times New Roman"/>
              </a:rPr>
              <a:t> </a:t>
            </a:r>
            <a:r>
              <a:rPr dirty="0" sz="1500">
                <a:latin typeface="Lucida Console"/>
                <a:cs typeface="Lucida Console"/>
              </a:rPr>
              <a:t>hi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 spc="-50">
                <a:latin typeface="Lucida Sans Unicode"/>
                <a:cs typeface="Lucida Sans Unicode"/>
              </a:rPr>
              <a:t>n</a:t>
            </a:r>
            <a:endParaRPr sz="1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while</a:t>
            </a:r>
            <a:r>
              <a:rPr dirty="0" sz="1500" spc="-10">
                <a:solidFill>
                  <a:srgbClr val="0048AA"/>
                </a:solidFill>
                <a:latin typeface="Lucida Console"/>
                <a:cs typeface="Lucida Console"/>
              </a:rPr>
              <a:t> </a:t>
            </a:r>
            <a:r>
              <a:rPr dirty="0" sz="1500">
                <a:latin typeface="Lucida Console"/>
                <a:cs typeface="Lucida Console"/>
              </a:rPr>
              <a:t>(lo </a:t>
            </a:r>
            <a:r>
              <a:rPr dirty="0" sz="1500" spc="315">
                <a:latin typeface="Microsoft Sans Serif"/>
                <a:cs typeface="Microsoft Sans Serif"/>
              </a:rPr>
              <a:t>≤</a:t>
            </a:r>
            <a:r>
              <a:rPr dirty="0" sz="1500" spc="50">
                <a:latin typeface="Microsoft Sans Serif"/>
                <a:cs typeface="Microsoft Sans Serif"/>
              </a:rPr>
              <a:t>  </a:t>
            </a:r>
            <a:r>
              <a:rPr dirty="0" sz="1500">
                <a:latin typeface="Lucida Console"/>
                <a:cs typeface="Lucida Console"/>
              </a:rPr>
              <a:t>hi)</a:t>
            </a:r>
            <a:r>
              <a:rPr dirty="0" sz="1500" spc="5">
                <a:latin typeface="Lucida Console"/>
                <a:cs typeface="Lucida Console"/>
              </a:rPr>
              <a:t> </a:t>
            </a:r>
            <a:r>
              <a:rPr dirty="0" sz="1500" spc="-5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344170">
              <a:lnSpc>
                <a:spcPct val="100000"/>
              </a:lnSpc>
              <a:spcBef>
                <a:spcPts val="905"/>
              </a:spcBef>
            </a:pPr>
            <a:r>
              <a:rPr dirty="0" sz="1500">
                <a:latin typeface="Lucida Console"/>
                <a:cs typeface="Lucida Console"/>
              </a:rPr>
              <a:t>mid </a:t>
            </a: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Lucida Console"/>
                <a:cs typeface="Lucida Console"/>
              </a:rPr>
              <a:t>(lo + hi) / </a:t>
            </a:r>
            <a:r>
              <a:rPr dirty="0" sz="1500" spc="-50">
                <a:latin typeface="Lucida Console"/>
                <a:cs typeface="Lucida Console"/>
              </a:rPr>
              <a:t>2</a:t>
            </a:r>
            <a:endParaRPr sz="1500">
              <a:latin typeface="Lucida Console"/>
              <a:cs typeface="Lucida Console"/>
            </a:endParaRPr>
          </a:p>
          <a:p>
            <a:pPr marL="344170">
              <a:lnSpc>
                <a:spcPct val="100000"/>
              </a:lnSpc>
              <a:spcBef>
                <a:spcPts val="525"/>
              </a:spcBef>
              <a:tabLst>
                <a:tab pos="1263015" algn="l"/>
              </a:tabLst>
            </a:pPr>
            <a:r>
              <a:rPr dirty="0" sz="1500" spc="-25">
                <a:solidFill>
                  <a:srgbClr val="0048AA"/>
                </a:solidFill>
                <a:latin typeface="Lucida Console"/>
                <a:cs typeface="Lucida Console"/>
              </a:rPr>
              <a:t>if</a:t>
            </a: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	</a:t>
            </a:r>
            <a:r>
              <a:rPr dirty="0" sz="1500">
                <a:latin typeface="Lucida Console"/>
                <a:cs typeface="Lucida Console"/>
              </a:rPr>
              <a:t>(x &lt; A[mid]) </a:t>
            </a:r>
            <a:r>
              <a:rPr dirty="0" sz="1500" spc="-25">
                <a:latin typeface="Lucida Console"/>
                <a:cs typeface="Lucida Console"/>
              </a:rPr>
              <a:t>hi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5369661" y="4056049"/>
            <a:ext cx="1120140" cy="6362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Lucida Console"/>
                <a:cs typeface="Lucida Console"/>
              </a:rPr>
              <a:t>mid - </a:t>
            </a:r>
            <a:r>
              <a:rPr dirty="0" sz="1500" spc="-5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dirty="0" sz="1500">
                <a:latin typeface="Symbol"/>
                <a:cs typeface="Symbol"/>
              </a:rPr>
              <a:t></a:t>
            </a:r>
            <a:r>
              <a:rPr dirty="0" sz="1500" spc="75">
                <a:latin typeface="Times New Roman"/>
                <a:cs typeface="Times New Roman"/>
              </a:rPr>
              <a:t>  </a:t>
            </a:r>
            <a:r>
              <a:rPr dirty="0" sz="1500">
                <a:latin typeface="Lucida Console"/>
                <a:cs typeface="Lucida Console"/>
              </a:rPr>
              <a:t>mid + </a:t>
            </a:r>
            <a:r>
              <a:rPr dirty="0" sz="1500" spc="-5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13734" y="4370783"/>
            <a:ext cx="2654300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9299"/>
              </a:lnSpc>
              <a:spcBef>
                <a:spcPts val="100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else if </a:t>
            </a:r>
            <a:r>
              <a:rPr dirty="0" sz="1500">
                <a:latin typeface="Lucida Console"/>
                <a:cs typeface="Lucida Console"/>
              </a:rPr>
              <a:t>(x &gt; A[mid]) </a:t>
            </a:r>
            <a:r>
              <a:rPr dirty="0" sz="1500" spc="-25">
                <a:latin typeface="Lucida Console"/>
                <a:cs typeface="Lucida Console"/>
              </a:rPr>
              <a:t>lo </a:t>
            </a: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else return </a:t>
            </a:r>
            <a:r>
              <a:rPr dirty="0" sz="1500" spc="-25">
                <a:latin typeface="Lucida Console"/>
                <a:cs typeface="Lucida Console"/>
              </a:rPr>
              <a:t>yes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69243" y="4971640"/>
            <a:ext cx="1046480" cy="5600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dirty="0" sz="1500" spc="-5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dirty="0" sz="1500">
                <a:solidFill>
                  <a:srgbClr val="0048AA"/>
                </a:solidFill>
                <a:latin typeface="Lucida Console"/>
                <a:cs typeface="Lucida Console"/>
              </a:rPr>
              <a:t>return </a:t>
            </a:r>
            <a:r>
              <a:rPr dirty="0" sz="1500" spc="-25">
                <a:latin typeface="Lucida Console"/>
                <a:cs typeface="Lucida Console"/>
              </a:rPr>
              <a:t>no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Wayne</dc:creator>
  <cp:keywords>analysis of algorithms, big-Oh notation</cp:keywords>
  <dc:title>Analysis of Algorithms</dc:title>
  <dcterms:created xsi:type="dcterms:W3CDTF">2025-09-02T03:05:59Z</dcterms:created>
  <dcterms:modified xsi:type="dcterms:W3CDTF">2025-09-02T03:05:59Z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2013-09-08T00:00:00Z</vt:filetime>
  </property>
  <property fmtid="{D5CDD505-2E9C-101B-9397-08002B2CF9AE}" pid="3" name="Creator">
    <vt:lpwstr>Keynote</vt:lpwstr>
  </property>
  <property fmtid="{D5CDD505-2E9C-101B-9397-08002B2CF9AE}" pid="4" name="LastSaved">
    <vt:filetime>2025-09-02T00:00:00Z</vt:filetime>
  </property>
  <property fmtid="{D5CDD505-2E9C-101B-9397-08002B2CF9AE}" pid="5" name="Producer">
    <vt:lpwstr>Mac OS X 10.8.4 Quartz PDFContext</vt:lpwstr>
  </property>
</Properties>
</file>
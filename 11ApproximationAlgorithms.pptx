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19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20" r:id="rId66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B91548-EFF5-5845-BAEE-0E3E5DCD58B4}" v="121" dt="2025-11-28T08:41:02.23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7"/>
    <p:restoredTop sz="96186"/>
  </p:normalViewPr>
  <p:slideViewPr>
    <p:cSldViewPr>
      <p:cViewPr varScale="1">
        <p:scale>
          <a:sx n="84" d="100"/>
          <a:sy n="84" d="100"/>
        </p:scale>
        <p:origin x="128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undo custSel addSld delSld modSld">
      <pc:chgData name="Fan B" userId="db9ed596-3ff8-44ed-9ddf-677f7b64b4c6" providerId="ADAL" clId="{EB6FE681-8D19-5C4E-AAB3-6401E0652CD5}" dt="2025-11-28T08:41:02.232" v="284" actId="403"/>
      <pc:docMkLst>
        <pc:docMk/>
      </pc:docMkLst>
      <pc:sldChg chg="addSp modSp mod">
        <pc:chgData name="Fan B" userId="db9ed596-3ff8-44ed-9ddf-677f7b64b4c6" providerId="ADAL" clId="{EB6FE681-8D19-5C4E-AAB3-6401E0652CD5}" dt="2025-11-26T03:09:54.865" v="7" actId="14100"/>
        <pc:sldMkLst>
          <pc:docMk/>
          <pc:sldMk cId="0" sldId="259"/>
        </pc:sldMkLst>
        <pc:spChg chg="mod">
          <ac:chgData name="Fan B" userId="db9ed596-3ff8-44ed-9ddf-677f7b64b4c6" providerId="ADAL" clId="{EB6FE681-8D19-5C4E-AAB3-6401E0652CD5}" dt="2025-11-26T03:05:22.347" v="6" actId="20577"/>
          <ac:spMkLst>
            <pc:docMk/>
            <pc:sldMk cId="0" sldId="259"/>
            <ac:spMk id="4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6T03:09:54.865" v="7" actId="14100"/>
          <ac:picMkLst>
            <pc:docMk/>
            <pc:sldMk cId="0" sldId="259"/>
            <ac:picMk id="1026" creationId="{AC223B21-819C-2D14-26E3-89C6D0A09B2B}"/>
          </ac:picMkLst>
        </pc:picChg>
      </pc:sldChg>
      <pc:sldChg chg="delSp modSp mod">
        <pc:chgData name="Fan B" userId="db9ed596-3ff8-44ed-9ddf-677f7b64b4c6" providerId="ADAL" clId="{EB6FE681-8D19-5C4E-AAB3-6401E0652CD5}" dt="2025-11-26T03:18:02.678" v="68" actId="207"/>
        <pc:sldMkLst>
          <pc:docMk/>
          <pc:sldMk cId="0" sldId="262"/>
        </pc:sldMkLst>
        <pc:spChg chg="mod">
          <ac:chgData name="Fan B" userId="db9ed596-3ff8-44ed-9ddf-677f7b64b4c6" providerId="ADAL" clId="{EB6FE681-8D19-5C4E-AAB3-6401E0652CD5}" dt="2025-11-26T03:17:56.947" v="67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26T03:18:02.678" v="68" actId="207"/>
          <ac:spMkLst>
            <pc:docMk/>
            <pc:sldMk cId="0" sldId="262"/>
            <ac:spMk id="7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26T03:16:50.921" v="66" actId="14100"/>
          <ac:spMkLst>
            <pc:docMk/>
            <pc:sldMk cId="0" sldId="262"/>
            <ac:spMk id="8" creationId="{00000000-0000-0000-0000-000000000000}"/>
          </ac:spMkLst>
        </pc:spChg>
      </pc:sldChg>
      <pc:sldChg chg="add del">
        <pc:chgData name="Fan B" userId="db9ed596-3ff8-44ed-9ddf-677f7b64b4c6" providerId="ADAL" clId="{EB6FE681-8D19-5C4E-AAB3-6401E0652CD5}" dt="2025-11-26T03:19:54.799" v="70" actId="2696"/>
        <pc:sldMkLst>
          <pc:docMk/>
          <pc:sldMk cId="0" sldId="263"/>
        </pc:sldMkLst>
      </pc:sldChg>
      <pc:sldChg chg="addSp delSp modSp mod">
        <pc:chgData name="Fan B" userId="db9ed596-3ff8-44ed-9ddf-677f7b64b4c6" providerId="ADAL" clId="{EB6FE681-8D19-5C4E-AAB3-6401E0652CD5}" dt="2025-11-26T03:23:07.321" v="77" actId="1076"/>
        <pc:sldMkLst>
          <pc:docMk/>
          <pc:sldMk cId="0" sldId="264"/>
        </pc:sldMkLst>
        <pc:picChg chg="add mod">
          <ac:chgData name="Fan B" userId="db9ed596-3ff8-44ed-9ddf-677f7b64b4c6" providerId="ADAL" clId="{EB6FE681-8D19-5C4E-AAB3-6401E0652CD5}" dt="2025-11-26T03:23:07.321" v="77" actId="1076"/>
          <ac:picMkLst>
            <pc:docMk/>
            <pc:sldMk cId="0" sldId="264"/>
            <ac:picMk id="45" creationId="{558CCE63-ED6E-6512-3D18-C1918BC095B0}"/>
          </ac:picMkLst>
        </pc:picChg>
      </pc:sldChg>
      <pc:sldChg chg="modSp mod">
        <pc:chgData name="Fan B" userId="db9ed596-3ff8-44ed-9ddf-677f7b64b4c6" providerId="ADAL" clId="{EB6FE681-8D19-5C4E-AAB3-6401E0652CD5}" dt="2025-11-27T02:44:21.203" v="79" actId="14100"/>
        <pc:sldMkLst>
          <pc:docMk/>
          <pc:sldMk cId="0" sldId="270"/>
        </pc:sldMkLst>
        <pc:picChg chg="mod">
          <ac:chgData name="Fan B" userId="db9ed596-3ff8-44ed-9ddf-677f7b64b4c6" providerId="ADAL" clId="{EB6FE681-8D19-5C4E-AAB3-6401E0652CD5}" dt="2025-11-27T02:44:21.203" v="79" actId="14100"/>
          <ac:picMkLst>
            <pc:docMk/>
            <pc:sldMk cId="0" sldId="270"/>
            <ac:picMk id="9" creationId="{00000000-0000-0000-0000-000000000000}"/>
          </ac:picMkLst>
        </pc:picChg>
      </pc:sldChg>
      <pc:sldChg chg="addSp modSp mod">
        <pc:chgData name="Fan B" userId="db9ed596-3ff8-44ed-9ddf-677f7b64b4c6" providerId="ADAL" clId="{EB6FE681-8D19-5C4E-AAB3-6401E0652CD5}" dt="2025-11-27T02:52:53.882" v="87" actId="1076"/>
        <pc:sldMkLst>
          <pc:docMk/>
          <pc:sldMk cId="0" sldId="272"/>
        </pc:sldMkLst>
        <pc:spChg chg="mod">
          <ac:chgData name="Fan B" userId="db9ed596-3ff8-44ed-9ddf-677f7b64b4c6" providerId="ADAL" clId="{EB6FE681-8D19-5C4E-AAB3-6401E0652CD5}" dt="2025-11-27T02:52:47.857" v="86" actId="14100"/>
          <ac:spMkLst>
            <pc:docMk/>
            <pc:sldMk cId="0" sldId="272"/>
            <ac:spMk id="4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27T02:45:52.764" v="80" actId="20577"/>
          <ac:spMkLst>
            <pc:docMk/>
            <pc:sldMk cId="0" sldId="272"/>
            <ac:spMk id="32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7T02:52:53.882" v="87" actId="1076"/>
          <ac:picMkLst>
            <pc:docMk/>
            <pc:sldMk cId="0" sldId="272"/>
            <ac:picMk id="1026" creationId="{F6B3B1A0-C189-BD09-6340-8973FF7B732D}"/>
          </ac:picMkLst>
        </pc:picChg>
      </pc:sldChg>
      <pc:sldChg chg="modSp mod">
        <pc:chgData name="Fan B" userId="db9ed596-3ff8-44ed-9ddf-677f7b64b4c6" providerId="ADAL" clId="{EB6FE681-8D19-5C4E-AAB3-6401E0652CD5}" dt="2025-11-27T03:13:33.974" v="88" actId="20577"/>
        <pc:sldMkLst>
          <pc:docMk/>
          <pc:sldMk cId="0" sldId="274"/>
        </pc:sldMkLst>
        <pc:spChg chg="mod">
          <ac:chgData name="Fan B" userId="db9ed596-3ff8-44ed-9ddf-677f7b64b4c6" providerId="ADAL" clId="{EB6FE681-8D19-5C4E-AAB3-6401E0652CD5}" dt="2025-11-27T03:13:33.974" v="88" actId="20577"/>
          <ac:spMkLst>
            <pc:docMk/>
            <pc:sldMk cId="0" sldId="274"/>
            <ac:spMk id="31" creationId="{00000000-0000-0000-0000-000000000000}"/>
          </ac:spMkLst>
        </pc:spChg>
      </pc:sldChg>
      <pc:sldChg chg="modSp mod">
        <pc:chgData name="Fan B" userId="db9ed596-3ff8-44ed-9ddf-677f7b64b4c6" providerId="ADAL" clId="{EB6FE681-8D19-5C4E-AAB3-6401E0652CD5}" dt="2025-11-27T03:26:08.218" v="97" actId="20577"/>
        <pc:sldMkLst>
          <pc:docMk/>
          <pc:sldMk cId="0" sldId="275"/>
        </pc:sldMkLst>
        <pc:spChg chg="mod">
          <ac:chgData name="Fan B" userId="db9ed596-3ff8-44ed-9ddf-677f7b64b4c6" providerId="ADAL" clId="{EB6FE681-8D19-5C4E-AAB3-6401E0652CD5}" dt="2025-11-27T03:26:08.218" v="97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1-27T03:15:39.536" v="89" actId="20577"/>
          <ac:spMkLst>
            <pc:docMk/>
            <pc:sldMk cId="0" sldId="275"/>
            <ac:spMk id="11" creationId="{00000000-0000-0000-0000-000000000000}"/>
          </ac:spMkLst>
        </pc:spChg>
      </pc:sldChg>
      <pc:sldChg chg="addSp modSp mod">
        <pc:chgData name="Fan B" userId="db9ed596-3ff8-44ed-9ddf-677f7b64b4c6" providerId="ADAL" clId="{EB6FE681-8D19-5C4E-AAB3-6401E0652CD5}" dt="2025-11-27T07:14:58.270" v="106" actId="1076"/>
        <pc:sldMkLst>
          <pc:docMk/>
          <pc:sldMk cId="0" sldId="283"/>
        </pc:sldMkLst>
        <pc:spChg chg="mod">
          <ac:chgData name="Fan B" userId="db9ed596-3ff8-44ed-9ddf-677f7b64b4c6" providerId="ADAL" clId="{EB6FE681-8D19-5C4E-AAB3-6401E0652CD5}" dt="2025-11-27T07:14:52.635" v="104" actId="1076"/>
          <ac:spMkLst>
            <pc:docMk/>
            <pc:sldMk cId="0" sldId="283"/>
            <ac:spMk id="8" creationId="{00000000-0000-0000-0000-000000000000}"/>
          </ac:spMkLst>
        </pc:spChg>
        <pc:grpChg chg="mod">
          <ac:chgData name="Fan B" userId="db9ed596-3ff8-44ed-9ddf-677f7b64b4c6" providerId="ADAL" clId="{EB6FE681-8D19-5C4E-AAB3-6401E0652CD5}" dt="2025-11-27T07:14:52.199" v="103" actId="1076"/>
          <ac:grpSpMkLst>
            <pc:docMk/>
            <pc:sldMk cId="0" sldId="283"/>
            <ac:grpSpMk id="5" creationId="{00000000-0000-0000-0000-000000000000}"/>
          </ac:grpSpMkLst>
        </pc:grpChg>
        <pc:picChg chg="add mod">
          <ac:chgData name="Fan B" userId="db9ed596-3ff8-44ed-9ddf-677f7b64b4c6" providerId="ADAL" clId="{EB6FE681-8D19-5C4E-AAB3-6401E0652CD5}" dt="2025-11-27T07:14:58.270" v="106" actId="1076"/>
          <ac:picMkLst>
            <pc:docMk/>
            <pc:sldMk cId="0" sldId="283"/>
            <ac:picMk id="2050" creationId="{7296B1B1-F8E6-FB11-5A19-02903F814961}"/>
          </ac:picMkLst>
        </pc:picChg>
      </pc:sldChg>
      <pc:sldChg chg="modSp">
        <pc:chgData name="Fan B" userId="db9ed596-3ff8-44ed-9ddf-677f7b64b4c6" providerId="ADAL" clId="{EB6FE681-8D19-5C4E-AAB3-6401E0652CD5}" dt="2025-11-28T08:18:16.370" v="107"/>
        <pc:sldMkLst>
          <pc:docMk/>
          <pc:sldMk cId="0" sldId="288"/>
        </pc:sldMkLst>
        <pc:spChg chg="mod">
          <ac:chgData name="Fan B" userId="db9ed596-3ff8-44ed-9ddf-677f7b64b4c6" providerId="ADAL" clId="{EB6FE681-8D19-5C4E-AAB3-6401E0652CD5}" dt="2025-11-28T08:18:16.370" v="107"/>
          <ac:spMkLst>
            <pc:docMk/>
            <pc:sldMk cId="0" sldId="288"/>
            <ac:spMk id="3" creationId="{00000000-0000-0000-0000-000000000000}"/>
          </ac:spMkLst>
        </pc:spChg>
      </pc:sldChg>
      <pc:sldChg chg="addSp delSp modSp mod">
        <pc:chgData name="Fan B" userId="db9ed596-3ff8-44ed-9ddf-677f7b64b4c6" providerId="ADAL" clId="{EB6FE681-8D19-5C4E-AAB3-6401E0652CD5}" dt="2025-11-28T08:28:10.072" v="113" actId="1076"/>
        <pc:sldMkLst>
          <pc:docMk/>
          <pc:sldMk cId="0" sldId="289"/>
        </pc:sldMkLst>
        <pc:spChg chg="del">
          <ac:chgData name="Fan B" userId="db9ed596-3ff8-44ed-9ddf-677f7b64b4c6" providerId="ADAL" clId="{EB6FE681-8D19-5C4E-AAB3-6401E0652CD5}" dt="2025-11-28T08:28:02.370" v="108" actId="478"/>
          <ac:spMkLst>
            <pc:docMk/>
            <pc:sldMk cId="0" sldId="289"/>
            <ac:spMk id="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02.370" v="108" actId="478"/>
          <ac:spMkLst>
            <pc:docMk/>
            <pc:sldMk cId="0" sldId="289"/>
            <ac:spMk id="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02.370" v="108" actId="478"/>
          <ac:spMkLst>
            <pc:docMk/>
            <pc:sldMk cId="0" sldId="289"/>
            <ac:spMk id="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02.370" v="108" actId="478"/>
          <ac:spMkLst>
            <pc:docMk/>
            <pc:sldMk cId="0" sldId="289"/>
            <ac:spMk id="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02.370" v="108" actId="478"/>
          <ac:spMkLst>
            <pc:docMk/>
            <pc:sldMk cId="0" sldId="289"/>
            <ac:spMk id="10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02.370" v="108" actId="478"/>
          <ac:spMkLst>
            <pc:docMk/>
            <pc:sldMk cId="0" sldId="289"/>
            <ac:spMk id="1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02.370" v="108" actId="478"/>
          <ac:spMkLst>
            <pc:docMk/>
            <pc:sldMk cId="0" sldId="289"/>
            <ac:spMk id="12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28:10.072" v="113" actId="1076"/>
          <ac:picMkLst>
            <pc:docMk/>
            <pc:sldMk cId="0" sldId="289"/>
            <ac:picMk id="15" creationId="{7F244AD6-9F66-BCA0-BFEF-DB38E129601E}"/>
          </ac:picMkLst>
        </pc:picChg>
      </pc:sldChg>
      <pc:sldChg chg="addSp delSp modSp mod">
        <pc:chgData name="Fan B" userId="db9ed596-3ff8-44ed-9ddf-677f7b64b4c6" providerId="ADAL" clId="{EB6FE681-8D19-5C4E-AAB3-6401E0652CD5}" dt="2025-11-28T08:29:07.660" v="121" actId="14100"/>
        <pc:sldMkLst>
          <pc:docMk/>
          <pc:sldMk cId="0" sldId="290"/>
        </pc:sldMkLst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4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10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1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15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1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1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8:30.281" v="114" actId="478"/>
          <ac:spMkLst>
            <pc:docMk/>
            <pc:sldMk cId="0" sldId="290"/>
            <ac:spMk id="18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29:07.660" v="121" actId="14100"/>
          <ac:picMkLst>
            <pc:docMk/>
            <pc:sldMk cId="0" sldId="290"/>
            <ac:picMk id="21" creationId="{BA055154-8525-ADDC-7BBE-C153F3BEBC09}"/>
          </ac:picMkLst>
        </pc:picChg>
      </pc:sldChg>
      <pc:sldChg chg="addSp delSp modSp mod">
        <pc:chgData name="Fan B" userId="db9ed596-3ff8-44ed-9ddf-677f7b64b4c6" providerId="ADAL" clId="{EB6FE681-8D19-5C4E-AAB3-6401E0652CD5}" dt="2025-11-28T08:30:05.717" v="128" actId="1076"/>
        <pc:sldMkLst>
          <pc:docMk/>
          <pc:sldMk cId="0" sldId="291"/>
        </pc:sldMkLst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0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3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4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5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29:18.381" v="122" actId="478"/>
          <ac:spMkLst>
            <pc:docMk/>
            <pc:sldMk cId="0" sldId="291"/>
            <ac:spMk id="19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30:05.717" v="128" actId="1076"/>
          <ac:picMkLst>
            <pc:docMk/>
            <pc:sldMk cId="0" sldId="291"/>
            <ac:picMk id="22" creationId="{47FFC495-AF54-E01D-8482-B00D5B5585B3}"/>
          </ac:picMkLst>
        </pc:picChg>
      </pc:sldChg>
      <pc:sldChg chg="addSp delSp modSp mod">
        <pc:chgData name="Fan B" userId="db9ed596-3ff8-44ed-9ddf-677f7b64b4c6" providerId="ADAL" clId="{EB6FE681-8D19-5C4E-AAB3-6401E0652CD5}" dt="2025-11-28T08:30:47.233" v="132" actId="14100"/>
        <pc:sldMkLst>
          <pc:docMk/>
          <pc:sldMk cId="0" sldId="293"/>
        </pc:sldMkLst>
        <pc:spChg chg="del">
          <ac:chgData name="Fan B" userId="db9ed596-3ff8-44ed-9ddf-677f7b64b4c6" providerId="ADAL" clId="{EB6FE681-8D19-5C4E-AAB3-6401E0652CD5}" dt="2025-11-28T08:30:38.905" v="129" actId="478"/>
          <ac:spMkLst>
            <pc:docMk/>
            <pc:sldMk cId="0" sldId="293"/>
            <ac:spMk id="15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0:38.905" v="129" actId="478"/>
          <ac:spMkLst>
            <pc:docMk/>
            <pc:sldMk cId="0" sldId="293"/>
            <ac:spMk id="1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0:38.905" v="129" actId="478"/>
          <ac:spMkLst>
            <pc:docMk/>
            <pc:sldMk cId="0" sldId="293"/>
            <ac:spMk id="1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0:38.905" v="129" actId="478"/>
          <ac:spMkLst>
            <pc:docMk/>
            <pc:sldMk cId="0" sldId="293"/>
            <ac:spMk id="1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0:38.905" v="129" actId="478"/>
          <ac:spMkLst>
            <pc:docMk/>
            <pc:sldMk cId="0" sldId="293"/>
            <ac:spMk id="1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0:38.905" v="129" actId="478"/>
          <ac:spMkLst>
            <pc:docMk/>
            <pc:sldMk cId="0" sldId="293"/>
            <ac:spMk id="20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30:47.233" v="132" actId="14100"/>
          <ac:picMkLst>
            <pc:docMk/>
            <pc:sldMk cId="0" sldId="293"/>
            <ac:picMk id="30" creationId="{27894E11-22A7-FB6C-EA81-EEC6D243EA4D}"/>
          </ac:picMkLst>
        </pc:picChg>
      </pc:sldChg>
      <pc:sldChg chg="addSp delSp modSp mod">
        <pc:chgData name="Fan B" userId="db9ed596-3ff8-44ed-9ddf-677f7b64b4c6" providerId="ADAL" clId="{EB6FE681-8D19-5C4E-AAB3-6401E0652CD5}" dt="2025-11-28T08:34:09.363" v="140" actId="1076"/>
        <pc:sldMkLst>
          <pc:docMk/>
          <pc:sldMk cId="0" sldId="312"/>
        </pc:sldMkLst>
        <pc:spChg chg="del">
          <ac:chgData name="Fan B" userId="db9ed596-3ff8-44ed-9ddf-677f7b64b4c6" providerId="ADAL" clId="{EB6FE681-8D19-5C4E-AAB3-6401E0652CD5}" dt="2025-11-28T08:33:49.509" v="133" actId="478"/>
          <ac:spMkLst>
            <pc:docMk/>
            <pc:sldMk cId="0" sldId="312"/>
            <ac:spMk id="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3:49.509" v="133" actId="478"/>
          <ac:spMkLst>
            <pc:docMk/>
            <pc:sldMk cId="0" sldId="312"/>
            <ac:spMk id="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3:49.509" v="133" actId="478"/>
          <ac:spMkLst>
            <pc:docMk/>
            <pc:sldMk cId="0" sldId="312"/>
            <ac:spMk id="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3:49.509" v="133" actId="478"/>
          <ac:spMkLst>
            <pc:docMk/>
            <pc:sldMk cId="0" sldId="312"/>
            <ac:spMk id="10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3:49.509" v="133" actId="478"/>
          <ac:spMkLst>
            <pc:docMk/>
            <pc:sldMk cId="0" sldId="312"/>
            <ac:spMk id="1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3:49.509" v="133" actId="478"/>
          <ac:spMkLst>
            <pc:docMk/>
            <pc:sldMk cId="0" sldId="312"/>
            <ac:spMk id="1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3:49.509" v="133" actId="478"/>
          <ac:spMkLst>
            <pc:docMk/>
            <pc:sldMk cId="0" sldId="312"/>
            <ac:spMk id="13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34:09.363" v="140" actId="1076"/>
          <ac:picMkLst>
            <pc:docMk/>
            <pc:sldMk cId="0" sldId="312"/>
            <ac:picMk id="16" creationId="{C72464BE-DC62-047A-5684-5C9A5398CA88}"/>
          </ac:picMkLst>
        </pc:picChg>
      </pc:sldChg>
      <pc:sldChg chg="addSp delSp modSp mod">
        <pc:chgData name="Fan B" userId="db9ed596-3ff8-44ed-9ddf-677f7b64b4c6" providerId="ADAL" clId="{EB6FE681-8D19-5C4E-AAB3-6401E0652CD5}" dt="2025-11-28T08:34:47.423" v="146" actId="14100"/>
        <pc:sldMkLst>
          <pc:docMk/>
          <pc:sldMk cId="0" sldId="313"/>
        </pc:sldMkLst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4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10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1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4:26.661" v="141" actId="478"/>
          <ac:spMkLst>
            <pc:docMk/>
            <pc:sldMk cId="0" sldId="313"/>
            <ac:spMk id="12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34:47.423" v="146" actId="14100"/>
          <ac:picMkLst>
            <pc:docMk/>
            <pc:sldMk cId="0" sldId="313"/>
            <ac:picMk id="15" creationId="{68872006-F90E-A121-42D9-79F0DF6B8059}"/>
          </ac:picMkLst>
        </pc:picChg>
      </pc:sldChg>
      <pc:sldChg chg="addSp delSp modSp mod">
        <pc:chgData name="Fan B" userId="db9ed596-3ff8-44ed-9ddf-677f7b64b4c6" providerId="ADAL" clId="{EB6FE681-8D19-5C4E-AAB3-6401E0652CD5}" dt="2025-11-28T08:35:31.190" v="153" actId="14100"/>
        <pc:sldMkLst>
          <pc:docMk/>
          <pc:sldMk cId="0" sldId="316"/>
        </pc:sldMkLst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1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1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1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1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20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2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2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24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25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21.673" v="147" actId="478"/>
          <ac:spMkLst>
            <pc:docMk/>
            <pc:sldMk cId="0" sldId="316"/>
            <ac:spMk id="26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35:31.190" v="153" actId="14100"/>
          <ac:picMkLst>
            <pc:docMk/>
            <pc:sldMk cId="0" sldId="316"/>
            <ac:picMk id="29" creationId="{3DB64DCF-C89D-E030-84B8-9652E73E914C}"/>
          </ac:picMkLst>
        </pc:picChg>
      </pc:sldChg>
      <pc:sldChg chg="addSp delSp modSp mod">
        <pc:chgData name="Fan B" userId="db9ed596-3ff8-44ed-9ddf-677f7b64b4c6" providerId="ADAL" clId="{EB6FE681-8D19-5C4E-AAB3-6401E0652CD5}" dt="2025-11-28T08:35:58.131" v="159" actId="14100"/>
        <pc:sldMkLst>
          <pc:docMk/>
          <pc:sldMk cId="0" sldId="317"/>
        </pc:sldMkLst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4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2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2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3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34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5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63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6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5:50.258" v="154" actId="478"/>
          <ac:spMkLst>
            <pc:docMk/>
            <pc:sldMk cId="0" sldId="317"/>
            <ac:spMk id="71" creationId="{00000000-0000-0000-0000-000000000000}"/>
          </ac:spMkLst>
        </pc:spChg>
        <pc:picChg chg="add mod">
          <ac:chgData name="Fan B" userId="db9ed596-3ff8-44ed-9ddf-677f7b64b4c6" providerId="ADAL" clId="{EB6FE681-8D19-5C4E-AAB3-6401E0652CD5}" dt="2025-11-28T08:35:58.131" v="159" actId="14100"/>
          <ac:picMkLst>
            <pc:docMk/>
            <pc:sldMk cId="0" sldId="317"/>
            <ac:picMk id="77" creationId="{5BD473B0-BC39-A237-CD4D-BEAD33924D2C}"/>
          </ac:picMkLst>
        </pc:picChg>
      </pc:sldChg>
      <pc:sldChg chg="addSp delSp modSp mod">
        <pc:chgData name="Fan B" userId="db9ed596-3ff8-44ed-9ddf-677f7b64b4c6" providerId="ADAL" clId="{EB6FE681-8D19-5C4E-AAB3-6401E0652CD5}" dt="2025-11-28T08:41:02.232" v="284" actId="403"/>
        <pc:sldMkLst>
          <pc:docMk/>
          <pc:sldMk cId="0" sldId="318"/>
        </pc:sldMkLst>
        <pc:spChg chg="mod">
          <ac:chgData name="Fan B" userId="db9ed596-3ff8-44ed-9ddf-677f7b64b4c6" providerId="ADAL" clId="{EB6FE681-8D19-5C4E-AAB3-6401E0652CD5}" dt="2025-11-28T08:36:48.120" v="164" actId="14100"/>
          <ac:spMkLst>
            <pc:docMk/>
            <pc:sldMk cId="0" sldId="318"/>
            <ac:spMk id="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1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2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3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4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5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6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7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8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19" creationId="{00000000-0000-0000-0000-000000000000}"/>
          </ac:spMkLst>
        </pc:spChg>
        <pc:spChg chg="del">
          <ac:chgData name="Fan B" userId="db9ed596-3ff8-44ed-9ddf-677f7b64b4c6" providerId="ADAL" clId="{EB6FE681-8D19-5C4E-AAB3-6401E0652CD5}" dt="2025-11-28T08:36:35.138" v="160" actId="478"/>
          <ac:spMkLst>
            <pc:docMk/>
            <pc:sldMk cId="0" sldId="318"/>
            <ac:spMk id="20" creationId="{00000000-0000-0000-0000-000000000000}"/>
          </ac:spMkLst>
        </pc:spChg>
        <pc:spChg chg="add mod">
          <ac:chgData name="Fan B" userId="db9ed596-3ff8-44ed-9ddf-677f7b64b4c6" providerId="ADAL" clId="{EB6FE681-8D19-5C4E-AAB3-6401E0652CD5}" dt="2025-11-28T08:41:02.232" v="284" actId="403"/>
          <ac:spMkLst>
            <pc:docMk/>
            <pc:sldMk cId="0" sldId="318"/>
            <ac:spMk id="24" creationId="{92BC26F8-91ED-10AE-0B96-E3FAF7AE14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100" y="342900"/>
            <a:ext cx="966851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6600" y="2527300"/>
            <a:ext cx="6470015" cy="383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57100" y="9344253"/>
            <a:ext cx="281940" cy="20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8" cy="812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69900" y="7249159"/>
            <a:ext cx="483044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452755" indent="609600">
              <a:lnSpc>
                <a:spcPct val="131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slides</a:t>
            </a:r>
            <a:r>
              <a:rPr sz="14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4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Kevin</a:t>
            </a:r>
            <a:r>
              <a:rPr sz="1400" b="1" spc="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Wayne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Copyright</a:t>
            </a:r>
            <a:r>
              <a:rPr sz="1400" b="1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©</a:t>
            </a:r>
            <a:r>
              <a:rPr sz="1400" b="1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2005</a:t>
            </a:r>
            <a:r>
              <a:rPr sz="1400" b="1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Pearson-Addison</a:t>
            </a:r>
            <a:r>
              <a:rPr sz="1400" b="1" spc="2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Wesley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100" b="1" spc="80" dirty="0">
                <a:solidFill>
                  <a:srgbClr val="FFFFFF"/>
                </a:solidFill>
                <a:latin typeface="Tahoma"/>
                <a:cs typeface="Tahoma"/>
              </a:rPr>
              <a:t>http://</a:t>
            </a:r>
            <a:r>
              <a:rPr sz="110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105" dirty="0">
                <a:solidFill>
                  <a:srgbClr val="FFFFFF"/>
                </a:solidFill>
                <a:latin typeface="Tahoma"/>
                <a:cs typeface="Tahoma"/>
              </a:rPr>
              <a:t>www.cs.princeton.edu/</a:t>
            </a:r>
            <a:r>
              <a:rPr sz="1100" b="1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85" dirty="0">
                <a:solidFill>
                  <a:srgbClr val="FFFFFF"/>
                </a:solidFill>
                <a:latin typeface="Tahoma"/>
                <a:cs typeface="Tahoma"/>
              </a:rPr>
              <a:t>~wayne/</a:t>
            </a:r>
            <a:r>
              <a:rPr sz="1100" b="1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150" dirty="0">
                <a:solidFill>
                  <a:srgbClr val="FFFFFF"/>
                </a:solidFill>
                <a:latin typeface="Tahoma"/>
                <a:cs typeface="Tahoma"/>
              </a:rPr>
              <a:t>kleinberg-</a:t>
            </a:r>
            <a:r>
              <a:rPr sz="1100" b="1" spc="114" dirty="0">
                <a:solidFill>
                  <a:srgbClr val="FFFFFF"/>
                </a:solidFill>
                <a:latin typeface="Tahoma"/>
                <a:cs typeface="Tahoma"/>
              </a:rPr>
              <a:t>tardos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78456" y="2349501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24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45623" y="9278540"/>
            <a:ext cx="2675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Last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updated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2/26/20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11:14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AM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6712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700" algn="l"/>
                <a:tab pos="4297680" algn="l"/>
              </a:tabLst>
            </a:pPr>
            <a:r>
              <a:rPr sz="3600" b="1" cap="small" spc="-25" dirty="0">
                <a:solidFill>
                  <a:srgbClr val="FFFFFF"/>
                </a:solidFill>
                <a:latin typeface="Tahoma"/>
                <a:cs typeface="Tahoma"/>
              </a:rPr>
              <a:t>11.</a:t>
            </a:r>
            <a:r>
              <a:rPr sz="36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cap="small" spc="-50" dirty="0">
                <a:solidFill>
                  <a:srgbClr val="FFFFFF"/>
                </a:solidFill>
                <a:latin typeface="Tahoma"/>
                <a:cs typeface="Tahoma"/>
              </a:rPr>
              <a:t>Approximation</a:t>
            </a:r>
            <a:r>
              <a:rPr sz="36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cap="small" spc="-204" dirty="0">
                <a:solidFill>
                  <a:srgbClr val="FFFFFF"/>
                </a:solidFill>
                <a:latin typeface="Tahoma"/>
                <a:cs typeface="Tahoma"/>
              </a:rPr>
              <a:t>Algorithms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195" dirty="0">
                <a:solidFill>
                  <a:srgbClr val="FFFFFF"/>
                </a:solidFill>
              </a:rPr>
              <a:t>load</a:t>
            </a:r>
            <a:r>
              <a:rPr sz="3000" spc="-170" dirty="0">
                <a:solidFill>
                  <a:srgbClr val="FFFFFF"/>
                </a:solidFill>
              </a:rPr>
              <a:t> </a:t>
            </a:r>
            <a:r>
              <a:rPr sz="3000" spc="-95" dirty="0">
                <a:solidFill>
                  <a:srgbClr val="FFFFFF"/>
                </a:solidFill>
              </a:rPr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5" dirty="0">
                <a:solidFill>
                  <a:srgbClr val="FFFFFF"/>
                </a:solidFill>
              </a:rPr>
              <a:t>center</a:t>
            </a:r>
            <a:r>
              <a:rPr sz="3000" spc="-175" dirty="0">
                <a:solidFill>
                  <a:srgbClr val="FFFFFF"/>
                </a:solidFill>
              </a:rPr>
              <a:t> </a:t>
            </a:r>
            <a:r>
              <a:rPr sz="3000" spc="-305" dirty="0">
                <a:solidFill>
                  <a:srgbClr val="FFFFFF"/>
                </a:solidFill>
              </a:rPr>
              <a:t>selection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10" dirty="0">
                <a:solidFill>
                  <a:srgbClr val="FFFFFF"/>
                </a:solidFill>
              </a:rPr>
              <a:t>pricing</a:t>
            </a:r>
            <a:r>
              <a:rPr sz="3000" spc="-160" dirty="0">
                <a:solidFill>
                  <a:srgbClr val="FFFFFF"/>
                </a:solidFill>
              </a:rPr>
              <a:t> </a:t>
            </a:r>
            <a:r>
              <a:rPr sz="3000" spc="-390" dirty="0">
                <a:solidFill>
                  <a:srgbClr val="FFFFFF"/>
                </a:solidFill>
              </a:rPr>
              <a:t>method:</a:t>
            </a:r>
            <a:r>
              <a:rPr sz="3000" spc="-155" dirty="0">
                <a:solidFill>
                  <a:srgbClr val="FFFFFF"/>
                </a:solidFill>
              </a:rPr>
              <a:t> </a:t>
            </a:r>
            <a:r>
              <a:rPr sz="3000" spc="-295" dirty="0">
                <a:solidFill>
                  <a:srgbClr val="FFFFFF"/>
                </a:solidFill>
              </a:rPr>
              <a:t>weighted</a:t>
            </a:r>
            <a:r>
              <a:rPr sz="3000" spc="-155" dirty="0">
                <a:solidFill>
                  <a:srgbClr val="FFFFFF"/>
                </a:solidFill>
              </a:rPr>
              <a:t> </a:t>
            </a:r>
            <a:r>
              <a:rPr sz="3000" spc="-355" dirty="0">
                <a:solidFill>
                  <a:srgbClr val="FFFFFF"/>
                </a:solidFill>
              </a:rPr>
              <a:t>vertex</a:t>
            </a:r>
            <a:r>
              <a:rPr sz="3000" spc="-155" dirty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440" dirty="0">
                <a:solidFill>
                  <a:srgbClr val="FFFFFF"/>
                </a:solidFill>
              </a:rPr>
              <a:t>LP</a:t>
            </a:r>
            <a:r>
              <a:rPr sz="3000" spc="-170" dirty="0">
                <a:solidFill>
                  <a:srgbClr val="FFFFFF"/>
                </a:solidFill>
              </a:rPr>
              <a:t> </a:t>
            </a:r>
            <a:r>
              <a:rPr sz="3000" spc="-280" dirty="0">
                <a:solidFill>
                  <a:srgbClr val="FFFFFF"/>
                </a:solidFill>
              </a:rPr>
              <a:t>rounding:</a:t>
            </a:r>
            <a:r>
              <a:rPr sz="3000" spc="-170" dirty="0">
                <a:solidFill>
                  <a:srgbClr val="FFFFFF"/>
                </a:solidFill>
              </a:rPr>
              <a:t> </a:t>
            </a:r>
            <a:r>
              <a:rPr sz="3000" spc="-295" dirty="0">
                <a:solidFill>
                  <a:srgbClr val="FFFFFF"/>
                </a:solidFill>
              </a:rPr>
              <a:t>weighted</a:t>
            </a:r>
            <a:r>
              <a:rPr sz="3000" spc="-170" dirty="0">
                <a:solidFill>
                  <a:srgbClr val="FFFFFF"/>
                </a:solidFill>
              </a:rPr>
              <a:t> </a:t>
            </a:r>
            <a:r>
              <a:rPr sz="3000" spc="-355" dirty="0">
                <a:solidFill>
                  <a:srgbClr val="FFFFFF"/>
                </a:solidFill>
              </a:rPr>
              <a:t>vertex</a:t>
            </a:r>
            <a:r>
              <a:rPr sz="3000" spc="-170" dirty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29" dirty="0">
                <a:solidFill>
                  <a:srgbClr val="FFFFFF"/>
                </a:solidFill>
              </a:rPr>
              <a:t>generalized</a:t>
            </a:r>
            <a:r>
              <a:rPr sz="3000" spc="-130" dirty="0">
                <a:solidFill>
                  <a:srgbClr val="FFFFFF"/>
                </a:solidFill>
              </a:rPr>
              <a:t> </a:t>
            </a:r>
            <a:r>
              <a:rPr sz="3000" spc="-195" dirty="0">
                <a:solidFill>
                  <a:srgbClr val="FFFFFF"/>
                </a:solidFill>
              </a:rPr>
              <a:t>load</a:t>
            </a:r>
            <a:r>
              <a:rPr sz="3000" spc="-125" dirty="0">
                <a:solidFill>
                  <a:srgbClr val="FFFFFF"/>
                </a:solidFill>
              </a:rPr>
              <a:t> </a:t>
            </a:r>
            <a:r>
              <a:rPr sz="3000" spc="-90" dirty="0">
                <a:solidFill>
                  <a:srgbClr val="FFFFFF"/>
                </a:solidFill>
              </a:rPr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>
                <a:solidFill>
                  <a:srgbClr val="FFFFFF"/>
                </a:solidFill>
              </a:rPr>
              <a:t>knapsack</a:t>
            </a:r>
            <a:r>
              <a:rPr sz="3000" spc="-155" dirty="0">
                <a:solidFill>
                  <a:srgbClr val="FFFFFF"/>
                </a:solidFill>
              </a:rPr>
              <a:t> </a:t>
            </a:r>
            <a:r>
              <a:rPr sz="3000" spc="-295" dirty="0">
                <a:solidFill>
                  <a:srgbClr val="FFFFFF"/>
                </a:solidFill>
              </a:rPr>
              <a:t>problem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Coping</a:t>
            </a:r>
            <a:r>
              <a:rPr spc="235" dirty="0"/>
              <a:t> </a:t>
            </a:r>
            <a:r>
              <a:rPr spc="50" dirty="0"/>
              <a:t>with</a:t>
            </a:r>
            <a:r>
              <a:rPr spc="240" dirty="0"/>
              <a:t> </a:t>
            </a:r>
            <a:r>
              <a:rPr spc="-125" dirty="0"/>
              <a:t>NP-</a:t>
            </a:r>
            <a:r>
              <a:rPr spc="-25" dirty="0"/>
              <a:t>completeness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9746615" cy="726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95934">
              <a:lnSpc>
                <a:spcPct val="131900"/>
              </a:lnSpc>
              <a:spcBef>
                <a:spcPts val="100"/>
              </a:spcBef>
              <a:tabLst>
                <a:tab pos="5759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Suppose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b="1" spc="-100" dirty="0">
                <a:latin typeface="Tahoma"/>
                <a:cs typeface="Tahoma"/>
              </a:rPr>
              <a:t>NP</a:t>
            </a:r>
            <a:r>
              <a:rPr sz="2400" spc="-100" dirty="0">
                <a:latin typeface="Lucida Sans Unicode"/>
                <a:cs typeface="Lucida Sans Unicode"/>
              </a:rPr>
              <a:t>-</a:t>
            </a:r>
            <a:r>
              <a:rPr sz="2400" spc="-125" dirty="0">
                <a:latin typeface="Lucida Sans Unicode"/>
                <a:cs typeface="Lucida Sans Unicode"/>
              </a:rPr>
              <a:t>hard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optimization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problem. </a:t>
            </a:r>
            <a:r>
              <a:rPr sz="2400" dirty="0">
                <a:latin typeface="Lucida Sans Unicode"/>
                <a:cs typeface="Lucida Sans Unicode"/>
              </a:rPr>
              <a:t>What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should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do?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5499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Sacrifice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three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desired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features.</a:t>
            </a:r>
            <a:endParaRPr sz="2400">
              <a:latin typeface="Lucida Sans Unicode"/>
              <a:cs typeface="Lucida Sans Unicode"/>
            </a:endParaRPr>
          </a:p>
          <a:p>
            <a:pPr marL="888365" indent="-570865">
              <a:lnSpc>
                <a:spcPct val="100000"/>
              </a:lnSpc>
              <a:spcBef>
                <a:spcPts val="919"/>
              </a:spcBef>
              <a:buAutoNum type="romanLcPeriod"/>
              <a:tabLst>
                <a:tab pos="888365" algn="l"/>
              </a:tabLst>
            </a:pPr>
            <a:r>
              <a:rPr sz="2400" dirty="0">
                <a:latin typeface="Lucida Sans Unicode"/>
                <a:cs typeface="Lucida Sans Unicode"/>
              </a:rPr>
              <a:t>Runs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888365" indent="-570865">
              <a:lnSpc>
                <a:spcPct val="100000"/>
              </a:lnSpc>
              <a:spcBef>
                <a:spcPts val="919"/>
              </a:spcBef>
              <a:buAutoNum type="romanLcPeriod"/>
              <a:tabLst>
                <a:tab pos="888365" algn="l"/>
              </a:tabLst>
            </a:pPr>
            <a:r>
              <a:rPr sz="2400" dirty="0">
                <a:latin typeface="Lucida Sans Unicode"/>
                <a:cs typeface="Lucida Sans Unicode"/>
              </a:rPr>
              <a:t>Solves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arbitrary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instances 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 </a:t>
            </a:r>
            <a:r>
              <a:rPr sz="2400" spc="-10" dirty="0"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  <a:p>
            <a:pPr marL="888365" indent="-570865">
              <a:lnSpc>
                <a:spcPct val="100000"/>
              </a:lnSpc>
              <a:spcBef>
                <a:spcPts val="919"/>
              </a:spcBef>
              <a:buAutoNum type="romanLcPeriod"/>
              <a:tabLst>
                <a:tab pos="888365" algn="l"/>
              </a:tabLst>
            </a:pPr>
            <a:r>
              <a:rPr sz="2400" dirty="0">
                <a:solidFill>
                  <a:srgbClr val="BABABA"/>
                </a:solidFill>
                <a:latin typeface="Lucida Sans Unicode"/>
                <a:cs typeface="Lucida Sans Unicode"/>
              </a:rPr>
              <a:t>Finds</a:t>
            </a:r>
            <a:r>
              <a:rPr sz="2400" spc="-75" dirty="0">
                <a:solidFill>
                  <a:srgbClr val="BABAB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BABABA"/>
                </a:solidFill>
                <a:latin typeface="Lucida Sans Unicode"/>
                <a:cs typeface="Lucida Sans Unicode"/>
              </a:rPr>
              <a:t>optimal</a:t>
            </a:r>
            <a:r>
              <a:rPr sz="2400" spc="-70" dirty="0">
                <a:solidFill>
                  <a:srgbClr val="BABAB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BABABA"/>
                </a:solidFill>
                <a:latin typeface="Lucida Sans Unicode"/>
                <a:cs typeface="Lucida Sans Unicode"/>
              </a:rPr>
              <a:t>solution</a:t>
            </a:r>
            <a:r>
              <a:rPr sz="2400" spc="-75" dirty="0">
                <a:solidFill>
                  <a:srgbClr val="BABAB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BABABA"/>
                </a:solidFill>
                <a:latin typeface="Lucida Sans Unicode"/>
                <a:cs typeface="Lucida Sans Unicode"/>
              </a:rPr>
              <a:t>to</a:t>
            </a:r>
            <a:r>
              <a:rPr sz="2400" spc="-70" dirty="0">
                <a:solidFill>
                  <a:srgbClr val="BABAB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BABABA"/>
                </a:solidFill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35" dirty="0">
                <a:solidFill>
                  <a:srgbClr val="0048AA"/>
                </a:solidFill>
                <a:latin typeface="Symbol"/>
                <a:cs typeface="Symbol"/>
              </a:rPr>
              <a:t></a:t>
            </a:r>
            <a:r>
              <a:rPr sz="2400" spc="-35" dirty="0">
                <a:solidFill>
                  <a:srgbClr val="0048AA"/>
                </a:solidFill>
                <a:latin typeface="Lucida Sans Unicode"/>
                <a:cs typeface="Lucida Sans Unicode"/>
              </a:rPr>
              <a:t>-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approximation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Runs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10" dirty="0">
                <a:latin typeface="Lucida Sans Unicode"/>
                <a:cs typeface="Lucida Sans Unicode"/>
              </a:rPr>
              <a:t> time.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Solves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arbitrary instances 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 </a:t>
            </a:r>
            <a:r>
              <a:rPr sz="2400" spc="-10" dirty="0">
                <a:latin typeface="Lucida Sans Unicode"/>
                <a:cs typeface="Lucida Sans Unicode"/>
              </a:rPr>
              <a:t>problem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127" baseline="-10101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Finds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ratio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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optimum.</a:t>
            </a:r>
            <a:endParaRPr sz="2400">
              <a:latin typeface="Lucida Sans Unicode"/>
              <a:cs typeface="Lucida Sans Unicode"/>
            </a:endParaRPr>
          </a:p>
          <a:p>
            <a:pPr marL="50800" marR="43180">
              <a:lnSpc>
                <a:spcPct val="131900"/>
              </a:lnSpc>
              <a:spcBef>
                <a:spcPts val="3510"/>
              </a:spcBef>
              <a:tabLst>
                <a:tab pos="1802130" algn="l"/>
              </a:tabLst>
            </a:pP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Challenge.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Need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 </a:t>
            </a:r>
            <a:r>
              <a:rPr sz="2400" spc="-25" dirty="0">
                <a:latin typeface="Lucida Sans Unicode"/>
                <a:cs typeface="Lucida Sans Unicode"/>
              </a:rPr>
              <a:t>solution’s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 close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optimum, </a:t>
            </a:r>
            <a:r>
              <a:rPr sz="2400" dirty="0">
                <a:latin typeface="Lucida Sans Unicode"/>
                <a:cs typeface="Lucida Sans Unicode"/>
              </a:rPr>
              <a:t>without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even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knowing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what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optimum</a:t>
            </a:r>
            <a:r>
              <a:rPr sz="2400" spc="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value.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33300" y="9334500"/>
            <a:ext cx="121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6712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700" algn="l"/>
                <a:tab pos="4297680" algn="l"/>
              </a:tabLst>
            </a:pPr>
            <a:r>
              <a:rPr sz="3600" b="1" cap="small" spc="-25" dirty="0">
                <a:latin typeface="Tahoma"/>
                <a:cs typeface="Tahoma"/>
              </a:rPr>
              <a:t>11.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50" dirty="0">
                <a:latin typeface="Tahoma"/>
                <a:cs typeface="Tahoma"/>
              </a:rPr>
              <a:t>Approximation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04" dirty="0">
                <a:latin typeface="Tahoma"/>
                <a:cs typeface="Tahoma"/>
              </a:rPr>
              <a:t>Algorithms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195" dirty="0">
                <a:solidFill>
                  <a:srgbClr val="000000"/>
                </a:solidFill>
              </a:rPr>
              <a:t>load</a:t>
            </a:r>
            <a:r>
              <a:rPr sz="3000" spc="-170" dirty="0">
                <a:solidFill>
                  <a:srgbClr val="000000"/>
                </a:solidFill>
              </a:rPr>
              <a:t> </a:t>
            </a:r>
            <a:r>
              <a:rPr sz="3000" spc="-95" dirty="0">
                <a:solidFill>
                  <a:srgbClr val="000000"/>
                </a:solidFill>
              </a:rPr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5" dirty="0"/>
              <a:t>center</a:t>
            </a:r>
            <a:r>
              <a:rPr sz="3000" spc="-175" dirty="0"/>
              <a:t> </a:t>
            </a:r>
            <a:r>
              <a:rPr sz="3000" spc="-305" dirty="0"/>
              <a:t>selection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10" dirty="0"/>
              <a:t>pricing</a:t>
            </a:r>
            <a:r>
              <a:rPr sz="3000" spc="-160" dirty="0"/>
              <a:t> </a:t>
            </a:r>
            <a:r>
              <a:rPr sz="3000" spc="-390" dirty="0"/>
              <a:t>method:</a:t>
            </a:r>
            <a:r>
              <a:rPr sz="3000" spc="-155" dirty="0"/>
              <a:t> </a:t>
            </a:r>
            <a:r>
              <a:rPr sz="3000" spc="-295" dirty="0"/>
              <a:t>weighted</a:t>
            </a:r>
            <a:r>
              <a:rPr sz="3000" spc="-155" dirty="0"/>
              <a:t> </a:t>
            </a:r>
            <a:r>
              <a:rPr sz="3000" spc="-355" dirty="0"/>
              <a:t>vertex</a:t>
            </a:r>
            <a:r>
              <a:rPr sz="3000" spc="-155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440" dirty="0"/>
              <a:t>LP</a:t>
            </a:r>
            <a:r>
              <a:rPr sz="3000" spc="-170" dirty="0"/>
              <a:t> </a:t>
            </a:r>
            <a:r>
              <a:rPr sz="3000" spc="-280" dirty="0"/>
              <a:t>rounding:</a:t>
            </a:r>
            <a:r>
              <a:rPr sz="3000" spc="-170" dirty="0"/>
              <a:t> </a:t>
            </a:r>
            <a:r>
              <a:rPr sz="3000" spc="-295" dirty="0"/>
              <a:t>weighted</a:t>
            </a:r>
            <a:r>
              <a:rPr sz="3000" spc="-170" dirty="0"/>
              <a:t> </a:t>
            </a:r>
            <a:r>
              <a:rPr sz="3000" spc="-355" dirty="0"/>
              <a:t>vertex</a:t>
            </a:r>
            <a:r>
              <a:rPr sz="3000" spc="-170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29" dirty="0"/>
              <a:t>generalized</a:t>
            </a:r>
            <a:r>
              <a:rPr sz="3000" spc="-130" dirty="0"/>
              <a:t> </a:t>
            </a:r>
            <a:r>
              <a:rPr sz="3000" spc="-195" dirty="0"/>
              <a:t>load</a:t>
            </a:r>
            <a:r>
              <a:rPr sz="3000" spc="-125" dirty="0"/>
              <a:t> </a:t>
            </a:r>
            <a:r>
              <a:rPr sz="3000" spc="-90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/>
              <a:t>knapsack</a:t>
            </a:r>
            <a:r>
              <a:rPr sz="3000" spc="-155" dirty="0"/>
              <a:t> </a:t>
            </a:r>
            <a:r>
              <a:rPr sz="3000" spc="-295" dirty="0"/>
              <a:t>problem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146300" y="6921500"/>
            <a:ext cx="145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70" dirty="0">
                <a:solidFill>
                  <a:srgbClr val="606060"/>
                </a:solidFill>
                <a:latin typeface="Tahoma"/>
                <a:cs typeface="Tahoma"/>
              </a:rPr>
              <a:t>11.1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Load</a:t>
            </a:r>
            <a:r>
              <a:rPr spc="85" dirty="0"/>
              <a:t> </a:t>
            </a:r>
            <a:r>
              <a:rPr spc="-10" dirty="0"/>
              <a:t>balancing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110" y="2048983"/>
            <a:ext cx="11366500" cy="4953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ts val="2615"/>
              </a:lnSpc>
              <a:spcBef>
                <a:spcPts val="100"/>
              </a:spcBef>
              <a:tabLst>
                <a:tab pos="11620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Input.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identical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machines;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endParaRPr lang="en-GB" sz="2400" i="1" spc="120" dirty="0">
              <a:latin typeface="Times New Roman"/>
              <a:cs typeface="Times New Roman"/>
            </a:endParaRPr>
          </a:p>
          <a:p>
            <a:pPr marL="101600">
              <a:lnSpc>
                <a:spcPts val="2615"/>
              </a:lnSpc>
              <a:spcBef>
                <a:spcPts val="100"/>
              </a:spcBef>
              <a:tabLst>
                <a:tab pos="1162050" algn="l"/>
              </a:tabLst>
            </a:pP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775" i="1" spc="-37" baseline="-18018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286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Job</a:t>
            </a:r>
            <a:r>
              <a:rPr sz="2400" spc="-17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contiguously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machine.</a:t>
            </a:r>
            <a:endParaRPr sz="2400">
              <a:latin typeface="Lucida Sans Unicode"/>
              <a:cs typeface="Lucida Sans Unicode"/>
            </a:endParaRPr>
          </a:p>
          <a:p>
            <a:pPr marL="228600">
              <a:lnSpc>
                <a:spcPts val="4210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101600" marR="2023110">
              <a:lnSpc>
                <a:spcPct val="131900"/>
              </a:lnSpc>
              <a:spcBef>
                <a:spcPts val="3510"/>
              </a:spcBef>
              <a:tabLst>
                <a:tab pos="899794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load</a:t>
            </a:r>
            <a:r>
              <a:rPr sz="24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Σ</a:t>
            </a:r>
            <a:r>
              <a:rPr sz="2400" i="1" baseline="-19097" dirty="0">
                <a:latin typeface="Times New Roman"/>
                <a:cs typeface="Times New Roman"/>
              </a:rPr>
              <a:t>j</a:t>
            </a:r>
            <a:r>
              <a:rPr sz="2400" i="1" spc="-7" baseline="-19097" dirty="0">
                <a:latin typeface="Times New Roman"/>
                <a:cs typeface="Times New Roman"/>
              </a:rPr>
              <a:t> </a:t>
            </a:r>
            <a:r>
              <a:rPr sz="2400" baseline="-20833" dirty="0">
                <a:latin typeface="Symbol"/>
                <a:cs typeface="Symbol"/>
              </a:rPr>
              <a:t></a:t>
            </a:r>
            <a:r>
              <a:rPr sz="2400" spc="-7" baseline="-20833" dirty="0">
                <a:latin typeface="Times New Roman"/>
                <a:cs typeface="Times New Roman"/>
              </a:rPr>
              <a:t> </a:t>
            </a:r>
            <a:r>
              <a:rPr sz="2400" i="1" baseline="-19097" dirty="0">
                <a:latin typeface="Times New Roman"/>
                <a:cs typeface="Times New Roman"/>
              </a:rPr>
              <a:t>S</a:t>
            </a:r>
            <a:r>
              <a:rPr sz="2400" baseline="-19097" dirty="0">
                <a:latin typeface="Times New Roman"/>
                <a:cs typeface="Times New Roman"/>
              </a:rPr>
              <a:t>[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baseline="-19097" dirty="0">
                <a:latin typeface="Times New Roman"/>
                <a:cs typeface="Times New Roman"/>
              </a:rPr>
              <a:t>]</a:t>
            </a:r>
            <a:r>
              <a:rPr sz="2400" spc="284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19097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01600" marR="17780">
              <a:lnSpc>
                <a:spcPct val="263900"/>
              </a:lnSpc>
              <a:tabLst>
                <a:tab pos="262699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makespan</a:t>
            </a:r>
            <a:r>
              <a:rPr sz="24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maximum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84" baseline="-19097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Lucida Sans Unicode"/>
                <a:cs typeface="Lucida Sans Unicode"/>
              </a:rPr>
              <a:t>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Load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balancing.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Assign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minimize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makespan.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6600" y="8260181"/>
            <a:ext cx="53975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Mac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9349" y="8260181"/>
            <a:ext cx="67500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dirty="0">
                <a:solidFill>
                  <a:srgbClr val="8D3124"/>
                </a:solidFill>
                <a:latin typeface="Lucida Sans Unicode"/>
                <a:cs typeface="Lucida Sans Unicode"/>
              </a:rPr>
              <a:t>ine</a:t>
            </a:r>
            <a:r>
              <a:rPr sz="2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20179" y="7290964"/>
            <a:ext cx="7032625" cy="470534"/>
            <a:chOff x="1720179" y="7290964"/>
            <a:chExt cx="7032625" cy="470534"/>
          </a:xfrm>
        </p:grpSpPr>
        <p:sp>
          <p:nvSpPr>
            <p:cNvPr id="8" name="object 8"/>
            <p:cNvSpPr/>
            <p:nvPr/>
          </p:nvSpPr>
          <p:spPr>
            <a:xfrm>
              <a:off x="1724941" y="7295725"/>
              <a:ext cx="7023100" cy="461009"/>
            </a:xfrm>
            <a:custGeom>
              <a:avLst/>
              <a:gdLst/>
              <a:ahLst/>
              <a:cxnLst/>
              <a:rect l="l" t="t" r="r" b="b"/>
              <a:pathLst>
                <a:path w="7023100" h="461009">
                  <a:moveTo>
                    <a:pt x="7023100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7023100" y="460586"/>
                  </a:lnTo>
                  <a:lnTo>
                    <a:pt x="70231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24941" y="7295726"/>
              <a:ext cx="7023100" cy="461009"/>
            </a:xfrm>
            <a:custGeom>
              <a:avLst/>
              <a:gdLst/>
              <a:ahLst/>
              <a:cxnLst/>
              <a:rect l="l" t="t" r="r" b="b"/>
              <a:pathLst>
                <a:path w="7023100" h="461009">
                  <a:moveTo>
                    <a:pt x="0" y="0"/>
                  </a:moveTo>
                  <a:lnTo>
                    <a:pt x="7023100" y="0"/>
                  </a:lnTo>
                  <a:lnTo>
                    <a:pt x="7023100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73421" y="7315200"/>
            <a:ext cx="1987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h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6600" y="7345781"/>
            <a:ext cx="53975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Mac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59349" y="7345781"/>
            <a:ext cx="67500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dirty="0">
                <a:solidFill>
                  <a:srgbClr val="8D3124"/>
                </a:solidFill>
                <a:latin typeface="Lucida Sans Unicode"/>
                <a:cs typeface="Lucida Sans Unicode"/>
              </a:rPr>
              <a:t>ine</a:t>
            </a:r>
            <a:r>
              <a:rPr sz="2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24941" y="7295726"/>
            <a:ext cx="1957705" cy="461009"/>
          </a:xfrm>
          <a:prstGeom prst="rect">
            <a:avLst/>
          </a:prstGeom>
          <a:solidFill>
            <a:srgbClr val="CBCBCB"/>
          </a:solidFill>
          <a:ln w="9526">
            <a:solidFill>
              <a:srgbClr val="FFFFFF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350"/>
              </a:spcBef>
            </a:pPr>
            <a:r>
              <a:rPr sz="2000" spc="-50" dirty="0">
                <a:latin typeface="Lucida Sans Unicode"/>
                <a:cs typeface="Lucida Sans Unicode"/>
              </a:rPr>
              <a:t>a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77673" y="7290964"/>
            <a:ext cx="1506855" cy="470534"/>
            <a:chOff x="3677673" y="7290964"/>
            <a:chExt cx="1506855" cy="470534"/>
          </a:xfrm>
        </p:grpSpPr>
        <p:sp>
          <p:nvSpPr>
            <p:cNvPr id="15" name="object 15"/>
            <p:cNvSpPr/>
            <p:nvPr/>
          </p:nvSpPr>
          <p:spPr>
            <a:xfrm>
              <a:off x="3682436" y="7295725"/>
              <a:ext cx="1497330" cy="461009"/>
            </a:xfrm>
            <a:custGeom>
              <a:avLst/>
              <a:gdLst/>
              <a:ahLst/>
              <a:cxnLst/>
              <a:rect l="l" t="t" r="r" b="b"/>
              <a:pathLst>
                <a:path w="1497329" h="461009">
                  <a:moveTo>
                    <a:pt x="1496907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1496907" y="460586"/>
                  </a:lnTo>
                  <a:lnTo>
                    <a:pt x="1496907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82436" y="7295726"/>
              <a:ext cx="1497330" cy="461009"/>
            </a:xfrm>
            <a:custGeom>
              <a:avLst/>
              <a:gdLst/>
              <a:ahLst/>
              <a:cxnLst/>
              <a:rect l="l" t="t" r="r" b="b"/>
              <a:pathLst>
                <a:path w="1497329" h="461009">
                  <a:moveTo>
                    <a:pt x="0" y="0"/>
                  </a:moveTo>
                  <a:lnTo>
                    <a:pt x="1496907" y="0"/>
                  </a:lnTo>
                  <a:lnTo>
                    <a:pt x="1496907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343400" y="7327900"/>
            <a:ext cx="185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Lucida Sans Unicode"/>
                <a:cs typeface="Lucida Sans Unicode"/>
              </a:rPr>
              <a:t>d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74579" y="7290964"/>
            <a:ext cx="3581400" cy="470534"/>
            <a:chOff x="5174579" y="7290964"/>
            <a:chExt cx="3581400" cy="470534"/>
          </a:xfrm>
        </p:grpSpPr>
        <p:sp>
          <p:nvSpPr>
            <p:cNvPr id="19" name="object 19"/>
            <p:cNvSpPr/>
            <p:nvPr/>
          </p:nvSpPr>
          <p:spPr>
            <a:xfrm>
              <a:off x="5179341" y="7295725"/>
              <a:ext cx="3571875" cy="461009"/>
            </a:xfrm>
            <a:custGeom>
              <a:avLst/>
              <a:gdLst/>
              <a:ahLst/>
              <a:cxnLst/>
              <a:rect l="l" t="t" r="r" b="b"/>
              <a:pathLst>
                <a:path w="3571875" h="461009">
                  <a:moveTo>
                    <a:pt x="3571803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3571803" y="460586"/>
                  </a:lnTo>
                  <a:lnTo>
                    <a:pt x="357180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79341" y="7295726"/>
              <a:ext cx="3571875" cy="461009"/>
            </a:xfrm>
            <a:custGeom>
              <a:avLst/>
              <a:gdLst/>
              <a:ahLst/>
              <a:cxnLst/>
              <a:rect l="l" t="t" r="r" b="b"/>
              <a:pathLst>
                <a:path w="3571875" h="461009">
                  <a:moveTo>
                    <a:pt x="0" y="0"/>
                  </a:moveTo>
                  <a:lnTo>
                    <a:pt x="3571803" y="0"/>
                  </a:lnTo>
                  <a:lnTo>
                    <a:pt x="3571803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08800" y="7327900"/>
            <a:ext cx="1187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Lucida Sans Unicode"/>
                <a:cs typeface="Lucida Sans Unicode"/>
              </a:rPr>
              <a:t>f</a:t>
            </a:r>
            <a:endParaRPr sz="2000">
              <a:latin typeface="Lucida Sans Unicode"/>
              <a:cs typeface="Lucida Sans Unicode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720179" y="8211290"/>
          <a:ext cx="8040368" cy="46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7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1863725" algn="l"/>
                        </a:tabLst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r>
                        <a:rPr sz="20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2200" spc="-50" dirty="0">
                          <a:solidFill>
                            <a:srgbClr val="8D3124"/>
                          </a:solidFill>
                          <a:latin typeface="Lucida Sans Unicode"/>
                          <a:cs typeface="Lucida Sans Unicode"/>
                        </a:rPr>
                        <a:t>h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54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e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g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1712241" y="8877294"/>
            <a:ext cx="9935845" cy="243204"/>
            <a:chOff x="1712241" y="8877294"/>
            <a:chExt cx="9935845" cy="243204"/>
          </a:xfrm>
        </p:grpSpPr>
        <p:sp>
          <p:nvSpPr>
            <p:cNvPr id="24" name="object 24"/>
            <p:cNvSpPr/>
            <p:nvPr/>
          </p:nvSpPr>
          <p:spPr>
            <a:xfrm>
              <a:off x="1724941" y="8992447"/>
              <a:ext cx="9844405" cy="2540"/>
            </a:xfrm>
            <a:custGeom>
              <a:avLst/>
              <a:gdLst/>
              <a:ahLst/>
              <a:cxnLst/>
              <a:rect l="l" t="t" r="r" b="b"/>
              <a:pathLst>
                <a:path w="9844405" h="2540">
                  <a:moveTo>
                    <a:pt x="0" y="0"/>
                  </a:moveTo>
                  <a:lnTo>
                    <a:pt x="9831494" y="2236"/>
                  </a:lnTo>
                  <a:lnTo>
                    <a:pt x="9844194" y="2239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5942" y="8933717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27" y="0"/>
                  </a:moveTo>
                  <a:lnTo>
                    <a:pt x="30493" y="60966"/>
                  </a:lnTo>
                  <a:lnTo>
                    <a:pt x="0" y="121919"/>
                  </a:lnTo>
                  <a:lnTo>
                    <a:pt x="121933" y="6098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52563" y="88772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26070" y="88772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38727" y="88899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2900" y="7340600"/>
            <a:ext cx="11029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machine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51000" y="9169704"/>
            <a:ext cx="154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50" dirty="0"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39500" y="9176146"/>
            <a:ext cx="490220" cy="2647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b="1" spc="-20" dirty="0">
                <a:latin typeface="Tahoma"/>
                <a:cs typeface="Tahoma"/>
              </a:rPr>
              <a:t>time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10700" y="9202390"/>
            <a:ext cx="478790" cy="2946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spc="-45" dirty="0">
                <a:latin typeface="Tahoma"/>
                <a:cs typeface="Tahoma"/>
              </a:rPr>
              <a:t>L[2]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09000" y="9215090"/>
            <a:ext cx="478790" cy="2946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spc="-45" dirty="0">
                <a:latin typeface="Tahoma"/>
                <a:cs typeface="Tahoma"/>
              </a:rPr>
              <a:t>L[1]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0" name="object 30"/>
          <p:cNvSpPr txBox="1"/>
          <p:nvPr/>
        </p:nvSpPr>
        <p:spPr>
          <a:xfrm>
            <a:off x="355600" y="8318500"/>
            <a:ext cx="11029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machine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2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1026" name="Picture 2" descr="What is a load balancer? - IONOS">
            <a:extLst>
              <a:ext uri="{FF2B5EF4-FFF2-40B4-BE49-F238E27FC236}">
                <a16:creationId xmlns:a16="http://schemas.microsoft.com/office/drawing/2014/main" id="{AC223B21-819C-2D14-26E3-89C6D0A09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977" y="127127"/>
            <a:ext cx="5301387" cy="2979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Load</a:t>
            </a:r>
            <a:r>
              <a:rPr spc="95" dirty="0"/>
              <a:t> </a:t>
            </a:r>
            <a:r>
              <a:rPr dirty="0"/>
              <a:t>balancing</a:t>
            </a:r>
            <a:r>
              <a:rPr spc="100" dirty="0"/>
              <a:t> </a:t>
            </a:r>
            <a:r>
              <a:rPr dirty="0"/>
              <a:t>on</a:t>
            </a:r>
            <a:r>
              <a:rPr spc="95" dirty="0"/>
              <a:t> </a:t>
            </a:r>
            <a:r>
              <a:rPr spc="155" dirty="0"/>
              <a:t>2</a:t>
            </a:r>
            <a:r>
              <a:rPr spc="100" dirty="0"/>
              <a:t> </a:t>
            </a:r>
            <a:r>
              <a:rPr spc="-10" dirty="0"/>
              <a:t>machines</a:t>
            </a:r>
            <a:r>
              <a:rPr spc="95" dirty="0"/>
              <a:t> </a:t>
            </a:r>
            <a:r>
              <a:rPr dirty="0"/>
              <a:t>is</a:t>
            </a:r>
            <a:r>
              <a:rPr spc="100" dirty="0"/>
              <a:t> </a:t>
            </a:r>
            <a:r>
              <a:rPr spc="-125" dirty="0"/>
              <a:t>NP-</a:t>
            </a:r>
            <a:r>
              <a:rPr spc="45" dirty="0"/>
              <a:t>hard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29800" y="7975600"/>
            <a:ext cx="3778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8D3124"/>
                </a:solidFill>
                <a:latin typeface="Tahoma"/>
                <a:cs typeface="Tahoma"/>
              </a:rPr>
              <a:t>yes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4941" y="3828908"/>
            <a:ext cx="1962150" cy="461009"/>
          </a:xfrm>
          <a:prstGeom prst="rect">
            <a:avLst/>
          </a:prstGeom>
          <a:solidFill>
            <a:srgbClr val="CBCBCB"/>
          </a:solidFill>
          <a:ln w="9525">
            <a:solidFill>
              <a:srgbClr val="FFFFF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1800" spc="-50" dirty="0">
                <a:latin typeface="Lucida Sans Unicode"/>
                <a:cs typeface="Lucida Sans Unicode"/>
              </a:rPr>
              <a:t>a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86703" y="3828908"/>
            <a:ext cx="1498600" cy="461009"/>
          </a:xfrm>
          <a:prstGeom prst="rect">
            <a:avLst/>
          </a:prstGeom>
          <a:solidFill>
            <a:srgbClr val="CBCBCB"/>
          </a:solidFill>
          <a:ln w="9525">
            <a:solidFill>
              <a:srgbClr val="FFFFF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50"/>
              </a:spcBef>
            </a:pPr>
            <a:r>
              <a:rPr sz="1800" spc="-50" dirty="0">
                <a:latin typeface="Lucida Sans Unicode"/>
                <a:cs typeface="Lucida Sans Unicode"/>
              </a:rPr>
              <a:t>d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0100" y="4752340"/>
            <a:ext cx="3581400" cy="461009"/>
          </a:xfrm>
          <a:prstGeom prst="rect">
            <a:avLst/>
          </a:prstGeom>
          <a:solidFill>
            <a:srgbClr val="CBCBCB"/>
          </a:solidFill>
          <a:ln w="9525">
            <a:solidFill>
              <a:srgbClr val="FFFF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480"/>
              </a:spcBef>
            </a:pPr>
            <a:r>
              <a:rPr sz="1800" spc="-50" dirty="0">
                <a:latin typeface="Lucida Sans Unicode"/>
                <a:cs typeface="Lucida Sans Unicode"/>
              </a:rPr>
              <a:t>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2391" y="3828908"/>
            <a:ext cx="1501775" cy="461009"/>
          </a:xfrm>
          <a:prstGeom prst="rect">
            <a:avLst/>
          </a:prstGeom>
          <a:solidFill>
            <a:srgbClr val="CBCBCB"/>
          </a:solidFill>
          <a:ln w="9525">
            <a:solidFill>
              <a:srgbClr val="FFFFF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50"/>
              </a:spcBef>
            </a:pPr>
            <a:r>
              <a:rPr sz="1800" spc="-50" dirty="0">
                <a:latin typeface="Lucida Sans Unicode"/>
                <a:cs typeface="Lucida Sans Unicode"/>
              </a:rPr>
              <a:t>b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9252" y="3828908"/>
            <a:ext cx="1962150" cy="461009"/>
          </a:xfrm>
          <a:prstGeom prst="rect">
            <a:avLst/>
          </a:prstGeom>
          <a:solidFill>
            <a:srgbClr val="CBCBCB"/>
          </a:solidFill>
          <a:ln w="9525">
            <a:solidFill>
              <a:srgbClr val="FFFFF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450"/>
              </a:spcBef>
            </a:pPr>
            <a:r>
              <a:rPr sz="1800" spc="-50" dirty="0">
                <a:latin typeface="Lucida Sans Unicode"/>
                <a:cs typeface="Lucida Sans Unicode"/>
              </a:rPr>
              <a:t>c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3270" y="4752340"/>
            <a:ext cx="2307590" cy="461009"/>
          </a:xfrm>
          <a:prstGeom prst="rect">
            <a:avLst/>
          </a:prstGeom>
          <a:solidFill>
            <a:srgbClr val="CBCBCB"/>
          </a:solidFill>
          <a:ln w="9525">
            <a:solidFill>
              <a:srgbClr val="FFFF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800" spc="-50" dirty="0">
                <a:latin typeface="Lucida Sans Unicode"/>
                <a:cs typeface="Lucida Sans Unicode"/>
              </a:rPr>
              <a:t>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24941" y="4752340"/>
            <a:ext cx="1269365" cy="461009"/>
          </a:xfrm>
          <a:prstGeom prst="rect">
            <a:avLst/>
          </a:prstGeom>
          <a:solidFill>
            <a:srgbClr val="CBCBCB"/>
          </a:solidFill>
          <a:ln w="9525">
            <a:solidFill>
              <a:srgbClr val="FFFFF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480"/>
              </a:spcBef>
            </a:pPr>
            <a:r>
              <a:rPr sz="1800" spc="-50" dirty="0">
                <a:latin typeface="Lucida Sans Unicode"/>
                <a:cs typeface="Lucida Sans Unicode"/>
              </a:rPr>
              <a:t>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800" y="5315374"/>
            <a:ext cx="3502025" cy="401955"/>
          </a:xfrm>
          <a:custGeom>
            <a:avLst/>
            <a:gdLst/>
            <a:ahLst/>
            <a:cxnLst/>
            <a:rect l="l" t="t" r="r" b="b"/>
            <a:pathLst>
              <a:path w="3502025" h="401954">
                <a:moveTo>
                  <a:pt x="0" y="0"/>
                </a:moveTo>
                <a:lnTo>
                  <a:pt x="5928" y="40496"/>
                </a:lnTo>
                <a:lnTo>
                  <a:pt x="22932" y="78215"/>
                </a:lnTo>
                <a:lnTo>
                  <a:pt x="49837" y="112348"/>
                </a:lnTo>
                <a:lnTo>
                  <a:pt x="85471" y="142087"/>
                </a:lnTo>
                <a:lnTo>
                  <a:pt x="128659" y="166624"/>
                </a:lnTo>
                <a:lnTo>
                  <a:pt x="178229" y="185151"/>
                </a:lnTo>
                <a:lnTo>
                  <a:pt x="233006" y="196859"/>
                </a:lnTo>
                <a:lnTo>
                  <a:pt x="291817" y="200942"/>
                </a:lnTo>
                <a:lnTo>
                  <a:pt x="1459089" y="200942"/>
                </a:lnTo>
                <a:lnTo>
                  <a:pt x="1517900" y="205024"/>
                </a:lnTo>
                <a:lnTo>
                  <a:pt x="1572677" y="216733"/>
                </a:lnTo>
                <a:lnTo>
                  <a:pt x="1622247" y="235259"/>
                </a:lnTo>
                <a:lnTo>
                  <a:pt x="1665435" y="259796"/>
                </a:lnTo>
                <a:lnTo>
                  <a:pt x="1701069" y="289535"/>
                </a:lnTo>
                <a:lnTo>
                  <a:pt x="1727974" y="323668"/>
                </a:lnTo>
                <a:lnTo>
                  <a:pt x="1744978" y="361387"/>
                </a:lnTo>
                <a:lnTo>
                  <a:pt x="1750907" y="401884"/>
                </a:lnTo>
                <a:lnTo>
                  <a:pt x="1756835" y="361387"/>
                </a:lnTo>
                <a:lnTo>
                  <a:pt x="1773839" y="323668"/>
                </a:lnTo>
                <a:lnTo>
                  <a:pt x="1800744" y="289535"/>
                </a:lnTo>
                <a:lnTo>
                  <a:pt x="1836378" y="259796"/>
                </a:lnTo>
                <a:lnTo>
                  <a:pt x="1879566" y="235259"/>
                </a:lnTo>
                <a:lnTo>
                  <a:pt x="1929136" y="216733"/>
                </a:lnTo>
                <a:lnTo>
                  <a:pt x="1983913" y="205024"/>
                </a:lnTo>
                <a:lnTo>
                  <a:pt x="2042725" y="200942"/>
                </a:lnTo>
                <a:lnTo>
                  <a:pt x="3209996" y="200942"/>
                </a:lnTo>
                <a:lnTo>
                  <a:pt x="3268807" y="196859"/>
                </a:lnTo>
                <a:lnTo>
                  <a:pt x="3323584" y="185151"/>
                </a:lnTo>
                <a:lnTo>
                  <a:pt x="3373154" y="166624"/>
                </a:lnTo>
                <a:lnTo>
                  <a:pt x="3416342" y="142087"/>
                </a:lnTo>
                <a:lnTo>
                  <a:pt x="3451976" y="112348"/>
                </a:lnTo>
                <a:lnTo>
                  <a:pt x="3478881" y="78215"/>
                </a:lnTo>
                <a:lnTo>
                  <a:pt x="3495885" y="40496"/>
                </a:lnTo>
                <a:lnTo>
                  <a:pt x="3501814" y="0"/>
                </a:lnTo>
              </a:path>
            </a:pathLst>
          </a:custGeom>
          <a:ln w="12699">
            <a:solidFill>
              <a:srgbClr val="8D3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08500" y="5753100"/>
            <a:ext cx="14331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length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job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f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2000" y="1216660"/>
            <a:ext cx="8060690" cy="179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  <a:tabLst>
                <a:tab pos="619760" algn="l"/>
                <a:tab pos="11791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balancing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hard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 </a:t>
            </a:r>
            <a:r>
              <a:rPr sz="2400" dirty="0">
                <a:latin typeface="Times New Roman"/>
                <a:cs typeface="Times New Roman"/>
              </a:rPr>
              <a:t>= 2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machines.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200" dirty="0">
                <a:latin typeface="Lucida Sans Unicode"/>
                <a:cs typeface="Lucida Sans Unicode"/>
              </a:rPr>
              <a:t>P</a:t>
            </a:r>
            <a:r>
              <a:rPr sz="1750" dirty="0">
                <a:latin typeface="Lucida Sans Unicode"/>
                <a:cs typeface="Lucida Sans Unicode"/>
              </a:rPr>
              <a:t>ARTITION</a:t>
            </a:r>
            <a:r>
              <a:rPr sz="1750" spc="2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547" baseline="-19097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Lucida Sans Unicode"/>
                <a:cs typeface="Lucida Sans Unicode"/>
              </a:rPr>
              <a:t>L</a:t>
            </a:r>
            <a:r>
              <a:rPr sz="1750" spc="-65" dirty="0">
                <a:latin typeface="Lucida Sans Unicode"/>
                <a:cs typeface="Lucida Sans Unicode"/>
              </a:rPr>
              <a:t>OAD</a:t>
            </a:r>
            <a:r>
              <a:rPr sz="2200" spc="-65" dirty="0">
                <a:latin typeface="Lucida Sans Unicode"/>
                <a:cs typeface="Lucida Sans Unicode"/>
              </a:rPr>
              <a:t>-</a:t>
            </a:r>
            <a:r>
              <a:rPr sz="2200" spc="-10" dirty="0">
                <a:latin typeface="Lucida Sans Unicode"/>
                <a:cs typeface="Lucida Sans Unicode"/>
              </a:rPr>
              <a:t>B</a:t>
            </a:r>
            <a:r>
              <a:rPr sz="1750" spc="-10" dirty="0">
                <a:latin typeface="Lucida Sans Unicode"/>
                <a:cs typeface="Lucida Sans Unicode"/>
              </a:rPr>
              <a:t>ALANCE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422400">
              <a:lnSpc>
                <a:spcPct val="100000"/>
              </a:lnSpc>
            </a:pP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NP-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complete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by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Exercise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8.26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08328" y="2255375"/>
            <a:ext cx="278130" cy="471170"/>
            <a:chOff x="2008328" y="2255375"/>
            <a:chExt cx="278130" cy="471170"/>
          </a:xfrm>
        </p:grpSpPr>
        <p:sp>
          <p:nvSpPr>
            <p:cNvPr id="16" name="object 16"/>
            <p:cNvSpPr/>
            <p:nvPr/>
          </p:nvSpPr>
          <p:spPr>
            <a:xfrm>
              <a:off x="2047746" y="2323538"/>
              <a:ext cx="226060" cy="390525"/>
            </a:xfrm>
            <a:custGeom>
              <a:avLst/>
              <a:gdLst/>
              <a:ahLst/>
              <a:cxnLst/>
              <a:rect l="l" t="t" r="r" b="b"/>
              <a:pathLst>
                <a:path w="226060" h="390525">
                  <a:moveTo>
                    <a:pt x="0" y="0"/>
                  </a:moveTo>
                  <a:lnTo>
                    <a:pt x="6357" y="10994"/>
                  </a:lnTo>
                  <a:lnTo>
                    <a:pt x="225554" y="390028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08328" y="2255375"/>
              <a:ext cx="114300" cy="136525"/>
            </a:xfrm>
            <a:custGeom>
              <a:avLst/>
              <a:gdLst/>
              <a:ahLst/>
              <a:cxnLst/>
              <a:rect l="l" t="t" r="r" b="b"/>
              <a:pathLst>
                <a:path w="114300" h="136525">
                  <a:moveTo>
                    <a:pt x="0" y="0"/>
                  </a:moveTo>
                  <a:lnTo>
                    <a:pt x="8262" y="136060"/>
                  </a:lnTo>
                  <a:lnTo>
                    <a:pt x="45774" y="79157"/>
                  </a:lnTo>
                  <a:lnTo>
                    <a:pt x="113804" y="750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46600" y="8260181"/>
            <a:ext cx="53975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Mac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9349" y="8260181"/>
            <a:ext cx="67500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dirty="0">
                <a:solidFill>
                  <a:srgbClr val="8D3124"/>
                </a:solidFill>
                <a:latin typeface="Lucida Sans Unicode"/>
                <a:cs typeface="Lucida Sans Unicode"/>
              </a:rPr>
              <a:t>ine</a:t>
            </a:r>
            <a:r>
              <a:rPr sz="2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20179" y="7290964"/>
            <a:ext cx="7032625" cy="470534"/>
            <a:chOff x="1720179" y="7290964"/>
            <a:chExt cx="7032625" cy="470534"/>
          </a:xfrm>
        </p:grpSpPr>
        <p:sp>
          <p:nvSpPr>
            <p:cNvPr id="21" name="object 21"/>
            <p:cNvSpPr/>
            <p:nvPr/>
          </p:nvSpPr>
          <p:spPr>
            <a:xfrm>
              <a:off x="1724941" y="7295725"/>
              <a:ext cx="7023100" cy="461009"/>
            </a:xfrm>
            <a:custGeom>
              <a:avLst/>
              <a:gdLst/>
              <a:ahLst/>
              <a:cxnLst/>
              <a:rect l="l" t="t" r="r" b="b"/>
              <a:pathLst>
                <a:path w="7023100" h="461009">
                  <a:moveTo>
                    <a:pt x="7023100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7023100" y="460586"/>
                  </a:lnTo>
                  <a:lnTo>
                    <a:pt x="70231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24941" y="7295726"/>
              <a:ext cx="7023100" cy="461009"/>
            </a:xfrm>
            <a:custGeom>
              <a:avLst/>
              <a:gdLst/>
              <a:ahLst/>
              <a:cxnLst/>
              <a:rect l="l" t="t" r="r" b="b"/>
              <a:pathLst>
                <a:path w="7023100" h="461009">
                  <a:moveTo>
                    <a:pt x="0" y="0"/>
                  </a:moveTo>
                  <a:lnTo>
                    <a:pt x="7023100" y="0"/>
                  </a:lnTo>
                  <a:lnTo>
                    <a:pt x="7023100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73421" y="7315200"/>
            <a:ext cx="1987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h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6600" y="7345781"/>
            <a:ext cx="53975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Mac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59349" y="7345781"/>
            <a:ext cx="675005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sz="2200" dirty="0">
                <a:solidFill>
                  <a:srgbClr val="8D3124"/>
                </a:solidFill>
                <a:latin typeface="Lucida Sans Unicode"/>
                <a:cs typeface="Lucida Sans Unicode"/>
              </a:rPr>
              <a:t>ine</a:t>
            </a:r>
            <a:r>
              <a:rPr sz="2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24941" y="7295726"/>
            <a:ext cx="1957705" cy="461009"/>
          </a:xfrm>
          <a:prstGeom prst="rect">
            <a:avLst/>
          </a:prstGeom>
          <a:solidFill>
            <a:srgbClr val="CBCBCB"/>
          </a:solidFill>
          <a:ln w="9526">
            <a:solidFill>
              <a:srgbClr val="FFFFFF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350"/>
              </a:spcBef>
            </a:pPr>
            <a:r>
              <a:rPr sz="2000" spc="-50" dirty="0">
                <a:latin typeface="Lucida Sans Unicode"/>
                <a:cs typeface="Lucida Sans Unicode"/>
              </a:rPr>
              <a:t>a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77673" y="7290964"/>
            <a:ext cx="1506855" cy="470534"/>
            <a:chOff x="3677673" y="7290964"/>
            <a:chExt cx="1506855" cy="470534"/>
          </a:xfrm>
        </p:grpSpPr>
        <p:sp>
          <p:nvSpPr>
            <p:cNvPr id="28" name="object 28"/>
            <p:cNvSpPr/>
            <p:nvPr/>
          </p:nvSpPr>
          <p:spPr>
            <a:xfrm>
              <a:off x="3682436" y="7295725"/>
              <a:ext cx="1497330" cy="461009"/>
            </a:xfrm>
            <a:custGeom>
              <a:avLst/>
              <a:gdLst/>
              <a:ahLst/>
              <a:cxnLst/>
              <a:rect l="l" t="t" r="r" b="b"/>
              <a:pathLst>
                <a:path w="1497329" h="461009">
                  <a:moveTo>
                    <a:pt x="1496907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1496907" y="460586"/>
                  </a:lnTo>
                  <a:lnTo>
                    <a:pt x="1496907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82436" y="7295726"/>
              <a:ext cx="1497330" cy="461009"/>
            </a:xfrm>
            <a:custGeom>
              <a:avLst/>
              <a:gdLst/>
              <a:ahLst/>
              <a:cxnLst/>
              <a:rect l="l" t="t" r="r" b="b"/>
              <a:pathLst>
                <a:path w="1497329" h="461009">
                  <a:moveTo>
                    <a:pt x="0" y="0"/>
                  </a:moveTo>
                  <a:lnTo>
                    <a:pt x="1496907" y="0"/>
                  </a:lnTo>
                  <a:lnTo>
                    <a:pt x="1496907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43400" y="7327900"/>
            <a:ext cx="1854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Lucida Sans Unicode"/>
                <a:cs typeface="Lucida Sans Unicode"/>
              </a:rPr>
              <a:t>d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74579" y="7290964"/>
            <a:ext cx="3581400" cy="470534"/>
            <a:chOff x="5174579" y="7290964"/>
            <a:chExt cx="3581400" cy="470534"/>
          </a:xfrm>
        </p:grpSpPr>
        <p:sp>
          <p:nvSpPr>
            <p:cNvPr id="32" name="object 32"/>
            <p:cNvSpPr/>
            <p:nvPr/>
          </p:nvSpPr>
          <p:spPr>
            <a:xfrm>
              <a:off x="5179341" y="7295725"/>
              <a:ext cx="3571875" cy="461009"/>
            </a:xfrm>
            <a:custGeom>
              <a:avLst/>
              <a:gdLst/>
              <a:ahLst/>
              <a:cxnLst/>
              <a:rect l="l" t="t" r="r" b="b"/>
              <a:pathLst>
                <a:path w="3571875" h="461009">
                  <a:moveTo>
                    <a:pt x="3571803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3571803" y="460586"/>
                  </a:lnTo>
                  <a:lnTo>
                    <a:pt x="357180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79341" y="7295726"/>
              <a:ext cx="3571875" cy="461009"/>
            </a:xfrm>
            <a:custGeom>
              <a:avLst/>
              <a:gdLst/>
              <a:ahLst/>
              <a:cxnLst/>
              <a:rect l="l" t="t" r="r" b="b"/>
              <a:pathLst>
                <a:path w="3571875" h="461009">
                  <a:moveTo>
                    <a:pt x="0" y="0"/>
                  </a:moveTo>
                  <a:lnTo>
                    <a:pt x="3571803" y="0"/>
                  </a:lnTo>
                  <a:lnTo>
                    <a:pt x="3571803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908800" y="7327900"/>
            <a:ext cx="1187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Lucida Sans Unicode"/>
                <a:cs typeface="Lucida Sans Unicode"/>
              </a:rPr>
              <a:t>f</a:t>
            </a:r>
            <a:endParaRPr sz="2000">
              <a:latin typeface="Lucida Sans Unicode"/>
              <a:cs typeface="Lucida Sans Unicode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1718486" y="8211290"/>
          <a:ext cx="7102474" cy="46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9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b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1863725" algn="l"/>
                        </a:tabLst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c</a:t>
                      </a:r>
                      <a:r>
                        <a:rPr sz="2000" dirty="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2200" spc="-50" dirty="0">
                          <a:solidFill>
                            <a:srgbClr val="8D3124"/>
                          </a:solidFill>
                          <a:latin typeface="Lucida Sans Unicode"/>
                          <a:cs typeface="Lucida Sans Unicode"/>
                        </a:rPr>
                        <a:t>h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54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e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latin typeface="Lucida Sans Unicode"/>
                          <a:cs typeface="Lucida Sans Unicode"/>
                        </a:rPr>
                        <a:t>g</a:t>
                      </a:r>
                      <a:endParaRPr sz="2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1712241" y="8877294"/>
            <a:ext cx="9935845" cy="243204"/>
            <a:chOff x="1712241" y="8877294"/>
            <a:chExt cx="9935845" cy="243204"/>
          </a:xfrm>
        </p:grpSpPr>
        <p:sp>
          <p:nvSpPr>
            <p:cNvPr id="37" name="object 37"/>
            <p:cNvSpPr/>
            <p:nvPr/>
          </p:nvSpPr>
          <p:spPr>
            <a:xfrm>
              <a:off x="1724941" y="8992447"/>
              <a:ext cx="9844405" cy="2540"/>
            </a:xfrm>
            <a:custGeom>
              <a:avLst/>
              <a:gdLst/>
              <a:ahLst/>
              <a:cxnLst/>
              <a:rect l="l" t="t" r="r" b="b"/>
              <a:pathLst>
                <a:path w="9844405" h="2540">
                  <a:moveTo>
                    <a:pt x="0" y="0"/>
                  </a:moveTo>
                  <a:lnTo>
                    <a:pt x="9831494" y="2236"/>
                  </a:lnTo>
                  <a:lnTo>
                    <a:pt x="9844194" y="2239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525942" y="8933717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27" y="0"/>
                  </a:moveTo>
                  <a:lnTo>
                    <a:pt x="30493" y="60966"/>
                  </a:lnTo>
                  <a:lnTo>
                    <a:pt x="0" y="121919"/>
                  </a:lnTo>
                  <a:lnTo>
                    <a:pt x="121933" y="6098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26071" y="88772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38729" y="88899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42900" y="7340600"/>
            <a:ext cx="11029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machine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51000" y="9169704"/>
            <a:ext cx="154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50" dirty="0"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239500" y="9176146"/>
            <a:ext cx="490220" cy="2647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b="1" spc="-20" dirty="0">
                <a:latin typeface="Tahoma"/>
                <a:cs typeface="Tahoma"/>
              </a:rPr>
              <a:t>time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61400" y="9215090"/>
            <a:ext cx="158750" cy="2946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spc="-50" dirty="0">
                <a:latin typeface="Tahoma"/>
                <a:cs typeface="Tahoma"/>
              </a:rPr>
              <a:t>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42" name="object 42"/>
          <p:cNvSpPr txBox="1"/>
          <p:nvPr/>
        </p:nvSpPr>
        <p:spPr>
          <a:xfrm>
            <a:off x="355600" y="8318500"/>
            <a:ext cx="11029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machine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2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5086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list</a:t>
            </a:r>
            <a:r>
              <a:rPr spc="-65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9055100"/>
            <a:ext cx="2448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Implementation.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5284" y="9055100"/>
            <a:ext cx="683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priority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queue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k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47379" y="1540633"/>
            <a:ext cx="746220" cy="6858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998737" y="2871985"/>
            <a:ext cx="7842250" cy="5853430"/>
          </a:xfrm>
          <a:custGeom>
            <a:avLst/>
            <a:gdLst/>
            <a:ahLst/>
            <a:cxnLst/>
            <a:rect l="l" t="t" r="r" b="b"/>
            <a:pathLst>
              <a:path w="7842250" h="5853430">
                <a:moveTo>
                  <a:pt x="7841788" y="0"/>
                </a:moveTo>
                <a:lnTo>
                  <a:pt x="0" y="0"/>
                </a:lnTo>
                <a:lnTo>
                  <a:pt x="0" y="5852914"/>
                </a:lnTo>
                <a:lnTo>
                  <a:pt x="7841788" y="5852914"/>
                </a:lnTo>
                <a:lnTo>
                  <a:pt x="78417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2000" y="1333500"/>
            <a:ext cx="8851900" cy="219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</a:pPr>
            <a:r>
              <a:rPr sz="2400" spc="-50" dirty="0">
                <a:solidFill>
                  <a:srgbClr val="0048AA"/>
                </a:solidFill>
                <a:latin typeface="Lucida Sans Unicode"/>
                <a:cs typeface="Lucida Sans Unicode"/>
              </a:rPr>
              <a:t>List-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scheduling</a:t>
            </a:r>
            <a:r>
              <a:rPr sz="2400" spc="-8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fixed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order.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Assign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smallest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20" dirty="0">
                <a:latin typeface="Lucida Sans Unicode"/>
                <a:cs typeface="Lucida Sans Unicode"/>
              </a:rPr>
              <a:t> far.</a:t>
            </a:r>
            <a:endParaRPr sz="2400">
              <a:latin typeface="Lucida Sans Unicode"/>
              <a:cs typeface="Lucida Sans Unicode"/>
            </a:endParaRPr>
          </a:p>
          <a:p>
            <a:pPr marL="1524000">
              <a:lnSpc>
                <a:spcPct val="100000"/>
              </a:lnSpc>
              <a:spcBef>
                <a:spcPts val="3429"/>
              </a:spcBef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L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IST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S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CHEDULING</a:t>
            </a:r>
            <a:r>
              <a:rPr sz="1900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86000" y="3696665"/>
            <a:ext cx="7067550" cy="3931920"/>
            <a:chOff x="2286000" y="3696665"/>
            <a:chExt cx="7067550" cy="3931920"/>
          </a:xfrm>
        </p:grpSpPr>
        <p:sp>
          <p:nvSpPr>
            <p:cNvPr id="10" name="object 10"/>
            <p:cNvSpPr/>
            <p:nvPr/>
          </p:nvSpPr>
          <p:spPr>
            <a:xfrm>
              <a:off x="2286000" y="3696976"/>
              <a:ext cx="7067550" cy="0"/>
            </a:xfrm>
            <a:custGeom>
              <a:avLst/>
              <a:gdLst/>
              <a:ahLst/>
              <a:cxnLst/>
              <a:rect l="l" t="t" r="r" b="b"/>
              <a:pathLst>
                <a:path w="7067550">
                  <a:moveTo>
                    <a:pt x="0" y="0"/>
                  </a:moveTo>
                  <a:lnTo>
                    <a:pt x="70675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03109" y="5258495"/>
              <a:ext cx="389890" cy="0"/>
            </a:xfrm>
            <a:custGeom>
              <a:avLst/>
              <a:gdLst/>
              <a:ahLst/>
              <a:cxnLst/>
              <a:rect l="l" t="t" r="r" b="b"/>
              <a:pathLst>
                <a:path w="389889">
                  <a:moveTo>
                    <a:pt x="389579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24368" y="519753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03108" y="4762924"/>
              <a:ext cx="389255" cy="1905"/>
            </a:xfrm>
            <a:custGeom>
              <a:avLst/>
              <a:gdLst/>
              <a:ahLst/>
              <a:cxnLst/>
              <a:rect l="l" t="t" r="r" b="b"/>
              <a:pathLst>
                <a:path w="389254" h="1904">
                  <a:moveTo>
                    <a:pt x="389187" y="0"/>
                  </a:moveTo>
                  <a:lnTo>
                    <a:pt x="12699" y="1815"/>
                  </a:lnTo>
                  <a:lnTo>
                    <a:pt x="0" y="1876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24368" y="4703632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121625" y="0"/>
                  </a:moveTo>
                  <a:lnTo>
                    <a:pt x="0" y="61546"/>
                  </a:lnTo>
                  <a:lnTo>
                    <a:pt x="122213" y="121918"/>
                  </a:lnTo>
                  <a:lnTo>
                    <a:pt x="91438" y="61106"/>
                  </a:lnTo>
                  <a:lnTo>
                    <a:pt x="12162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63791" y="6456260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4">
                  <a:moveTo>
                    <a:pt x="370121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85052" y="639530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19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63791" y="7018163"/>
              <a:ext cx="373380" cy="0"/>
            </a:xfrm>
            <a:custGeom>
              <a:avLst/>
              <a:gdLst/>
              <a:ahLst/>
              <a:cxnLst/>
              <a:rect l="l" t="t" r="r" b="b"/>
              <a:pathLst>
                <a:path w="373379">
                  <a:moveTo>
                    <a:pt x="372880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85052" y="6957203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63791" y="7567367"/>
              <a:ext cx="390525" cy="0"/>
            </a:xfrm>
            <a:custGeom>
              <a:avLst/>
              <a:gdLst/>
              <a:ahLst/>
              <a:cxnLst/>
              <a:rect l="l" t="t" r="r" b="b"/>
              <a:pathLst>
                <a:path w="390525">
                  <a:moveTo>
                    <a:pt x="390419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85052" y="7506407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19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86000" y="3832859"/>
            <a:ext cx="1928495" cy="160020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20"/>
              </a:spcBef>
              <a:tabLst>
                <a:tab pos="660400" algn="l"/>
              </a:tabLst>
            </a:pP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=</a:t>
            </a:r>
            <a:r>
              <a:rPr sz="2400" cap="small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1</a:t>
            </a:r>
            <a:r>
              <a:rPr sz="2400" cap="small" spc="-15" dirty="0">
                <a:latin typeface="Times New Roman"/>
                <a:cs typeface="Times New Roman"/>
              </a:rPr>
              <a:t> 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2400" cap="small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125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  <a:spcBef>
                <a:spcPts val="1220"/>
              </a:spcBef>
            </a:pP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Symbol"/>
                <a:cs typeface="Symbol"/>
              </a:rPr>
              <a:t></a:t>
            </a:r>
            <a:endParaRPr sz="2200">
              <a:latin typeface="Symbol"/>
              <a:cs typeface="Symbol"/>
            </a:endParaRPr>
          </a:p>
          <a:p>
            <a:pPr marL="685800">
              <a:lnSpc>
                <a:spcPct val="100000"/>
              </a:lnSpc>
              <a:spcBef>
                <a:spcPts val="132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Symbol"/>
                <a:cs typeface="Symbol"/>
              </a:rPr>
              <a:t>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2" name="object 22"/>
          <p:cNvSpPr txBox="1"/>
          <p:nvPr/>
        </p:nvSpPr>
        <p:spPr>
          <a:xfrm>
            <a:off x="2260600" y="5585459"/>
            <a:ext cx="3183255" cy="214630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20"/>
              </a:spcBef>
              <a:tabLst>
                <a:tab pos="685800" algn="l"/>
              </a:tabLst>
            </a:pP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=</a:t>
            </a:r>
            <a:r>
              <a:rPr sz="2400" cap="small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1</a:t>
            </a:r>
            <a:r>
              <a:rPr sz="2400" cap="small" spc="-15" dirty="0">
                <a:latin typeface="Times New Roman"/>
                <a:cs typeface="Times New Roman"/>
              </a:rPr>
              <a:t> 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2400" cap="small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711200" marR="43180">
              <a:lnSpc>
                <a:spcPts val="4300"/>
              </a:lnSpc>
              <a:spcBef>
                <a:spcPts val="180"/>
              </a:spcBef>
              <a:tabLst>
                <a:tab pos="2196465" algn="l"/>
                <a:tab pos="2583180" algn="l"/>
              </a:tabLst>
            </a:pP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argmin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baseline="-6944" dirty="0">
                <a:latin typeface="Times New Roman"/>
                <a:cs typeface="Times New Roman"/>
              </a:rPr>
              <a:t>k</a:t>
            </a:r>
            <a:r>
              <a:rPr sz="2400" i="1" spc="270" baseline="-6944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L</a:t>
            </a:r>
            <a:r>
              <a:rPr sz="2400" spc="-20" dirty="0">
                <a:latin typeface="Times New Roman"/>
                <a:cs typeface="Times New Roman"/>
              </a:rPr>
              <a:t>[</a:t>
            </a:r>
            <a:r>
              <a:rPr sz="2400" i="1" spc="-20" dirty="0">
                <a:latin typeface="Times New Roman"/>
                <a:cs typeface="Times New Roman"/>
              </a:rPr>
              <a:t>k</a:t>
            </a:r>
            <a:r>
              <a:rPr sz="2400" spc="-20" dirty="0">
                <a:latin typeface="Times New Roman"/>
                <a:cs typeface="Times New Roman"/>
              </a:rPr>
              <a:t>]</a:t>
            </a:r>
            <a:r>
              <a:rPr sz="2200" spc="-20" dirty="0">
                <a:latin typeface="Symbol"/>
                <a:cs typeface="Symbol"/>
              </a:rPr>
              <a:t>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[</a:t>
            </a:r>
            <a:r>
              <a:rPr sz="2400" i="1" spc="-2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</a:t>
            </a:r>
            <a:r>
              <a:rPr sz="2400" dirty="0">
                <a:latin typeface="Times New Roman"/>
                <a:cs typeface="Times New Roman"/>
              </a:rPr>
              <a:t>	{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}</a:t>
            </a:r>
            <a:r>
              <a:rPr sz="2200" spc="-25" dirty="0">
                <a:latin typeface="Symbol"/>
                <a:cs typeface="Symbol"/>
              </a:rPr>
              <a:t></a:t>
            </a:r>
            <a:endParaRPr sz="2200">
              <a:latin typeface="Symbol"/>
              <a:cs typeface="Symbol"/>
            </a:endParaRPr>
          </a:p>
          <a:p>
            <a:pPr marL="711200">
              <a:lnSpc>
                <a:spcPct val="100000"/>
              </a:lnSpc>
              <a:spcBef>
                <a:spcPts val="940"/>
              </a:spcBef>
            </a:pP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+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6944" dirty="0">
                <a:latin typeface="Times New Roman"/>
                <a:cs typeface="Times New Roman"/>
              </a:rPr>
              <a:t>j</a:t>
            </a:r>
            <a:r>
              <a:rPr sz="2200" spc="-25" dirty="0">
                <a:latin typeface="Symbol"/>
                <a:cs typeface="Symbol"/>
              </a:rPr>
              <a:t>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6000" y="8039100"/>
            <a:ext cx="3610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6776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[1],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[2],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65700" y="4584700"/>
            <a:ext cx="265557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load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on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4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jobs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assigned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2700" y="6286500"/>
            <a:ext cx="274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800" i="1" spc="4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has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smallest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load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62700" y="6858000"/>
            <a:ext cx="2470785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assign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job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r>
              <a:rPr sz="1800" i="1" spc="5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update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load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480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list</a:t>
            </a:r>
            <a:r>
              <a:rPr spc="-20" dirty="0"/>
              <a:t> </a:t>
            </a:r>
            <a:r>
              <a:rPr dirty="0"/>
              <a:t>scheduling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3500"/>
            <a:ext cx="999871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396240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[Graham</a:t>
            </a:r>
            <a:r>
              <a:rPr sz="2400" spc="-6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1966]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Greedy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10" dirty="0">
                <a:latin typeface="Lucida Sans Unicode"/>
                <a:cs typeface="Lucida Sans Unicode"/>
              </a:rPr>
              <a:t>approximation.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First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worst-</a:t>
            </a:r>
            <a:r>
              <a:rPr sz="2400" spc="-10" dirty="0">
                <a:latin typeface="Lucida Sans Unicode"/>
                <a:cs typeface="Lucida Sans Unicode"/>
              </a:rPr>
              <a:t>case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approximation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Need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compare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resulting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makespan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3629659"/>
            <a:ext cx="9772650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20"/>
              </a:spcBef>
              <a:tabLst>
                <a:tab pos="1685925" algn="l"/>
                <a:tab pos="3198495" algn="l"/>
                <a:tab pos="7011670" algn="l"/>
                <a:tab pos="733107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:</a:t>
            </a:r>
            <a:r>
              <a:rPr sz="2400" dirty="0">
                <a:latin typeface="Lucida Sans Unicode"/>
                <a:cs typeface="Lucida Sans Unicode"/>
              </a:rPr>
              <a:t>	the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makespan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37" baseline="26041" dirty="0">
                <a:latin typeface="Times New Roman"/>
                <a:cs typeface="Times New Roman"/>
              </a:rPr>
              <a:t>*</a:t>
            </a:r>
            <a:r>
              <a:rPr sz="2400" baseline="2604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baseline="-19097" dirty="0">
                <a:latin typeface="Times New Roman"/>
                <a:cs typeface="Times New Roman"/>
              </a:rPr>
              <a:t>k</a:t>
            </a:r>
            <a:r>
              <a:rPr sz="2400" i="1" spc="-15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920"/>
              </a:spcBef>
              <a:tabLst>
                <a:tab pos="607060" algn="l"/>
                <a:tab pos="95796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Some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machine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must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process</a:t>
            </a:r>
            <a:r>
              <a:rPr sz="24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most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spc="-60" dirty="0">
                <a:solidFill>
                  <a:srgbClr val="FF0000"/>
                </a:solidFill>
                <a:latin typeface="Lucida Sans Unicode"/>
                <a:cs typeface="Lucida Sans Unicode"/>
              </a:rPr>
              <a:t>time-</a:t>
            </a:r>
            <a:r>
              <a:rPr sz="2400" spc="-45" dirty="0">
                <a:solidFill>
                  <a:srgbClr val="FF0000"/>
                </a:solidFill>
                <a:latin typeface="Lucida Sans Unicode"/>
                <a:cs typeface="Lucida Sans Unicode"/>
              </a:rPr>
              <a:t>consuming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Lucida Sans Unicode"/>
                <a:cs typeface="Lucida Sans Unicode"/>
              </a:rPr>
              <a:t>job.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9000" y="5976620"/>
            <a:ext cx="10519410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4210"/>
              </a:lnSpc>
              <a:spcBef>
                <a:spcPts val="90"/>
              </a:spcBef>
              <a:tabLst>
                <a:tab pos="482346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total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is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Σ</a:t>
            </a:r>
            <a:r>
              <a:rPr sz="2775" i="1" baseline="-18018" dirty="0">
                <a:latin typeface="Times New Roman"/>
                <a:cs typeface="Times New Roman"/>
              </a:rPr>
              <a:t>k</a:t>
            </a:r>
            <a:r>
              <a:rPr sz="2775" i="1" spc="742" baseline="-18018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775" i="1" baseline="-18018" dirty="0">
                <a:latin typeface="Times New Roman"/>
                <a:cs typeface="Times New Roman"/>
              </a:rPr>
              <a:t>k</a:t>
            </a:r>
            <a:r>
              <a:rPr sz="2775" i="1" spc="225" baseline="-18018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4210"/>
              </a:lnSpc>
              <a:tabLst>
                <a:tab pos="1032637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One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of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40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machines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must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do</a:t>
            </a:r>
            <a:r>
              <a:rPr sz="24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at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least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a</a:t>
            </a:r>
            <a:r>
              <a:rPr sz="24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/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400" i="1" spc="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fraction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of</a:t>
            </a:r>
            <a:r>
              <a:rPr sz="2400" spc="-3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FF0000"/>
                </a:solidFill>
                <a:latin typeface="Lucida Sans Unicode"/>
                <a:cs typeface="Lucida Sans Unicode"/>
              </a:rPr>
              <a:t>total</a:t>
            </a:r>
            <a:r>
              <a:rPr sz="24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work.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762000" y="5088074"/>
                <a:ext cx="8102600" cy="1323439"/>
              </a:xfrm>
              <a:prstGeom prst="rect">
                <a:avLst/>
              </a:prstGeom>
            </p:spPr>
            <p:txBody>
              <a:bodyPr vert="horz" wrap="square" lIns="0" tIns="12382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75"/>
                  </a:spcBef>
                  <a:tabLst>
                    <a:tab pos="1698625" algn="l"/>
                    <a:tab pos="5225415" algn="l"/>
                    <a:tab pos="5740400" algn="l"/>
                  </a:tabLst>
                </a:pPr>
                <a:r>
                  <a:rPr sz="3600" baseline="1157" dirty="0">
                    <a:solidFill>
                      <a:srgbClr val="0048AA"/>
                    </a:solidFill>
                    <a:latin typeface="Lucida Sans Unicode"/>
                    <a:cs typeface="Lucida Sans Unicode"/>
                  </a:rPr>
                  <a:t>Lemma</a:t>
                </a:r>
                <a:r>
                  <a:rPr sz="3600" spc="-7" baseline="1157" dirty="0">
                    <a:solidFill>
                      <a:srgbClr val="0048AA"/>
                    </a:solidFill>
                    <a:latin typeface="Lucida Sans Unicode"/>
                    <a:cs typeface="Lucida Sans Unicode"/>
                  </a:rPr>
                  <a:t> </a:t>
                </a:r>
                <a:r>
                  <a:rPr sz="3600" spc="-37" baseline="1157" dirty="0">
                    <a:solidFill>
                      <a:srgbClr val="0048AA"/>
                    </a:solidFill>
                    <a:latin typeface="Lucida Sans Unicode"/>
                    <a:cs typeface="Lucida Sans Unicode"/>
                  </a:rPr>
                  <a:t>2.</a:t>
                </a:r>
                <a:r>
                  <a:rPr sz="3600" baseline="1157" dirty="0">
                    <a:solidFill>
                      <a:srgbClr val="0048AA"/>
                    </a:solidFill>
                    <a:latin typeface="Lucida Sans Unicode"/>
                    <a:cs typeface="Lucida Sans Unicode"/>
                  </a:rPr>
                  <a:t>	</a:t>
                </a:r>
                <a:r>
                  <a:rPr sz="3600" baseline="1157" dirty="0">
                    <a:latin typeface="Lucida Sans Unicode"/>
                    <a:cs typeface="Lucida Sans Unicode"/>
                  </a:rPr>
                  <a:t>The</a:t>
                </a:r>
                <a:r>
                  <a:rPr sz="3600" spc="-75" baseline="1157" dirty="0">
                    <a:latin typeface="Lucida Sans Unicode"/>
                    <a:cs typeface="Lucida Sans Unicode"/>
                  </a:rPr>
                  <a:t> </a:t>
                </a:r>
                <a:r>
                  <a:rPr sz="3600" baseline="1157" dirty="0">
                    <a:latin typeface="Lucida Sans Unicode"/>
                    <a:cs typeface="Lucida Sans Unicode"/>
                  </a:rPr>
                  <a:t>optimal</a:t>
                </a:r>
                <a:r>
                  <a:rPr sz="3600" spc="-75" baseline="1157" dirty="0">
                    <a:latin typeface="Lucida Sans Unicode"/>
                    <a:cs typeface="Lucida Sans Unicode"/>
                  </a:rPr>
                  <a:t> </a:t>
                </a:r>
                <a:r>
                  <a:rPr sz="3600" spc="-15" baseline="1157" dirty="0">
                    <a:latin typeface="Lucida Sans Unicode"/>
                    <a:cs typeface="Lucida Sans Unicode"/>
                  </a:rPr>
                  <a:t>makespan</a:t>
                </a:r>
                <a:r>
                  <a:rPr sz="3600" baseline="1157" dirty="0">
                    <a:latin typeface="Lucida Sans Unicode"/>
                    <a:cs typeface="Lucida Sans Unicode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sSupPr>
                      <m:e>
                        <m: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  <m:t>𝐿</m:t>
                        </m:r>
                      </m:e>
                      <m:sup>
                        <m: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  <m:t>∗</m:t>
                        </m:r>
                      </m:sup>
                    </m:sSup>
                    <m:r>
                      <a:rPr lang="en-GB" altLang="zh-CN" sz="3600" b="0" i="1" baseline="1157" dirty="0">
                        <a:latin typeface="Cambria Math" panose="02040503050406030204" pitchFamily="18" charset="0"/>
                        <a:cs typeface="Lucida Sans Unicode"/>
                      </a:rPr>
                      <m:t>≥</m:t>
                    </m:r>
                    <m:f>
                      <m:fPr>
                        <m:ctrlP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fPr>
                      <m:num>
                        <m: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  <m:t>1</m:t>
                        </m:r>
                      </m:num>
                      <m:den>
                        <m: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naryPr>
                      <m:sub>
                        <m:r>
                          <a:rPr lang="en-GB" altLang="zh-CN" sz="3600" b="0" i="1" baseline="1157" dirty="0">
                            <a:latin typeface="Cambria Math" panose="02040503050406030204" pitchFamily="18" charset="0"/>
                            <a:cs typeface="Lucida Sans Unicode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altLang="zh-CN" sz="3600" b="0" i="1" baseline="1157" dirty="0">
                                <a:latin typeface="Cambria Math" panose="02040503050406030204" pitchFamily="18" charset="0"/>
                                <a:cs typeface="Lucida Sans Unicode"/>
                              </a:rPr>
                            </m:ctrlPr>
                          </m:sSubPr>
                          <m:e>
                            <m:r>
                              <a:rPr lang="en-GB" altLang="zh-CN" sz="3600" b="0" i="1" baseline="1157" dirty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𝑡</m:t>
                            </m:r>
                          </m:e>
                          <m:sub>
                            <m:r>
                              <a:rPr lang="en-GB" altLang="zh-CN" sz="3600" b="0" i="1" baseline="1157" dirty="0">
                                <a:latin typeface="Cambria Math" panose="02040503050406030204" pitchFamily="18" charset="0"/>
                                <a:cs typeface="Lucida Sans Unicode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sz="2400">
                  <a:latin typeface="Times New Roman"/>
                  <a:cs typeface="Times New Roman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880"/>
                  </a:spcBef>
                </a:pPr>
                <a:r>
                  <a:rPr sz="2400" spc="-25" dirty="0">
                    <a:solidFill>
                      <a:srgbClr val="0048AA"/>
                    </a:solidFill>
                    <a:latin typeface="Lucida Sans Unicode"/>
                    <a:cs typeface="Lucida Sans Unicode"/>
                  </a:rPr>
                  <a:t>Pf.</a:t>
                </a:r>
                <a:endParaRPr sz="2400">
                  <a:latin typeface="Lucida Sans Unicode"/>
                  <a:cs typeface="Lucida Sans Unicode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88074"/>
                <a:ext cx="8102600" cy="1323439"/>
              </a:xfrm>
              <a:prstGeom prst="rect">
                <a:avLst/>
              </a:prstGeom>
              <a:blipFill>
                <a:blip r:embed="rId2"/>
                <a:stretch>
                  <a:fillRect l="-1724" t="-2857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480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list</a:t>
            </a:r>
            <a:r>
              <a:rPr spc="-20" dirty="0"/>
              <a:t> </a:t>
            </a:r>
            <a:r>
              <a:rPr dirty="0"/>
              <a:t>scheduling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3500"/>
            <a:ext cx="74714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92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Greedy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30" dirty="0">
                <a:latin typeface="Lucida Sans Unicode"/>
                <a:cs typeface="Lucida Sans Unicode"/>
              </a:rPr>
              <a:t>approximation.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1816100"/>
            <a:ext cx="6869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16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bottleneck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2115820"/>
            <a:ext cx="652653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scheduled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i</a:t>
            </a:r>
            <a:r>
              <a:rPr sz="2400" spc="-3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9000" y="2469997"/>
            <a:ext cx="11543665" cy="118554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When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Lucida Sans Unicode"/>
                <a:cs typeface="Lucida Sans Unicode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smallest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load.</a:t>
            </a:r>
            <a:endParaRPr sz="2400">
              <a:latin typeface="Lucida Sans Unicode"/>
              <a:cs typeface="Lucida Sans Unicode"/>
            </a:endParaRPr>
          </a:p>
          <a:p>
            <a:pPr marL="508000">
              <a:lnSpc>
                <a:spcPct val="100000"/>
              </a:lnSpc>
              <a:spcBef>
                <a:spcPts val="630"/>
              </a:spcBef>
              <a:tabLst>
                <a:tab pos="5764530" algn="l"/>
                <a:tab pos="7999095" algn="l"/>
                <a:tab pos="8327390" algn="l"/>
                <a:tab pos="8630285" algn="l"/>
                <a:tab pos="9288145" algn="l"/>
              </a:tabLst>
            </a:pP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before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assignment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775" i="1" baseline="-18018" dirty="0">
                <a:latin typeface="Times New Roman"/>
                <a:cs typeface="Times New Roman"/>
              </a:rPr>
              <a:t>j</a:t>
            </a:r>
            <a:r>
              <a:rPr sz="2775" i="1" spc="-15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;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hence</a:t>
            </a:r>
            <a:r>
              <a:rPr sz="2400" spc="-17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775" i="1" spc="-37" baseline="-18018" dirty="0">
                <a:latin typeface="Times New Roman"/>
                <a:cs typeface="Times New Roman"/>
              </a:rPr>
              <a:t>j</a:t>
            </a:r>
            <a:r>
              <a:rPr sz="2775" i="1" baseline="-18018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L</a:t>
            </a:r>
            <a:r>
              <a:rPr sz="2400" spc="-20" dirty="0">
                <a:latin typeface="Times New Roman"/>
                <a:cs typeface="Times New Roman"/>
              </a:rPr>
              <a:t>[</a:t>
            </a:r>
            <a:r>
              <a:rPr sz="2400" i="1" spc="-20" dirty="0">
                <a:latin typeface="Times New Roman"/>
                <a:cs typeface="Times New Roman"/>
              </a:rPr>
              <a:t>k</a:t>
            </a:r>
            <a:r>
              <a:rPr sz="2400" spc="-2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33300" y="9334500"/>
            <a:ext cx="121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8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97037" y="6285124"/>
            <a:ext cx="8747125" cy="1956435"/>
            <a:chOff x="1697037" y="6285124"/>
            <a:chExt cx="8747125" cy="1956435"/>
          </a:xfrm>
        </p:grpSpPr>
        <p:sp>
          <p:nvSpPr>
            <p:cNvPr id="10" name="object 10"/>
            <p:cNvSpPr/>
            <p:nvPr/>
          </p:nvSpPr>
          <p:spPr>
            <a:xfrm>
              <a:off x="1704903" y="6289887"/>
              <a:ext cx="1955800" cy="457200"/>
            </a:xfrm>
            <a:custGeom>
              <a:avLst/>
              <a:gdLst/>
              <a:ahLst/>
              <a:cxnLst/>
              <a:rect l="l" t="t" r="r" b="b"/>
              <a:pathLst>
                <a:path w="1955800" h="457200">
                  <a:moveTo>
                    <a:pt x="19558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955800" y="457199"/>
                  </a:lnTo>
                  <a:lnTo>
                    <a:pt x="1955800" y="0"/>
                  </a:lnTo>
                  <a:close/>
                </a:path>
              </a:pathLst>
            </a:custGeom>
            <a:solidFill>
              <a:srgbClr val="003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04903" y="6289887"/>
              <a:ext cx="1955800" cy="457200"/>
            </a:xfrm>
            <a:custGeom>
              <a:avLst/>
              <a:gdLst/>
              <a:ahLst/>
              <a:cxnLst/>
              <a:rect l="l" t="t" r="r" b="b"/>
              <a:pathLst>
                <a:path w="1955800" h="457200">
                  <a:moveTo>
                    <a:pt x="0" y="0"/>
                  </a:moveTo>
                  <a:lnTo>
                    <a:pt x="1955800" y="0"/>
                  </a:lnTo>
                  <a:lnTo>
                    <a:pt x="19558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38500" y="7048500"/>
              <a:ext cx="1498600" cy="461009"/>
            </a:xfrm>
            <a:custGeom>
              <a:avLst/>
              <a:gdLst/>
              <a:ahLst/>
              <a:cxnLst/>
              <a:rect l="l" t="t" r="r" b="b"/>
              <a:pathLst>
                <a:path w="1498600" h="461009">
                  <a:moveTo>
                    <a:pt x="1498600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1498600" y="460586"/>
                  </a:lnTo>
                  <a:lnTo>
                    <a:pt x="1498600" y="0"/>
                  </a:lnTo>
                  <a:close/>
                </a:path>
              </a:pathLst>
            </a:custGeom>
            <a:solidFill>
              <a:srgbClr val="003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38500" y="7048499"/>
              <a:ext cx="1498600" cy="461009"/>
            </a:xfrm>
            <a:custGeom>
              <a:avLst/>
              <a:gdLst/>
              <a:ahLst/>
              <a:cxnLst/>
              <a:rect l="l" t="t" r="r" b="b"/>
              <a:pathLst>
                <a:path w="1498600" h="461009">
                  <a:moveTo>
                    <a:pt x="0" y="0"/>
                  </a:moveTo>
                  <a:lnTo>
                    <a:pt x="1498600" y="0"/>
                  </a:lnTo>
                  <a:lnTo>
                    <a:pt x="1498600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44900" y="7775786"/>
              <a:ext cx="3581400" cy="461009"/>
            </a:xfrm>
            <a:custGeom>
              <a:avLst/>
              <a:gdLst/>
              <a:ahLst/>
              <a:cxnLst/>
              <a:rect l="l" t="t" r="r" b="b"/>
              <a:pathLst>
                <a:path w="3581400" h="461009">
                  <a:moveTo>
                    <a:pt x="3581400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3581400" y="460586"/>
                  </a:lnTo>
                  <a:lnTo>
                    <a:pt x="3581400" y="0"/>
                  </a:lnTo>
                  <a:close/>
                </a:path>
              </a:pathLst>
            </a:custGeom>
            <a:solidFill>
              <a:srgbClr val="003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44900" y="7775787"/>
              <a:ext cx="3581400" cy="461009"/>
            </a:xfrm>
            <a:custGeom>
              <a:avLst/>
              <a:gdLst/>
              <a:ahLst/>
              <a:cxnLst/>
              <a:rect l="l" t="t" r="r" b="b"/>
              <a:pathLst>
                <a:path w="3581400" h="461009">
                  <a:moveTo>
                    <a:pt x="0" y="0"/>
                  </a:moveTo>
                  <a:lnTo>
                    <a:pt x="3581400" y="0"/>
                  </a:lnTo>
                  <a:lnTo>
                    <a:pt x="3581400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01800" y="7048500"/>
              <a:ext cx="1555750" cy="461009"/>
            </a:xfrm>
            <a:custGeom>
              <a:avLst/>
              <a:gdLst/>
              <a:ahLst/>
              <a:cxnLst/>
              <a:rect l="l" t="t" r="r" b="b"/>
              <a:pathLst>
                <a:path w="1555750" h="461009">
                  <a:moveTo>
                    <a:pt x="1555609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1555609" y="460586"/>
                  </a:lnTo>
                  <a:lnTo>
                    <a:pt x="1555609" y="0"/>
                  </a:lnTo>
                  <a:close/>
                </a:path>
              </a:pathLst>
            </a:custGeom>
            <a:solidFill>
              <a:srgbClr val="003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01800" y="7048499"/>
              <a:ext cx="1555750" cy="461009"/>
            </a:xfrm>
            <a:custGeom>
              <a:avLst/>
              <a:gdLst/>
              <a:ahLst/>
              <a:cxnLst/>
              <a:rect l="l" t="t" r="r" b="b"/>
              <a:pathLst>
                <a:path w="1555750" h="461009">
                  <a:moveTo>
                    <a:pt x="0" y="0"/>
                  </a:moveTo>
                  <a:lnTo>
                    <a:pt x="1555609" y="0"/>
                  </a:lnTo>
                  <a:lnTo>
                    <a:pt x="1555609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01800" y="7775786"/>
              <a:ext cx="1962150" cy="461009"/>
            </a:xfrm>
            <a:custGeom>
              <a:avLst/>
              <a:gdLst/>
              <a:ahLst/>
              <a:cxnLst/>
              <a:rect l="l" t="t" r="r" b="b"/>
              <a:pathLst>
                <a:path w="1962150" h="461009">
                  <a:moveTo>
                    <a:pt x="1962009" y="0"/>
                  </a:moveTo>
                  <a:lnTo>
                    <a:pt x="0" y="0"/>
                  </a:lnTo>
                  <a:lnTo>
                    <a:pt x="0" y="460586"/>
                  </a:lnTo>
                  <a:lnTo>
                    <a:pt x="1962009" y="460586"/>
                  </a:lnTo>
                  <a:lnTo>
                    <a:pt x="1962009" y="0"/>
                  </a:lnTo>
                  <a:close/>
                </a:path>
              </a:pathLst>
            </a:custGeom>
            <a:solidFill>
              <a:srgbClr val="003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01800" y="7775787"/>
              <a:ext cx="1962150" cy="461009"/>
            </a:xfrm>
            <a:custGeom>
              <a:avLst/>
              <a:gdLst/>
              <a:ahLst/>
              <a:cxnLst/>
              <a:rect l="l" t="t" r="r" b="b"/>
              <a:pathLst>
                <a:path w="1962150" h="461009">
                  <a:moveTo>
                    <a:pt x="0" y="0"/>
                  </a:moveTo>
                  <a:lnTo>
                    <a:pt x="1962009" y="0"/>
                  </a:lnTo>
                  <a:lnTo>
                    <a:pt x="1962009" y="460586"/>
                  </a:lnTo>
                  <a:lnTo>
                    <a:pt x="0" y="46058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37100" y="7050194"/>
              <a:ext cx="5702300" cy="457200"/>
            </a:xfrm>
            <a:custGeom>
              <a:avLst/>
              <a:gdLst/>
              <a:ahLst/>
              <a:cxnLst/>
              <a:rect l="l" t="t" r="r" b="b"/>
              <a:pathLst>
                <a:path w="5702300" h="457200">
                  <a:moveTo>
                    <a:pt x="57023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702300" y="457200"/>
                  </a:lnTo>
                  <a:lnTo>
                    <a:pt x="5702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37100" y="7050194"/>
              <a:ext cx="5702300" cy="457200"/>
            </a:xfrm>
            <a:custGeom>
              <a:avLst/>
              <a:gdLst/>
              <a:ahLst/>
              <a:cxnLst/>
              <a:rect l="l" t="t" r="r" b="b"/>
              <a:pathLst>
                <a:path w="5702300" h="457200">
                  <a:moveTo>
                    <a:pt x="0" y="0"/>
                  </a:moveTo>
                  <a:lnTo>
                    <a:pt x="5702300" y="0"/>
                  </a:lnTo>
                  <a:lnTo>
                    <a:pt x="57023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43800" y="7086600"/>
            <a:ext cx="82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j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0096" y="5549900"/>
            <a:ext cx="6993255" cy="3098800"/>
            <a:chOff x="2740096" y="5549900"/>
            <a:chExt cx="6993255" cy="3098800"/>
          </a:xfrm>
        </p:grpSpPr>
        <p:sp>
          <p:nvSpPr>
            <p:cNvPr id="24" name="object 24"/>
            <p:cNvSpPr/>
            <p:nvPr/>
          </p:nvSpPr>
          <p:spPr>
            <a:xfrm>
              <a:off x="3657600" y="6288194"/>
              <a:ext cx="1447800" cy="457200"/>
            </a:xfrm>
            <a:custGeom>
              <a:avLst/>
              <a:gdLst/>
              <a:ahLst/>
              <a:cxnLst/>
              <a:rect l="l" t="t" r="r" b="b"/>
              <a:pathLst>
                <a:path w="1447800" h="457200">
                  <a:moveTo>
                    <a:pt x="0" y="457200"/>
                  </a:moveTo>
                  <a:lnTo>
                    <a:pt x="1447800" y="4572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03F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7600" y="6288194"/>
              <a:ext cx="1498600" cy="457200"/>
            </a:xfrm>
            <a:custGeom>
              <a:avLst/>
              <a:gdLst/>
              <a:ahLst/>
              <a:cxnLst/>
              <a:rect l="l" t="t" r="r" b="b"/>
              <a:pathLst>
                <a:path w="1498600" h="457200">
                  <a:moveTo>
                    <a:pt x="0" y="0"/>
                  </a:moveTo>
                  <a:lnTo>
                    <a:pt x="1498600" y="0"/>
                  </a:lnTo>
                  <a:lnTo>
                    <a:pt x="14986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96099" y="6289887"/>
              <a:ext cx="1625600" cy="457200"/>
            </a:xfrm>
            <a:custGeom>
              <a:avLst/>
              <a:gdLst/>
              <a:ahLst/>
              <a:cxnLst/>
              <a:rect l="l" t="t" r="r" b="b"/>
              <a:pathLst>
                <a:path w="1625600" h="457200">
                  <a:moveTo>
                    <a:pt x="1625600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625600" y="457199"/>
                  </a:lnTo>
                  <a:lnTo>
                    <a:pt x="1625600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96099" y="6289887"/>
              <a:ext cx="1625600" cy="457200"/>
            </a:xfrm>
            <a:custGeom>
              <a:avLst/>
              <a:gdLst/>
              <a:ahLst/>
              <a:cxnLst/>
              <a:rect l="l" t="t" r="r" b="b"/>
              <a:pathLst>
                <a:path w="1625600" h="457200">
                  <a:moveTo>
                    <a:pt x="0" y="0"/>
                  </a:moveTo>
                  <a:lnTo>
                    <a:pt x="1625600" y="0"/>
                  </a:lnTo>
                  <a:lnTo>
                    <a:pt x="16256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05400" y="6288194"/>
              <a:ext cx="1803400" cy="457200"/>
            </a:xfrm>
            <a:custGeom>
              <a:avLst/>
              <a:gdLst/>
              <a:ahLst/>
              <a:cxnLst/>
              <a:rect l="l" t="t" r="r" b="b"/>
              <a:pathLst>
                <a:path w="1803400" h="457200">
                  <a:moveTo>
                    <a:pt x="18034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803400" y="457200"/>
                  </a:lnTo>
                  <a:lnTo>
                    <a:pt x="1803400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05400" y="6288194"/>
              <a:ext cx="1803400" cy="457200"/>
            </a:xfrm>
            <a:custGeom>
              <a:avLst/>
              <a:gdLst/>
              <a:ahLst/>
              <a:cxnLst/>
              <a:rect l="l" t="t" r="r" b="b"/>
              <a:pathLst>
                <a:path w="1803400" h="457200">
                  <a:moveTo>
                    <a:pt x="0" y="0"/>
                  </a:moveTo>
                  <a:lnTo>
                    <a:pt x="1803400" y="0"/>
                  </a:lnTo>
                  <a:lnTo>
                    <a:pt x="1803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26299" y="7777479"/>
              <a:ext cx="2501900" cy="457200"/>
            </a:xfrm>
            <a:custGeom>
              <a:avLst/>
              <a:gdLst/>
              <a:ahLst/>
              <a:cxnLst/>
              <a:rect l="l" t="t" r="r" b="b"/>
              <a:pathLst>
                <a:path w="2501900" h="457200">
                  <a:moveTo>
                    <a:pt x="25019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501900" y="457200"/>
                  </a:lnTo>
                  <a:lnTo>
                    <a:pt x="2501900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26299" y="7777479"/>
              <a:ext cx="2501900" cy="457200"/>
            </a:xfrm>
            <a:custGeom>
              <a:avLst/>
              <a:gdLst/>
              <a:ahLst/>
              <a:cxnLst/>
              <a:rect l="l" t="t" r="r" b="b"/>
              <a:pathLst>
                <a:path w="2501900" h="457200">
                  <a:moveTo>
                    <a:pt x="0" y="0"/>
                  </a:moveTo>
                  <a:lnTo>
                    <a:pt x="2501900" y="0"/>
                  </a:lnTo>
                  <a:lnTo>
                    <a:pt x="2501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37100" y="5549900"/>
              <a:ext cx="0" cy="3098800"/>
            </a:xfrm>
            <a:custGeom>
              <a:avLst/>
              <a:gdLst/>
              <a:ahLst/>
              <a:cxnLst/>
              <a:rect l="l" t="t" r="r" b="b"/>
              <a:pathLst>
                <a:path h="3098800">
                  <a:moveTo>
                    <a:pt x="0" y="0"/>
                  </a:moveTo>
                  <a:lnTo>
                    <a:pt x="0" y="3098801"/>
                  </a:lnTo>
                </a:path>
              </a:pathLst>
            </a:custGeom>
            <a:ln w="3175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01056" y="5714463"/>
              <a:ext cx="0" cy="327660"/>
            </a:xfrm>
            <a:custGeom>
              <a:avLst/>
              <a:gdLst/>
              <a:ahLst/>
              <a:cxnLst/>
              <a:rect l="l" t="t" r="r" b="b"/>
              <a:pathLst>
                <a:path h="327660">
                  <a:moveTo>
                    <a:pt x="0" y="327632"/>
                  </a:moveTo>
                  <a:lnTo>
                    <a:pt x="0" y="314932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0096" y="5998916"/>
              <a:ext cx="121920" cy="12192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69900" y="7162800"/>
            <a:ext cx="10350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machine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i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712241" y="8856662"/>
            <a:ext cx="9935845" cy="251460"/>
            <a:chOff x="1712241" y="8856662"/>
            <a:chExt cx="9935845" cy="251460"/>
          </a:xfrm>
        </p:grpSpPr>
        <p:sp>
          <p:nvSpPr>
            <p:cNvPr id="37" name="object 37"/>
            <p:cNvSpPr/>
            <p:nvPr/>
          </p:nvSpPr>
          <p:spPr>
            <a:xfrm>
              <a:off x="1724941" y="8992447"/>
              <a:ext cx="9813925" cy="2540"/>
            </a:xfrm>
            <a:custGeom>
              <a:avLst/>
              <a:gdLst/>
              <a:ahLst/>
              <a:cxnLst/>
              <a:rect l="l" t="t" r="r" b="b"/>
              <a:pathLst>
                <a:path w="9813925" h="2540">
                  <a:moveTo>
                    <a:pt x="0" y="0"/>
                  </a:moveTo>
                  <a:lnTo>
                    <a:pt x="9801014" y="2230"/>
                  </a:lnTo>
                  <a:lnTo>
                    <a:pt x="9813714" y="2232"/>
                  </a:lnTo>
                </a:path>
              </a:pathLst>
            </a:custGeom>
            <a:ln w="25399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525942" y="8933717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27" y="0"/>
                  </a:moveTo>
                  <a:lnTo>
                    <a:pt x="0" y="121919"/>
                  </a:lnTo>
                  <a:lnTo>
                    <a:pt x="121933" y="60987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401864" y="88645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8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24941" y="8864600"/>
              <a:ext cx="2540" cy="230504"/>
            </a:xfrm>
            <a:custGeom>
              <a:avLst/>
              <a:gdLst/>
              <a:ahLst/>
              <a:cxnLst/>
              <a:rect l="l" t="t" r="r" b="b"/>
              <a:pathLst>
                <a:path w="2539"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50929" y="88772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1303000" y="9156700"/>
            <a:ext cx="4902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latin typeface="Tahoma"/>
                <a:cs typeface="Tahoma"/>
              </a:rPr>
              <a:t>time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31400" y="9182100"/>
            <a:ext cx="867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L</a:t>
            </a:r>
            <a:r>
              <a:rPr sz="1800" b="1" spc="5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55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L[i]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51000" y="91440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56100" y="9194800"/>
            <a:ext cx="8680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latin typeface="Tahoma"/>
                <a:cs typeface="Tahoma"/>
              </a:rPr>
              <a:t>L[i]</a:t>
            </a:r>
            <a:r>
              <a:rPr sz="1800" b="1" spc="-120" dirty="0">
                <a:latin typeface="Tahoma"/>
                <a:cs typeface="Tahoma"/>
              </a:rPr>
              <a:t> </a:t>
            </a:r>
            <a:r>
              <a:rPr sz="1800" b="1" spc="370" dirty="0">
                <a:latin typeface="Tahoma"/>
                <a:cs typeface="Tahoma"/>
              </a:rPr>
              <a:t>-</a:t>
            </a:r>
            <a:r>
              <a:rPr sz="1800" b="1" spc="8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t</a:t>
            </a:r>
            <a:r>
              <a:rPr sz="1800" b="1" spc="-37" baseline="-6944" dirty="0">
                <a:latin typeface="Tahoma"/>
                <a:cs typeface="Tahoma"/>
              </a:rPr>
              <a:t>j</a:t>
            </a:r>
            <a:endParaRPr sz="1800" baseline="-6944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60500" y="5295900"/>
            <a:ext cx="2828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blue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jobs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scheduled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before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906904" y="1981375"/>
            <a:ext cx="447040" cy="121920"/>
            <a:chOff x="7906904" y="1981375"/>
            <a:chExt cx="447040" cy="121920"/>
          </a:xfrm>
        </p:grpSpPr>
        <p:sp>
          <p:nvSpPr>
            <p:cNvPr id="48" name="object 48"/>
            <p:cNvSpPr/>
            <p:nvPr/>
          </p:nvSpPr>
          <p:spPr>
            <a:xfrm>
              <a:off x="7985644" y="2042335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>
                  <a:moveTo>
                    <a:pt x="0" y="0"/>
                  </a:moveTo>
                  <a:lnTo>
                    <a:pt x="12699" y="0"/>
                  </a:lnTo>
                  <a:lnTo>
                    <a:pt x="367794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906904" y="198137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39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483600" y="1793239"/>
            <a:ext cx="21640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1590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that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ends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up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with</a:t>
            </a:r>
            <a:r>
              <a:rPr sz="16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highest</a:t>
            </a:r>
            <a:r>
              <a:rPr sz="1600" spc="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load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333500"/>
            <a:ext cx="74714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92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Greedy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30" dirty="0">
                <a:latin typeface="Lucida Sans Unicode"/>
                <a:cs typeface="Lucida Sans Unicode"/>
              </a:rPr>
              <a:t>approximation.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100" y="1816100"/>
            <a:ext cx="6869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16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bottleneck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115820"/>
            <a:ext cx="652653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scheduled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i</a:t>
            </a:r>
            <a:r>
              <a:rPr sz="2400" spc="-3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300" y="2469997"/>
            <a:ext cx="11556365" cy="170433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When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Lucida Sans Unicode"/>
                <a:cs typeface="Lucida Sans Unicode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smallest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load.</a:t>
            </a:r>
            <a:endParaRPr sz="2400">
              <a:latin typeface="Lucida Sans Unicode"/>
              <a:cs typeface="Lucida Sans Unicode"/>
            </a:endParaRPr>
          </a:p>
          <a:p>
            <a:pPr marL="520700">
              <a:lnSpc>
                <a:spcPts val="2615"/>
              </a:lnSpc>
              <a:spcBef>
                <a:spcPts val="630"/>
              </a:spcBef>
              <a:tabLst>
                <a:tab pos="5777230" algn="l"/>
                <a:tab pos="8011795" algn="l"/>
                <a:tab pos="8340090" algn="l"/>
                <a:tab pos="8642985" algn="l"/>
                <a:tab pos="9300845" algn="l"/>
              </a:tabLst>
            </a:pP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before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assignment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775" i="1" baseline="-18018" dirty="0">
                <a:latin typeface="Times New Roman"/>
                <a:cs typeface="Times New Roman"/>
              </a:rPr>
              <a:t>j</a:t>
            </a:r>
            <a:r>
              <a:rPr sz="2775" i="1" spc="-15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;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hence</a:t>
            </a:r>
            <a:r>
              <a:rPr sz="2400" spc="-17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775" i="1" spc="-37" baseline="-18018" dirty="0">
                <a:latin typeface="Times New Roman"/>
                <a:cs typeface="Times New Roman"/>
              </a:rPr>
              <a:t>j</a:t>
            </a:r>
            <a:r>
              <a:rPr sz="2775" i="1" baseline="-18018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0" dirty="0">
                <a:latin typeface="Times New Roman"/>
                <a:cs typeface="Times New Roman"/>
              </a:rPr>
              <a:t>L</a:t>
            </a:r>
            <a:r>
              <a:rPr sz="2400" spc="-20" dirty="0">
                <a:latin typeface="Times New Roman"/>
                <a:cs typeface="Times New Roman"/>
              </a:rPr>
              <a:t>[</a:t>
            </a:r>
            <a:r>
              <a:rPr sz="2400" i="1" spc="-20" dirty="0">
                <a:latin typeface="Times New Roman"/>
                <a:cs typeface="Times New Roman"/>
              </a:rPr>
              <a:t>k</a:t>
            </a:r>
            <a:r>
              <a:rPr sz="2400" spc="-2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ts val="435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inequalities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over all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divide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480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list</a:t>
            </a:r>
            <a:r>
              <a:rPr spc="-20" dirty="0"/>
              <a:t> </a:t>
            </a:r>
            <a:r>
              <a:rPr dirty="0"/>
              <a:t>scheduling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433300" y="9334500"/>
            <a:ext cx="121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Lucida Sans Unicode"/>
                <a:cs typeface="Lucida Sans Unicode"/>
              </a:rPr>
              <a:t>9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906904" y="1981375"/>
            <a:ext cx="447040" cy="121920"/>
            <a:chOff x="7906904" y="1981375"/>
            <a:chExt cx="447040" cy="121920"/>
          </a:xfrm>
        </p:grpSpPr>
        <p:sp>
          <p:nvSpPr>
            <p:cNvPr id="41" name="object 41"/>
            <p:cNvSpPr/>
            <p:nvPr/>
          </p:nvSpPr>
          <p:spPr>
            <a:xfrm>
              <a:off x="7985644" y="2042335"/>
              <a:ext cx="368300" cy="0"/>
            </a:xfrm>
            <a:custGeom>
              <a:avLst/>
              <a:gdLst/>
              <a:ahLst/>
              <a:cxnLst/>
              <a:rect l="l" t="t" r="r" b="b"/>
              <a:pathLst>
                <a:path w="368300">
                  <a:moveTo>
                    <a:pt x="0" y="0"/>
                  </a:moveTo>
                  <a:lnTo>
                    <a:pt x="12699" y="0"/>
                  </a:lnTo>
                  <a:lnTo>
                    <a:pt x="367794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06904" y="198137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39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83600" y="1793239"/>
            <a:ext cx="21640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15900">
              <a:lnSpc>
                <a:spcPct val="1094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that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ends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up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with</a:t>
            </a:r>
            <a:r>
              <a:rPr sz="16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highest</a:t>
            </a:r>
            <a:r>
              <a:rPr sz="1600" spc="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load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45" name="图片 44" descr="图示, 示意图&#10;&#10;AI 生成的内容可能不正确。">
            <a:extLst>
              <a:ext uri="{FF2B5EF4-FFF2-40B4-BE49-F238E27FC236}">
                <a16:creationId xmlns:a16="http://schemas.microsoft.com/office/drawing/2014/main" id="{558CCE63-ED6E-6512-3D18-C1918BC09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96" y="4200716"/>
            <a:ext cx="7688498" cy="5308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480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list</a:t>
            </a:r>
            <a:r>
              <a:rPr spc="-20" dirty="0"/>
              <a:t> </a:t>
            </a:r>
            <a:r>
              <a:rPr dirty="0"/>
              <a:t>scheduling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10594975" cy="19558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5378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our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tight?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511809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Essentially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yes.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Ex: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machines,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first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length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length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963737" y="4249737"/>
          <a:ext cx="8216900" cy="431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30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2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3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635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4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5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6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8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9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machine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10</a:t>
                      </a:r>
                      <a:r>
                        <a:rPr sz="1800" spc="-5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solidFill>
                            <a:srgbClr val="606060"/>
                          </a:solidFill>
                          <a:latin typeface="Lucida Sans Unicode"/>
                          <a:cs typeface="Lucida Sans Unicode"/>
                        </a:rPr>
                        <a:t>idle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50800" marB="0">
                    <a:lnL w="9525">
                      <a:solidFill>
                        <a:srgbClr val="606060"/>
                      </a:solidFill>
                      <a:prstDash val="solid"/>
                    </a:lnL>
                    <a:lnR w="9525">
                      <a:solidFill>
                        <a:srgbClr val="606060"/>
                      </a:solidFill>
                      <a:prstDash val="solid"/>
                    </a:lnR>
                    <a:lnT w="9525">
                      <a:solidFill>
                        <a:srgbClr val="606060"/>
                      </a:solidFill>
                      <a:prstDash val="solid"/>
                    </a:lnT>
                    <a:lnB w="9525">
                      <a:solidFill>
                        <a:srgbClr val="60606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74700" y="5956300"/>
            <a:ext cx="786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m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10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55723" y="8864594"/>
            <a:ext cx="9489440" cy="230504"/>
            <a:chOff x="1955723" y="8864594"/>
            <a:chExt cx="9489440" cy="230504"/>
          </a:xfrm>
        </p:grpSpPr>
        <p:sp>
          <p:nvSpPr>
            <p:cNvPr id="8" name="object 8"/>
            <p:cNvSpPr/>
            <p:nvPr/>
          </p:nvSpPr>
          <p:spPr>
            <a:xfrm>
              <a:off x="1968423" y="8993543"/>
              <a:ext cx="9398000" cy="1270"/>
            </a:xfrm>
            <a:custGeom>
              <a:avLst/>
              <a:gdLst/>
              <a:ahLst/>
              <a:cxnLst/>
              <a:rect l="l" t="t" r="r" b="b"/>
              <a:pathLst>
                <a:path w="9398000" h="1270">
                  <a:moveTo>
                    <a:pt x="0" y="1172"/>
                  </a:moveTo>
                  <a:lnTo>
                    <a:pt x="9384812" y="11"/>
                  </a:lnTo>
                  <a:lnTo>
                    <a:pt x="9397512" y="9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322748" y="8932588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0" y="0"/>
                  </a:moveTo>
                  <a:lnTo>
                    <a:pt x="30487" y="60956"/>
                  </a:lnTo>
                  <a:lnTo>
                    <a:pt x="15" y="121920"/>
                  </a:lnTo>
                  <a:lnTo>
                    <a:pt x="121927" y="6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98664" y="88645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67371" y="88645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93929" y="88645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56100" y="3784600"/>
            <a:ext cx="42862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list</a:t>
            </a:r>
            <a:r>
              <a:rPr sz="1600" b="1" spc="10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scheduling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makespan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19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2m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spc="330" dirty="0">
                <a:latin typeface="Tahoma"/>
                <a:cs typeface="Tahoma"/>
              </a:rPr>
              <a:t>-</a:t>
            </a:r>
            <a:r>
              <a:rPr sz="1600" b="1" spc="11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92300" y="9157004"/>
            <a:ext cx="154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50" dirty="0"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16600" y="9157004"/>
            <a:ext cx="154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50" dirty="0">
                <a:latin typeface="Lucida Sans Unicode"/>
                <a:cs typeface="Lucida Sans Unicode"/>
              </a:rPr>
              <a:t>9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45700" y="9157004"/>
            <a:ext cx="2832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25" dirty="0">
                <a:latin typeface="Lucida Sans Unicode"/>
                <a:cs typeface="Lucida Sans Unicode"/>
              </a:rPr>
              <a:t>19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480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list</a:t>
            </a:r>
            <a:r>
              <a:rPr spc="-20" dirty="0"/>
              <a:t> </a:t>
            </a:r>
            <a:r>
              <a:rPr dirty="0"/>
              <a:t>scheduling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10594975" cy="19558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5378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our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tight?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511809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Essentially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yes.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Ex: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machines,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first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length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length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6388100"/>
            <a:ext cx="786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m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10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55723" y="8864594"/>
            <a:ext cx="9489440" cy="230504"/>
            <a:chOff x="1955723" y="8864594"/>
            <a:chExt cx="9489440" cy="230504"/>
          </a:xfrm>
        </p:grpSpPr>
        <p:sp>
          <p:nvSpPr>
            <p:cNvPr id="7" name="object 7"/>
            <p:cNvSpPr/>
            <p:nvPr/>
          </p:nvSpPr>
          <p:spPr>
            <a:xfrm>
              <a:off x="1968423" y="8993543"/>
              <a:ext cx="9398000" cy="1270"/>
            </a:xfrm>
            <a:custGeom>
              <a:avLst/>
              <a:gdLst/>
              <a:ahLst/>
              <a:cxnLst/>
              <a:rect l="l" t="t" r="r" b="b"/>
              <a:pathLst>
                <a:path w="9398000" h="1270">
                  <a:moveTo>
                    <a:pt x="0" y="1172"/>
                  </a:moveTo>
                  <a:lnTo>
                    <a:pt x="9384812" y="11"/>
                  </a:lnTo>
                  <a:lnTo>
                    <a:pt x="9397512" y="9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322748" y="8932588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0" y="0"/>
                  </a:moveTo>
                  <a:lnTo>
                    <a:pt x="30487" y="60956"/>
                  </a:lnTo>
                  <a:lnTo>
                    <a:pt x="15" y="121920"/>
                  </a:lnTo>
                  <a:lnTo>
                    <a:pt x="121927" y="6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98664" y="88645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67371" y="88645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93929" y="8864594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8756" y="8864600"/>
              <a:ext cx="0" cy="230504"/>
            </a:xfrm>
            <a:custGeom>
              <a:avLst/>
              <a:gdLst/>
              <a:ahLst/>
              <a:cxnLst/>
              <a:rect l="l" t="t" r="r" b="b"/>
              <a:pathLst>
                <a:path h="230504">
                  <a:moveTo>
                    <a:pt x="0" y="0"/>
                  </a:moveTo>
                  <a:lnTo>
                    <a:pt x="2257" y="230293"/>
                  </a:lnTo>
                </a:path>
              </a:pathLst>
            </a:custGeom>
            <a:ln w="1587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32100" y="3784600"/>
            <a:ext cx="30105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optimal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makespan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10</a:t>
            </a:r>
            <a:r>
              <a:rPr sz="1600" b="1" spc="8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m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63737" y="4252912"/>
            <a:ext cx="4333240" cy="4324350"/>
            <a:chOff x="1963737" y="4252912"/>
            <a:chExt cx="4333240" cy="4324350"/>
          </a:xfrm>
        </p:grpSpPr>
        <p:sp>
          <p:nvSpPr>
            <p:cNvPr id="15" name="object 15"/>
            <p:cNvSpPr/>
            <p:nvPr/>
          </p:nvSpPr>
          <p:spPr>
            <a:xfrm>
              <a:off x="19685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685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003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003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321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321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39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639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957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957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75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275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593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593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911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911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229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229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72815" y="4257675"/>
              <a:ext cx="4319270" cy="431800"/>
            </a:xfrm>
            <a:custGeom>
              <a:avLst/>
              <a:gdLst/>
              <a:ahLst/>
              <a:cxnLst/>
              <a:rect l="l" t="t" r="r" b="b"/>
              <a:pathLst>
                <a:path w="4319270" h="431800">
                  <a:moveTo>
                    <a:pt x="4318892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892" y="431800"/>
                  </a:lnTo>
                  <a:lnTo>
                    <a:pt x="4318892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72815" y="4257675"/>
              <a:ext cx="4319270" cy="431800"/>
            </a:xfrm>
            <a:custGeom>
              <a:avLst/>
              <a:gdLst/>
              <a:ahLst/>
              <a:cxnLst/>
              <a:rect l="l" t="t" r="r" b="b"/>
              <a:pathLst>
                <a:path w="4319270" h="431800">
                  <a:moveTo>
                    <a:pt x="0" y="0"/>
                  </a:moveTo>
                  <a:lnTo>
                    <a:pt x="4318892" y="0"/>
                  </a:lnTo>
                  <a:lnTo>
                    <a:pt x="4318892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547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54700" y="4686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685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685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003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003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321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321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639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639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957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957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275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275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593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5593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911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911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229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229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547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54700" y="5118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9685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9685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4003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4003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8321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8321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639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639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6957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6957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1275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1275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593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593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9911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9911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4229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4229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8547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854700" y="5549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9685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9685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4003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4003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8321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8321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639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639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6957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6957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1275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1275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5593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5593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9911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9911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4229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4229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8547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854700" y="5981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9685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9685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4003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4003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8321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8321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639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639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6957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6957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1275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1275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5593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5593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9911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9911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4229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4229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8547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854700" y="64135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9685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9685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4003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4003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8321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8321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2639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2639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6957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6957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1275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1275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5593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5593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9911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9911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4229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4229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8547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854700" y="68453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9685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9685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4003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4003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8321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8321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639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2639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6957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6957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1275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1275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5593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5593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9911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9911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4229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4229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8547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854700" y="72771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9685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9685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4003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4003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8321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8321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2639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2639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6957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6957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41275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1275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5593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5593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49911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49911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54229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54229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8547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854700" y="77089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9685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9685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4003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4003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8321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28321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639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2639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36957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36957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1275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1275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5593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45593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49911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9911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4229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4229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58547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431800" y="4318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5854700" y="814070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7" name="object 197"/>
          <p:cNvSpPr txBox="1"/>
          <p:nvPr/>
        </p:nvSpPr>
        <p:spPr>
          <a:xfrm>
            <a:off x="1892300" y="9157004"/>
            <a:ext cx="154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50" dirty="0"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5816600" y="9157004"/>
            <a:ext cx="154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50" dirty="0">
                <a:latin typeface="Lucida Sans Unicode"/>
                <a:cs typeface="Lucida Sans Unicode"/>
              </a:rPr>
              <a:t>9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10045700" y="9157004"/>
            <a:ext cx="2832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0"/>
              </a:lnSpc>
            </a:pPr>
            <a:r>
              <a:rPr sz="1600" spc="-25" dirty="0">
                <a:latin typeface="Lucida Sans Unicode"/>
                <a:cs typeface="Lucida Sans Unicode"/>
              </a:rPr>
              <a:t>19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00" name="object 20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25737" y="2617986"/>
            <a:ext cx="8013700" cy="6413500"/>
            <a:chOff x="2125737" y="2617986"/>
            <a:chExt cx="8013700" cy="6413500"/>
          </a:xfrm>
        </p:grpSpPr>
        <p:sp>
          <p:nvSpPr>
            <p:cNvPr id="3" name="object 3"/>
            <p:cNvSpPr/>
            <p:nvPr/>
          </p:nvSpPr>
          <p:spPr>
            <a:xfrm>
              <a:off x="2125737" y="2617986"/>
              <a:ext cx="8013700" cy="6413500"/>
            </a:xfrm>
            <a:custGeom>
              <a:avLst/>
              <a:gdLst/>
              <a:ahLst/>
              <a:cxnLst/>
              <a:rect l="l" t="t" r="r" b="b"/>
              <a:pathLst>
                <a:path w="8013700" h="6413500">
                  <a:moveTo>
                    <a:pt x="8013700" y="0"/>
                  </a:moveTo>
                  <a:lnTo>
                    <a:pt x="0" y="0"/>
                  </a:lnTo>
                  <a:lnTo>
                    <a:pt x="0" y="6413500"/>
                  </a:lnTo>
                  <a:lnTo>
                    <a:pt x="8013700" y="6413500"/>
                  </a:lnTo>
                  <a:lnTo>
                    <a:pt x="8013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13000" y="3442976"/>
              <a:ext cx="7067550" cy="0"/>
            </a:xfrm>
            <a:custGeom>
              <a:avLst/>
              <a:gdLst/>
              <a:ahLst/>
              <a:cxnLst/>
              <a:rect l="l" t="t" r="r" b="b"/>
              <a:pathLst>
                <a:path w="7067550">
                  <a:moveTo>
                    <a:pt x="0" y="0"/>
                  </a:moveTo>
                  <a:lnTo>
                    <a:pt x="70675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74700" y="1216660"/>
            <a:ext cx="11442700" cy="274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900"/>
              </a:lnSpc>
              <a:spcBef>
                <a:spcPts val="100"/>
              </a:spcBef>
              <a:tabLst>
                <a:tab pos="477139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Longest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processing</a:t>
            </a:r>
            <a:r>
              <a:rPr sz="2400" spc="-9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time</a:t>
            </a:r>
            <a:r>
              <a:rPr sz="2400" spc="-9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(LPT).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Sort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decreasing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order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processing </a:t>
            </a:r>
            <a:r>
              <a:rPr sz="2400" dirty="0">
                <a:latin typeface="Lucida Sans Unicode"/>
                <a:cs typeface="Lucida Sans Unicode"/>
              </a:rPr>
              <a:t>times;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list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scheduling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638300">
              <a:lnSpc>
                <a:spcPct val="100000"/>
              </a:lnSpc>
            </a:pPr>
            <a:r>
              <a:rPr sz="2400" spc="-70" dirty="0">
                <a:solidFill>
                  <a:srgbClr val="003F83"/>
                </a:solidFill>
                <a:latin typeface="Times New Roman"/>
                <a:cs typeface="Times New Roman"/>
              </a:rPr>
              <a:t>LPT-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L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IST</a:t>
            </a: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S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CHEDULING</a:t>
            </a:r>
            <a:r>
              <a:rPr sz="1900" spc="12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baseline="-6944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, …,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638300">
              <a:lnSpc>
                <a:spcPct val="100000"/>
              </a:lnSpc>
              <a:spcBef>
                <a:spcPts val="2520"/>
              </a:spcBef>
              <a:tabLst>
                <a:tab pos="5920740" algn="l"/>
                <a:tab pos="6240145" algn="l"/>
                <a:tab pos="6579234" algn="l"/>
                <a:tab pos="6898640" algn="l"/>
                <a:tab pos="7355840" algn="l"/>
                <a:tab pos="7675245" algn="l"/>
              </a:tabLst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S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ORT</a:t>
            </a:r>
            <a:r>
              <a:rPr sz="1900" spc="8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renumber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spc="-37" baseline="-6944" dirty="0">
                <a:latin typeface="Times New Roman"/>
                <a:cs typeface="Times New Roman"/>
              </a:rPr>
              <a:t>1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spc="-37" baseline="-6944" dirty="0">
                <a:latin typeface="Times New Roman"/>
                <a:cs typeface="Times New Roman"/>
              </a:rPr>
              <a:t>2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…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3000" y="4099559"/>
            <a:ext cx="1928495" cy="160020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20"/>
              </a:spcBef>
              <a:tabLst>
                <a:tab pos="660400" algn="l"/>
              </a:tabLst>
            </a:pP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=</a:t>
            </a:r>
            <a:r>
              <a:rPr sz="2400" cap="small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1</a:t>
            </a:r>
            <a:r>
              <a:rPr sz="2400" cap="small" spc="-15" dirty="0">
                <a:latin typeface="Times New Roman"/>
                <a:cs typeface="Times New Roman"/>
              </a:rPr>
              <a:t> 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2400" cap="small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125" dirty="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  <a:spcBef>
                <a:spcPts val="1220"/>
              </a:spcBef>
            </a:pP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Symbol"/>
                <a:cs typeface="Symbol"/>
              </a:rPr>
              <a:t></a:t>
            </a:r>
            <a:endParaRPr sz="2200">
              <a:latin typeface="Symbol"/>
              <a:cs typeface="Symbol"/>
            </a:endParaRPr>
          </a:p>
          <a:p>
            <a:pPr marL="685800">
              <a:lnSpc>
                <a:spcPct val="100000"/>
              </a:lnSpc>
              <a:spcBef>
                <a:spcPts val="132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Symbol"/>
                <a:cs typeface="Symbol"/>
              </a:rPr>
              <a:t>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7600" y="5852159"/>
            <a:ext cx="3183255" cy="214630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20"/>
              </a:spcBef>
              <a:tabLst>
                <a:tab pos="685800" algn="l"/>
              </a:tabLst>
            </a:pP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For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=</a:t>
            </a:r>
            <a:r>
              <a:rPr sz="2400" cap="small" spc="-10" dirty="0"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1</a:t>
            </a:r>
            <a:r>
              <a:rPr sz="2400" cap="small" spc="-15" dirty="0">
                <a:latin typeface="Times New Roman"/>
                <a:cs typeface="Times New Roman"/>
              </a:rPr>
              <a:t> 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to</a:t>
            </a:r>
            <a:r>
              <a:rPr sz="2400" cap="small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711200" marR="43180">
              <a:lnSpc>
                <a:spcPts val="4300"/>
              </a:lnSpc>
              <a:spcBef>
                <a:spcPts val="180"/>
              </a:spcBef>
              <a:tabLst>
                <a:tab pos="2196465" algn="l"/>
                <a:tab pos="2583180" algn="l"/>
              </a:tabLst>
            </a:pP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argmin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baseline="-6944" dirty="0">
                <a:latin typeface="Times New Roman"/>
                <a:cs typeface="Times New Roman"/>
              </a:rPr>
              <a:t>k</a:t>
            </a:r>
            <a:r>
              <a:rPr sz="2400" i="1" spc="270" baseline="-6944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L</a:t>
            </a:r>
            <a:r>
              <a:rPr sz="2400" spc="-20" dirty="0">
                <a:latin typeface="Times New Roman"/>
                <a:cs typeface="Times New Roman"/>
              </a:rPr>
              <a:t>[</a:t>
            </a:r>
            <a:r>
              <a:rPr sz="2400" i="1" spc="-20" dirty="0">
                <a:latin typeface="Times New Roman"/>
                <a:cs typeface="Times New Roman"/>
              </a:rPr>
              <a:t>k</a:t>
            </a:r>
            <a:r>
              <a:rPr sz="2400" spc="-20" dirty="0">
                <a:latin typeface="Times New Roman"/>
                <a:cs typeface="Times New Roman"/>
              </a:rPr>
              <a:t>]</a:t>
            </a:r>
            <a:r>
              <a:rPr sz="2200" spc="-20" dirty="0">
                <a:latin typeface="Symbol"/>
                <a:cs typeface="Symbol"/>
              </a:rPr>
              <a:t>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[</a:t>
            </a:r>
            <a:r>
              <a:rPr sz="2400" i="1" spc="-2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]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</a:t>
            </a:r>
            <a:r>
              <a:rPr sz="2400" dirty="0">
                <a:latin typeface="Times New Roman"/>
                <a:cs typeface="Times New Roman"/>
              </a:rPr>
              <a:t>	{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}</a:t>
            </a:r>
            <a:r>
              <a:rPr sz="2200" spc="-25" dirty="0">
                <a:latin typeface="Symbol"/>
                <a:cs typeface="Symbol"/>
              </a:rPr>
              <a:t></a:t>
            </a:r>
            <a:endParaRPr sz="2200">
              <a:latin typeface="Symbol"/>
              <a:cs typeface="Symbol"/>
            </a:endParaRPr>
          </a:p>
          <a:p>
            <a:pPr marL="711200">
              <a:lnSpc>
                <a:spcPct val="100000"/>
              </a:lnSpc>
              <a:spcBef>
                <a:spcPts val="940"/>
              </a:spcBef>
            </a:pP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+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6944" dirty="0">
                <a:latin typeface="Times New Roman"/>
                <a:cs typeface="Times New Roman"/>
              </a:rPr>
              <a:t>j</a:t>
            </a:r>
            <a:r>
              <a:rPr sz="2200" spc="-25" dirty="0">
                <a:latin typeface="Symbol"/>
                <a:cs typeface="Symbol"/>
              </a:rPr>
              <a:t>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000" y="8305800"/>
            <a:ext cx="3610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67765" algn="l"/>
              </a:tabLst>
            </a:pPr>
            <a:r>
              <a:rPr sz="2400" spc="-1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spc="-1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[1],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[2],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[</a:t>
            </a:r>
            <a:r>
              <a:rPr sz="2400" i="1" spc="-1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]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4099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-350" dirty="0"/>
              <a:t>LPT</a:t>
            </a:r>
            <a:r>
              <a:rPr spc="85" dirty="0"/>
              <a:t> </a:t>
            </a:r>
            <a:r>
              <a:rPr spc="-20" dirty="0"/>
              <a:t>rule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92700" y="4838700"/>
            <a:ext cx="265557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load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on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4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jobs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assigned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9700" y="6565900"/>
            <a:ext cx="2745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800" i="1" spc="4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has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smallest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load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9700" y="7137400"/>
            <a:ext cx="2470785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assign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job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r>
              <a:rPr sz="1800" i="1" spc="5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update</a:t>
            </a:r>
            <a:r>
              <a:rPr sz="16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load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51368" y="4957633"/>
            <a:ext cx="1830070" cy="2950210"/>
            <a:chOff x="4451368" y="4957633"/>
            <a:chExt cx="1830070" cy="2950210"/>
          </a:xfrm>
        </p:grpSpPr>
        <p:sp>
          <p:nvSpPr>
            <p:cNvPr id="15" name="object 15"/>
            <p:cNvSpPr/>
            <p:nvPr/>
          </p:nvSpPr>
          <p:spPr>
            <a:xfrm>
              <a:off x="4530108" y="5512496"/>
              <a:ext cx="389890" cy="0"/>
            </a:xfrm>
            <a:custGeom>
              <a:avLst/>
              <a:gdLst/>
              <a:ahLst/>
              <a:cxnLst/>
              <a:rect l="l" t="t" r="r" b="b"/>
              <a:pathLst>
                <a:path w="389889">
                  <a:moveTo>
                    <a:pt x="389579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51368" y="5451536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30108" y="5016924"/>
              <a:ext cx="389255" cy="1905"/>
            </a:xfrm>
            <a:custGeom>
              <a:avLst/>
              <a:gdLst/>
              <a:ahLst/>
              <a:cxnLst/>
              <a:rect l="l" t="t" r="r" b="b"/>
              <a:pathLst>
                <a:path w="389254" h="1904">
                  <a:moveTo>
                    <a:pt x="389187" y="0"/>
                  </a:moveTo>
                  <a:lnTo>
                    <a:pt x="12699" y="1815"/>
                  </a:lnTo>
                  <a:lnTo>
                    <a:pt x="0" y="1876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51368" y="4957633"/>
              <a:ext cx="122555" cy="121920"/>
            </a:xfrm>
            <a:custGeom>
              <a:avLst/>
              <a:gdLst/>
              <a:ahLst/>
              <a:cxnLst/>
              <a:rect l="l" t="t" r="r" b="b"/>
              <a:pathLst>
                <a:path w="122554" h="121920">
                  <a:moveTo>
                    <a:pt x="121625" y="0"/>
                  </a:moveTo>
                  <a:lnTo>
                    <a:pt x="0" y="61546"/>
                  </a:lnTo>
                  <a:lnTo>
                    <a:pt x="122213" y="121918"/>
                  </a:lnTo>
                  <a:lnTo>
                    <a:pt x="91438" y="61106"/>
                  </a:lnTo>
                  <a:lnTo>
                    <a:pt x="12162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90792" y="6735660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4">
                  <a:moveTo>
                    <a:pt x="370121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12052" y="667470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59"/>
                  </a:lnTo>
                  <a:lnTo>
                    <a:pt x="121919" y="121919"/>
                  </a:lnTo>
                  <a:lnTo>
                    <a:pt x="91439" y="6095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90792" y="7297563"/>
              <a:ext cx="373380" cy="0"/>
            </a:xfrm>
            <a:custGeom>
              <a:avLst/>
              <a:gdLst/>
              <a:ahLst/>
              <a:cxnLst/>
              <a:rect l="l" t="t" r="r" b="b"/>
              <a:pathLst>
                <a:path w="373379">
                  <a:moveTo>
                    <a:pt x="372880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2052" y="7236603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90792" y="7846767"/>
              <a:ext cx="390525" cy="0"/>
            </a:xfrm>
            <a:custGeom>
              <a:avLst/>
              <a:gdLst/>
              <a:ahLst/>
              <a:cxnLst/>
              <a:rect l="l" t="t" r="r" b="b"/>
              <a:pathLst>
                <a:path w="390525">
                  <a:moveTo>
                    <a:pt x="390419" y="0"/>
                  </a:moveTo>
                  <a:lnTo>
                    <a:pt x="1270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12052" y="7785807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19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2189237" y="3510167"/>
            <a:ext cx="6762115" cy="516255"/>
          </a:xfrm>
          <a:custGeom>
            <a:avLst/>
            <a:gdLst/>
            <a:ahLst/>
            <a:cxnLst/>
            <a:rect l="l" t="t" r="r" b="b"/>
            <a:pathLst>
              <a:path w="6762115" h="516254">
                <a:moveTo>
                  <a:pt x="6504228" y="0"/>
                </a:moveTo>
                <a:lnTo>
                  <a:pt x="257865" y="0"/>
                </a:lnTo>
                <a:lnTo>
                  <a:pt x="225183" y="140"/>
                </a:lnTo>
                <a:lnTo>
                  <a:pt x="164419" y="3786"/>
                </a:lnTo>
                <a:lnTo>
                  <a:pt x="92534" y="27201"/>
                </a:lnTo>
                <a:lnTo>
                  <a:pt x="55621" y="55621"/>
                </a:lnTo>
                <a:lnTo>
                  <a:pt x="27201" y="92534"/>
                </a:lnTo>
                <a:lnTo>
                  <a:pt x="8975" y="136240"/>
                </a:lnTo>
                <a:lnTo>
                  <a:pt x="1121" y="194052"/>
                </a:lnTo>
                <a:lnTo>
                  <a:pt x="0" y="257867"/>
                </a:lnTo>
                <a:lnTo>
                  <a:pt x="140" y="290549"/>
                </a:lnTo>
                <a:lnTo>
                  <a:pt x="3786" y="351313"/>
                </a:lnTo>
                <a:lnTo>
                  <a:pt x="27201" y="423198"/>
                </a:lnTo>
                <a:lnTo>
                  <a:pt x="55621" y="460111"/>
                </a:lnTo>
                <a:lnTo>
                  <a:pt x="92534" y="488532"/>
                </a:lnTo>
                <a:lnTo>
                  <a:pt x="136240" y="506759"/>
                </a:lnTo>
                <a:lnTo>
                  <a:pt x="194051" y="514611"/>
                </a:lnTo>
                <a:lnTo>
                  <a:pt x="257865" y="515733"/>
                </a:lnTo>
                <a:lnTo>
                  <a:pt x="6504228" y="515733"/>
                </a:lnTo>
                <a:lnTo>
                  <a:pt x="6568043" y="514611"/>
                </a:lnTo>
                <a:lnTo>
                  <a:pt x="6625854" y="506759"/>
                </a:lnTo>
                <a:lnTo>
                  <a:pt x="6669560" y="488532"/>
                </a:lnTo>
                <a:lnTo>
                  <a:pt x="6706473" y="460111"/>
                </a:lnTo>
                <a:lnTo>
                  <a:pt x="6734893" y="423198"/>
                </a:lnTo>
                <a:lnTo>
                  <a:pt x="6753119" y="379492"/>
                </a:lnTo>
                <a:lnTo>
                  <a:pt x="6760972" y="321681"/>
                </a:lnTo>
                <a:lnTo>
                  <a:pt x="6762094" y="257867"/>
                </a:lnTo>
                <a:lnTo>
                  <a:pt x="6761954" y="225184"/>
                </a:lnTo>
                <a:lnTo>
                  <a:pt x="6758308" y="164420"/>
                </a:lnTo>
                <a:lnTo>
                  <a:pt x="6734893" y="92534"/>
                </a:lnTo>
                <a:lnTo>
                  <a:pt x="6706473" y="55621"/>
                </a:lnTo>
                <a:lnTo>
                  <a:pt x="6669560" y="27201"/>
                </a:lnTo>
                <a:lnTo>
                  <a:pt x="6625854" y="8975"/>
                </a:lnTo>
                <a:lnTo>
                  <a:pt x="6568043" y="1121"/>
                </a:lnTo>
                <a:lnTo>
                  <a:pt x="6504228" y="0"/>
                </a:lnTo>
                <a:close/>
              </a:path>
            </a:pathLst>
          </a:custGeom>
          <a:solidFill>
            <a:srgbClr val="0048AA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4099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-350" dirty="0"/>
              <a:t>LPT</a:t>
            </a:r>
            <a:r>
              <a:rPr spc="85" dirty="0"/>
              <a:t> </a:t>
            </a:r>
            <a:r>
              <a:rPr spc="-20" dirty="0"/>
              <a:t>rule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6600" y="1216660"/>
            <a:ext cx="10318750" cy="633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396875">
              <a:lnSpc>
                <a:spcPct val="131900"/>
              </a:lnSpc>
              <a:spcBef>
                <a:spcPts val="100"/>
              </a:spcBef>
              <a:tabLst>
                <a:tab pos="645160" algn="l"/>
                <a:tab pos="2164080" algn="l"/>
                <a:tab pos="629729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bottleneck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1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10" dirty="0">
                <a:latin typeface="Lucida Sans Unicode"/>
                <a:cs typeface="Lucida Sans Unicode"/>
              </a:rPr>
              <a:t> optimal.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schedule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job.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 marR="2571115">
              <a:lnSpc>
                <a:spcPct val="131900"/>
              </a:lnSpc>
              <a:spcBef>
                <a:spcPts val="5"/>
              </a:spcBef>
              <a:tabLst>
                <a:tab pos="1724025" algn="l"/>
                <a:tab pos="6621145" algn="l"/>
                <a:tab pos="6941184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3.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more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jobs,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37" baseline="19097" dirty="0">
                <a:latin typeface="Times New Roman"/>
                <a:cs typeface="Times New Roman"/>
              </a:rPr>
              <a:t>*</a:t>
            </a:r>
            <a:r>
              <a:rPr sz="2400" baseline="19097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2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baseline="-19097" dirty="0">
                <a:latin typeface="Times New Roman"/>
                <a:cs typeface="Times New Roman"/>
              </a:rPr>
              <a:t>m</a:t>
            </a:r>
            <a:r>
              <a:rPr sz="2400" baseline="-19097" dirty="0">
                <a:latin typeface="Times New Roman"/>
                <a:cs typeface="Times New Roman"/>
              </a:rPr>
              <a:t>+1 </a:t>
            </a:r>
            <a:r>
              <a:rPr sz="2400" spc="-50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679"/>
              </a:lnSpc>
              <a:tabLst>
                <a:tab pos="7770495" algn="l"/>
                <a:tab pos="8352790" algn="l"/>
                <a:tab pos="9053195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processing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first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+1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spc="525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baseline="-19097" dirty="0">
                <a:latin typeface="Times New Roman"/>
                <a:cs typeface="Times New Roman"/>
              </a:rPr>
              <a:t>2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…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t</a:t>
            </a:r>
            <a:r>
              <a:rPr sz="2400" i="1" spc="-15" baseline="-19097" dirty="0">
                <a:latin typeface="Times New Roman"/>
                <a:cs typeface="Times New Roman"/>
              </a:rPr>
              <a:t>m</a:t>
            </a:r>
            <a:r>
              <a:rPr sz="2400" spc="-15" baseline="-19097" dirty="0">
                <a:latin typeface="Times New Roman"/>
                <a:cs typeface="Times New Roman"/>
              </a:rPr>
              <a:t>+1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800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baseline="-19097" dirty="0">
                <a:latin typeface="Times New Roman"/>
                <a:cs typeface="Times New Roman"/>
              </a:rPr>
              <a:t>m</a:t>
            </a:r>
            <a:r>
              <a:rPr sz="2400" baseline="-19097" dirty="0">
                <a:latin typeface="Times New Roman"/>
                <a:cs typeface="Times New Roman"/>
              </a:rPr>
              <a:t>+1</a:t>
            </a:r>
            <a:r>
              <a:rPr sz="2400" spc="509" baseline="-19097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660400" marR="68580" indent="-457200">
              <a:lnSpc>
                <a:spcPts val="3800"/>
              </a:lnSpc>
              <a:spcBef>
                <a:spcPts val="400"/>
              </a:spcBef>
              <a:tabLst>
                <a:tab pos="6110605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machines,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pigeonhole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principle,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gets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-10" dirty="0">
                <a:latin typeface="Lucida Sans Unicode"/>
                <a:cs typeface="Lucida Sans Unicode"/>
              </a:rPr>
              <a:t> jobs.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 marL="76200" marR="2303145">
              <a:lnSpc>
                <a:spcPct val="131900"/>
              </a:lnSpc>
              <a:spcBef>
                <a:spcPts val="3520"/>
              </a:spcBef>
              <a:tabLst>
                <a:tab pos="645160" algn="l"/>
                <a:tab pos="16827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LPT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rule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3/2-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2400" spc="-4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similar</a:t>
            </a:r>
            <a:r>
              <a:rPr sz="2400" spc="-4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to</a:t>
            </a:r>
            <a:r>
              <a:rPr sz="2400" spc="-4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proof</a:t>
            </a:r>
            <a:r>
              <a:rPr sz="2400" spc="-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for</a:t>
            </a:r>
            <a:r>
              <a:rPr sz="2400" spc="-4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list</a:t>
            </a:r>
            <a:r>
              <a:rPr sz="2400" spc="-4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scheduling</a:t>
            </a:r>
            <a:r>
              <a:rPr sz="2400" spc="-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09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[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60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bottleneck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7424419"/>
            <a:ext cx="652653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scheduled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i</a:t>
            </a:r>
            <a:r>
              <a:rPr sz="2400" spc="-3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7100" y="9055100"/>
            <a:ext cx="9423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before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13092" y="9157762"/>
            <a:ext cx="430530" cy="121920"/>
            <a:chOff x="4613092" y="9157762"/>
            <a:chExt cx="430530" cy="121920"/>
          </a:xfrm>
        </p:grpSpPr>
        <p:sp>
          <p:nvSpPr>
            <p:cNvPr id="8" name="object 8"/>
            <p:cNvSpPr/>
            <p:nvPr/>
          </p:nvSpPr>
          <p:spPr>
            <a:xfrm>
              <a:off x="4613092" y="9218722"/>
              <a:ext cx="351790" cy="0"/>
            </a:xfrm>
            <a:custGeom>
              <a:avLst/>
              <a:gdLst/>
              <a:ahLst/>
              <a:cxnLst/>
              <a:rect l="l" t="t" r="r" b="b"/>
              <a:pathLst>
                <a:path w="351789">
                  <a:moveTo>
                    <a:pt x="351367" y="0"/>
                  </a:moveTo>
                  <a:lnTo>
                    <a:pt x="338667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21280" y="915776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0"/>
                  </a:moveTo>
                  <a:lnTo>
                    <a:pt x="30479" y="60960"/>
                  </a:lnTo>
                  <a:lnTo>
                    <a:pt x="0" y="121920"/>
                  </a:lnTo>
                  <a:lnTo>
                    <a:pt x="121919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4873793" y="8767733"/>
            <a:ext cx="1138555" cy="170815"/>
          </a:xfrm>
          <a:custGeom>
            <a:avLst/>
            <a:gdLst/>
            <a:ahLst/>
            <a:cxnLst/>
            <a:rect l="l" t="t" r="r" b="b"/>
            <a:pathLst>
              <a:path w="1138554" h="170815">
                <a:moveTo>
                  <a:pt x="0" y="0"/>
                </a:moveTo>
                <a:lnTo>
                  <a:pt x="7453" y="33217"/>
                </a:lnTo>
                <a:lnTo>
                  <a:pt x="27780" y="60343"/>
                </a:lnTo>
                <a:lnTo>
                  <a:pt x="57930" y="78631"/>
                </a:lnTo>
                <a:lnTo>
                  <a:pt x="94850" y="85338"/>
                </a:lnTo>
                <a:lnTo>
                  <a:pt x="474250" y="85338"/>
                </a:lnTo>
                <a:lnTo>
                  <a:pt x="511170" y="92044"/>
                </a:lnTo>
                <a:lnTo>
                  <a:pt x="541319" y="110333"/>
                </a:lnTo>
                <a:lnTo>
                  <a:pt x="561647" y="137459"/>
                </a:lnTo>
                <a:lnTo>
                  <a:pt x="569100" y="170676"/>
                </a:lnTo>
                <a:lnTo>
                  <a:pt x="576554" y="137459"/>
                </a:lnTo>
                <a:lnTo>
                  <a:pt x="596881" y="110333"/>
                </a:lnTo>
                <a:lnTo>
                  <a:pt x="627030" y="92044"/>
                </a:lnTo>
                <a:lnTo>
                  <a:pt x="663950" y="85338"/>
                </a:lnTo>
                <a:lnTo>
                  <a:pt x="1043350" y="85338"/>
                </a:lnTo>
                <a:lnTo>
                  <a:pt x="1080270" y="78631"/>
                </a:lnTo>
                <a:lnTo>
                  <a:pt x="1110419" y="60343"/>
                </a:lnTo>
                <a:lnTo>
                  <a:pt x="1130747" y="33217"/>
                </a:lnTo>
                <a:lnTo>
                  <a:pt x="1138201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45100" y="9042400"/>
            <a:ext cx="462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≤ </a:t>
            </a:r>
            <a:r>
              <a:rPr sz="1800" i="1" spc="-25" dirty="0">
                <a:latin typeface="Times New Roman"/>
                <a:cs typeface="Times New Roman"/>
              </a:rPr>
              <a:t>L</a:t>
            </a:r>
            <a:r>
              <a:rPr sz="1800" i="1" spc="-37" baseline="18518" dirty="0">
                <a:latin typeface="Times New Roman"/>
                <a:cs typeface="Times New Roman"/>
              </a:rPr>
              <a:t>*</a:t>
            </a:r>
            <a:endParaRPr sz="1800" baseline="1851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35900" y="9029700"/>
            <a:ext cx="2488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Lemma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3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(since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t</a:t>
            </a:r>
            <a:r>
              <a:rPr sz="1800" i="1" baseline="-20833" dirty="0">
                <a:solidFill>
                  <a:srgbClr val="8D3124"/>
                </a:solidFill>
                <a:latin typeface="Times New Roman"/>
                <a:cs typeface="Times New Roman"/>
              </a:rPr>
              <a:t>m</a:t>
            </a:r>
            <a:r>
              <a:rPr sz="1800" baseline="-20833" dirty="0">
                <a:solidFill>
                  <a:srgbClr val="8D3124"/>
                </a:solidFill>
                <a:latin typeface="Times New Roman"/>
                <a:cs typeface="Times New Roman"/>
              </a:rPr>
              <a:t>+1</a:t>
            </a:r>
            <a:r>
              <a:rPr sz="1800" spc="427" baseline="-20833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≥</a:t>
            </a:r>
            <a:r>
              <a:rPr sz="1800" spc="-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t</a:t>
            </a:r>
            <a:r>
              <a:rPr sz="1800" i="1" baseline="-20833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r>
              <a:rPr sz="1800" i="1" spc="-7" baseline="-20833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)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080954" y="9120872"/>
            <a:ext cx="666115" cy="121920"/>
            <a:chOff x="7080954" y="9120872"/>
            <a:chExt cx="666115" cy="121920"/>
          </a:xfrm>
        </p:grpSpPr>
        <p:sp>
          <p:nvSpPr>
            <p:cNvPr id="14" name="object 14"/>
            <p:cNvSpPr/>
            <p:nvPr/>
          </p:nvSpPr>
          <p:spPr>
            <a:xfrm>
              <a:off x="7159694" y="9181832"/>
              <a:ext cx="587375" cy="0"/>
            </a:xfrm>
            <a:custGeom>
              <a:avLst/>
              <a:gdLst/>
              <a:ahLst/>
              <a:cxnLst/>
              <a:rect l="l" t="t" r="r" b="b"/>
              <a:pathLst>
                <a:path w="587375">
                  <a:moveTo>
                    <a:pt x="0" y="0"/>
                  </a:moveTo>
                  <a:lnTo>
                    <a:pt x="12699" y="0"/>
                  </a:lnTo>
                  <a:lnTo>
                    <a:pt x="587003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80954" y="912087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6470650" y="8752043"/>
            <a:ext cx="386715" cy="157480"/>
          </a:xfrm>
          <a:custGeom>
            <a:avLst/>
            <a:gdLst/>
            <a:ahLst/>
            <a:cxnLst/>
            <a:rect l="l" t="t" r="r" b="b"/>
            <a:pathLst>
              <a:path w="386715" h="157479">
                <a:moveTo>
                  <a:pt x="0" y="0"/>
                </a:moveTo>
                <a:lnTo>
                  <a:pt x="2530" y="30536"/>
                </a:lnTo>
                <a:lnTo>
                  <a:pt x="9430" y="55472"/>
                </a:lnTo>
                <a:lnTo>
                  <a:pt x="19664" y="72284"/>
                </a:lnTo>
                <a:lnTo>
                  <a:pt x="32196" y="78449"/>
                </a:lnTo>
                <a:lnTo>
                  <a:pt x="160984" y="78449"/>
                </a:lnTo>
                <a:lnTo>
                  <a:pt x="173516" y="84614"/>
                </a:lnTo>
                <a:lnTo>
                  <a:pt x="183750" y="101426"/>
                </a:lnTo>
                <a:lnTo>
                  <a:pt x="190650" y="126362"/>
                </a:lnTo>
                <a:lnTo>
                  <a:pt x="193181" y="156899"/>
                </a:lnTo>
                <a:lnTo>
                  <a:pt x="195711" y="126362"/>
                </a:lnTo>
                <a:lnTo>
                  <a:pt x="202611" y="101426"/>
                </a:lnTo>
                <a:lnTo>
                  <a:pt x="212845" y="84614"/>
                </a:lnTo>
                <a:lnTo>
                  <a:pt x="225377" y="78449"/>
                </a:lnTo>
                <a:lnTo>
                  <a:pt x="354165" y="78449"/>
                </a:lnTo>
                <a:lnTo>
                  <a:pt x="366697" y="72284"/>
                </a:lnTo>
                <a:lnTo>
                  <a:pt x="376931" y="55472"/>
                </a:lnTo>
                <a:lnTo>
                  <a:pt x="383832" y="30536"/>
                </a:lnTo>
                <a:lnTo>
                  <a:pt x="386362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86500" y="9029700"/>
            <a:ext cx="690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≤ ½ </a:t>
            </a:r>
            <a:r>
              <a:rPr sz="1800" i="1" spc="-25" dirty="0">
                <a:latin typeface="Times New Roman"/>
                <a:cs typeface="Times New Roman"/>
              </a:rPr>
              <a:t>L</a:t>
            </a:r>
            <a:r>
              <a:rPr sz="1800" i="1" spc="-37" baseline="18518" dirty="0">
                <a:latin typeface="Times New Roman"/>
                <a:cs typeface="Times New Roman"/>
              </a:rPr>
              <a:t>*</a:t>
            </a:r>
            <a:endParaRPr sz="1800" baseline="18518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34400" y="8267700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42350" y="8161190"/>
            <a:ext cx="48514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97840" algn="l"/>
                <a:tab pos="902335" algn="l"/>
                <a:tab pos="1550670" algn="l"/>
                <a:tab pos="1955800" algn="l"/>
                <a:tab pos="3432175" algn="l"/>
                <a:tab pos="3820795" algn="l"/>
                <a:tab pos="4576445" algn="l"/>
              </a:tabLst>
            </a:pPr>
            <a:r>
              <a:rPr sz="2400" i="1" spc="555" dirty="0">
                <a:latin typeface="Calibri"/>
                <a:cs typeface="Calibri"/>
              </a:rPr>
              <a:t>L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spc="155" dirty="0">
                <a:latin typeface="Calibri"/>
                <a:cs typeface="Calibri"/>
              </a:rPr>
              <a:t>L</a:t>
            </a:r>
            <a:r>
              <a:rPr sz="2400" spc="155" dirty="0">
                <a:latin typeface="Calibri"/>
                <a:cs typeface="Calibri"/>
              </a:rPr>
              <a:t>[</a:t>
            </a:r>
            <a:r>
              <a:rPr sz="2400" i="1" spc="155" dirty="0">
                <a:latin typeface="Calibri"/>
                <a:cs typeface="Calibri"/>
              </a:rPr>
              <a:t>i</a:t>
            </a:r>
            <a:r>
              <a:rPr sz="2400" spc="155" dirty="0">
                <a:latin typeface="Calibri"/>
                <a:cs typeface="Calibri"/>
              </a:rPr>
              <a:t>]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180" dirty="0">
                <a:latin typeface="Calibri"/>
                <a:cs typeface="Calibri"/>
              </a:rPr>
              <a:t>(</a:t>
            </a:r>
            <a:r>
              <a:rPr sz="2400" i="1" spc="180" dirty="0">
                <a:latin typeface="Calibri"/>
                <a:cs typeface="Calibri"/>
              </a:rPr>
              <a:t>L</a:t>
            </a:r>
            <a:r>
              <a:rPr sz="2400" spc="180" dirty="0">
                <a:latin typeface="Calibri"/>
                <a:cs typeface="Calibri"/>
              </a:rPr>
              <a:t>[</a:t>
            </a:r>
            <a:r>
              <a:rPr sz="2400" i="1" spc="180" dirty="0">
                <a:latin typeface="Calibri"/>
                <a:cs typeface="Calibri"/>
              </a:rPr>
              <a:t>i</a:t>
            </a:r>
            <a:r>
              <a:rPr sz="2400" spc="180" dirty="0">
                <a:latin typeface="Calibri"/>
                <a:cs typeface="Calibri"/>
              </a:rPr>
              <a:t>]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-300" dirty="0">
                <a:latin typeface="Times New Roman"/>
                <a:cs typeface="Times New Roman"/>
              </a:rPr>
              <a:t>—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220" dirty="0">
                <a:latin typeface="Calibri"/>
                <a:cs typeface="Calibri"/>
              </a:rPr>
              <a:t>t</a:t>
            </a:r>
            <a:r>
              <a:rPr sz="2475" i="1" spc="330" baseline="-11784" dirty="0">
                <a:latin typeface="Calibri"/>
                <a:cs typeface="Calibri"/>
              </a:rPr>
              <a:t>j</a:t>
            </a:r>
            <a:r>
              <a:rPr sz="2475" i="1" spc="-225" baseline="-11784" dirty="0">
                <a:latin typeface="Calibri"/>
                <a:cs typeface="Calibri"/>
              </a:rPr>
              <a:t> </a:t>
            </a:r>
            <a:r>
              <a:rPr sz="2400" spc="145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595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i="1" spc="195" dirty="0">
                <a:latin typeface="Calibri"/>
                <a:cs typeface="Calibri"/>
              </a:rPr>
              <a:t>t</a:t>
            </a:r>
            <a:r>
              <a:rPr sz="2475" i="1" spc="292" baseline="-11784" dirty="0">
                <a:latin typeface="Calibri"/>
                <a:cs typeface="Calibri"/>
              </a:rPr>
              <a:t>j</a:t>
            </a:r>
            <a:r>
              <a:rPr sz="2475" i="1" baseline="-11784" dirty="0">
                <a:latin typeface="Calibri"/>
                <a:cs typeface="Calibri"/>
              </a:rPr>
              <a:t>	</a:t>
            </a:r>
            <a:r>
              <a:rPr sz="2400" i="1" spc="484" dirty="0">
                <a:latin typeface="Times New Roman"/>
                <a:cs typeface="Times New Roman"/>
              </a:rPr>
              <a:t>≤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98434" y="8368149"/>
            <a:ext cx="17780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3034" y="7954230"/>
            <a:ext cx="646430" cy="4705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755"/>
              </a:lnSpc>
              <a:spcBef>
                <a:spcPts val="90"/>
              </a:spcBef>
            </a:pP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276860">
              <a:lnSpc>
                <a:spcPts val="1755"/>
              </a:lnSpc>
            </a:pPr>
            <a:r>
              <a:rPr sz="3600" i="1" spc="419" baseline="-23148" dirty="0">
                <a:latin typeface="Calibri"/>
                <a:cs typeface="Calibri"/>
              </a:rPr>
              <a:t>L</a:t>
            </a:r>
            <a:r>
              <a:rPr sz="1650" i="1" spc="280" dirty="0">
                <a:latin typeface="Franklin Gothic Medium"/>
                <a:cs typeface="Franklin Gothic Medium"/>
              </a:rPr>
              <a:t>*</a:t>
            </a:r>
            <a:endParaRPr sz="165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80400" y="7378700"/>
            <a:ext cx="3921125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assuming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800" i="1" spc="5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has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at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least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jobs, </a:t>
            </a:r>
            <a:r>
              <a:rPr sz="1600" spc="50" dirty="0">
                <a:solidFill>
                  <a:srgbClr val="8D3124"/>
                </a:solidFill>
                <a:latin typeface="Lucida Sans Unicode"/>
                <a:cs typeface="Lucida Sans Unicode"/>
              </a:rPr>
              <a:t>we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have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j</a:t>
            </a:r>
            <a:r>
              <a:rPr sz="1800" i="1" spc="47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≥</a:t>
            </a:r>
            <a:r>
              <a:rPr sz="1800" spc="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m</a:t>
            </a:r>
            <a:r>
              <a:rPr sz="1800" i="1" spc="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+</a:t>
            </a:r>
            <a:r>
              <a:rPr sz="1800" spc="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8D3124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518489" y="7786161"/>
            <a:ext cx="643890" cy="121920"/>
            <a:chOff x="7518489" y="7786161"/>
            <a:chExt cx="643890" cy="121920"/>
          </a:xfrm>
        </p:grpSpPr>
        <p:sp>
          <p:nvSpPr>
            <p:cNvPr id="24" name="object 24"/>
            <p:cNvSpPr/>
            <p:nvPr/>
          </p:nvSpPr>
          <p:spPr>
            <a:xfrm>
              <a:off x="7597229" y="7847121"/>
              <a:ext cx="565150" cy="0"/>
            </a:xfrm>
            <a:custGeom>
              <a:avLst/>
              <a:gdLst/>
              <a:ahLst/>
              <a:cxnLst/>
              <a:rect l="l" t="t" r="r" b="b"/>
              <a:pathLst>
                <a:path w="565150">
                  <a:moveTo>
                    <a:pt x="0" y="0"/>
                  </a:moveTo>
                  <a:lnTo>
                    <a:pt x="12699" y="0"/>
                  </a:lnTo>
                  <a:lnTo>
                    <a:pt x="564588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18489" y="7786161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91440" y="6096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4099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8450" algn="l"/>
              </a:tabLst>
            </a:pPr>
            <a:r>
              <a:rPr dirty="0"/>
              <a:t>Load</a:t>
            </a:r>
            <a:r>
              <a:rPr spc="8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-350" dirty="0"/>
              <a:t>LPT</a:t>
            </a:r>
            <a:r>
              <a:rPr spc="85" dirty="0"/>
              <a:t> </a:t>
            </a:r>
            <a:r>
              <a:rPr spc="-20" dirty="0"/>
              <a:t>rule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0115550" cy="681863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19"/>
              </a:spcBef>
              <a:tabLst>
                <a:tab pos="5759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our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3/2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tight?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919"/>
              </a:spcBef>
              <a:tabLst>
                <a:tab pos="5499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No.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 marR="1240790">
              <a:lnSpc>
                <a:spcPct val="131900"/>
              </a:lnSpc>
              <a:tabLst>
                <a:tab pos="619760" algn="l"/>
                <a:tab pos="1657350" algn="l"/>
                <a:tab pos="407162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[Graham</a:t>
            </a:r>
            <a:r>
              <a:rPr sz="24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606060"/>
                </a:solidFill>
                <a:latin typeface="Lucida Sans Unicode"/>
                <a:cs typeface="Lucida Sans Unicode"/>
              </a:rPr>
              <a:t>1969]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LPT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rule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4/3-</a:t>
            </a:r>
            <a:r>
              <a:rPr sz="2400" spc="-40" dirty="0">
                <a:latin typeface="Lucida Sans Unicode"/>
                <a:cs typeface="Lucida Sans Unicode"/>
              </a:rPr>
              <a:t>approximation.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More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sophisticated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5759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Graham’s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4/3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tight?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919"/>
              </a:spcBef>
              <a:tabLst>
                <a:tab pos="5499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Essentially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yes.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machines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20" dirty="0">
                <a:latin typeface="Times New Roman"/>
                <a:cs typeface="Times New Roman"/>
              </a:rPr>
              <a:t>2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+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jobs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length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+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10" dirty="0">
                <a:latin typeface="Times New Roman"/>
                <a:cs typeface="Times New Roman"/>
              </a:rPr>
              <a:t> …,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–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more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length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Then,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spc="-5" dirty="0">
                <a:latin typeface="Times New Roman"/>
                <a:cs typeface="Times New Roman"/>
              </a:rPr>
              <a:t> /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284" baseline="19097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= (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− </a:t>
            </a:r>
            <a:r>
              <a:rPr sz="2400" dirty="0">
                <a:latin typeface="Times New Roman"/>
                <a:cs typeface="Times New Roman"/>
              </a:rPr>
              <a:t>1)</a:t>
            </a:r>
            <a:r>
              <a:rPr sz="2400" spc="-10" dirty="0">
                <a:latin typeface="Times New Roman"/>
                <a:cs typeface="Times New Roman"/>
              </a:rPr>
              <a:t> / </a:t>
            </a:r>
            <a:r>
              <a:rPr sz="2400" spc="-20" dirty="0">
                <a:latin typeface="Times New Roman"/>
                <a:cs typeface="Times New Roman"/>
              </a:rPr>
              <a:t>(3</a:t>
            </a:r>
            <a:r>
              <a:rPr sz="2400" i="1" spc="-20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Believe</a:t>
            </a:r>
            <a:r>
              <a:rPr spc="15" dirty="0"/>
              <a:t> </a:t>
            </a:r>
            <a:r>
              <a:rPr dirty="0"/>
              <a:t>it</a:t>
            </a:r>
            <a:r>
              <a:rPr spc="15" dirty="0"/>
              <a:t> </a:t>
            </a:r>
            <a:r>
              <a:rPr spc="105" dirty="0"/>
              <a:t>or</a:t>
            </a:r>
            <a:r>
              <a:rPr spc="20" dirty="0"/>
              <a:t> </a:t>
            </a:r>
            <a:r>
              <a:rPr spc="-25" dirty="0"/>
              <a:t>not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7785" y="5168879"/>
            <a:ext cx="817244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25475" algn="l"/>
              </a:tabLst>
            </a:pPr>
            <a:r>
              <a:rPr sz="2550" i="1" dirty="0">
                <a:latin typeface="Times New Roman"/>
                <a:cs typeface="Times New Roman"/>
              </a:rPr>
              <a:t>L</a:t>
            </a:r>
            <a:r>
              <a:rPr sz="2550" i="1" spc="-21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*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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286" y="5182433"/>
            <a:ext cx="200025" cy="494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39"/>
              </a:lnSpc>
              <a:spcBef>
                <a:spcPts val="105"/>
              </a:spcBef>
            </a:pPr>
            <a:r>
              <a:rPr sz="1700" u="sng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  <a:p>
            <a:pPr marL="30480">
              <a:lnSpc>
                <a:spcPts val="1839"/>
              </a:lnSpc>
            </a:pPr>
            <a:r>
              <a:rPr sz="1700" i="1" spc="-50" dirty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7505" y="5378978"/>
            <a:ext cx="857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spc="-50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7843" y="5182433"/>
            <a:ext cx="25717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50" dirty="0">
                <a:latin typeface="Symbol"/>
                <a:cs typeface="Symbol"/>
              </a:rPr>
              <a:t>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1554" y="5168879"/>
            <a:ext cx="38544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550" i="1" spc="-10" dirty="0">
                <a:latin typeface="Times New Roman"/>
                <a:cs typeface="Times New Roman"/>
              </a:rPr>
              <a:t>t</a:t>
            </a:r>
            <a:r>
              <a:rPr sz="2550" i="1" spc="-340" dirty="0">
                <a:latin typeface="Times New Roman"/>
                <a:cs typeface="Times New Roman"/>
              </a:rPr>
              <a:t> </a:t>
            </a:r>
            <a:r>
              <a:rPr sz="2550" i="1" spc="-15" baseline="-21241" dirty="0">
                <a:latin typeface="Times New Roman"/>
                <a:cs typeface="Times New Roman"/>
              </a:rPr>
              <a:t>j</a:t>
            </a:r>
            <a:r>
              <a:rPr sz="2550" i="1" spc="-172" baseline="-21241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.</a:t>
            </a:r>
            <a:endParaRPr sz="25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990573"/>
            <a:ext cx="11709400" cy="87630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6712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700" algn="l"/>
                <a:tab pos="4297680" algn="l"/>
              </a:tabLst>
            </a:pPr>
            <a:r>
              <a:rPr sz="3600" b="1" cap="small" spc="-25" dirty="0">
                <a:latin typeface="Tahoma"/>
                <a:cs typeface="Tahoma"/>
              </a:rPr>
              <a:t>11.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50" dirty="0">
                <a:latin typeface="Tahoma"/>
                <a:cs typeface="Tahoma"/>
              </a:rPr>
              <a:t>Approximation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04" dirty="0">
                <a:latin typeface="Tahoma"/>
                <a:cs typeface="Tahoma"/>
              </a:rPr>
              <a:t>Algorithms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195" dirty="0"/>
              <a:t>load</a:t>
            </a:r>
            <a:r>
              <a:rPr sz="3000" spc="-170" dirty="0"/>
              <a:t> </a:t>
            </a:r>
            <a:r>
              <a:rPr sz="3000" spc="-95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5" dirty="0">
                <a:solidFill>
                  <a:srgbClr val="000000"/>
                </a:solidFill>
              </a:rPr>
              <a:t>center</a:t>
            </a:r>
            <a:r>
              <a:rPr sz="3000" spc="-175" dirty="0">
                <a:solidFill>
                  <a:srgbClr val="000000"/>
                </a:solidFill>
              </a:rPr>
              <a:t> </a:t>
            </a:r>
            <a:r>
              <a:rPr sz="3000" spc="-305" dirty="0">
                <a:solidFill>
                  <a:srgbClr val="000000"/>
                </a:solidFill>
              </a:rPr>
              <a:t>selection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10" dirty="0"/>
              <a:t>pricing</a:t>
            </a:r>
            <a:r>
              <a:rPr sz="3000" spc="-160" dirty="0"/>
              <a:t> </a:t>
            </a:r>
            <a:r>
              <a:rPr sz="3000" spc="-390" dirty="0"/>
              <a:t>method:</a:t>
            </a:r>
            <a:r>
              <a:rPr sz="3000" spc="-155" dirty="0"/>
              <a:t> </a:t>
            </a:r>
            <a:r>
              <a:rPr sz="3000" spc="-295" dirty="0"/>
              <a:t>weighted</a:t>
            </a:r>
            <a:r>
              <a:rPr sz="3000" spc="-155" dirty="0"/>
              <a:t> </a:t>
            </a:r>
            <a:r>
              <a:rPr sz="3000" spc="-355" dirty="0"/>
              <a:t>vertex</a:t>
            </a:r>
            <a:r>
              <a:rPr sz="3000" spc="-155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440" dirty="0"/>
              <a:t>LP</a:t>
            </a:r>
            <a:r>
              <a:rPr sz="3000" spc="-170" dirty="0"/>
              <a:t> </a:t>
            </a:r>
            <a:r>
              <a:rPr sz="3000" spc="-280" dirty="0"/>
              <a:t>rounding:</a:t>
            </a:r>
            <a:r>
              <a:rPr sz="3000" spc="-170" dirty="0"/>
              <a:t> </a:t>
            </a:r>
            <a:r>
              <a:rPr sz="3000" spc="-295" dirty="0"/>
              <a:t>weighted</a:t>
            </a:r>
            <a:r>
              <a:rPr sz="3000" spc="-170" dirty="0"/>
              <a:t> </a:t>
            </a:r>
            <a:r>
              <a:rPr sz="3000" spc="-355" dirty="0"/>
              <a:t>vertex</a:t>
            </a:r>
            <a:r>
              <a:rPr sz="3000" spc="-170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29" dirty="0"/>
              <a:t>generalized</a:t>
            </a:r>
            <a:r>
              <a:rPr sz="3000" spc="-130" dirty="0"/>
              <a:t> </a:t>
            </a:r>
            <a:r>
              <a:rPr sz="3000" spc="-195" dirty="0"/>
              <a:t>load</a:t>
            </a:r>
            <a:r>
              <a:rPr sz="3000" spc="-125" dirty="0"/>
              <a:t> </a:t>
            </a:r>
            <a:r>
              <a:rPr sz="3000" spc="-90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/>
              <a:t>knapsack</a:t>
            </a:r>
            <a:r>
              <a:rPr sz="3000" spc="-155" dirty="0"/>
              <a:t> </a:t>
            </a:r>
            <a:r>
              <a:rPr sz="3000" spc="-295" dirty="0"/>
              <a:t>problem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146300" y="6921500"/>
            <a:ext cx="145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70" dirty="0">
                <a:solidFill>
                  <a:srgbClr val="606060"/>
                </a:solidFill>
                <a:latin typeface="Tahoma"/>
                <a:cs typeface="Tahoma"/>
              </a:rPr>
              <a:t>11.2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Center</a:t>
            </a:r>
            <a:r>
              <a:rPr spc="-45" dirty="0"/>
              <a:t> </a:t>
            </a:r>
            <a:r>
              <a:rPr dirty="0"/>
              <a:t>selection</a:t>
            </a:r>
            <a:r>
              <a:rPr spc="-4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400" y="1333500"/>
            <a:ext cx="7906955" cy="2197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11250" algn="l"/>
                <a:tab pos="6753225" algn="l"/>
                <a:tab pos="7077709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Input.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9097" dirty="0">
                <a:latin typeface="Times New Roman"/>
                <a:cs typeface="Times New Roman"/>
              </a:rPr>
              <a:t>n</a:t>
            </a:r>
            <a:r>
              <a:rPr sz="2400" i="1" spc="50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k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 marR="17780">
              <a:lnSpc>
                <a:spcPct val="131900"/>
              </a:lnSpc>
              <a:tabLst>
                <a:tab pos="406781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Center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selection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Select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maximum </a:t>
            </a:r>
            <a:r>
              <a:rPr sz="2400" dirty="0">
                <a:latin typeface="Lucida Sans Unicode"/>
                <a:cs typeface="Lucida Sans Unicode"/>
              </a:rPr>
              <a:t>distance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nearest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minimized.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41500" y="3683000"/>
            <a:ext cx="9361170" cy="5524500"/>
            <a:chOff x="1841500" y="3683000"/>
            <a:chExt cx="9361170" cy="5524500"/>
          </a:xfrm>
        </p:grpSpPr>
        <p:sp>
          <p:nvSpPr>
            <p:cNvPr id="6" name="object 6"/>
            <p:cNvSpPr/>
            <p:nvPr/>
          </p:nvSpPr>
          <p:spPr>
            <a:xfrm>
              <a:off x="1841500" y="3683000"/>
              <a:ext cx="9361170" cy="5524500"/>
            </a:xfrm>
            <a:custGeom>
              <a:avLst/>
              <a:gdLst/>
              <a:ahLst/>
              <a:cxnLst/>
              <a:rect l="l" t="t" r="r" b="b"/>
              <a:pathLst>
                <a:path w="9361170" h="5524500">
                  <a:moveTo>
                    <a:pt x="9360747" y="0"/>
                  </a:moveTo>
                  <a:lnTo>
                    <a:pt x="0" y="0"/>
                  </a:lnTo>
                  <a:lnTo>
                    <a:pt x="0" y="5524500"/>
                  </a:lnTo>
                  <a:lnTo>
                    <a:pt x="9360747" y="5524500"/>
                  </a:lnTo>
                  <a:lnTo>
                    <a:pt x="9360747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97604" y="4021320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2" y="0"/>
                  </a:moveTo>
                  <a:lnTo>
                    <a:pt x="1107831" y="0"/>
                  </a:lnTo>
                  <a:lnTo>
                    <a:pt x="1063359" y="1741"/>
                  </a:lnTo>
                  <a:lnTo>
                    <a:pt x="1018969" y="5223"/>
                  </a:lnTo>
                  <a:lnTo>
                    <a:pt x="974718" y="10447"/>
                  </a:lnTo>
                  <a:lnTo>
                    <a:pt x="930661" y="17412"/>
                  </a:lnTo>
                  <a:lnTo>
                    <a:pt x="886854" y="26118"/>
                  </a:lnTo>
                  <a:lnTo>
                    <a:pt x="843352" y="36566"/>
                  </a:lnTo>
                  <a:lnTo>
                    <a:pt x="800211" y="48755"/>
                  </a:lnTo>
                  <a:lnTo>
                    <a:pt x="757486" y="62685"/>
                  </a:lnTo>
                  <a:lnTo>
                    <a:pt x="715232" y="78356"/>
                  </a:lnTo>
                  <a:lnTo>
                    <a:pt x="673506" y="95769"/>
                  </a:lnTo>
                  <a:lnTo>
                    <a:pt x="632362" y="114923"/>
                  </a:lnTo>
                  <a:lnTo>
                    <a:pt x="591856" y="135818"/>
                  </a:lnTo>
                  <a:lnTo>
                    <a:pt x="552043" y="158454"/>
                  </a:lnTo>
                  <a:lnTo>
                    <a:pt x="512980" y="182832"/>
                  </a:lnTo>
                  <a:lnTo>
                    <a:pt x="474721" y="208950"/>
                  </a:lnTo>
                  <a:lnTo>
                    <a:pt x="437322" y="236811"/>
                  </a:lnTo>
                  <a:lnTo>
                    <a:pt x="400838" y="266412"/>
                  </a:lnTo>
                  <a:lnTo>
                    <a:pt x="365326" y="297755"/>
                  </a:lnTo>
                  <a:lnTo>
                    <a:pt x="330839" y="330838"/>
                  </a:lnTo>
                  <a:lnTo>
                    <a:pt x="297755" y="365325"/>
                  </a:lnTo>
                  <a:lnTo>
                    <a:pt x="266413" y="400837"/>
                  </a:lnTo>
                  <a:lnTo>
                    <a:pt x="236811" y="437321"/>
                  </a:lnTo>
                  <a:lnTo>
                    <a:pt x="208951" y="474720"/>
                  </a:lnTo>
                  <a:lnTo>
                    <a:pt x="182832" y="512979"/>
                  </a:lnTo>
                  <a:lnTo>
                    <a:pt x="158454" y="552043"/>
                  </a:lnTo>
                  <a:lnTo>
                    <a:pt x="135818" y="591855"/>
                  </a:lnTo>
                  <a:lnTo>
                    <a:pt x="114923" y="632361"/>
                  </a:lnTo>
                  <a:lnTo>
                    <a:pt x="95769" y="673505"/>
                  </a:lnTo>
                  <a:lnTo>
                    <a:pt x="78356" y="715232"/>
                  </a:lnTo>
                  <a:lnTo>
                    <a:pt x="62685" y="757485"/>
                  </a:lnTo>
                  <a:lnTo>
                    <a:pt x="48755" y="800211"/>
                  </a:lnTo>
                  <a:lnTo>
                    <a:pt x="36566" y="843352"/>
                  </a:lnTo>
                  <a:lnTo>
                    <a:pt x="26118" y="886854"/>
                  </a:lnTo>
                  <a:lnTo>
                    <a:pt x="17412" y="930661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1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5"/>
                  </a:lnTo>
                  <a:lnTo>
                    <a:pt x="17412" y="1329502"/>
                  </a:lnTo>
                  <a:lnTo>
                    <a:pt x="26118" y="1373309"/>
                  </a:lnTo>
                  <a:lnTo>
                    <a:pt x="36566" y="1416811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1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0"/>
                  </a:lnTo>
                  <a:lnTo>
                    <a:pt x="182832" y="1747184"/>
                  </a:lnTo>
                  <a:lnTo>
                    <a:pt x="208951" y="1785443"/>
                  </a:lnTo>
                  <a:lnTo>
                    <a:pt x="236811" y="1822842"/>
                  </a:lnTo>
                  <a:lnTo>
                    <a:pt x="266413" y="1859325"/>
                  </a:lnTo>
                  <a:lnTo>
                    <a:pt x="297755" y="1894838"/>
                  </a:lnTo>
                  <a:lnTo>
                    <a:pt x="330839" y="1929324"/>
                  </a:lnTo>
                  <a:lnTo>
                    <a:pt x="365326" y="1962408"/>
                  </a:lnTo>
                  <a:lnTo>
                    <a:pt x="400838" y="1993751"/>
                  </a:lnTo>
                  <a:lnTo>
                    <a:pt x="437322" y="2023352"/>
                  </a:lnTo>
                  <a:lnTo>
                    <a:pt x="474721" y="2051212"/>
                  </a:lnTo>
                  <a:lnTo>
                    <a:pt x="512980" y="2077331"/>
                  </a:lnTo>
                  <a:lnTo>
                    <a:pt x="552043" y="2101709"/>
                  </a:lnTo>
                  <a:lnTo>
                    <a:pt x="591856" y="2124345"/>
                  </a:lnTo>
                  <a:lnTo>
                    <a:pt x="632362" y="2145241"/>
                  </a:lnTo>
                  <a:lnTo>
                    <a:pt x="673506" y="2164394"/>
                  </a:lnTo>
                  <a:lnTo>
                    <a:pt x="715232" y="2181807"/>
                  </a:lnTo>
                  <a:lnTo>
                    <a:pt x="757486" y="2197478"/>
                  </a:lnTo>
                  <a:lnTo>
                    <a:pt x="800211" y="2211409"/>
                  </a:lnTo>
                  <a:lnTo>
                    <a:pt x="843352" y="2223597"/>
                  </a:lnTo>
                  <a:lnTo>
                    <a:pt x="886854" y="2234045"/>
                  </a:lnTo>
                  <a:lnTo>
                    <a:pt x="930661" y="2242751"/>
                  </a:lnTo>
                  <a:lnTo>
                    <a:pt x="974718" y="2249716"/>
                  </a:lnTo>
                  <a:lnTo>
                    <a:pt x="1018969" y="2254940"/>
                  </a:lnTo>
                  <a:lnTo>
                    <a:pt x="1063359" y="2258423"/>
                  </a:lnTo>
                  <a:lnTo>
                    <a:pt x="1107831" y="2260164"/>
                  </a:lnTo>
                  <a:lnTo>
                    <a:pt x="1152332" y="2260164"/>
                  </a:lnTo>
                  <a:lnTo>
                    <a:pt x="1196805" y="2258423"/>
                  </a:lnTo>
                  <a:lnTo>
                    <a:pt x="1241195" y="2254940"/>
                  </a:lnTo>
                  <a:lnTo>
                    <a:pt x="1285445" y="2249716"/>
                  </a:lnTo>
                  <a:lnTo>
                    <a:pt x="1329502" y="2242751"/>
                  </a:lnTo>
                  <a:lnTo>
                    <a:pt x="1373309" y="2234045"/>
                  </a:lnTo>
                  <a:lnTo>
                    <a:pt x="1416811" y="2223597"/>
                  </a:lnTo>
                  <a:lnTo>
                    <a:pt x="1459953" y="2211409"/>
                  </a:lnTo>
                  <a:lnTo>
                    <a:pt x="1502678" y="2197478"/>
                  </a:lnTo>
                  <a:lnTo>
                    <a:pt x="1544932" y="2181807"/>
                  </a:lnTo>
                  <a:lnTo>
                    <a:pt x="1586658" y="2164394"/>
                  </a:lnTo>
                  <a:lnTo>
                    <a:pt x="1627802" y="2145241"/>
                  </a:lnTo>
                  <a:lnTo>
                    <a:pt x="1668308" y="2124345"/>
                  </a:lnTo>
                  <a:lnTo>
                    <a:pt x="1708121" y="2101709"/>
                  </a:lnTo>
                  <a:lnTo>
                    <a:pt x="1747184" y="2077331"/>
                  </a:lnTo>
                  <a:lnTo>
                    <a:pt x="1785443" y="2051212"/>
                  </a:lnTo>
                  <a:lnTo>
                    <a:pt x="1822842" y="2023352"/>
                  </a:lnTo>
                  <a:lnTo>
                    <a:pt x="1859326" y="1993751"/>
                  </a:lnTo>
                  <a:lnTo>
                    <a:pt x="1894839" y="1962408"/>
                  </a:lnTo>
                  <a:lnTo>
                    <a:pt x="1929325" y="1929324"/>
                  </a:lnTo>
                  <a:lnTo>
                    <a:pt x="1962409" y="1894838"/>
                  </a:lnTo>
                  <a:lnTo>
                    <a:pt x="1993751" y="1859325"/>
                  </a:lnTo>
                  <a:lnTo>
                    <a:pt x="2023353" y="1822842"/>
                  </a:lnTo>
                  <a:lnTo>
                    <a:pt x="2051213" y="1785443"/>
                  </a:lnTo>
                  <a:lnTo>
                    <a:pt x="2077332" y="1747184"/>
                  </a:lnTo>
                  <a:lnTo>
                    <a:pt x="2101709" y="1708120"/>
                  </a:lnTo>
                  <a:lnTo>
                    <a:pt x="2124346" y="1668308"/>
                  </a:lnTo>
                  <a:lnTo>
                    <a:pt x="2145241" y="1627802"/>
                  </a:lnTo>
                  <a:lnTo>
                    <a:pt x="2164395" y="1586658"/>
                  </a:lnTo>
                  <a:lnTo>
                    <a:pt x="2181807" y="1544931"/>
                  </a:lnTo>
                  <a:lnTo>
                    <a:pt x="2197479" y="1502678"/>
                  </a:lnTo>
                  <a:lnTo>
                    <a:pt x="2211409" y="1459953"/>
                  </a:lnTo>
                  <a:lnTo>
                    <a:pt x="2223597" y="1416811"/>
                  </a:lnTo>
                  <a:lnTo>
                    <a:pt x="2234045" y="1373309"/>
                  </a:lnTo>
                  <a:lnTo>
                    <a:pt x="2242751" y="1329502"/>
                  </a:lnTo>
                  <a:lnTo>
                    <a:pt x="2249716" y="1285445"/>
                  </a:lnTo>
                  <a:lnTo>
                    <a:pt x="2254940" y="1241195"/>
                  </a:lnTo>
                  <a:lnTo>
                    <a:pt x="2258423" y="1196805"/>
                  </a:lnTo>
                  <a:lnTo>
                    <a:pt x="2260164" y="1152332"/>
                  </a:lnTo>
                  <a:lnTo>
                    <a:pt x="2260164" y="1107831"/>
                  </a:lnTo>
                  <a:lnTo>
                    <a:pt x="2258423" y="1063359"/>
                  </a:lnTo>
                  <a:lnTo>
                    <a:pt x="2254940" y="1018969"/>
                  </a:lnTo>
                  <a:lnTo>
                    <a:pt x="2249716" y="974718"/>
                  </a:lnTo>
                  <a:lnTo>
                    <a:pt x="2242751" y="930661"/>
                  </a:lnTo>
                  <a:lnTo>
                    <a:pt x="2234045" y="886854"/>
                  </a:lnTo>
                  <a:lnTo>
                    <a:pt x="2223597" y="843352"/>
                  </a:lnTo>
                  <a:lnTo>
                    <a:pt x="2211409" y="800211"/>
                  </a:lnTo>
                  <a:lnTo>
                    <a:pt x="2197479" y="757485"/>
                  </a:lnTo>
                  <a:lnTo>
                    <a:pt x="2181807" y="715232"/>
                  </a:lnTo>
                  <a:lnTo>
                    <a:pt x="2164395" y="673505"/>
                  </a:lnTo>
                  <a:lnTo>
                    <a:pt x="2145241" y="632361"/>
                  </a:lnTo>
                  <a:lnTo>
                    <a:pt x="2124346" y="591855"/>
                  </a:lnTo>
                  <a:lnTo>
                    <a:pt x="2101709" y="552043"/>
                  </a:lnTo>
                  <a:lnTo>
                    <a:pt x="2077332" y="512979"/>
                  </a:lnTo>
                  <a:lnTo>
                    <a:pt x="2051213" y="474720"/>
                  </a:lnTo>
                  <a:lnTo>
                    <a:pt x="2023353" y="437321"/>
                  </a:lnTo>
                  <a:lnTo>
                    <a:pt x="1993751" y="400837"/>
                  </a:lnTo>
                  <a:lnTo>
                    <a:pt x="1962409" y="365325"/>
                  </a:lnTo>
                  <a:lnTo>
                    <a:pt x="1929325" y="330838"/>
                  </a:lnTo>
                  <a:lnTo>
                    <a:pt x="1894839" y="297755"/>
                  </a:lnTo>
                  <a:lnTo>
                    <a:pt x="1859326" y="266412"/>
                  </a:lnTo>
                  <a:lnTo>
                    <a:pt x="1822842" y="236811"/>
                  </a:lnTo>
                  <a:lnTo>
                    <a:pt x="1785443" y="208950"/>
                  </a:lnTo>
                  <a:lnTo>
                    <a:pt x="1747184" y="182832"/>
                  </a:lnTo>
                  <a:lnTo>
                    <a:pt x="1708121" y="158454"/>
                  </a:lnTo>
                  <a:lnTo>
                    <a:pt x="1668308" y="135818"/>
                  </a:lnTo>
                  <a:lnTo>
                    <a:pt x="1627802" y="114923"/>
                  </a:lnTo>
                  <a:lnTo>
                    <a:pt x="1586658" y="95769"/>
                  </a:lnTo>
                  <a:lnTo>
                    <a:pt x="1544932" y="78356"/>
                  </a:lnTo>
                  <a:lnTo>
                    <a:pt x="1502678" y="62685"/>
                  </a:lnTo>
                  <a:lnTo>
                    <a:pt x="1459953" y="48755"/>
                  </a:lnTo>
                  <a:lnTo>
                    <a:pt x="1416811" y="36566"/>
                  </a:lnTo>
                  <a:lnTo>
                    <a:pt x="1373309" y="26118"/>
                  </a:lnTo>
                  <a:lnTo>
                    <a:pt x="1329502" y="17412"/>
                  </a:lnTo>
                  <a:lnTo>
                    <a:pt x="1285445" y="10447"/>
                  </a:lnTo>
                  <a:lnTo>
                    <a:pt x="1241195" y="5223"/>
                  </a:lnTo>
                  <a:lnTo>
                    <a:pt x="1196805" y="1741"/>
                  </a:lnTo>
                  <a:lnTo>
                    <a:pt x="1152332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97604" y="4021319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26991" y="4590280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2" y="0"/>
                  </a:moveTo>
                  <a:lnTo>
                    <a:pt x="1107831" y="0"/>
                  </a:lnTo>
                  <a:lnTo>
                    <a:pt x="1063359" y="1741"/>
                  </a:lnTo>
                  <a:lnTo>
                    <a:pt x="1018969" y="5223"/>
                  </a:lnTo>
                  <a:lnTo>
                    <a:pt x="974718" y="10447"/>
                  </a:lnTo>
                  <a:lnTo>
                    <a:pt x="930661" y="17412"/>
                  </a:lnTo>
                  <a:lnTo>
                    <a:pt x="886854" y="26118"/>
                  </a:lnTo>
                  <a:lnTo>
                    <a:pt x="843352" y="36566"/>
                  </a:lnTo>
                  <a:lnTo>
                    <a:pt x="800211" y="48755"/>
                  </a:lnTo>
                  <a:lnTo>
                    <a:pt x="757485" y="62685"/>
                  </a:lnTo>
                  <a:lnTo>
                    <a:pt x="715232" y="78356"/>
                  </a:lnTo>
                  <a:lnTo>
                    <a:pt x="673505" y="95769"/>
                  </a:lnTo>
                  <a:lnTo>
                    <a:pt x="632361" y="114923"/>
                  </a:lnTo>
                  <a:lnTo>
                    <a:pt x="591855" y="135818"/>
                  </a:lnTo>
                  <a:lnTo>
                    <a:pt x="552043" y="158454"/>
                  </a:lnTo>
                  <a:lnTo>
                    <a:pt x="512979" y="182832"/>
                  </a:lnTo>
                  <a:lnTo>
                    <a:pt x="474720" y="208950"/>
                  </a:lnTo>
                  <a:lnTo>
                    <a:pt x="437321" y="236811"/>
                  </a:lnTo>
                  <a:lnTo>
                    <a:pt x="400837" y="266412"/>
                  </a:lnTo>
                  <a:lnTo>
                    <a:pt x="365325" y="297755"/>
                  </a:lnTo>
                  <a:lnTo>
                    <a:pt x="330838" y="330838"/>
                  </a:lnTo>
                  <a:lnTo>
                    <a:pt x="297755" y="365325"/>
                  </a:lnTo>
                  <a:lnTo>
                    <a:pt x="266412" y="400837"/>
                  </a:lnTo>
                  <a:lnTo>
                    <a:pt x="236811" y="437321"/>
                  </a:lnTo>
                  <a:lnTo>
                    <a:pt x="208950" y="474720"/>
                  </a:lnTo>
                  <a:lnTo>
                    <a:pt x="182832" y="512979"/>
                  </a:lnTo>
                  <a:lnTo>
                    <a:pt x="158454" y="552043"/>
                  </a:lnTo>
                  <a:lnTo>
                    <a:pt x="135818" y="591855"/>
                  </a:lnTo>
                  <a:lnTo>
                    <a:pt x="114923" y="632361"/>
                  </a:lnTo>
                  <a:lnTo>
                    <a:pt x="95769" y="673505"/>
                  </a:lnTo>
                  <a:lnTo>
                    <a:pt x="78356" y="715232"/>
                  </a:lnTo>
                  <a:lnTo>
                    <a:pt x="62685" y="757485"/>
                  </a:lnTo>
                  <a:lnTo>
                    <a:pt x="48755" y="800211"/>
                  </a:lnTo>
                  <a:lnTo>
                    <a:pt x="36566" y="843352"/>
                  </a:lnTo>
                  <a:lnTo>
                    <a:pt x="26118" y="886854"/>
                  </a:lnTo>
                  <a:lnTo>
                    <a:pt x="17412" y="930661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1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5"/>
                  </a:lnTo>
                  <a:lnTo>
                    <a:pt x="17412" y="1329502"/>
                  </a:lnTo>
                  <a:lnTo>
                    <a:pt x="26118" y="1373309"/>
                  </a:lnTo>
                  <a:lnTo>
                    <a:pt x="36566" y="1416811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1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0"/>
                  </a:lnTo>
                  <a:lnTo>
                    <a:pt x="182832" y="1747184"/>
                  </a:lnTo>
                  <a:lnTo>
                    <a:pt x="208950" y="1785443"/>
                  </a:lnTo>
                  <a:lnTo>
                    <a:pt x="236811" y="1822842"/>
                  </a:lnTo>
                  <a:lnTo>
                    <a:pt x="266412" y="1859325"/>
                  </a:lnTo>
                  <a:lnTo>
                    <a:pt x="297755" y="1894838"/>
                  </a:lnTo>
                  <a:lnTo>
                    <a:pt x="330838" y="1929324"/>
                  </a:lnTo>
                  <a:lnTo>
                    <a:pt x="365325" y="1962408"/>
                  </a:lnTo>
                  <a:lnTo>
                    <a:pt x="400837" y="1993751"/>
                  </a:lnTo>
                  <a:lnTo>
                    <a:pt x="437321" y="2023352"/>
                  </a:lnTo>
                  <a:lnTo>
                    <a:pt x="474720" y="2051212"/>
                  </a:lnTo>
                  <a:lnTo>
                    <a:pt x="512979" y="2077331"/>
                  </a:lnTo>
                  <a:lnTo>
                    <a:pt x="552043" y="2101709"/>
                  </a:lnTo>
                  <a:lnTo>
                    <a:pt x="591855" y="2124345"/>
                  </a:lnTo>
                  <a:lnTo>
                    <a:pt x="632361" y="2145241"/>
                  </a:lnTo>
                  <a:lnTo>
                    <a:pt x="673505" y="2164394"/>
                  </a:lnTo>
                  <a:lnTo>
                    <a:pt x="715232" y="2181807"/>
                  </a:lnTo>
                  <a:lnTo>
                    <a:pt x="757485" y="2197478"/>
                  </a:lnTo>
                  <a:lnTo>
                    <a:pt x="800211" y="2211409"/>
                  </a:lnTo>
                  <a:lnTo>
                    <a:pt x="843352" y="2223597"/>
                  </a:lnTo>
                  <a:lnTo>
                    <a:pt x="886854" y="2234045"/>
                  </a:lnTo>
                  <a:lnTo>
                    <a:pt x="930661" y="2242751"/>
                  </a:lnTo>
                  <a:lnTo>
                    <a:pt x="974718" y="2249716"/>
                  </a:lnTo>
                  <a:lnTo>
                    <a:pt x="1018969" y="2254940"/>
                  </a:lnTo>
                  <a:lnTo>
                    <a:pt x="1063359" y="2258423"/>
                  </a:lnTo>
                  <a:lnTo>
                    <a:pt x="1107831" y="2260164"/>
                  </a:lnTo>
                  <a:lnTo>
                    <a:pt x="1152332" y="2260164"/>
                  </a:lnTo>
                  <a:lnTo>
                    <a:pt x="1196805" y="2258423"/>
                  </a:lnTo>
                  <a:lnTo>
                    <a:pt x="1241195" y="2254940"/>
                  </a:lnTo>
                  <a:lnTo>
                    <a:pt x="1285445" y="2249716"/>
                  </a:lnTo>
                  <a:lnTo>
                    <a:pt x="1329502" y="2242751"/>
                  </a:lnTo>
                  <a:lnTo>
                    <a:pt x="1373309" y="2234045"/>
                  </a:lnTo>
                  <a:lnTo>
                    <a:pt x="1416811" y="2223597"/>
                  </a:lnTo>
                  <a:lnTo>
                    <a:pt x="1459953" y="2211409"/>
                  </a:lnTo>
                  <a:lnTo>
                    <a:pt x="1502678" y="2197478"/>
                  </a:lnTo>
                  <a:lnTo>
                    <a:pt x="1544931" y="2181807"/>
                  </a:lnTo>
                  <a:lnTo>
                    <a:pt x="1586658" y="2164394"/>
                  </a:lnTo>
                  <a:lnTo>
                    <a:pt x="1627802" y="2145241"/>
                  </a:lnTo>
                  <a:lnTo>
                    <a:pt x="1668308" y="2124345"/>
                  </a:lnTo>
                  <a:lnTo>
                    <a:pt x="1708120" y="2101709"/>
                  </a:lnTo>
                  <a:lnTo>
                    <a:pt x="1747184" y="2077331"/>
                  </a:lnTo>
                  <a:lnTo>
                    <a:pt x="1785443" y="2051212"/>
                  </a:lnTo>
                  <a:lnTo>
                    <a:pt x="1822842" y="2023352"/>
                  </a:lnTo>
                  <a:lnTo>
                    <a:pt x="1859325" y="1993751"/>
                  </a:lnTo>
                  <a:lnTo>
                    <a:pt x="1894838" y="1962408"/>
                  </a:lnTo>
                  <a:lnTo>
                    <a:pt x="1929324" y="1929324"/>
                  </a:lnTo>
                  <a:lnTo>
                    <a:pt x="1962408" y="1894838"/>
                  </a:lnTo>
                  <a:lnTo>
                    <a:pt x="1993751" y="1859325"/>
                  </a:lnTo>
                  <a:lnTo>
                    <a:pt x="2023352" y="1822842"/>
                  </a:lnTo>
                  <a:lnTo>
                    <a:pt x="2051212" y="1785443"/>
                  </a:lnTo>
                  <a:lnTo>
                    <a:pt x="2077331" y="1747184"/>
                  </a:lnTo>
                  <a:lnTo>
                    <a:pt x="2101709" y="1708120"/>
                  </a:lnTo>
                  <a:lnTo>
                    <a:pt x="2124345" y="1668308"/>
                  </a:lnTo>
                  <a:lnTo>
                    <a:pt x="2145241" y="1627802"/>
                  </a:lnTo>
                  <a:lnTo>
                    <a:pt x="2164394" y="1586658"/>
                  </a:lnTo>
                  <a:lnTo>
                    <a:pt x="2181807" y="1544931"/>
                  </a:lnTo>
                  <a:lnTo>
                    <a:pt x="2197478" y="1502678"/>
                  </a:lnTo>
                  <a:lnTo>
                    <a:pt x="2211409" y="1459953"/>
                  </a:lnTo>
                  <a:lnTo>
                    <a:pt x="2223597" y="1416811"/>
                  </a:lnTo>
                  <a:lnTo>
                    <a:pt x="2234045" y="1373309"/>
                  </a:lnTo>
                  <a:lnTo>
                    <a:pt x="2242751" y="1329502"/>
                  </a:lnTo>
                  <a:lnTo>
                    <a:pt x="2249716" y="1285445"/>
                  </a:lnTo>
                  <a:lnTo>
                    <a:pt x="2254940" y="1241195"/>
                  </a:lnTo>
                  <a:lnTo>
                    <a:pt x="2258423" y="1196805"/>
                  </a:lnTo>
                  <a:lnTo>
                    <a:pt x="2260164" y="1152332"/>
                  </a:lnTo>
                  <a:lnTo>
                    <a:pt x="2260164" y="1107831"/>
                  </a:lnTo>
                  <a:lnTo>
                    <a:pt x="2258423" y="1063359"/>
                  </a:lnTo>
                  <a:lnTo>
                    <a:pt x="2254940" y="1018969"/>
                  </a:lnTo>
                  <a:lnTo>
                    <a:pt x="2249716" y="974718"/>
                  </a:lnTo>
                  <a:lnTo>
                    <a:pt x="2242751" y="930661"/>
                  </a:lnTo>
                  <a:lnTo>
                    <a:pt x="2234045" y="886854"/>
                  </a:lnTo>
                  <a:lnTo>
                    <a:pt x="2223597" y="843352"/>
                  </a:lnTo>
                  <a:lnTo>
                    <a:pt x="2211409" y="800211"/>
                  </a:lnTo>
                  <a:lnTo>
                    <a:pt x="2197478" y="757485"/>
                  </a:lnTo>
                  <a:lnTo>
                    <a:pt x="2181807" y="715232"/>
                  </a:lnTo>
                  <a:lnTo>
                    <a:pt x="2164394" y="673505"/>
                  </a:lnTo>
                  <a:lnTo>
                    <a:pt x="2145241" y="632361"/>
                  </a:lnTo>
                  <a:lnTo>
                    <a:pt x="2124345" y="591855"/>
                  </a:lnTo>
                  <a:lnTo>
                    <a:pt x="2101709" y="552043"/>
                  </a:lnTo>
                  <a:lnTo>
                    <a:pt x="2077331" y="512979"/>
                  </a:lnTo>
                  <a:lnTo>
                    <a:pt x="2051212" y="474720"/>
                  </a:lnTo>
                  <a:lnTo>
                    <a:pt x="2023352" y="437321"/>
                  </a:lnTo>
                  <a:lnTo>
                    <a:pt x="1993751" y="400837"/>
                  </a:lnTo>
                  <a:lnTo>
                    <a:pt x="1962408" y="365325"/>
                  </a:lnTo>
                  <a:lnTo>
                    <a:pt x="1929324" y="330838"/>
                  </a:lnTo>
                  <a:lnTo>
                    <a:pt x="1894838" y="297755"/>
                  </a:lnTo>
                  <a:lnTo>
                    <a:pt x="1859325" y="266412"/>
                  </a:lnTo>
                  <a:lnTo>
                    <a:pt x="1822842" y="236811"/>
                  </a:lnTo>
                  <a:lnTo>
                    <a:pt x="1785443" y="208950"/>
                  </a:lnTo>
                  <a:lnTo>
                    <a:pt x="1747184" y="182832"/>
                  </a:lnTo>
                  <a:lnTo>
                    <a:pt x="1708120" y="158454"/>
                  </a:lnTo>
                  <a:lnTo>
                    <a:pt x="1668308" y="135818"/>
                  </a:lnTo>
                  <a:lnTo>
                    <a:pt x="1627802" y="114923"/>
                  </a:lnTo>
                  <a:lnTo>
                    <a:pt x="1586658" y="95769"/>
                  </a:lnTo>
                  <a:lnTo>
                    <a:pt x="1544931" y="78356"/>
                  </a:lnTo>
                  <a:lnTo>
                    <a:pt x="1502678" y="62685"/>
                  </a:lnTo>
                  <a:lnTo>
                    <a:pt x="1459953" y="48755"/>
                  </a:lnTo>
                  <a:lnTo>
                    <a:pt x="1416811" y="36566"/>
                  </a:lnTo>
                  <a:lnTo>
                    <a:pt x="1373309" y="26118"/>
                  </a:lnTo>
                  <a:lnTo>
                    <a:pt x="1329502" y="17412"/>
                  </a:lnTo>
                  <a:lnTo>
                    <a:pt x="1285445" y="10447"/>
                  </a:lnTo>
                  <a:lnTo>
                    <a:pt x="1241195" y="5223"/>
                  </a:lnTo>
                  <a:lnTo>
                    <a:pt x="1196805" y="1741"/>
                  </a:lnTo>
                  <a:lnTo>
                    <a:pt x="1152332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6990" y="4590279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2418" y="5064195"/>
              <a:ext cx="196426" cy="1964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8700" y="5633156"/>
              <a:ext cx="196426" cy="1964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313356" y="6150404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2" y="0"/>
                  </a:moveTo>
                  <a:lnTo>
                    <a:pt x="1107831" y="0"/>
                  </a:lnTo>
                  <a:lnTo>
                    <a:pt x="1063359" y="1741"/>
                  </a:lnTo>
                  <a:lnTo>
                    <a:pt x="1018969" y="5223"/>
                  </a:lnTo>
                  <a:lnTo>
                    <a:pt x="974718" y="10447"/>
                  </a:lnTo>
                  <a:lnTo>
                    <a:pt x="930661" y="17412"/>
                  </a:lnTo>
                  <a:lnTo>
                    <a:pt x="886854" y="26118"/>
                  </a:lnTo>
                  <a:lnTo>
                    <a:pt x="843352" y="36566"/>
                  </a:lnTo>
                  <a:lnTo>
                    <a:pt x="800211" y="48755"/>
                  </a:lnTo>
                  <a:lnTo>
                    <a:pt x="757485" y="62685"/>
                  </a:lnTo>
                  <a:lnTo>
                    <a:pt x="715232" y="78356"/>
                  </a:lnTo>
                  <a:lnTo>
                    <a:pt x="673505" y="95769"/>
                  </a:lnTo>
                  <a:lnTo>
                    <a:pt x="632361" y="114923"/>
                  </a:lnTo>
                  <a:lnTo>
                    <a:pt x="591855" y="135818"/>
                  </a:lnTo>
                  <a:lnTo>
                    <a:pt x="552043" y="158454"/>
                  </a:lnTo>
                  <a:lnTo>
                    <a:pt x="512979" y="182832"/>
                  </a:lnTo>
                  <a:lnTo>
                    <a:pt x="474720" y="208951"/>
                  </a:lnTo>
                  <a:lnTo>
                    <a:pt x="437321" y="236811"/>
                  </a:lnTo>
                  <a:lnTo>
                    <a:pt x="400837" y="266413"/>
                  </a:lnTo>
                  <a:lnTo>
                    <a:pt x="365325" y="297755"/>
                  </a:lnTo>
                  <a:lnTo>
                    <a:pt x="330838" y="330839"/>
                  </a:lnTo>
                  <a:lnTo>
                    <a:pt x="297755" y="365326"/>
                  </a:lnTo>
                  <a:lnTo>
                    <a:pt x="266412" y="400838"/>
                  </a:lnTo>
                  <a:lnTo>
                    <a:pt x="236811" y="437322"/>
                  </a:lnTo>
                  <a:lnTo>
                    <a:pt x="208950" y="474721"/>
                  </a:lnTo>
                  <a:lnTo>
                    <a:pt x="182832" y="512980"/>
                  </a:lnTo>
                  <a:lnTo>
                    <a:pt x="158454" y="552044"/>
                  </a:lnTo>
                  <a:lnTo>
                    <a:pt x="135818" y="591856"/>
                  </a:lnTo>
                  <a:lnTo>
                    <a:pt x="114923" y="632362"/>
                  </a:lnTo>
                  <a:lnTo>
                    <a:pt x="95769" y="673506"/>
                  </a:lnTo>
                  <a:lnTo>
                    <a:pt x="78356" y="715233"/>
                  </a:lnTo>
                  <a:lnTo>
                    <a:pt x="62685" y="757486"/>
                  </a:lnTo>
                  <a:lnTo>
                    <a:pt x="48755" y="800211"/>
                  </a:lnTo>
                  <a:lnTo>
                    <a:pt x="36566" y="843353"/>
                  </a:lnTo>
                  <a:lnTo>
                    <a:pt x="26118" y="886855"/>
                  </a:lnTo>
                  <a:lnTo>
                    <a:pt x="17412" y="930662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2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6"/>
                  </a:lnTo>
                  <a:lnTo>
                    <a:pt x="17412" y="1329503"/>
                  </a:lnTo>
                  <a:lnTo>
                    <a:pt x="26118" y="1373310"/>
                  </a:lnTo>
                  <a:lnTo>
                    <a:pt x="36566" y="1416812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2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1"/>
                  </a:lnTo>
                  <a:lnTo>
                    <a:pt x="182832" y="1747184"/>
                  </a:lnTo>
                  <a:lnTo>
                    <a:pt x="208950" y="1785443"/>
                  </a:lnTo>
                  <a:lnTo>
                    <a:pt x="236811" y="1822842"/>
                  </a:lnTo>
                  <a:lnTo>
                    <a:pt x="266412" y="1859326"/>
                  </a:lnTo>
                  <a:lnTo>
                    <a:pt x="297755" y="1894839"/>
                  </a:lnTo>
                  <a:lnTo>
                    <a:pt x="330838" y="1929325"/>
                  </a:lnTo>
                  <a:lnTo>
                    <a:pt x="365325" y="1962409"/>
                  </a:lnTo>
                  <a:lnTo>
                    <a:pt x="400837" y="1993752"/>
                  </a:lnTo>
                  <a:lnTo>
                    <a:pt x="437321" y="2023353"/>
                  </a:lnTo>
                  <a:lnTo>
                    <a:pt x="474720" y="2051213"/>
                  </a:lnTo>
                  <a:lnTo>
                    <a:pt x="512979" y="2077332"/>
                  </a:lnTo>
                  <a:lnTo>
                    <a:pt x="552043" y="2101710"/>
                  </a:lnTo>
                  <a:lnTo>
                    <a:pt x="591855" y="2124346"/>
                  </a:lnTo>
                  <a:lnTo>
                    <a:pt x="632361" y="2145241"/>
                  </a:lnTo>
                  <a:lnTo>
                    <a:pt x="673505" y="2164395"/>
                  </a:lnTo>
                  <a:lnTo>
                    <a:pt x="715232" y="2181808"/>
                  </a:lnTo>
                  <a:lnTo>
                    <a:pt x="757485" y="2197479"/>
                  </a:lnTo>
                  <a:lnTo>
                    <a:pt x="800211" y="2211409"/>
                  </a:lnTo>
                  <a:lnTo>
                    <a:pt x="843352" y="2223598"/>
                  </a:lnTo>
                  <a:lnTo>
                    <a:pt x="886854" y="2234046"/>
                  </a:lnTo>
                  <a:lnTo>
                    <a:pt x="930661" y="2242752"/>
                  </a:lnTo>
                  <a:lnTo>
                    <a:pt x="974718" y="2249717"/>
                  </a:lnTo>
                  <a:lnTo>
                    <a:pt x="1018969" y="2254941"/>
                  </a:lnTo>
                  <a:lnTo>
                    <a:pt x="1063359" y="2258423"/>
                  </a:lnTo>
                  <a:lnTo>
                    <a:pt x="1107831" y="2260164"/>
                  </a:lnTo>
                  <a:lnTo>
                    <a:pt x="1152332" y="2260164"/>
                  </a:lnTo>
                  <a:lnTo>
                    <a:pt x="1196805" y="2258423"/>
                  </a:lnTo>
                  <a:lnTo>
                    <a:pt x="1241195" y="2254941"/>
                  </a:lnTo>
                  <a:lnTo>
                    <a:pt x="1285445" y="2249717"/>
                  </a:lnTo>
                  <a:lnTo>
                    <a:pt x="1329502" y="2242752"/>
                  </a:lnTo>
                  <a:lnTo>
                    <a:pt x="1373309" y="2234046"/>
                  </a:lnTo>
                  <a:lnTo>
                    <a:pt x="1416811" y="2223598"/>
                  </a:lnTo>
                  <a:lnTo>
                    <a:pt x="1459953" y="2211409"/>
                  </a:lnTo>
                  <a:lnTo>
                    <a:pt x="1502678" y="2197479"/>
                  </a:lnTo>
                  <a:lnTo>
                    <a:pt x="1544931" y="2181808"/>
                  </a:lnTo>
                  <a:lnTo>
                    <a:pt x="1586658" y="2164395"/>
                  </a:lnTo>
                  <a:lnTo>
                    <a:pt x="1627802" y="2145241"/>
                  </a:lnTo>
                  <a:lnTo>
                    <a:pt x="1668308" y="2124346"/>
                  </a:lnTo>
                  <a:lnTo>
                    <a:pt x="1708120" y="2101710"/>
                  </a:lnTo>
                  <a:lnTo>
                    <a:pt x="1747184" y="2077332"/>
                  </a:lnTo>
                  <a:lnTo>
                    <a:pt x="1785443" y="2051213"/>
                  </a:lnTo>
                  <a:lnTo>
                    <a:pt x="1822842" y="2023353"/>
                  </a:lnTo>
                  <a:lnTo>
                    <a:pt x="1859325" y="1993752"/>
                  </a:lnTo>
                  <a:lnTo>
                    <a:pt x="1894838" y="1962409"/>
                  </a:lnTo>
                  <a:lnTo>
                    <a:pt x="1929324" y="1929325"/>
                  </a:lnTo>
                  <a:lnTo>
                    <a:pt x="1962408" y="1894839"/>
                  </a:lnTo>
                  <a:lnTo>
                    <a:pt x="1993751" y="1859326"/>
                  </a:lnTo>
                  <a:lnTo>
                    <a:pt x="2023352" y="1822842"/>
                  </a:lnTo>
                  <a:lnTo>
                    <a:pt x="2051212" y="1785443"/>
                  </a:lnTo>
                  <a:lnTo>
                    <a:pt x="2077331" y="1747184"/>
                  </a:lnTo>
                  <a:lnTo>
                    <a:pt x="2101709" y="1708121"/>
                  </a:lnTo>
                  <a:lnTo>
                    <a:pt x="2124345" y="1668308"/>
                  </a:lnTo>
                  <a:lnTo>
                    <a:pt x="2145241" y="1627802"/>
                  </a:lnTo>
                  <a:lnTo>
                    <a:pt x="2164394" y="1586658"/>
                  </a:lnTo>
                  <a:lnTo>
                    <a:pt x="2181807" y="1544932"/>
                  </a:lnTo>
                  <a:lnTo>
                    <a:pt x="2197478" y="1502678"/>
                  </a:lnTo>
                  <a:lnTo>
                    <a:pt x="2211409" y="1459953"/>
                  </a:lnTo>
                  <a:lnTo>
                    <a:pt x="2223597" y="1416812"/>
                  </a:lnTo>
                  <a:lnTo>
                    <a:pt x="2234045" y="1373310"/>
                  </a:lnTo>
                  <a:lnTo>
                    <a:pt x="2242751" y="1329503"/>
                  </a:lnTo>
                  <a:lnTo>
                    <a:pt x="2249716" y="1285446"/>
                  </a:lnTo>
                  <a:lnTo>
                    <a:pt x="2254940" y="1241195"/>
                  </a:lnTo>
                  <a:lnTo>
                    <a:pt x="2258423" y="1196805"/>
                  </a:lnTo>
                  <a:lnTo>
                    <a:pt x="2260164" y="1152332"/>
                  </a:lnTo>
                  <a:lnTo>
                    <a:pt x="2260164" y="1107832"/>
                  </a:lnTo>
                  <a:lnTo>
                    <a:pt x="2258423" y="1063359"/>
                  </a:lnTo>
                  <a:lnTo>
                    <a:pt x="2254940" y="1018969"/>
                  </a:lnTo>
                  <a:lnTo>
                    <a:pt x="2249716" y="974718"/>
                  </a:lnTo>
                  <a:lnTo>
                    <a:pt x="2242751" y="930662"/>
                  </a:lnTo>
                  <a:lnTo>
                    <a:pt x="2234045" y="886855"/>
                  </a:lnTo>
                  <a:lnTo>
                    <a:pt x="2223597" y="843353"/>
                  </a:lnTo>
                  <a:lnTo>
                    <a:pt x="2211409" y="800211"/>
                  </a:lnTo>
                  <a:lnTo>
                    <a:pt x="2197478" y="757486"/>
                  </a:lnTo>
                  <a:lnTo>
                    <a:pt x="2181807" y="715233"/>
                  </a:lnTo>
                  <a:lnTo>
                    <a:pt x="2164394" y="673506"/>
                  </a:lnTo>
                  <a:lnTo>
                    <a:pt x="2145241" y="632362"/>
                  </a:lnTo>
                  <a:lnTo>
                    <a:pt x="2124345" y="591856"/>
                  </a:lnTo>
                  <a:lnTo>
                    <a:pt x="2101709" y="552044"/>
                  </a:lnTo>
                  <a:lnTo>
                    <a:pt x="2077331" y="512980"/>
                  </a:lnTo>
                  <a:lnTo>
                    <a:pt x="2051212" y="474721"/>
                  </a:lnTo>
                  <a:lnTo>
                    <a:pt x="2023352" y="437322"/>
                  </a:lnTo>
                  <a:lnTo>
                    <a:pt x="1993751" y="400838"/>
                  </a:lnTo>
                  <a:lnTo>
                    <a:pt x="1962408" y="365326"/>
                  </a:lnTo>
                  <a:lnTo>
                    <a:pt x="1929324" y="330839"/>
                  </a:lnTo>
                  <a:lnTo>
                    <a:pt x="1894838" y="297755"/>
                  </a:lnTo>
                  <a:lnTo>
                    <a:pt x="1859325" y="266413"/>
                  </a:lnTo>
                  <a:lnTo>
                    <a:pt x="1822842" y="236811"/>
                  </a:lnTo>
                  <a:lnTo>
                    <a:pt x="1785443" y="208951"/>
                  </a:lnTo>
                  <a:lnTo>
                    <a:pt x="1747184" y="182832"/>
                  </a:lnTo>
                  <a:lnTo>
                    <a:pt x="1708120" y="158454"/>
                  </a:lnTo>
                  <a:lnTo>
                    <a:pt x="1668308" y="135818"/>
                  </a:lnTo>
                  <a:lnTo>
                    <a:pt x="1627802" y="114923"/>
                  </a:lnTo>
                  <a:lnTo>
                    <a:pt x="1586658" y="95769"/>
                  </a:lnTo>
                  <a:lnTo>
                    <a:pt x="1544931" y="78356"/>
                  </a:lnTo>
                  <a:lnTo>
                    <a:pt x="1502678" y="62685"/>
                  </a:lnTo>
                  <a:lnTo>
                    <a:pt x="1459953" y="48755"/>
                  </a:lnTo>
                  <a:lnTo>
                    <a:pt x="1416811" y="36566"/>
                  </a:lnTo>
                  <a:lnTo>
                    <a:pt x="1373309" y="26118"/>
                  </a:lnTo>
                  <a:lnTo>
                    <a:pt x="1329502" y="17412"/>
                  </a:lnTo>
                  <a:lnTo>
                    <a:pt x="1285445" y="10447"/>
                  </a:lnTo>
                  <a:lnTo>
                    <a:pt x="1241195" y="5223"/>
                  </a:lnTo>
                  <a:lnTo>
                    <a:pt x="1196805" y="1741"/>
                  </a:lnTo>
                  <a:lnTo>
                    <a:pt x="1152332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13355" y="6150404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500" y="7193280"/>
              <a:ext cx="196426" cy="1964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69586" y="6616917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3" y="0"/>
                  </a:moveTo>
                  <a:lnTo>
                    <a:pt x="1107832" y="0"/>
                  </a:lnTo>
                  <a:lnTo>
                    <a:pt x="1063359" y="1741"/>
                  </a:lnTo>
                  <a:lnTo>
                    <a:pt x="1018970" y="5223"/>
                  </a:lnTo>
                  <a:lnTo>
                    <a:pt x="974719" y="10447"/>
                  </a:lnTo>
                  <a:lnTo>
                    <a:pt x="930662" y="17412"/>
                  </a:lnTo>
                  <a:lnTo>
                    <a:pt x="886855" y="26118"/>
                  </a:lnTo>
                  <a:lnTo>
                    <a:pt x="843353" y="36566"/>
                  </a:lnTo>
                  <a:lnTo>
                    <a:pt x="800212" y="48755"/>
                  </a:lnTo>
                  <a:lnTo>
                    <a:pt x="757486" y="62685"/>
                  </a:lnTo>
                  <a:lnTo>
                    <a:pt x="715233" y="78356"/>
                  </a:lnTo>
                  <a:lnTo>
                    <a:pt x="673506" y="95769"/>
                  </a:lnTo>
                  <a:lnTo>
                    <a:pt x="632362" y="114923"/>
                  </a:lnTo>
                  <a:lnTo>
                    <a:pt x="591856" y="135818"/>
                  </a:lnTo>
                  <a:lnTo>
                    <a:pt x="552044" y="158454"/>
                  </a:lnTo>
                  <a:lnTo>
                    <a:pt x="512980" y="182832"/>
                  </a:lnTo>
                  <a:lnTo>
                    <a:pt x="474721" y="208951"/>
                  </a:lnTo>
                  <a:lnTo>
                    <a:pt x="437322" y="236811"/>
                  </a:lnTo>
                  <a:lnTo>
                    <a:pt x="400838" y="266413"/>
                  </a:lnTo>
                  <a:lnTo>
                    <a:pt x="365326" y="297755"/>
                  </a:lnTo>
                  <a:lnTo>
                    <a:pt x="330839" y="330839"/>
                  </a:lnTo>
                  <a:lnTo>
                    <a:pt x="297755" y="365326"/>
                  </a:lnTo>
                  <a:lnTo>
                    <a:pt x="266413" y="400838"/>
                  </a:lnTo>
                  <a:lnTo>
                    <a:pt x="236811" y="437322"/>
                  </a:lnTo>
                  <a:lnTo>
                    <a:pt x="208951" y="474721"/>
                  </a:lnTo>
                  <a:lnTo>
                    <a:pt x="182832" y="512980"/>
                  </a:lnTo>
                  <a:lnTo>
                    <a:pt x="158454" y="552044"/>
                  </a:lnTo>
                  <a:lnTo>
                    <a:pt x="135818" y="591856"/>
                  </a:lnTo>
                  <a:lnTo>
                    <a:pt x="114923" y="632362"/>
                  </a:lnTo>
                  <a:lnTo>
                    <a:pt x="95769" y="673506"/>
                  </a:lnTo>
                  <a:lnTo>
                    <a:pt x="78356" y="715233"/>
                  </a:lnTo>
                  <a:lnTo>
                    <a:pt x="62685" y="757486"/>
                  </a:lnTo>
                  <a:lnTo>
                    <a:pt x="48755" y="800211"/>
                  </a:lnTo>
                  <a:lnTo>
                    <a:pt x="36566" y="843353"/>
                  </a:lnTo>
                  <a:lnTo>
                    <a:pt x="26118" y="886855"/>
                  </a:lnTo>
                  <a:lnTo>
                    <a:pt x="17412" y="930662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2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6"/>
                  </a:lnTo>
                  <a:lnTo>
                    <a:pt x="17412" y="1329503"/>
                  </a:lnTo>
                  <a:lnTo>
                    <a:pt x="26118" y="1373310"/>
                  </a:lnTo>
                  <a:lnTo>
                    <a:pt x="36566" y="1416812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2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1"/>
                  </a:lnTo>
                  <a:lnTo>
                    <a:pt x="182832" y="1747184"/>
                  </a:lnTo>
                  <a:lnTo>
                    <a:pt x="208951" y="1785443"/>
                  </a:lnTo>
                  <a:lnTo>
                    <a:pt x="236811" y="1822842"/>
                  </a:lnTo>
                  <a:lnTo>
                    <a:pt x="266413" y="1859326"/>
                  </a:lnTo>
                  <a:lnTo>
                    <a:pt x="297755" y="1894839"/>
                  </a:lnTo>
                  <a:lnTo>
                    <a:pt x="330839" y="1929325"/>
                  </a:lnTo>
                  <a:lnTo>
                    <a:pt x="365326" y="1962409"/>
                  </a:lnTo>
                  <a:lnTo>
                    <a:pt x="400838" y="1993752"/>
                  </a:lnTo>
                  <a:lnTo>
                    <a:pt x="437322" y="2023353"/>
                  </a:lnTo>
                  <a:lnTo>
                    <a:pt x="474721" y="2051213"/>
                  </a:lnTo>
                  <a:lnTo>
                    <a:pt x="512980" y="2077332"/>
                  </a:lnTo>
                  <a:lnTo>
                    <a:pt x="552044" y="2101710"/>
                  </a:lnTo>
                  <a:lnTo>
                    <a:pt x="591856" y="2124346"/>
                  </a:lnTo>
                  <a:lnTo>
                    <a:pt x="632362" y="2145241"/>
                  </a:lnTo>
                  <a:lnTo>
                    <a:pt x="673506" y="2164395"/>
                  </a:lnTo>
                  <a:lnTo>
                    <a:pt x="715233" y="2181808"/>
                  </a:lnTo>
                  <a:lnTo>
                    <a:pt x="757486" y="2197479"/>
                  </a:lnTo>
                  <a:lnTo>
                    <a:pt x="800212" y="2211409"/>
                  </a:lnTo>
                  <a:lnTo>
                    <a:pt x="843353" y="2223598"/>
                  </a:lnTo>
                  <a:lnTo>
                    <a:pt x="886855" y="2234046"/>
                  </a:lnTo>
                  <a:lnTo>
                    <a:pt x="930662" y="2242752"/>
                  </a:lnTo>
                  <a:lnTo>
                    <a:pt x="974719" y="2249717"/>
                  </a:lnTo>
                  <a:lnTo>
                    <a:pt x="1018970" y="2254941"/>
                  </a:lnTo>
                  <a:lnTo>
                    <a:pt x="1063359" y="2258423"/>
                  </a:lnTo>
                  <a:lnTo>
                    <a:pt x="1107832" y="2260164"/>
                  </a:lnTo>
                  <a:lnTo>
                    <a:pt x="1152333" y="2260164"/>
                  </a:lnTo>
                  <a:lnTo>
                    <a:pt x="1196806" y="2258423"/>
                  </a:lnTo>
                  <a:lnTo>
                    <a:pt x="1241195" y="2254941"/>
                  </a:lnTo>
                  <a:lnTo>
                    <a:pt x="1285446" y="2249717"/>
                  </a:lnTo>
                  <a:lnTo>
                    <a:pt x="1329503" y="2242752"/>
                  </a:lnTo>
                  <a:lnTo>
                    <a:pt x="1373310" y="2234046"/>
                  </a:lnTo>
                  <a:lnTo>
                    <a:pt x="1416812" y="2223598"/>
                  </a:lnTo>
                  <a:lnTo>
                    <a:pt x="1459953" y="2211409"/>
                  </a:lnTo>
                  <a:lnTo>
                    <a:pt x="1502679" y="2197479"/>
                  </a:lnTo>
                  <a:lnTo>
                    <a:pt x="1544932" y="2181808"/>
                  </a:lnTo>
                  <a:lnTo>
                    <a:pt x="1586659" y="2164395"/>
                  </a:lnTo>
                  <a:lnTo>
                    <a:pt x="1627803" y="2145241"/>
                  </a:lnTo>
                  <a:lnTo>
                    <a:pt x="1668309" y="2124346"/>
                  </a:lnTo>
                  <a:lnTo>
                    <a:pt x="1708121" y="2101710"/>
                  </a:lnTo>
                  <a:lnTo>
                    <a:pt x="1747185" y="2077332"/>
                  </a:lnTo>
                  <a:lnTo>
                    <a:pt x="1785444" y="2051213"/>
                  </a:lnTo>
                  <a:lnTo>
                    <a:pt x="1822843" y="2023353"/>
                  </a:lnTo>
                  <a:lnTo>
                    <a:pt x="1859326" y="1993752"/>
                  </a:lnTo>
                  <a:lnTo>
                    <a:pt x="1894839" y="1962409"/>
                  </a:lnTo>
                  <a:lnTo>
                    <a:pt x="1929325" y="1929325"/>
                  </a:lnTo>
                  <a:lnTo>
                    <a:pt x="1962409" y="1894839"/>
                  </a:lnTo>
                  <a:lnTo>
                    <a:pt x="1993752" y="1859326"/>
                  </a:lnTo>
                  <a:lnTo>
                    <a:pt x="2023353" y="1822842"/>
                  </a:lnTo>
                  <a:lnTo>
                    <a:pt x="2051213" y="1785443"/>
                  </a:lnTo>
                  <a:lnTo>
                    <a:pt x="2077332" y="1747184"/>
                  </a:lnTo>
                  <a:lnTo>
                    <a:pt x="2101710" y="1708121"/>
                  </a:lnTo>
                  <a:lnTo>
                    <a:pt x="2124346" y="1668308"/>
                  </a:lnTo>
                  <a:lnTo>
                    <a:pt x="2145241" y="1627802"/>
                  </a:lnTo>
                  <a:lnTo>
                    <a:pt x="2164395" y="1586658"/>
                  </a:lnTo>
                  <a:lnTo>
                    <a:pt x="2181808" y="1544932"/>
                  </a:lnTo>
                  <a:lnTo>
                    <a:pt x="2197479" y="1502678"/>
                  </a:lnTo>
                  <a:lnTo>
                    <a:pt x="2211409" y="1459953"/>
                  </a:lnTo>
                  <a:lnTo>
                    <a:pt x="2223598" y="1416812"/>
                  </a:lnTo>
                  <a:lnTo>
                    <a:pt x="2234046" y="1373310"/>
                  </a:lnTo>
                  <a:lnTo>
                    <a:pt x="2242752" y="1329503"/>
                  </a:lnTo>
                  <a:lnTo>
                    <a:pt x="2249717" y="1285446"/>
                  </a:lnTo>
                  <a:lnTo>
                    <a:pt x="2254941" y="1241195"/>
                  </a:lnTo>
                  <a:lnTo>
                    <a:pt x="2258424" y="1196805"/>
                  </a:lnTo>
                  <a:lnTo>
                    <a:pt x="2260165" y="1152332"/>
                  </a:lnTo>
                  <a:lnTo>
                    <a:pt x="2260165" y="1107832"/>
                  </a:lnTo>
                  <a:lnTo>
                    <a:pt x="2258424" y="1063359"/>
                  </a:lnTo>
                  <a:lnTo>
                    <a:pt x="2254941" y="1018969"/>
                  </a:lnTo>
                  <a:lnTo>
                    <a:pt x="2249717" y="974718"/>
                  </a:lnTo>
                  <a:lnTo>
                    <a:pt x="2242752" y="930662"/>
                  </a:lnTo>
                  <a:lnTo>
                    <a:pt x="2234046" y="886855"/>
                  </a:lnTo>
                  <a:lnTo>
                    <a:pt x="2223598" y="843353"/>
                  </a:lnTo>
                  <a:lnTo>
                    <a:pt x="2211409" y="800211"/>
                  </a:lnTo>
                  <a:lnTo>
                    <a:pt x="2197479" y="757486"/>
                  </a:lnTo>
                  <a:lnTo>
                    <a:pt x="2181808" y="715233"/>
                  </a:lnTo>
                  <a:lnTo>
                    <a:pt x="2164395" y="673506"/>
                  </a:lnTo>
                  <a:lnTo>
                    <a:pt x="2145241" y="632362"/>
                  </a:lnTo>
                  <a:lnTo>
                    <a:pt x="2124346" y="591856"/>
                  </a:lnTo>
                  <a:lnTo>
                    <a:pt x="2101710" y="552044"/>
                  </a:lnTo>
                  <a:lnTo>
                    <a:pt x="2077332" y="512980"/>
                  </a:lnTo>
                  <a:lnTo>
                    <a:pt x="2051213" y="474721"/>
                  </a:lnTo>
                  <a:lnTo>
                    <a:pt x="2023353" y="437322"/>
                  </a:lnTo>
                  <a:lnTo>
                    <a:pt x="1993752" y="400838"/>
                  </a:lnTo>
                  <a:lnTo>
                    <a:pt x="1962409" y="365326"/>
                  </a:lnTo>
                  <a:lnTo>
                    <a:pt x="1929325" y="330839"/>
                  </a:lnTo>
                  <a:lnTo>
                    <a:pt x="1894839" y="297755"/>
                  </a:lnTo>
                  <a:lnTo>
                    <a:pt x="1859326" y="266413"/>
                  </a:lnTo>
                  <a:lnTo>
                    <a:pt x="1822843" y="236811"/>
                  </a:lnTo>
                  <a:lnTo>
                    <a:pt x="1785444" y="208951"/>
                  </a:lnTo>
                  <a:lnTo>
                    <a:pt x="1747185" y="182832"/>
                  </a:lnTo>
                  <a:lnTo>
                    <a:pt x="1708121" y="158454"/>
                  </a:lnTo>
                  <a:lnTo>
                    <a:pt x="1668309" y="135818"/>
                  </a:lnTo>
                  <a:lnTo>
                    <a:pt x="1627803" y="114923"/>
                  </a:lnTo>
                  <a:lnTo>
                    <a:pt x="1586659" y="95769"/>
                  </a:lnTo>
                  <a:lnTo>
                    <a:pt x="1544932" y="78356"/>
                  </a:lnTo>
                  <a:lnTo>
                    <a:pt x="1502679" y="62685"/>
                  </a:lnTo>
                  <a:lnTo>
                    <a:pt x="1459953" y="48755"/>
                  </a:lnTo>
                  <a:lnTo>
                    <a:pt x="1416812" y="36566"/>
                  </a:lnTo>
                  <a:lnTo>
                    <a:pt x="1373310" y="26118"/>
                  </a:lnTo>
                  <a:lnTo>
                    <a:pt x="1329503" y="17412"/>
                  </a:lnTo>
                  <a:lnTo>
                    <a:pt x="1285446" y="10447"/>
                  </a:lnTo>
                  <a:lnTo>
                    <a:pt x="1241195" y="5223"/>
                  </a:lnTo>
                  <a:lnTo>
                    <a:pt x="1196806" y="1741"/>
                  </a:lnTo>
                  <a:lnTo>
                    <a:pt x="1152333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9586" y="6616917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4400" y="7653866"/>
              <a:ext cx="196426" cy="1964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23360" y="5149990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39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21760" y="4021101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52747" y="5718950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39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51147" y="4590061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539110" y="7277100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40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37510" y="6150187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97600" y="7739662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40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3741" y="6616700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7623" y="5285845"/>
              <a:ext cx="454659" cy="420370"/>
            </a:xfrm>
            <a:custGeom>
              <a:avLst/>
              <a:gdLst/>
              <a:ahLst/>
              <a:cxnLst/>
              <a:rect l="l" t="t" r="r" b="b"/>
              <a:pathLst>
                <a:path w="454660" h="420370">
                  <a:moveTo>
                    <a:pt x="0" y="0"/>
                  </a:moveTo>
                  <a:lnTo>
                    <a:pt x="9326" y="8620"/>
                  </a:lnTo>
                  <a:lnTo>
                    <a:pt x="454239" y="419842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49800" y="5232400"/>
              <a:ext cx="131445" cy="127635"/>
            </a:xfrm>
            <a:custGeom>
              <a:avLst/>
              <a:gdLst/>
              <a:ahLst/>
              <a:cxnLst/>
              <a:rect l="l" t="t" r="r" b="b"/>
              <a:pathLst>
                <a:path w="131445" h="127635">
                  <a:moveTo>
                    <a:pt x="0" y="0"/>
                  </a:moveTo>
                  <a:lnTo>
                    <a:pt x="48157" y="127520"/>
                  </a:lnTo>
                  <a:lnTo>
                    <a:pt x="67151" y="62064"/>
                  </a:lnTo>
                  <a:lnTo>
                    <a:pt x="130911" y="37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46678" y="4075290"/>
              <a:ext cx="6687820" cy="4339590"/>
            </a:xfrm>
            <a:custGeom>
              <a:avLst/>
              <a:gdLst/>
              <a:ahLst/>
              <a:cxnLst/>
              <a:rect l="l" t="t" r="r" b="b"/>
              <a:pathLst>
                <a:path w="6687820" h="4339590">
                  <a:moveTo>
                    <a:pt x="194170" y="1195222"/>
                  </a:moveTo>
                  <a:lnTo>
                    <a:pt x="0" y="1195222"/>
                  </a:lnTo>
                  <a:lnTo>
                    <a:pt x="0" y="1389380"/>
                  </a:lnTo>
                  <a:lnTo>
                    <a:pt x="194170" y="1389380"/>
                  </a:lnTo>
                  <a:lnTo>
                    <a:pt x="194170" y="1195222"/>
                  </a:lnTo>
                  <a:close/>
                </a:path>
                <a:path w="6687820" h="4339590">
                  <a:moveTo>
                    <a:pt x="230289" y="0"/>
                  </a:moveTo>
                  <a:lnTo>
                    <a:pt x="36118" y="0"/>
                  </a:lnTo>
                  <a:lnTo>
                    <a:pt x="36118" y="194170"/>
                  </a:lnTo>
                  <a:lnTo>
                    <a:pt x="230289" y="194170"/>
                  </a:lnTo>
                  <a:lnTo>
                    <a:pt x="230289" y="0"/>
                  </a:lnTo>
                  <a:close/>
                </a:path>
                <a:path w="6687820" h="4339590">
                  <a:moveTo>
                    <a:pt x="465099" y="1682051"/>
                  </a:moveTo>
                  <a:lnTo>
                    <a:pt x="270929" y="1682051"/>
                  </a:lnTo>
                  <a:lnTo>
                    <a:pt x="270929" y="1876221"/>
                  </a:lnTo>
                  <a:lnTo>
                    <a:pt x="465099" y="1876221"/>
                  </a:lnTo>
                  <a:lnTo>
                    <a:pt x="465099" y="1682051"/>
                  </a:lnTo>
                  <a:close/>
                </a:path>
                <a:path w="6687820" h="4339590">
                  <a:moveTo>
                    <a:pt x="896340" y="1555610"/>
                  </a:moveTo>
                  <a:lnTo>
                    <a:pt x="702170" y="1555610"/>
                  </a:lnTo>
                  <a:lnTo>
                    <a:pt x="702170" y="1749780"/>
                  </a:lnTo>
                  <a:lnTo>
                    <a:pt x="896340" y="1749780"/>
                  </a:lnTo>
                  <a:lnTo>
                    <a:pt x="896340" y="1555610"/>
                  </a:lnTo>
                  <a:close/>
                </a:path>
                <a:path w="6687820" h="4339590">
                  <a:moveTo>
                    <a:pt x="1165009" y="589280"/>
                  </a:moveTo>
                  <a:lnTo>
                    <a:pt x="970838" y="589280"/>
                  </a:lnTo>
                  <a:lnTo>
                    <a:pt x="970838" y="783450"/>
                  </a:lnTo>
                  <a:lnTo>
                    <a:pt x="1165009" y="783450"/>
                  </a:lnTo>
                  <a:lnTo>
                    <a:pt x="1165009" y="589280"/>
                  </a:lnTo>
                  <a:close/>
                </a:path>
                <a:path w="6687820" h="4339590">
                  <a:moveTo>
                    <a:pt x="1341678" y="1914601"/>
                  </a:moveTo>
                  <a:lnTo>
                    <a:pt x="1147521" y="1914601"/>
                  </a:lnTo>
                  <a:lnTo>
                    <a:pt x="1147521" y="2108771"/>
                  </a:lnTo>
                  <a:lnTo>
                    <a:pt x="1341678" y="2108771"/>
                  </a:lnTo>
                  <a:lnTo>
                    <a:pt x="1341678" y="1914601"/>
                  </a:lnTo>
                  <a:close/>
                </a:path>
                <a:path w="6687820" h="4339590">
                  <a:moveTo>
                    <a:pt x="2370378" y="3788562"/>
                  </a:moveTo>
                  <a:lnTo>
                    <a:pt x="2176221" y="3788562"/>
                  </a:lnTo>
                  <a:lnTo>
                    <a:pt x="2176221" y="3982720"/>
                  </a:lnTo>
                  <a:lnTo>
                    <a:pt x="2370378" y="3982720"/>
                  </a:lnTo>
                  <a:lnTo>
                    <a:pt x="2370378" y="3788562"/>
                  </a:lnTo>
                  <a:close/>
                </a:path>
                <a:path w="6687820" h="4339590">
                  <a:moveTo>
                    <a:pt x="3068320" y="4145280"/>
                  </a:moveTo>
                  <a:lnTo>
                    <a:pt x="2874149" y="4145280"/>
                  </a:lnTo>
                  <a:lnTo>
                    <a:pt x="2874149" y="4339450"/>
                  </a:lnTo>
                  <a:lnTo>
                    <a:pt x="3068320" y="4339450"/>
                  </a:lnTo>
                  <a:lnTo>
                    <a:pt x="3068320" y="4145280"/>
                  </a:lnTo>
                  <a:close/>
                </a:path>
                <a:path w="6687820" h="4339590">
                  <a:moveTo>
                    <a:pt x="3336988" y="3178962"/>
                  </a:moveTo>
                  <a:lnTo>
                    <a:pt x="3142831" y="3178962"/>
                  </a:lnTo>
                  <a:lnTo>
                    <a:pt x="3142831" y="3373120"/>
                  </a:lnTo>
                  <a:lnTo>
                    <a:pt x="3336988" y="3373120"/>
                  </a:lnTo>
                  <a:lnTo>
                    <a:pt x="3336988" y="3178962"/>
                  </a:lnTo>
                  <a:close/>
                </a:path>
                <a:path w="6687820" h="4339590">
                  <a:moveTo>
                    <a:pt x="4940020" y="887310"/>
                  </a:moveTo>
                  <a:lnTo>
                    <a:pt x="4745850" y="887310"/>
                  </a:lnTo>
                  <a:lnTo>
                    <a:pt x="4745850" y="1081481"/>
                  </a:lnTo>
                  <a:lnTo>
                    <a:pt x="4940020" y="1081481"/>
                  </a:lnTo>
                  <a:lnTo>
                    <a:pt x="4940020" y="887310"/>
                  </a:lnTo>
                  <a:close/>
                </a:path>
                <a:path w="6687820" h="4339590">
                  <a:moveTo>
                    <a:pt x="5213210" y="1311770"/>
                  </a:moveTo>
                  <a:lnTo>
                    <a:pt x="5019040" y="1311770"/>
                  </a:lnTo>
                  <a:lnTo>
                    <a:pt x="5019040" y="1505940"/>
                  </a:lnTo>
                  <a:lnTo>
                    <a:pt x="5213210" y="1505940"/>
                  </a:lnTo>
                  <a:lnTo>
                    <a:pt x="5213210" y="1311770"/>
                  </a:lnTo>
                  <a:close/>
                </a:path>
                <a:path w="6687820" h="4339590">
                  <a:moveTo>
                    <a:pt x="5375770" y="1790420"/>
                  </a:moveTo>
                  <a:lnTo>
                    <a:pt x="5181600" y="1790420"/>
                  </a:lnTo>
                  <a:lnTo>
                    <a:pt x="5181600" y="1984590"/>
                  </a:lnTo>
                  <a:lnTo>
                    <a:pt x="5375770" y="1984590"/>
                  </a:lnTo>
                  <a:lnTo>
                    <a:pt x="5375770" y="1790420"/>
                  </a:lnTo>
                  <a:close/>
                </a:path>
                <a:path w="6687820" h="4339590">
                  <a:moveTo>
                    <a:pt x="5429948" y="806030"/>
                  </a:moveTo>
                  <a:lnTo>
                    <a:pt x="5235791" y="806030"/>
                  </a:lnTo>
                  <a:lnTo>
                    <a:pt x="5235791" y="1000201"/>
                  </a:lnTo>
                  <a:lnTo>
                    <a:pt x="5429948" y="1000201"/>
                  </a:lnTo>
                  <a:lnTo>
                    <a:pt x="5429948" y="806030"/>
                  </a:lnTo>
                  <a:close/>
                </a:path>
                <a:path w="6687820" h="4339590">
                  <a:moveTo>
                    <a:pt x="5497690" y="2948660"/>
                  </a:moveTo>
                  <a:lnTo>
                    <a:pt x="5303520" y="2948660"/>
                  </a:lnTo>
                  <a:lnTo>
                    <a:pt x="5303520" y="3142831"/>
                  </a:lnTo>
                  <a:lnTo>
                    <a:pt x="5497690" y="3142831"/>
                  </a:lnTo>
                  <a:lnTo>
                    <a:pt x="5497690" y="2948660"/>
                  </a:lnTo>
                  <a:close/>
                </a:path>
                <a:path w="6687820" h="4339590">
                  <a:moveTo>
                    <a:pt x="5818289" y="2338222"/>
                  </a:moveTo>
                  <a:lnTo>
                    <a:pt x="5624119" y="2338222"/>
                  </a:lnTo>
                  <a:lnTo>
                    <a:pt x="5624119" y="2532380"/>
                  </a:lnTo>
                  <a:lnTo>
                    <a:pt x="5818289" y="2532380"/>
                  </a:lnTo>
                  <a:lnTo>
                    <a:pt x="5818289" y="2338222"/>
                  </a:lnTo>
                  <a:close/>
                </a:path>
                <a:path w="6687820" h="4339590">
                  <a:moveTo>
                    <a:pt x="5888279" y="2874162"/>
                  </a:moveTo>
                  <a:lnTo>
                    <a:pt x="5694121" y="2874162"/>
                  </a:lnTo>
                  <a:lnTo>
                    <a:pt x="5694121" y="3068320"/>
                  </a:lnTo>
                  <a:lnTo>
                    <a:pt x="5888279" y="3068320"/>
                  </a:lnTo>
                  <a:lnTo>
                    <a:pt x="5888279" y="2874162"/>
                  </a:lnTo>
                  <a:close/>
                </a:path>
                <a:path w="6687820" h="4339590">
                  <a:moveTo>
                    <a:pt x="5931179" y="1030122"/>
                  </a:moveTo>
                  <a:lnTo>
                    <a:pt x="5737009" y="1030122"/>
                  </a:lnTo>
                  <a:lnTo>
                    <a:pt x="5737009" y="1224280"/>
                  </a:lnTo>
                  <a:lnTo>
                    <a:pt x="5931179" y="1224280"/>
                  </a:lnTo>
                  <a:lnTo>
                    <a:pt x="5931179" y="1030122"/>
                  </a:lnTo>
                  <a:close/>
                </a:path>
                <a:path w="6687820" h="4339590">
                  <a:moveTo>
                    <a:pt x="6035040" y="1830222"/>
                  </a:moveTo>
                  <a:lnTo>
                    <a:pt x="5840869" y="1830222"/>
                  </a:lnTo>
                  <a:lnTo>
                    <a:pt x="5840869" y="2024380"/>
                  </a:lnTo>
                  <a:lnTo>
                    <a:pt x="6035040" y="2024380"/>
                  </a:lnTo>
                  <a:lnTo>
                    <a:pt x="6035040" y="1830222"/>
                  </a:lnTo>
                  <a:close/>
                </a:path>
                <a:path w="6687820" h="4339590">
                  <a:moveTo>
                    <a:pt x="6470790" y="4090822"/>
                  </a:moveTo>
                  <a:lnTo>
                    <a:pt x="6276619" y="4090822"/>
                  </a:lnTo>
                  <a:lnTo>
                    <a:pt x="6276619" y="4284980"/>
                  </a:lnTo>
                  <a:lnTo>
                    <a:pt x="6470790" y="4284980"/>
                  </a:lnTo>
                  <a:lnTo>
                    <a:pt x="6470790" y="4090822"/>
                  </a:lnTo>
                  <a:close/>
                </a:path>
                <a:path w="6687820" h="4339590">
                  <a:moveTo>
                    <a:pt x="6565620" y="2592222"/>
                  </a:moveTo>
                  <a:lnTo>
                    <a:pt x="6371450" y="2592222"/>
                  </a:lnTo>
                  <a:lnTo>
                    <a:pt x="6371450" y="2786380"/>
                  </a:lnTo>
                  <a:lnTo>
                    <a:pt x="6565620" y="2786380"/>
                  </a:lnTo>
                  <a:lnTo>
                    <a:pt x="6565620" y="2592222"/>
                  </a:lnTo>
                  <a:close/>
                </a:path>
                <a:path w="6687820" h="4339590">
                  <a:moveTo>
                    <a:pt x="6687540" y="3582822"/>
                  </a:moveTo>
                  <a:lnTo>
                    <a:pt x="6493370" y="3582822"/>
                  </a:lnTo>
                  <a:lnTo>
                    <a:pt x="6493370" y="3776980"/>
                  </a:lnTo>
                  <a:lnTo>
                    <a:pt x="6687540" y="3776980"/>
                  </a:lnTo>
                  <a:lnTo>
                    <a:pt x="6687540" y="3582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3227" y="7645400"/>
              <a:ext cx="196426" cy="19642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521938" y="8024989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09">
                  <a:moveTo>
                    <a:pt x="194168" y="0"/>
                  </a:moveTo>
                  <a:lnTo>
                    <a:pt x="0" y="0"/>
                  </a:lnTo>
                  <a:lnTo>
                    <a:pt x="0" y="194168"/>
                  </a:lnTo>
                  <a:lnTo>
                    <a:pt x="194168" y="194168"/>
                  </a:lnTo>
                  <a:lnTo>
                    <a:pt x="194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841500" y="3683000"/>
            <a:ext cx="9361170" cy="4628511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R="313055" algn="ctr">
              <a:lnSpc>
                <a:spcPct val="100000"/>
              </a:lnSpc>
              <a:spcBef>
                <a:spcPts val="1600"/>
              </a:spcBef>
            </a:pPr>
            <a:r>
              <a:rPr sz="1600" b="1" dirty="0">
                <a:latin typeface="Tahoma"/>
                <a:cs typeface="Tahoma"/>
              </a:rPr>
              <a:t>k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4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centers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600">
              <a:latin typeface="Tahoma"/>
              <a:cs typeface="Tahoma"/>
            </a:endParaRPr>
          </a:p>
          <a:p>
            <a:pPr marR="1986914" algn="ctr">
              <a:lnSpc>
                <a:spcPct val="100000"/>
              </a:lnSpc>
            </a:pP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r(C)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65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079500" marR="7656830">
              <a:lnSpc>
                <a:spcPct val="151000"/>
              </a:lnSpc>
            </a:pPr>
            <a:endParaRPr lang="en-GB" sz="1600" spc="-10" dirty="0">
              <a:solidFill>
                <a:srgbClr val="0048AA"/>
              </a:solidFill>
              <a:latin typeface="Lucida Sans Unicode"/>
              <a:cs typeface="Lucida Sans Unicode"/>
            </a:endParaRPr>
          </a:p>
          <a:p>
            <a:pPr marL="1079500" marR="7656830">
              <a:lnSpc>
                <a:spcPct val="151000"/>
              </a:lnSpc>
            </a:pPr>
            <a:r>
              <a:rPr sz="16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center </a:t>
            </a:r>
            <a:r>
              <a:rPr sz="1600" spc="-20" dirty="0">
                <a:latin typeface="Lucida Sans Unicode"/>
                <a:cs typeface="Lucida Sans Unicode"/>
              </a:rPr>
              <a:t>site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1026" name="Picture 2" descr="Costa Coffee — Waterbury">
            <a:extLst>
              <a:ext uri="{FF2B5EF4-FFF2-40B4-BE49-F238E27FC236}">
                <a16:creationId xmlns:a16="http://schemas.microsoft.com/office/drawing/2014/main" id="{F6B3B1A0-C189-BD09-6340-8973FF7B7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124" y="1060711"/>
            <a:ext cx="4494676" cy="252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Center</a:t>
            </a:r>
            <a:r>
              <a:rPr spc="-45" dirty="0"/>
              <a:t> </a:t>
            </a:r>
            <a:r>
              <a:rPr dirty="0"/>
              <a:t>selection</a:t>
            </a:r>
            <a:r>
              <a:rPr spc="-4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36600" y="1333500"/>
            <a:ext cx="10350500" cy="521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1136650" algn="l"/>
                <a:tab pos="6778625" algn="l"/>
                <a:tab pos="7103109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Input.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baseline="-19097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9097" dirty="0">
                <a:latin typeface="Times New Roman"/>
                <a:cs typeface="Times New Roman"/>
              </a:rPr>
              <a:t>n</a:t>
            </a:r>
            <a:r>
              <a:rPr sz="2400" i="1" spc="50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k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 marR="43180">
              <a:lnSpc>
                <a:spcPct val="131900"/>
              </a:lnSpc>
              <a:tabLst>
                <a:tab pos="409321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Center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selection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Select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maximum </a:t>
            </a:r>
            <a:r>
              <a:rPr sz="2400" dirty="0">
                <a:latin typeface="Lucida Sans Unicode"/>
                <a:cs typeface="Lucida Sans Unicode"/>
              </a:rPr>
              <a:t>distance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nearest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minimized.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ts val="2615"/>
              </a:lnSpc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Notation.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spc="40" dirty="0">
                <a:latin typeface="Times New Roman"/>
                <a:cs typeface="Times New Roman"/>
              </a:rPr>
              <a:t>) = </a:t>
            </a:r>
            <a:r>
              <a:rPr sz="2400" dirty="0">
                <a:latin typeface="Lucida Sans Unicode"/>
                <a:cs typeface="Lucida Sans Unicode"/>
              </a:rPr>
              <a:t>distance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between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sites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800"/>
              </a:lnSpc>
              <a:tabLst>
                <a:tab pos="4515485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min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baseline="-19097" dirty="0">
                <a:latin typeface="Times New Roman"/>
                <a:cs typeface="Times New Roman"/>
              </a:rPr>
              <a:t>c</a:t>
            </a:r>
            <a:r>
              <a:rPr sz="2400" i="1" spc="-7" baseline="-19097" dirty="0">
                <a:latin typeface="Times New Roman"/>
                <a:cs typeface="Times New Roman"/>
              </a:rPr>
              <a:t> </a:t>
            </a:r>
            <a:r>
              <a:rPr sz="2400" baseline="-20833" dirty="0">
                <a:latin typeface="Symbol"/>
                <a:cs typeface="Symbol"/>
              </a:rPr>
              <a:t></a:t>
            </a:r>
            <a:r>
              <a:rPr sz="2400" spc="-15" baseline="-20833" dirty="0">
                <a:latin typeface="Times New Roman"/>
                <a:cs typeface="Times New Roman"/>
              </a:rPr>
              <a:t> </a:t>
            </a:r>
            <a:r>
              <a:rPr sz="2400" i="1" baseline="-19097" dirty="0">
                <a:latin typeface="Times New Roman"/>
                <a:cs typeface="Times New Roman"/>
              </a:rPr>
              <a:t>C</a:t>
            </a:r>
            <a:r>
              <a:rPr sz="2400" i="1" spc="284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=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distance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50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closest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center.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210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) = 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84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spc="30" dirty="0">
                <a:latin typeface="Times New Roman"/>
                <a:cs typeface="Times New Roman"/>
              </a:rPr>
              <a:t>) = </a:t>
            </a:r>
            <a:r>
              <a:rPr sz="2400" dirty="0">
                <a:latin typeface="Lucida Sans Unicode"/>
                <a:cs typeface="Lucida Sans Unicode"/>
              </a:rPr>
              <a:t>smallest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radius.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10287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minimizes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subject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|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|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7124700"/>
            <a:ext cx="4648200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Distance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function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properties.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spc="-10" dirty="0">
                <a:latin typeface="Times New Roman"/>
                <a:cs typeface="Times New Roman"/>
              </a:rPr>
              <a:t>) = 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ts val="380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spc="-15" dirty="0">
                <a:latin typeface="Times New Roman"/>
                <a:cs typeface="Times New Roman"/>
              </a:rPr>
              <a:t>) = 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spc="-10" dirty="0">
                <a:latin typeface="Times New Roman"/>
                <a:cs typeface="Times New Roman"/>
              </a:rPr>
              <a:t>,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ts val="4210"/>
              </a:lnSpc>
              <a:tabLst>
                <a:tab pos="1866264" algn="l"/>
                <a:tab pos="218567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4220" y="7490459"/>
            <a:ext cx="3103880" cy="14732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2400" spc="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identity</a:t>
            </a:r>
            <a:r>
              <a:rPr sz="2400" spc="4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2400" spc="5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symmetry</a:t>
            </a:r>
            <a:r>
              <a:rPr sz="2400" spc="5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2400" spc="-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triangle</a:t>
            </a:r>
            <a:r>
              <a:rPr sz="2400" spc="-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inequality</a:t>
            </a:r>
            <a:r>
              <a:rPr sz="2400" spc="-3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Center</a:t>
            </a:r>
            <a:r>
              <a:rPr spc="-45" dirty="0"/>
              <a:t> </a:t>
            </a:r>
            <a:r>
              <a:rPr dirty="0"/>
              <a:t>selection</a:t>
            </a:r>
            <a:r>
              <a:rPr spc="-4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11179175" cy="19558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Ex: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plane,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point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plane,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Euclidean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distance.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4198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Remark: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infinite!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41500" y="3683000"/>
            <a:ext cx="9361170" cy="5524500"/>
            <a:chOff x="1841500" y="3683000"/>
            <a:chExt cx="9361170" cy="5524500"/>
          </a:xfrm>
        </p:grpSpPr>
        <p:sp>
          <p:nvSpPr>
            <p:cNvPr id="6" name="object 6"/>
            <p:cNvSpPr/>
            <p:nvPr/>
          </p:nvSpPr>
          <p:spPr>
            <a:xfrm>
              <a:off x="1841500" y="3683000"/>
              <a:ext cx="9361170" cy="5524500"/>
            </a:xfrm>
            <a:custGeom>
              <a:avLst/>
              <a:gdLst/>
              <a:ahLst/>
              <a:cxnLst/>
              <a:rect l="l" t="t" r="r" b="b"/>
              <a:pathLst>
                <a:path w="9361170" h="5524500">
                  <a:moveTo>
                    <a:pt x="9360747" y="0"/>
                  </a:moveTo>
                  <a:lnTo>
                    <a:pt x="0" y="0"/>
                  </a:lnTo>
                  <a:lnTo>
                    <a:pt x="0" y="5524500"/>
                  </a:lnTo>
                  <a:lnTo>
                    <a:pt x="9360747" y="5524500"/>
                  </a:lnTo>
                  <a:lnTo>
                    <a:pt x="9360747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97604" y="4021320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2" y="0"/>
                  </a:moveTo>
                  <a:lnTo>
                    <a:pt x="1107831" y="0"/>
                  </a:lnTo>
                  <a:lnTo>
                    <a:pt x="1063359" y="1741"/>
                  </a:lnTo>
                  <a:lnTo>
                    <a:pt x="1018969" y="5223"/>
                  </a:lnTo>
                  <a:lnTo>
                    <a:pt x="974718" y="10447"/>
                  </a:lnTo>
                  <a:lnTo>
                    <a:pt x="930661" y="17412"/>
                  </a:lnTo>
                  <a:lnTo>
                    <a:pt x="886854" y="26118"/>
                  </a:lnTo>
                  <a:lnTo>
                    <a:pt x="843352" y="36566"/>
                  </a:lnTo>
                  <a:lnTo>
                    <a:pt x="800211" y="48755"/>
                  </a:lnTo>
                  <a:lnTo>
                    <a:pt x="757486" y="62685"/>
                  </a:lnTo>
                  <a:lnTo>
                    <a:pt x="715232" y="78356"/>
                  </a:lnTo>
                  <a:lnTo>
                    <a:pt x="673506" y="95769"/>
                  </a:lnTo>
                  <a:lnTo>
                    <a:pt x="632362" y="114923"/>
                  </a:lnTo>
                  <a:lnTo>
                    <a:pt x="591856" y="135818"/>
                  </a:lnTo>
                  <a:lnTo>
                    <a:pt x="552043" y="158454"/>
                  </a:lnTo>
                  <a:lnTo>
                    <a:pt x="512980" y="182832"/>
                  </a:lnTo>
                  <a:lnTo>
                    <a:pt x="474721" y="208950"/>
                  </a:lnTo>
                  <a:lnTo>
                    <a:pt x="437322" y="236811"/>
                  </a:lnTo>
                  <a:lnTo>
                    <a:pt x="400838" y="266412"/>
                  </a:lnTo>
                  <a:lnTo>
                    <a:pt x="365326" y="297755"/>
                  </a:lnTo>
                  <a:lnTo>
                    <a:pt x="330839" y="330838"/>
                  </a:lnTo>
                  <a:lnTo>
                    <a:pt x="297755" y="365325"/>
                  </a:lnTo>
                  <a:lnTo>
                    <a:pt x="266413" y="400837"/>
                  </a:lnTo>
                  <a:lnTo>
                    <a:pt x="236811" y="437321"/>
                  </a:lnTo>
                  <a:lnTo>
                    <a:pt x="208951" y="474720"/>
                  </a:lnTo>
                  <a:lnTo>
                    <a:pt x="182832" y="512979"/>
                  </a:lnTo>
                  <a:lnTo>
                    <a:pt x="158454" y="552043"/>
                  </a:lnTo>
                  <a:lnTo>
                    <a:pt x="135818" y="591855"/>
                  </a:lnTo>
                  <a:lnTo>
                    <a:pt x="114923" y="632361"/>
                  </a:lnTo>
                  <a:lnTo>
                    <a:pt x="95769" y="673505"/>
                  </a:lnTo>
                  <a:lnTo>
                    <a:pt x="78356" y="715232"/>
                  </a:lnTo>
                  <a:lnTo>
                    <a:pt x="62685" y="757485"/>
                  </a:lnTo>
                  <a:lnTo>
                    <a:pt x="48755" y="800211"/>
                  </a:lnTo>
                  <a:lnTo>
                    <a:pt x="36566" y="843352"/>
                  </a:lnTo>
                  <a:lnTo>
                    <a:pt x="26118" y="886854"/>
                  </a:lnTo>
                  <a:lnTo>
                    <a:pt x="17412" y="930661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1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5"/>
                  </a:lnTo>
                  <a:lnTo>
                    <a:pt x="17412" y="1329502"/>
                  </a:lnTo>
                  <a:lnTo>
                    <a:pt x="26118" y="1373309"/>
                  </a:lnTo>
                  <a:lnTo>
                    <a:pt x="36566" y="1416811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1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0"/>
                  </a:lnTo>
                  <a:lnTo>
                    <a:pt x="182832" y="1747184"/>
                  </a:lnTo>
                  <a:lnTo>
                    <a:pt x="208951" y="1785443"/>
                  </a:lnTo>
                  <a:lnTo>
                    <a:pt x="236811" y="1822842"/>
                  </a:lnTo>
                  <a:lnTo>
                    <a:pt x="266413" y="1859325"/>
                  </a:lnTo>
                  <a:lnTo>
                    <a:pt x="297755" y="1894838"/>
                  </a:lnTo>
                  <a:lnTo>
                    <a:pt x="330839" y="1929324"/>
                  </a:lnTo>
                  <a:lnTo>
                    <a:pt x="365326" y="1962408"/>
                  </a:lnTo>
                  <a:lnTo>
                    <a:pt x="400838" y="1993751"/>
                  </a:lnTo>
                  <a:lnTo>
                    <a:pt x="437322" y="2023352"/>
                  </a:lnTo>
                  <a:lnTo>
                    <a:pt x="474721" y="2051212"/>
                  </a:lnTo>
                  <a:lnTo>
                    <a:pt x="512980" y="2077331"/>
                  </a:lnTo>
                  <a:lnTo>
                    <a:pt x="552043" y="2101709"/>
                  </a:lnTo>
                  <a:lnTo>
                    <a:pt x="591856" y="2124345"/>
                  </a:lnTo>
                  <a:lnTo>
                    <a:pt x="632362" y="2145241"/>
                  </a:lnTo>
                  <a:lnTo>
                    <a:pt x="673506" y="2164394"/>
                  </a:lnTo>
                  <a:lnTo>
                    <a:pt x="715232" y="2181807"/>
                  </a:lnTo>
                  <a:lnTo>
                    <a:pt x="757486" y="2197478"/>
                  </a:lnTo>
                  <a:lnTo>
                    <a:pt x="800211" y="2211409"/>
                  </a:lnTo>
                  <a:lnTo>
                    <a:pt x="843352" y="2223597"/>
                  </a:lnTo>
                  <a:lnTo>
                    <a:pt x="886854" y="2234045"/>
                  </a:lnTo>
                  <a:lnTo>
                    <a:pt x="930661" y="2242751"/>
                  </a:lnTo>
                  <a:lnTo>
                    <a:pt x="974718" y="2249716"/>
                  </a:lnTo>
                  <a:lnTo>
                    <a:pt x="1018969" y="2254940"/>
                  </a:lnTo>
                  <a:lnTo>
                    <a:pt x="1063359" y="2258423"/>
                  </a:lnTo>
                  <a:lnTo>
                    <a:pt x="1107831" y="2260164"/>
                  </a:lnTo>
                  <a:lnTo>
                    <a:pt x="1152332" y="2260164"/>
                  </a:lnTo>
                  <a:lnTo>
                    <a:pt x="1196805" y="2258423"/>
                  </a:lnTo>
                  <a:lnTo>
                    <a:pt x="1241195" y="2254940"/>
                  </a:lnTo>
                  <a:lnTo>
                    <a:pt x="1285445" y="2249716"/>
                  </a:lnTo>
                  <a:lnTo>
                    <a:pt x="1329502" y="2242751"/>
                  </a:lnTo>
                  <a:lnTo>
                    <a:pt x="1373309" y="2234045"/>
                  </a:lnTo>
                  <a:lnTo>
                    <a:pt x="1416811" y="2223597"/>
                  </a:lnTo>
                  <a:lnTo>
                    <a:pt x="1459953" y="2211409"/>
                  </a:lnTo>
                  <a:lnTo>
                    <a:pt x="1502678" y="2197478"/>
                  </a:lnTo>
                  <a:lnTo>
                    <a:pt x="1544932" y="2181807"/>
                  </a:lnTo>
                  <a:lnTo>
                    <a:pt x="1586658" y="2164394"/>
                  </a:lnTo>
                  <a:lnTo>
                    <a:pt x="1627802" y="2145241"/>
                  </a:lnTo>
                  <a:lnTo>
                    <a:pt x="1668308" y="2124345"/>
                  </a:lnTo>
                  <a:lnTo>
                    <a:pt x="1708121" y="2101709"/>
                  </a:lnTo>
                  <a:lnTo>
                    <a:pt x="1747184" y="2077331"/>
                  </a:lnTo>
                  <a:lnTo>
                    <a:pt x="1785443" y="2051212"/>
                  </a:lnTo>
                  <a:lnTo>
                    <a:pt x="1822842" y="2023352"/>
                  </a:lnTo>
                  <a:lnTo>
                    <a:pt x="1859326" y="1993751"/>
                  </a:lnTo>
                  <a:lnTo>
                    <a:pt x="1894839" y="1962408"/>
                  </a:lnTo>
                  <a:lnTo>
                    <a:pt x="1929325" y="1929324"/>
                  </a:lnTo>
                  <a:lnTo>
                    <a:pt x="1962409" y="1894838"/>
                  </a:lnTo>
                  <a:lnTo>
                    <a:pt x="1993751" y="1859325"/>
                  </a:lnTo>
                  <a:lnTo>
                    <a:pt x="2023353" y="1822842"/>
                  </a:lnTo>
                  <a:lnTo>
                    <a:pt x="2051213" y="1785443"/>
                  </a:lnTo>
                  <a:lnTo>
                    <a:pt x="2077332" y="1747184"/>
                  </a:lnTo>
                  <a:lnTo>
                    <a:pt x="2101709" y="1708120"/>
                  </a:lnTo>
                  <a:lnTo>
                    <a:pt x="2124346" y="1668308"/>
                  </a:lnTo>
                  <a:lnTo>
                    <a:pt x="2145241" y="1627802"/>
                  </a:lnTo>
                  <a:lnTo>
                    <a:pt x="2164395" y="1586658"/>
                  </a:lnTo>
                  <a:lnTo>
                    <a:pt x="2181807" y="1544931"/>
                  </a:lnTo>
                  <a:lnTo>
                    <a:pt x="2197479" y="1502678"/>
                  </a:lnTo>
                  <a:lnTo>
                    <a:pt x="2211409" y="1459953"/>
                  </a:lnTo>
                  <a:lnTo>
                    <a:pt x="2223597" y="1416811"/>
                  </a:lnTo>
                  <a:lnTo>
                    <a:pt x="2234045" y="1373309"/>
                  </a:lnTo>
                  <a:lnTo>
                    <a:pt x="2242751" y="1329502"/>
                  </a:lnTo>
                  <a:lnTo>
                    <a:pt x="2249716" y="1285445"/>
                  </a:lnTo>
                  <a:lnTo>
                    <a:pt x="2254940" y="1241195"/>
                  </a:lnTo>
                  <a:lnTo>
                    <a:pt x="2258423" y="1196805"/>
                  </a:lnTo>
                  <a:lnTo>
                    <a:pt x="2260164" y="1152332"/>
                  </a:lnTo>
                  <a:lnTo>
                    <a:pt x="2260164" y="1107831"/>
                  </a:lnTo>
                  <a:lnTo>
                    <a:pt x="2258423" y="1063359"/>
                  </a:lnTo>
                  <a:lnTo>
                    <a:pt x="2254940" y="1018969"/>
                  </a:lnTo>
                  <a:lnTo>
                    <a:pt x="2249716" y="974718"/>
                  </a:lnTo>
                  <a:lnTo>
                    <a:pt x="2242751" y="930661"/>
                  </a:lnTo>
                  <a:lnTo>
                    <a:pt x="2234045" y="886854"/>
                  </a:lnTo>
                  <a:lnTo>
                    <a:pt x="2223597" y="843352"/>
                  </a:lnTo>
                  <a:lnTo>
                    <a:pt x="2211409" y="800211"/>
                  </a:lnTo>
                  <a:lnTo>
                    <a:pt x="2197479" y="757485"/>
                  </a:lnTo>
                  <a:lnTo>
                    <a:pt x="2181807" y="715232"/>
                  </a:lnTo>
                  <a:lnTo>
                    <a:pt x="2164395" y="673505"/>
                  </a:lnTo>
                  <a:lnTo>
                    <a:pt x="2145241" y="632361"/>
                  </a:lnTo>
                  <a:lnTo>
                    <a:pt x="2124346" y="591855"/>
                  </a:lnTo>
                  <a:lnTo>
                    <a:pt x="2101709" y="552043"/>
                  </a:lnTo>
                  <a:lnTo>
                    <a:pt x="2077332" y="512979"/>
                  </a:lnTo>
                  <a:lnTo>
                    <a:pt x="2051213" y="474720"/>
                  </a:lnTo>
                  <a:lnTo>
                    <a:pt x="2023353" y="437321"/>
                  </a:lnTo>
                  <a:lnTo>
                    <a:pt x="1993751" y="400837"/>
                  </a:lnTo>
                  <a:lnTo>
                    <a:pt x="1962409" y="365325"/>
                  </a:lnTo>
                  <a:lnTo>
                    <a:pt x="1929325" y="330838"/>
                  </a:lnTo>
                  <a:lnTo>
                    <a:pt x="1894839" y="297755"/>
                  </a:lnTo>
                  <a:lnTo>
                    <a:pt x="1859326" y="266412"/>
                  </a:lnTo>
                  <a:lnTo>
                    <a:pt x="1822842" y="236811"/>
                  </a:lnTo>
                  <a:lnTo>
                    <a:pt x="1785443" y="208950"/>
                  </a:lnTo>
                  <a:lnTo>
                    <a:pt x="1747184" y="182832"/>
                  </a:lnTo>
                  <a:lnTo>
                    <a:pt x="1708121" y="158454"/>
                  </a:lnTo>
                  <a:lnTo>
                    <a:pt x="1668308" y="135818"/>
                  </a:lnTo>
                  <a:lnTo>
                    <a:pt x="1627802" y="114923"/>
                  </a:lnTo>
                  <a:lnTo>
                    <a:pt x="1586658" y="95769"/>
                  </a:lnTo>
                  <a:lnTo>
                    <a:pt x="1544932" y="78356"/>
                  </a:lnTo>
                  <a:lnTo>
                    <a:pt x="1502678" y="62685"/>
                  </a:lnTo>
                  <a:lnTo>
                    <a:pt x="1459953" y="48755"/>
                  </a:lnTo>
                  <a:lnTo>
                    <a:pt x="1416811" y="36566"/>
                  </a:lnTo>
                  <a:lnTo>
                    <a:pt x="1373309" y="26118"/>
                  </a:lnTo>
                  <a:lnTo>
                    <a:pt x="1329502" y="17412"/>
                  </a:lnTo>
                  <a:lnTo>
                    <a:pt x="1285445" y="10447"/>
                  </a:lnTo>
                  <a:lnTo>
                    <a:pt x="1241195" y="5223"/>
                  </a:lnTo>
                  <a:lnTo>
                    <a:pt x="1196805" y="1741"/>
                  </a:lnTo>
                  <a:lnTo>
                    <a:pt x="1152332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97604" y="4021319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26991" y="4590280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2" y="0"/>
                  </a:moveTo>
                  <a:lnTo>
                    <a:pt x="1107831" y="0"/>
                  </a:lnTo>
                  <a:lnTo>
                    <a:pt x="1063359" y="1741"/>
                  </a:lnTo>
                  <a:lnTo>
                    <a:pt x="1018969" y="5223"/>
                  </a:lnTo>
                  <a:lnTo>
                    <a:pt x="974718" y="10447"/>
                  </a:lnTo>
                  <a:lnTo>
                    <a:pt x="930661" y="17412"/>
                  </a:lnTo>
                  <a:lnTo>
                    <a:pt x="886854" y="26118"/>
                  </a:lnTo>
                  <a:lnTo>
                    <a:pt x="843352" y="36566"/>
                  </a:lnTo>
                  <a:lnTo>
                    <a:pt x="800211" y="48755"/>
                  </a:lnTo>
                  <a:lnTo>
                    <a:pt x="757485" y="62685"/>
                  </a:lnTo>
                  <a:lnTo>
                    <a:pt x="715232" y="78356"/>
                  </a:lnTo>
                  <a:lnTo>
                    <a:pt x="673505" y="95769"/>
                  </a:lnTo>
                  <a:lnTo>
                    <a:pt x="632361" y="114923"/>
                  </a:lnTo>
                  <a:lnTo>
                    <a:pt x="591855" y="135818"/>
                  </a:lnTo>
                  <a:lnTo>
                    <a:pt x="552043" y="158454"/>
                  </a:lnTo>
                  <a:lnTo>
                    <a:pt x="512979" y="182832"/>
                  </a:lnTo>
                  <a:lnTo>
                    <a:pt x="474720" y="208950"/>
                  </a:lnTo>
                  <a:lnTo>
                    <a:pt x="437321" y="236811"/>
                  </a:lnTo>
                  <a:lnTo>
                    <a:pt x="400837" y="266412"/>
                  </a:lnTo>
                  <a:lnTo>
                    <a:pt x="365325" y="297755"/>
                  </a:lnTo>
                  <a:lnTo>
                    <a:pt x="330838" y="330838"/>
                  </a:lnTo>
                  <a:lnTo>
                    <a:pt x="297755" y="365325"/>
                  </a:lnTo>
                  <a:lnTo>
                    <a:pt x="266412" y="400837"/>
                  </a:lnTo>
                  <a:lnTo>
                    <a:pt x="236811" y="437321"/>
                  </a:lnTo>
                  <a:lnTo>
                    <a:pt x="208950" y="474720"/>
                  </a:lnTo>
                  <a:lnTo>
                    <a:pt x="182832" y="512979"/>
                  </a:lnTo>
                  <a:lnTo>
                    <a:pt x="158454" y="552043"/>
                  </a:lnTo>
                  <a:lnTo>
                    <a:pt x="135818" y="591855"/>
                  </a:lnTo>
                  <a:lnTo>
                    <a:pt x="114923" y="632361"/>
                  </a:lnTo>
                  <a:lnTo>
                    <a:pt x="95769" y="673505"/>
                  </a:lnTo>
                  <a:lnTo>
                    <a:pt x="78356" y="715232"/>
                  </a:lnTo>
                  <a:lnTo>
                    <a:pt x="62685" y="757485"/>
                  </a:lnTo>
                  <a:lnTo>
                    <a:pt x="48755" y="800211"/>
                  </a:lnTo>
                  <a:lnTo>
                    <a:pt x="36566" y="843352"/>
                  </a:lnTo>
                  <a:lnTo>
                    <a:pt x="26118" y="886854"/>
                  </a:lnTo>
                  <a:lnTo>
                    <a:pt x="17412" y="930661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1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5"/>
                  </a:lnTo>
                  <a:lnTo>
                    <a:pt x="17412" y="1329502"/>
                  </a:lnTo>
                  <a:lnTo>
                    <a:pt x="26118" y="1373309"/>
                  </a:lnTo>
                  <a:lnTo>
                    <a:pt x="36566" y="1416811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1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0"/>
                  </a:lnTo>
                  <a:lnTo>
                    <a:pt x="182832" y="1747184"/>
                  </a:lnTo>
                  <a:lnTo>
                    <a:pt x="208950" y="1785443"/>
                  </a:lnTo>
                  <a:lnTo>
                    <a:pt x="236811" y="1822842"/>
                  </a:lnTo>
                  <a:lnTo>
                    <a:pt x="266412" y="1859325"/>
                  </a:lnTo>
                  <a:lnTo>
                    <a:pt x="297755" y="1894838"/>
                  </a:lnTo>
                  <a:lnTo>
                    <a:pt x="330838" y="1929324"/>
                  </a:lnTo>
                  <a:lnTo>
                    <a:pt x="365325" y="1962408"/>
                  </a:lnTo>
                  <a:lnTo>
                    <a:pt x="400837" y="1993751"/>
                  </a:lnTo>
                  <a:lnTo>
                    <a:pt x="437321" y="2023352"/>
                  </a:lnTo>
                  <a:lnTo>
                    <a:pt x="474720" y="2051212"/>
                  </a:lnTo>
                  <a:lnTo>
                    <a:pt x="512979" y="2077331"/>
                  </a:lnTo>
                  <a:lnTo>
                    <a:pt x="552043" y="2101709"/>
                  </a:lnTo>
                  <a:lnTo>
                    <a:pt x="591855" y="2124345"/>
                  </a:lnTo>
                  <a:lnTo>
                    <a:pt x="632361" y="2145241"/>
                  </a:lnTo>
                  <a:lnTo>
                    <a:pt x="673505" y="2164394"/>
                  </a:lnTo>
                  <a:lnTo>
                    <a:pt x="715232" y="2181807"/>
                  </a:lnTo>
                  <a:lnTo>
                    <a:pt x="757485" y="2197478"/>
                  </a:lnTo>
                  <a:lnTo>
                    <a:pt x="800211" y="2211409"/>
                  </a:lnTo>
                  <a:lnTo>
                    <a:pt x="843352" y="2223597"/>
                  </a:lnTo>
                  <a:lnTo>
                    <a:pt x="886854" y="2234045"/>
                  </a:lnTo>
                  <a:lnTo>
                    <a:pt x="930661" y="2242751"/>
                  </a:lnTo>
                  <a:lnTo>
                    <a:pt x="974718" y="2249716"/>
                  </a:lnTo>
                  <a:lnTo>
                    <a:pt x="1018969" y="2254940"/>
                  </a:lnTo>
                  <a:lnTo>
                    <a:pt x="1063359" y="2258423"/>
                  </a:lnTo>
                  <a:lnTo>
                    <a:pt x="1107831" y="2260164"/>
                  </a:lnTo>
                  <a:lnTo>
                    <a:pt x="1152332" y="2260164"/>
                  </a:lnTo>
                  <a:lnTo>
                    <a:pt x="1196805" y="2258423"/>
                  </a:lnTo>
                  <a:lnTo>
                    <a:pt x="1241195" y="2254940"/>
                  </a:lnTo>
                  <a:lnTo>
                    <a:pt x="1285445" y="2249716"/>
                  </a:lnTo>
                  <a:lnTo>
                    <a:pt x="1329502" y="2242751"/>
                  </a:lnTo>
                  <a:lnTo>
                    <a:pt x="1373309" y="2234045"/>
                  </a:lnTo>
                  <a:lnTo>
                    <a:pt x="1416811" y="2223597"/>
                  </a:lnTo>
                  <a:lnTo>
                    <a:pt x="1459953" y="2211409"/>
                  </a:lnTo>
                  <a:lnTo>
                    <a:pt x="1502678" y="2197478"/>
                  </a:lnTo>
                  <a:lnTo>
                    <a:pt x="1544931" y="2181807"/>
                  </a:lnTo>
                  <a:lnTo>
                    <a:pt x="1586658" y="2164394"/>
                  </a:lnTo>
                  <a:lnTo>
                    <a:pt x="1627802" y="2145241"/>
                  </a:lnTo>
                  <a:lnTo>
                    <a:pt x="1668308" y="2124345"/>
                  </a:lnTo>
                  <a:lnTo>
                    <a:pt x="1708120" y="2101709"/>
                  </a:lnTo>
                  <a:lnTo>
                    <a:pt x="1747184" y="2077331"/>
                  </a:lnTo>
                  <a:lnTo>
                    <a:pt x="1785443" y="2051212"/>
                  </a:lnTo>
                  <a:lnTo>
                    <a:pt x="1822842" y="2023352"/>
                  </a:lnTo>
                  <a:lnTo>
                    <a:pt x="1859325" y="1993751"/>
                  </a:lnTo>
                  <a:lnTo>
                    <a:pt x="1894838" y="1962408"/>
                  </a:lnTo>
                  <a:lnTo>
                    <a:pt x="1929324" y="1929324"/>
                  </a:lnTo>
                  <a:lnTo>
                    <a:pt x="1962408" y="1894838"/>
                  </a:lnTo>
                  <a:lnTo>
                    <a:pt x="1993751" y="1859325"/>
                  </a:lnTo>
                  <a:lnTo>
                    <a:pt x="2023352" y="1822842"/>
                  </a:lnTo>
                  <a:lnTo>
                    <a:pt x="2051212" y="1785443"/>
                  </a:lnTo>
                  <a:lnTo>
                    <a:pt x="2077331" y="1747184"/>
                  </a:lnTo>
                  <a:lnTo>
                    <a:pt x="2101709" y="1708120"/>
                  </a:lnTo>
                  <a:lnTo>
                    <a:pt x="2124345" y="1668308"/>
                  </a:lnTo>
                  <a:lnTo>
                    <a:pt x="2145241" y="1627802"/>
                  </a:lnTo>
                  <a:lnTo>
                    <a:pt x="2164394" y="1586658"/>
                  </a:lnTo>
                  <a:lnTo>
                    <a:pt x="2181807" y="1544931"/>
                  </a:lnTo>
                  <a:lnTo>
                    <a:pt x="2197478" y="1502678"/>
                  </a:lnTo>
                  <a:lnTo>
                    <a:pt x="2211409" y="1459953"/>
                  </a:lnTo>
                  <a:lnTo>
                    <a:pt x="2223597" y="1416811"/>
                  </a:lnTo>
                  <a:lnTo>
                    <a:pt x="2234045" y="1373309"/>
                  </a:lnTo>
                  <a:lnTo>
                    <a:pt x="2242751" y="1329502"/>
                  </a:lnTo>
                  <a:lnTo>
                    <a:pt x="2249716" y="1285445"/>
                  </a:lnTo>
                  <a:lnTo>
                    <a:pt x="2254940" y="1241195"/>
                  </a:lnTo>
                  <a:lnTo>
                    <a:pt x="2258423" y="1196805"/>
                  </a:lnTo>
                  <a:lnTo>
                    <a:pt x="2260164" y="1152332"/>
                  </a:lnTo>
                  <a:lnTo>
                    <a:pt x="2260164" y="1107831"/>
                  </a:lnTo>
                  <a:lnTo>
                    <a:pt x="2258423" y="1063359"/>
                  </a:lnTo>
                  <a:lnTo>
                    <a:pt x="2254940" y="1018969"/>
                  </a:lnTo>
                  <a:lnTo>
                    <a:pt x="2249716" y="974718"/>
                  </a:lnTo>
                  <a:lnTo>
                    <a:pt x="2242751" y="930661"/>
                  </a:lnTo>
                  <a:lnTo>
                    <a:pt x="2234045" y="886854"/>
                  </a:lnTo>
                  <a:lnTo>
                    <a:pt x="2223597" y="843352"/>
                  </a:lnTo>
                  <a:lnTo>
                    <a:pt x="2211409" y="800211"/>
                  </a:lnTo>
                  <a:lnTo>
                    <a:pt x="2197478" y="757485"/>
                  </a:lnTo>
                  <a:lnTo>
                    <a:pt x="2181807" y="715232"/>
                  </a:lnTo>
                  <a:lnTo>
                    <a:pt x="2164394" y="673505"/>
                  </a:lnTo>
                  <a:lnTo>
                    <a:pt x="2145241" y="632361"/>
                  </a:lnTo>
                  <a:lnTo>
                    <a:pt x="2124345" y="591855"/>
                  </a:lnTo>
                  <a:lnTo>
                    <a:pt x="2101709" y="552043"/>
                  </a:lnTo>
                  <a:lnTo>
                    <a:pt x="2077331" y="512979"/>
                  </a:lnTo>
                  <a:lnTo>
                    <a:pt x="2051212" y="474720"/>
                  </a:lnTo>
                  <a:lnTo>
                    <a:pt x="2023352" y="437321"/>
                  </a:lnTo>
                  <a:lnTo>
                    <a:pt x="1993751" y="400837"/>
                  </a:lnTo>
                  <a:lnTo>
                    <a:pt x="1962408" y="365325"/>
                  </a:lnTo>
                  <a:lnTo>
                    <a:pt x="1929324" y="330838"/>
                  </a:lnTo>
                  <a:lnTo>
                    <a:pt x="1894838" y="297755"/>
                  </a:lnTo>
                  <a:lnTo>
                    <a:pt x="1859325" y="266412"/>
                  </a:lnTo>
                  <a:lnTo>
                    <a:pt x="1822842" y="236811"/>
                  </a:lnTo>
                  <a:lnTo>
                    <a:pt x="1785443" y="208950"/>
                  </a:lnTo>
                  <a:lnTo>
                    <a:pt x="1747184" y="182832"/>
                  </a:lnTo>
                  <a:lnTo>
                    <a:pt x="1708120" y="158454"/>
                  </a:lnTo>
                  <a:lnTo>
                    <a:pt x="1668308" y="135818"/>
                  </a:lnTo>
                  <a:lnTo>
                    <a:pt x="1627802" y="114923"/>
                  </a:lnTo>
                  <a:lnTo>
                    <a:pt x="1586658" y="95769"/>
                  </a:lnTo>
                  <a:lnTo>
                    <a:pt x="1544931" y="78356"/>
                  </a:lnTo>
                  <a:lnTo>
                    <a:pt x="1502678" y="62685"/>
                  </a:lnTo>
                  <a:lnTo>
                    <a:pt x="1459953" y="48755"/>
                  </a:lnTo>
                  <a:lnTo>
                    <a:pt x="1416811" y="36566"/>
                  </a:lnTo>
                  <a:lnTo>
                    <a:pt x="1373309" y="26118"/>
                  </a:lnTo>
                  <a:lnTo>
                    <a:pt x="1329502" y="17412"/>
                  </a:lnTo>
                  <a:lnTo>
                    <a:pt x="1285445" y="10447"/>
                  </a:lnTo>
                  <a:lnTo>
                    <a:pt x="1241195" y="5223"/>
                  </a:lnTo>
                  <a:lnTo>
                    <a:pt x="1196805" y="1741"/>
                  </a:lnTo>
                  <a:lnTo>
                    <a:pt x="1152332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6990" y="4590279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2418" y="5064195"/>
              <a:ext cx="196426" cy="1964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3227" y="7645400"/>
              <a:ext cx="196426" cy="1964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8700" y="5633156"/>
              <a:ext cx="196426" cy="1964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313356" y="6150404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2" y="0"/>
                  </a:moveTo>
                  <a:lnTo>
                    <a:pt x="1107831" y="0"/>
                  </a:lnTo>
                  <a:lnTo>
                    <a:pt x="1063359" y="1741"/>
                  </a:lnTo>
                  <a:lnTo>
                    <a:pt x="1018969" y="5223"/>
                  </a:lnTo>
                  <a:lnTo>
                    <a:pt x="974718" y="10447"/>
                  </a:lnTo>
                  <a:lnTo>
                    <a:pt x="930661" y="17412"/>
                  </a:lnTo>
                  <a:lnTo>
                    <a:pt x="886854" y="26118"/>
                  </a:lnTo>
                  <a:lnTo>
                    <a:pt x="843352" y="36566"/>
                  </a:lnTo>
                  <a:lnTo>
                    <a:pt x="800211" y="48755"/>
                  </a:lnTo>
                  <a:lnTo>
                    <a:pt x="757485" y="62685"/>
                  </a:lnTo>
                  <a:lnTo>
                    <a:pt x="715232" y="78356"/>
                  </a:lnTo>
                  <a:lnTo>
                    <a:pt x="673505" y="95769"/>
                  </a:lnTo>
                  <a:lnTo>
                    <a:pt x="632361" y="114923"/>
                  </a:lnTo>
                  <a:lnTo>
                    <a:pt x="591855" y="135818"/>
                  </a:lnTo>
                  <a:lnTo>
                    <a:pt x="552043" y="158454"/>
                  </a:lnTo>
                  <a:lnTo>
                    <a:pt x="512979" y="182832"/>
                  </a:lnTo>
                  <a:lnTo>
                    <a:pt x="474720" y="208951"/>
                  </a:lnTo>
                  <a:lnTo>
                    <a:pt x="437321" y="236811"/>
                  </a:lnTo>
                  <a:lnTo>
                    <a:pt x="400837" y="266413"/>
                  </a:lnTo>
                  <a:lnTo>
                    <a:pt x="365325" y="297755"/>
                  </a:lnTo>
                  <a:lnTo>
                    <a:pt x="330838" y="330839"/>
                  </a:lnTo>
                  <a:lnTo>
                    <a:pt x="297755" y="365326"/>
                  </a:lnTo>
                  <a:lnTo>
                    <a:pt x="266412" y="400838"/>
                  </a:lnTo>
                  <a:lnTo>
                    <a:pt x="236811" y="437322"/>
                  </a:lnTo>
                  <a:lnTo>
                    <a:pt x="208950" y="474721"/>
                  </a:lnTo>
                  <a:lnTo>
                    <a:pt x="182832" y="512980"/>
                  </a:lnTo>
                  <a:lnTo>
                    <a:pt x="158454" y="552044"/>
                  </a:lnTo>
                  <a:lnTo>
                    <a:pt x="135818" y="591856"/>
                  </a:lnTo>
                  <a:lnTo>
                    <a:pt x="114923" y="632362"/>
                  </a:lnTo>
                  <a:lnTo>
                    <a:pt x="95769" y="673506"/>
                  </a:lnTo>
                  <a:lnTo>
                    <a:pt x="78356" y="715233"/>
                  </a:lnTo>
                  <a:lnTo>
                    <a:pt x="62685" y="757486"/>
                  </a:lnTo>
                  <a:lnTo>
                    <a:pt x="48755" y="800211"/>
                  </a:lnTo>
                  <a:lnTo>
                    <a:pt x="36566" y="843353"/>
                  </a:lnTo>
                  <a:lnTo>
                    <a:pt x="26118" y="886855"/>
                  </a:lnTo>
                  <a:lnTo>
                    <a:pt x="17412" y="930662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2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6"/>
                  </a:lnTo>
                  <a:lnTo>
                    <a:pt x="17412" y="1329503"/>
                  </a:lnTo>
                  <a:lnTo>
                    <a:pt x="26118" y="1373310"/>
                  </a:lnTo>
                  <a:lnTo>
                    <a:pt x="36566" y="1416812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2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1"/>
                  </a:lnTo>
                  <a:lnTo>
                    <a:pt x="182832" y="1747184"/>
                  </a:lnTo>
                  <a:lnTo>
                    <a:pt x="208950" y="1785443"/>
                  </a:lnTo>
                  <a:lnTo>
                    <a:pt x="236811" y="1822842"/>
                  </a:lnTo>
                  <a:lnTo>
                    <a:pt x="266412" y="1859326"/>
                  </a:lnTo>
                  <a:lnTo>
                    <a:pt x="297755" y="1894839"/>
                  </a:lnTo>
                  <a:lnTo>
                    <a:pt x="330838" y="1929325"/>
                  </a:lnTo>
                  <a:lnTo>
                    <a:pt x="365325" y="1962409"/>
                  </a:lnTo>
                  <a:lnTo>
                    <a:pt x="400837" y="1993752"/>
                  </a:lnTo>
                  <a:lnTo>
                    <a:pt x="437321" y="2023353"/>
                  </a:lnTo>
                  <a:lnTo>
                    <a:pt x="474720" y="2051213"/>
                  </a:lnTo>
                  <a:lnTo>
                    <a:pt x="512979" y="2077332"/>
                  </a:lnTo>
                  <a:lnTo>
                    <a:pt x="552043" y="2101710"/>
                  </a:lnTo>
                  <a:lnTo>
                    <a:pt x="591855" y="2124346"/>
                  </a:lnTo>
                  <a:lnTo>
                    <a:pt x="632361" y="2145241"/>
                  </a:lnTo>
                  <a:lnTo>
                    <a:pt x="673505" y="2164395"/>
                  </a:lnTo>
                  <a:lnTo>
                    <a:pt x="715232" y="2181808"/>
                  </a:lnTo>
                  <a:lnTo>
                    <a:pt x="757485" y="2197479"/>
                  </a:lnTo>
                  <a:lnTo>
                    <a:pt x="800211" y="2211409"/>
                  </a:lnTo>
                  <a:lnTo>
                    <a:pt x="843352" y="2223598"/>
                  </a:lnTo>
                  <a:lnTo>
                    <a:pt x="886854" y="2234046"/>
                  </a:lnTo>
                  <a:lnTo>
                    <a:pt x="930661" y="2242752"/>
                  </a:lnTo>
                  <a:lnTo>
                    <a:pt x="974718" y="2249717"/>
                  </a:lnTo>
                  <a:lnTo>
                    <a:pt x="1018969" y="2254941"/>
                  </a:lnTo>
                  <a:lnTo>
                    <a:pt x="1063359" y="2258423"/>
                  </a:lnTo>
                  <a:lnTo>
                    <a:pt x="1107831" y="2260164"/>
                  </a:lnTo>
                  <a:lnTo>
                    <a:pt x="1152332" y="2260164"/>
                  </a:lnTo>
                  <a:lnTo>
                    <a:pt x="1196805" y="2258423"/>
                  </a:lnTo>
                  <a:lnTo>
                    <a:pt x="1241195" y="2254941"/>
                  </a:lnTo>
                  <a:lnTo>
                    <a:pt x="1285445" y="2249717"/>
                  </a:lnTo>
                  <a:lnTo>
                    <a:pt x="1329502" y="2242752"/>
                  </a:lnTo>
                  <a:lnTo>
                    <a:pt x="1373309" y="2234046"/>
                  </a:lnTo>
                  <a:lnTo>
                    <a:pt x="1416811" y="2223598"/>
                  </a:lnTo>
                  <a:lnTo>
                    <a:pt x="1459953" y="2211409"/>
                  </a:lnTo>
                  <a:lnTo>
                    <a:pt x="1502678" y="2197479"/>
                  </a:lnTo>
                  <a:lnTo>
                    <a:pt x="1544931" y="2181808"/>
                  </a:lnTo>
                  <a:lnTo>
                    <a:pt x="1586658" y="2164395"/>
                  </a:lnTo>
                  <a:lnTo>
                    <a:pt x="1627802" y="2145241"/>
                  </a:lnTo>
                  <a:lnTo>
                    <a:pt x="1668308" y="2124346"/>
                  </a:lnTo>
                  <a:lnTo>
                    <a:pt x="1708120" y="2101710"/>
                  </a:lnTo>
                  <a:lnTo>
                    <a:pt x="1747184" y="2077332"/>
                  </a:lnTo>
                  <a:lnTo>
                    <a:pt x="1785443" y="2051213"/>
                  </a:lnTo>
                  <a:lnTo>
                    <a:pt x="1822842" y="2023353"/>
                  </a:lnTo>
                  <a:lnTo>
                    <a:pt x="1859325" y="1993752"/>
                  </a:lnTo>
                  <a:lnTo>
                    <a:pt x="1894838" y="1962409"/>
                  </a:lnTo>
                  <a:lnTo>
                    <a:pt x="1929324" y="1929325"/>
                  </a:lnTo>
                  <a:lnTo>
                    <a:pt x="1962408" y="1894839"/>
                  </a:lnTo>
                  <a:lnTo>
                    <a:pt x="1993751" y="1859326"/>
                  </a:lnTo>
                  <a:lnTo>
                    <a:pt x="2023352" y="1822842"/>
                  </a:lnTo>
                  <a:lnTo>
                    <a:pt x="2051212" y="1785443"/>
                  </a:lnTo>
                  <a:lnTo>
                    <a:pt x="2077331" y="1747184"/>
                  </a:lnTo>
                  <a:lnTo>
                    <a:pt x="2101709" y="1708121"/>
                  </a:lnTo>
                  <a:lnTo>
                    <a:pt x="2124345" y="1668308"/>
                  </a:lnTo>
                  <a:lnTo>
                    <a:pt x="2145241" y="1627802"/>
                  </a:lnTo>
                  <a:lnTo>
                    <a:pt x="2164394" y="1586658"/>
                  </a:lnTo>
                  <a:lnTo>
                    <a:pt x="2181807" y="1544932"/>
                  </a:lnTo>
                  <a:lnTo>
                    <a:pt x="2197478" y="1502678"/>
                  </a:lnTo>
                  <a:lnTo>
                    <a:pt x="2211409" y="1459953"/>
                  </a:lnTo>
                  <a:lnTo>
                    <a:pt x="2223597" y="1416812"/>
                  </a:lnTo>
                  <a:lnTo>
                    <a:pt x="2234045" y="1373310"/>
                  </a:lnTo>
                  <a:lnTo>
                    <a:pt x="2242751" y="1329503"/>
                  </a:lnTo>
                  <a:lnTo>
                    <a:pt x="2249716" y="1285446"/>
                  </a:lnTo>
                  <a:lnTo>
                    <a:pt x="2254940" y="1241195"/>
                  </a:lnTo>
                  <a:lnTo>
                    <a:pt x="2258423" y="1196805"/>
                  </a:lnTo>
                  <a:lnTo>
                    <a:pt x="2260164" y="1152332"/>
                  </a:lnTo>
                  <a:lnTo>
                    <a:pt x="2260164" y="1107832"/>
                  </a:lnTo>
                  <a:lnTo>
                    <a:pt x="2258423" y="1063359"/>
                  </a:lnTo>
                  <a:lnTo>
                    <a:pt x="2254940" y="1018969"/>
                  </a:lnTo>
                  <a:lnTo>
                    <a:pt x="2249716" y="974718"/>
                  </a:lnTo>
                  <a:lnTo>
                    <a:pt x="2242751" y="930662"/>
                  </a:lnTo>
                  <a:lnTo>
                    <a:pt x="2234045" y="886855"/>
                  </a:lnTo>
                  <a:lnTo>
                    <a:pt x="2223597" y="843353"/>
                  </a:lnTo>
                  <a:lnTo>
                    <a:pt x="2211409" y="800211"/>
                  </a:lnTo>
                  <a:lnTo>
                    <a:pt x="2197478" y="757486"/>
                  </a:lnTo>
                  <a:lnTo>
                    <a:pt x="2181807" y="715233"/>
                  </a:lnTo>
                  <a:lnTo>
                    <a:pt x="2164394" y="673506"/>
                  </a:lnTo>
                  <a:lnTo>
                    <a:pt x="2145241" y="632362"/>
                  </a:lnTo>
                  <a:lnTo>
                    <a:pt x="2124345" y="591856"/>
                  </a:lnTo>
                  <a:lnTo>
                    <a:pt x="2101709" y="552044"/>
                  </a:lnTo>
                  <a:lnTo>
                    <a:pt x="2077331" y="512980"/>
                  </a:lnTo>
                  <a:lnTo>
                    <a:pt x="2051212" y="474721"/>
                  </a:lnTo>
                  <a:lnTo>
                    <a:pt x="2023352" y="437322"/>
                  </a:lnTo>
                  <a:lnTo>
                    <a:pt x="1993751" y="400838"/>
                  </a:lnTo>
                  <a:lnTo>
                    <a:pt x="1962408" y="365326"/>
                  </a:lnTo>
                  <a:lnTo>
                    <a:pt x="1929324" y="330839"/>
                  </a:lnTo>
                  <a:lnTo>
                    <a:pt x="1894838" y="297755"/>
                  </a:lnTo>
                  <a:lnTo>
                    <a:pt x="1859325" y="266413"/>
                  </a:lnTo>
                  <a:lnTo>
                    <a:pt x="1822842" y="236811"/>
                  </a:lnTo>
                  <a:lnTo>
                    <a:pt x="1785443" y="208951"/>
                  </a:lnTo>
                  <a:lnTo>
                    <a:pt x="1747184" y="182832"/>
                  </a:lnTo>
                  <a:lnTo>
                    <a:pt x="1708120" y="158454"/>
                  </a:lnTo>
                  <a:lnTo>
                    <a:pt x="1668308" y="135818"/>
                  </a:lnTo>
                  <a:lnTo>
                    <a:pt x="1627802" y="114923"/>
                  </a:lnTo>
                  <a:lnTo>
                    <a:pt x="1586658" y="95769"/>
                  </a:lnTo>
                  <a:lnTo>
                    <a:pt x="1544931" y="78356"/>
                  </a:lnTo>
                  <a:lnTo>
                    <a:pt x="1502678" y="62685"/>
                  </a:lnTo>
                  <a:lnTo>
                    <a:pt x="1459953" y="48755"/>
                  </a:lnTo>
                  <a:lnTo>
                    <a:pt x="1416811" y="36566"/>
                  </a:lnTo>
                  <a:lnTo>
                    <a:pt x="1373309" y="26118"/>
                  </a:lnTo>
                  <a:lnTo>
                    <a:pt x="1329502" y="17412"/>
                  </a:lnTo>
                  <a:lnTo>
                    <a:pt x="1285445" y="10447"/>
                  </a:lnTo>
                  <a:lnTo>
                    <a:pt x="1241195" y="5223"/>
                  </a:lnTo>
                  <a:lnTo>
                    <a:pt x="1196805" y="1741"/>
                  </a:lnTo>
                  <a:lnTo>
                    <a:pt x="1152332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13355" y="6150404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500" y="7193280"/>
              <a:ext cx="196426" cy="1964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69586" y="6616917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152333" y="0"/>
                  </a:moveTo>
                  <a:lnTo>
                    <a:pt x="1107832" y="0"/>
                  </a:lnTo>
                  <a:lnTo>
                    <a:pt x="1063359" y="1741"/>
                  </a:lnTo>
                  <a:lnTo>
                    <a:pt x="1018970" y="5223"/>
                  </a:lnTo>
                  <a:lnTo>
                    <a:pt x="974719" y="10447"/>
                  </a:lnTo>
                  <a:lnTo>
                    <a:pt x="930662" y="17412"/>
                  </a:lnTo>
                  <a:lnTo>
                    <a:pt x="886855" y="26118"/>
                  </a:lnTo>
                  <a:lnTo>
                    <a:pt x="843353" y="36566"/>
                  </a:lnTo>
                  <a:lnTo>
                    <a:pt x="800212" y="48755"/>
                  </a:lnTo>
                  <a:lnTo>
                    <a:pt x="757486" y="62685"/>
                  </a:lnTo>
                  <a:lnTo>
                    <a:pt x="715233" y="78356"/>
                  </a:lnTo>
                  <a:lnTo>
                    <a:pt x="673506" y="95769"/>
                  </a:lnTo>
                  <a:lnTo>
                    <a:pt x="632362" y="114923"/>
                  </a:lnTo>
                  <a:lnTo>
                    <a:pt x="591856" y="135818"/>
                  </a:lnTo>
                  <a:lnTo>
                    <a:pt x="552044" y="158454"/>
                  </a:lnTo>
                  <a:lnTo>
                    <a:pt x="512980" y="182832"/>
                  </a:lnTo>
                  <a:lnTo>
                    <a:pt x="474721" y="208951"/>
                  </a:lnTo>
                  <a:lnTo>
                    <a:pt x="437322" y="236811"/>
                  </a:lnTo>
                  <a:lnTo>
                    <a:pt x="400838" y="266413"/>
                  </a:lnTo>
                  <a:lnTo>
                    <a:pt x="365326" y="297755"/>
                  </a:lnTo>
                  <a:lnTo>
                    <a:pt x="330839" y="330839"/>
                  </a:lnTo>
                  <a:lnTo>
                    <a:pt x="297755" y="365326"/>
                  </a:lnTo>
                  <a:lnTo>
                    <a:pt x="266413" y="400838"/>
                  </a:lnTo>
                  <a:lnTo>
                    <a:pt x="236811" y="437322"/>
                  </a:lnTo>
                  <a:lnTo>
                    <a:pt x="208951" y="474721"/>
                  </a:lnTo>
                  <a:lnTo>
                    <a:pt x="182832" y="512980"/>
                  </a:lnTo>
                  <a:lnTo>
                    <a:pt x="158454" y="552044"/>
                  </a:lnTo>
                  <a:lnTo>
                    <a:pt x="135818" y="591856"/>
                  </a:lnTo>
                  <a:lnTo>
                    <a:pt x="114923" y="632362"/>
                  </a:lnTo>
                  <a:lnTo>
                    <a:pt x="95769" y="673506"/>
                  </a:lnTo>
                  <a:lnTo>
                    <a:pt x="78356" y="715233"/>
                  </a:lnTo>
                  <a:lnTo>
                    <a:pt x="62685" y="757486"/>
                  </a:lnTo>
                  <a:lnTo>
                    <a:pt x="48755" y="800211"/>
                  </a:lnTo>
                  <a:lnTo>
                    <a:pt x="36566" y="843353"/>
                  </a:lnTo>
                  <a:lnTo>
                    <a:pt x="26118" y="886855"/>
                  </a:lnTo>
                  <a:lnTo>
                    <a:pt x="17412" y="930662"/>
                  </a:lnTo>
                  <a:lnTo>
                    <a:pt x="10447" y="974718"/>
                  </a:lnTo>
                  <a:lnTo>
                    <a:pt x="5223" y="1018969"/>
                  </a:lnTo>
                  <a:lnTo>
                    <a:pt x="1741" y="1063359"/>
                  </a:lnTo>
                  <a:lnTo>
                    <a:pt x="0" y="1107832"/>
                  </a:lnTo>
                  <a:lnTo>
                    <a:pt x="0" y="1152332"/>
                  </a:lnTo>
                  <a:lnTo>
                    <a:pt x="1741" y="1196805"/>
                  </a:lnTo>
                  <a:lnTo>
                    <a:pt x="5223" y="1241195"/>
                  </a:lnTo>
                  <a:lnTo>
                    <a:pt x="10447" y="1285446"/>
                  </a:lnTo>
                  <a:lnTo>
                    <a:pt x="17412" y="1329503"/>
                  </a:lnTo>
                  <a:lnTo>
                    <a:pt x="26118" y="1373310"/>
                  </a:lnTo>
                  <a:lnTo>
                    <a:pt x="36566" y="1416812"/>
                  </a:lnTo>
                  <a:lnTo>
                    <a:pt x="48755" y="1459953"/>
                  </a:lnTo>
                  <a:lnTo>
                    <a:pt x="62685" y="1502678"/>
                  </a:lnTo>
                  <a:lnTo>
                    <a:pt x="78356" y="1544932"/>
                  </a:lnTo>
                  <a:lnTo>
                    <a:pt x="95769" y="1586658"/>
                  </a:lnTo>
                  <a:lnTo>
                    <a:pt x="114923" y="1627802"/>
                  </a:lnTo>
                  <a:lnTo>
                    <a:pt x="135818" y="1668308"/>
                  </a:lnTo>
                  <a:lnTo>
                    <a:pt x="158454" y="1708121"/>
                  </a:lnTo>
                  <a:lnTo>
                    <a:pt x="182832" y="1747184"/>
                  </a:lnTo>
                  <a:lnTo>
                    <a:pt x="208951" y="1785443"/>
                  </a:lnTo>
                  <a:lnTo>
                    <a:pt x="236811" y="1822842"/>
                  </a:lnTo>
                  <a:lnTo>
                    <a:pt x="266413" y="1859326"/>
                  </a:lnTo>
                  <a:lnTo>
                    <a:pt x="297755" y="1894839"/>
                  </a:lnTo>
                  <a:lnTo>
                    <a:pt x="330839" y="1929325"/>
                  </a:lnTo>
                  <a:lnTo>
                    <a:pt x="365326" y="1962409"/>
                  </a:lnTo>
                  <a:lnTo>
                    <a:pt x="400838" y="1993752"/>
                  </a:lnTo>
                  <a:lnTo>
                    <a:pt x="437322" y="2023353"/>
                  </a:lnTo>
                  <a:lnTo>
                    <a:pt x="474721" y="2051213"/>
                  </a:lnTo>
                  <a:lnTo>
                    <a:pt x="512980" y="2077332"/>
                  </a:lnTo>
                  <a:lnTo>
                    <a:pt x="552044" y="2101710"/>
                  </a:lnTo>
                  <a:lnTo>
                    <a:pt x="591856" y="2124346"/>
                  </a:lnTo>
                  <a:lnTo>
                    <a:pt x="632362" y="2145241"/>
                  </a:lnTo>
                  <a:lnTo>
                    <a:pt x="673506" y="2164395"/>
                  </a:lnTo>
                  <a:lnTo>
                    <a:pt x="715233" y="2181808"/>
                  </a:lnTo>
                  <a:lnTo>
                    <a:pt x="757486" y="2197479"/>
                  </a:lnTo>
                  <a:lnTo>
                    <a:pt x="800212" y="2211409"/>
                  </a:lnTo>
                  <a:lnTo>
                    <a:pt x="843353" y="2223598"/>
                  </a:lnTo>
                  <a:lnTo>
                    <a:pt x="886855" y="2234046"/>
                  </a:lnTo>
                  <a:lnTo>
                    <a:pt x="930662" y="2242752"/>
                  </a:lnTo>
                  <a:lnTo>
                    <a:pt x="974719" y="2249717"/>
                  </a:lnTo>
                  <a:lnTo>
                    <a:pt x="1018970" y="2254941"/>
                  </a:lnTo>
                  <a:lnTo>
                    <a:pt x="1063359" y="2258423"/>
                  </a:lnTo>
                  <a:lnTo>
                    <a:pt x="1107832" y="2260164"/>
                  </a:lnTo>
                  <a:lnTo>
                    <a:pt x="1152333" y="2260164"/>
                  </a:lnTo>
                  <a:lnTo>
                    <a:pt x="1196806" y="2258423"/>
                  </a:lnTo>
                  <a:lnTo>
                    <a:pt x="1241195" y="2254941"/>
                  </a:lnTo>
                  <a:lnTo>
                    <a:pt x="1285446" y="2249717"/>
                  </a:lnTo>
                  <a:lnTo>
                    <a:pt x="1329503" y="2242752"/>
                  </a:lnTo>
                  <a:lnTo>
                    <a:pt x="1373310" y="2234046"/>
                  </a:lnTo>
                  <a:lnTo>
                    <a:pt x="1416812" y="2223598"/>
                  </a:lnTo>
                  <a:lnTo>
                    <a:pt x="1459953" y="2211409"/>
                  </a:lnTo>
                  <a:lnTo>
                    <a:pt x="1502679" y="2197479"/>
                  </a:lnTo>
                  <a:lnTo>
                    <a:pt x="1544932" y="2181808"/>
                  </a:lnTo>
                  <a:lnTo>
                    <a:pt x="1586659" y="2164395"/>
                  </a:lnTo>
                  <a:lnTo>
                    <a:pt x="1627803" y="2145241"/>
                  </a:lnTo>
                  <a:lnTo>
                    <a:pt x="1668309" y="2124346"/>
                  </a:lnTo>
                  <a:lnTo>
                    <a:pt x="1708121" y="2101710"/>
                  </a:lnTo>
                  <a:lnTo>
                    <a:pt x="1747185" y="2077332"/>
                  </a:lnTo>
                  <a:lnTo>
                    <a:pt x="1785444" y="2051213"/>
                  </a:lnTo>
                  <a:lnTo>
                    <a:pt x="1822843" y="2023353"/>
                  </a:lnTo>
                  <a:lnTo>
                    <a:pt x="1859326" y="1993752"/>
                  </a:lnTo>
                  <a:lnTo>
                    <a:pt x="1894839" y="1962409"/>
                  </a:lnTo>
                  <a:lnTo>
                    <a:pt x="1929325" y="1929325"/>
                  </a:lnTo>
                  <a:lnTo>
                    <a:pt x="1962409" y="1894839"/>
                  </a:lnTo>
                  <a:lnTo>
                    <a:pt x="1993752" y="1859326"/>
                  </a:lnTo>
                  <a:lnTo>
                    <a:pt x="2023353" y="1822842"/>
                  </a:lnTo>
                  <a:lnTo>
                    <a:pt x="2051213" y="1785443"/>
                  </a:lnTo>
                  <a:lnTo>
                    <a:pt x="2077332" y="1747184"/>
                  </a:lnTo>
                  <a:lnTo>
                    <a:pt x="2101710" y="1708121"/>
                  </a:lnTo>
                  <a:lnTo>
                    <a:pt x="2124346" y="1668308"/>
                  </a:lnTo>
                  <a:lnTo>
                    <a:pt x="2145241" y="1627802"/>
                  </a:lnTo>
                  <a:lnTo>
                    <a:pt x="2164395" y="1586658"/>
                  </a:lnTo>
                  <a:lnTo>
                    <a:pt x="2181808" y="1544932"/>
                  </a:lnTo>
                  <a:lnTo>
                    <a:pt x="2197479" y="1502678"/>
                  </a:lnTo>
                  <a:lnTo>
                    <a:pt x="2211409" y="1459953"/>
                  </a:lnTo>
                  <a:lnTo>
                    <a:pt x="2223598" y="1416812"/>
                  </a:lnTo>
                  <a:lnTo>
                    <a:pt x="2234046" y="1373310"/>
                  </a:lnTo>
                  <a:lnTo>
                    <a:pt x="2242752" y="1329503"/>
                  </a:lnTo>
                  <a:lnTo>
                    <a:pt x="2249717" y="1285446"/>
                  </a:lnTo>
                  <a:lnTo>
                    <a:pt x="2254941" y="1241195"/>
                  </a:lnTo>
                  <a:lnTo>
                    <a:pt x="2258424" y="1196805"/>
                  </a:lnTo>
                  <a:lnTo>
                    <a:pt x="2260165" y="1152332"/>
                  </a:lnTo>
                  <a:lnTo>
                    <a:pt x="2260165" y="1107832"/>
                  </a:lnTo>
                  <a:lnTo>
                    <a:pt x="2258424" y="1063359"/>
                  </a:lnTo>
                  <a:lnTo>
                    <a:pt x="2254941" y="1018969"/>
                  </a:lnTo>
                  <a:lnTo>
                    <a:pt x="2249717" y="974718"/>
                  </a:lnTo>
                  <a:lnTo>
                    <a:pt x="2242752" y="930662"/>
                  </a:lnTo>
                  <a:lnTo>
                    <a:pt x="2234046" y="886855"/>
                  </a:lnTo>
                  <a:lnTo>
                    <a:pt x="2223598" y="843353"/>
                  </a:lnTo>
                  <a:lnTo>
                    <a:pt x="2211409" y="800211"/>
                  </a:lnTo>
                  <a:lnTo>
                    <a:pt x="2197479" y="757486"/>
                  </a:lnTo>
                  <a:lnTo>
                    <a:pt x="2181808" y="715233"/>
                  </a:lnTo>
                  <a:lnTo>
                    <a:pt x="2164395" y="673506"/>
                  </a:lnTo>
                  <a:lnTo>
                    <a:pt x="2145241" y="632362"/>
                  </a:lnTo>
                  <a:lnTo>
                    <a:pt x="2124346" y="591856"/>
                  </a:lnTo>
                  <a:lnTo>
                    <a:pt x="2101710" y="552044"/>
                  </a:lnTo>
                  <a:lnTo>
                    <a:pt x="2077332" y="512980"/>
                  </a:lnTo>
                  <a:lnTo>
                    <a:pt x="2051213" y="474721"/>
                  </a:lnTo>
                  <a:lnTo>
                    <a:pt x="2023353" y="437322"/>
                  </a:lnTo>
                  <a:lnTo>
                    <a:pt x="1993752" y="400838"/>
                  </a:lnTo>
                  <a:lnTo>
                    <a:pt x="1962409" y="365326"/>
                  </a:lnTo>
                  <a:lnTo>
                    <a:pt x="1929325" y="330839"/>
                  </a:lnTo>
                  <a:lnTo>
                    <a:pt x="1894839" y="297755"/>
                  </a:lnTo>
                  <a:lnTo>
                    <a:pt x="1859326" y="266413"/>
                  </a:lnTo>
                  <a:lnTo>
                    <a:pt x="1822843" y="236811"/>
                  </a:lnTo>
                  <a:lnTo>
                    <a:pt x="1785444" y="208951"/>
                  </a:lnTo>
                  <a:lnTo>
                    <a:pt x="1747185" y="182832"/>
                  </a:lnTo>
                  <a:lnTo>
                    <a:pt x="1708121" y="158454"/>
                  </a:lnTo>
                  <a:lnTo>
                    <a:pt x="1668309" y="135818"/>
                  </a:lnTo>
                  <a:lnTo>
                    <a:pt x="1627803" y="114923"/>
                  </a:lnTo>
                  <a:lnTo>
                    <a:pt x="1586659" y="95769"/>
                  </a:lnTo>
                  <a:lnTo>
                    <a:pt x="1544932" y="78356"/>
                  </a:lnTo>
                  <a:lnTo>
                    <a:pt x="1502679" y="62685"/>
                  </a:lnTo>
                  <a:lnTo>
                    <a:pt x="1459953" y="48755"/>
                  </a:lnTo>
                  <a:lnTo>
                    <a:pt x="1416812" y="36566"/>
                  </a:lnTo>
                  <a:lnTo>
                    <a:pt x="1373310" y="26118"/>
                  </a:lnTo>
                  <a:lnTo>
                    <a:pt x="1329503" y="17412"/>
                  </a:lnTo>
                  <a:lnTo>
                    <a:pt x="1285446" y="10447"/>
                  </a:lnTo>
                  <a:lnTo>
                    <a:pt x="1241195" y="5223"/>
                  </a:lnTo>
                  <a:lnTo>
                    <a:pt x="1196806" y="1741"/>
                  </a:lnTo>
                  <a:lnTo>
                    <a:pt x="1152333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69586" y="6616917"/>
              <a:ext cx="2260600" cy="2260600"/>
            </a:xfrm>
            <a:custGeom>
              <a:avLst/>
              <a:gdLst/>
              <a:ahLst/>
              <a:cxnLst/>
              <a:rect l="l" t="t" r="r" b="b"/>
              <a:pathLst>
                <a:path w="2260600" h="2260600">
                  <a:moveTo>
                    <a:pt x="1929325" y="330839"/>
                  </a:moveTo>
                  <a:lnTo>
                    <a:pt x="1962409" y="365325"/>
                  </a:lnTo>
                  <a:lnTo>
                    <a:pt x="1993751" y="400838"/>
                  </a:lnTo>
                  <a:lnTo>
                    <a:pt x="2023353" y="437322"/>
                  </a:lnTo>
                  <a:lnTo>
                    <a:pt x="2051213" y="474721"/>
                  </a:lnTo>
                  <a:lnTo>
                    <a:pt x="2077332" y="512980"/>
                  </a:lnTo>
                  <a:lnTo>
                    <a:pt x="2101710" y="552043"/>
                  </a:lnTo>
                  <a:lnTo>
                    <a:pt x="2124346" y="591856"/>
                  </a:lnTo>
                  <a:lnTo>
                    <a:pt x="2145241" y="632361"/>
                  </a:lnTo>
                  <a:lnTo>
                    <a:pt x="2164395" y="673505"/>
                  </a:lnTo>
                  <a:lnTo>
                    <a:pt x="2181808" y="715232"/>
                  </a:lnTo>
                  <a:lnTo>
                    <a:pt x="2197479" y="757486"/>
                  </a:lnTo>
                  <a:lnTo>
                    <a:pt x="2211409" y="800211"/>
                  </a:lnTo>
                  <a:lnTo>
                    <a:pt x="2223598" y="843352"/>
                  </a:lnTo>
                  <a:lnTo>
                    <a:pt x="2234046" y="886854"/>
                  </a:lnTo>
                  <a:lnTo>
                    <a:pt x="2242752" y="930661"/>
                  </a:lnTo>
                  <a:lnTo>
                    <a:pt x="2249717" y="974718"/>
                  </a:lnTo>
                  <a:lnTo>
                    <a:pt x="2254941" y="1018969"/>
                  </a:lnTo>
                  <a:lnTo>
                    <a:pt x="2258423" y="1063358"/>
                  </a:lnTo>
                  <a:lnTo>
                    <a:pt x="2260164" y="1107831"/>
                  </a:lnTo>
                  <a:lnTo>
                    <a:pt x="2260164" y="1152332"/>
                  </a:lnTo>
                  <a:lnTo>
                    <a:pt x="2258423" y="1196805"/>
                  </a:lnTo>
                  <a:lnTo>
                    <a:pt x="2254941" y="1241194"/>
                  </a:lnTo>
                  <a:lnTo>
                    <a:pt x="2249717" y="1285445"/>
                  </a:lnTo>
                  <a:lnTo>
                    <a:pt x="2242752" y="1329502"/>
                  </a:lnTo>
                  <a:lnTo>
                    <a:pt x="2234046" y="1373309"/>
                  </a:lnTo>
                  <a:lnTo>
                    <a:pt x="2223598" y="1416811"/>
                  </a:lnTo>
                  <a:lnTo>
                    <a:pt x="2211409" y="1459952"/>
                  </a:lnTo>
                  <a:lnTo>
                    <a:pt x="2197479" y="1502678"/>
                  </a:lnTo>
                  <a:lnTo>
                    <a:pt x="2181808" y="1544931"/>
                  </a:lnTo>
                  <a:lnTo>
                    <a:pt x="2164395" y="1586658"/>
                  </a:lnTo>
                  <a:lnTo>
                    <a:pt x="2145241" y="1627802"/>
                  </a:lnTo>
                  <a:lnTo>
                    <a:pt x="2124346" y="1668308"/>
                  </a:lnTo>
                  <a:lnTo>
                    <a:pt x="2101710" y="1708120"/>
                  </a:lnTo>
                  <a:lnTo>
                    <a:pt x="2077332" y="1747184"/>
                  </a:lnTo>
                  <a:lnTo>
                    <a:pt x="2051213" y="1785443"/>
                  </a:lnTo>
                  <a:lnTo>
                    <a:pt x="2023353" y="1822842"/>
                  </a:lnTo>
                  <a:lnTo>
                    <a:pt x="1993751" y="1859326"/>
                  </a:lnTo>
                  <a:lnTo>
                    <a:pt x="1962409" y="1894838"/>
                  </a:lnTo>
                  <a:lnTo>
                    <a:pt x="1929325" y="1929325"/>
                  </a:lnTo>
                  <a:lnTo>
                    <a:pt x="1894838" y="1962409"/>
                  </a:lnTo>
                  <a:lnTo>
                    <a:pt x="1859326" y="1993751"/>
                  </a:lnTo>
                  <a:lnTo>
                    <a:pt x="1822842" y="2023353"/>
                  </a:lnTo>
                  <a:lnTo>
                    <a:pt x="1785443" y="2051213"/>
                  </a:lnTo>
                  <a:lnTo>
                    <a:pt x="1747184" y="2077332"/>
                  </a:lnTo>
                  <a:lnTo>
                    <a:pt x="1708120" y="2101710"/>
                  </a:lnTo>
                  <a:lnTo>
                    <a:pt x="1668308" y="2124346"/>
                  </a:lnTo>
                  <a:lnTo>
                    <a:pt x="1627802" y="2145241"/>
                  </a:lnTo>
                  <a:lnTo>
                    <a:pt x="1586658" y="2164395"/>
                  </a:lnTo>
                  <a:lnTo>
                    <a:pt x="1544931" y="2181808"/>
                  </a:lnTo>
                  <a:lnTo>
                    <a:pt x="1502678" y="2197479"/>
                  </a:lnTo>
                  <a:lnTo>
                    <a:pt x="1459952" y="2211409"/>
                  </a:lnTo>
                  <a:lnTo>
                    <a:pt x="1416811" y="2223598"/>
                  </a:lnTo>
                  <a:lnTo>
                    <a:pt x="1373309" y="2234046"/>
                  </a:lnTo>
                  <a:lnTo>
                    <a:pt x="1329502" y="2242752"/>
                  </a:lnTo>
                  <a:lnTo>
                    <a:pt x="1285445" y="2249717"/>
                  </a:lnTo>
                  <a:lnTo>
                    <a:pt x="1241194" y="2254941"/>
                  </a:lnTo>
                  <a:lnTo>
                    <a:pt x="1196805" y="2258423"/>
                  </a:lnTo>
                  <a:lnTo>
                    <a:pt x="1152332" y="2260164"/>
                  </a:lnTo>
                  <a:lnTo>
                    <a:pt x="1107831" y="2260164"/>
                  </a:lnTo>
                  <a:lnTo>
                    <a:pt x="1063358" y="2258423"/>
                  </a:lnTo>
                  <a:lnTo>
                    <a:pt x="1018969" y="2254941"/>
                  </a:lnTo>
                  <a:lnTo>
                    <a:pt x="974718" y="2249717"/>
                  </a:lnTo>
                  <a:lnTo>
                    <a:pt x="930661" y="2242752"/>
                  </a:lnTo>
                  <a:lnTo>
                    <a:pt x="886854" y="2234046"/>
                  </a:lnTo>
                  <a:lnTo>
                    <a:pt x="843352" y="2223598"/>
                  </a:lnTo>
                  <a:lnTo>
                    <a:pt x="800211" y="2211409"/>
                  </a:lnTo>
                  <a:lnTo>
                    <a:pt x="757486" y="2197479"/>
                  </a:lnTo>
                  <a:lnTo>
                    <a:pt x="715232" y="2181808"/>
                  </a:lnTo>
                  <a:lnTo>
                    <a:pt x="673505" y="2164395"/>
                  </a:lnTo>
                  <a:lnTo>
                    <a:pt x="632361" y="2145241"/>
                  </a:lnTo>
                  <a:lnTo>
                    <a:pt x="591856" y="2124346"/>
                  </a:lnTo>
                  <a:lnTo>
                    <a:pt x="552043" y="2101710"/>
                  </a:lnTo>
                  <a:lnTo>
                    <a:pt x="512980" y="2077332"/>
                  </a:lnTo>
                  <a:lnTo>
                    <a:pt x="474721" y="2051213"/>
                  </a:lnTo>
                  <a:lnTo>
                    <a:pt x="437322" y="2023353"/>
                  </a:lnTo>
                  <a:lnTo>
                    <a:pt x="400838" y="1993751"/>
                  </a:lnTo>
                  <a:lnTo>
                    <a:pt x="365325" y="1962409"/>
                  </a:lnTo>
                  <a:lnTo>
                    <a:pt x="330839" y="1929325"/>
                  </a:lnTo>
                  <a:lnTo>
                    <a:pt x="297755" y="1894838"/>
                  </a:lnTo>
                  <a:lnTo>
                    <a:pt x="266412" y="1859326"/>
                  </a:lnTo>
                  <a:lnTo>
                    <a:pt x="236811" y="1822842"/>
                  </a:lnTo>
                  <a:lnTo>
                    <a:pt x="208951" y="1785443"/>
                  </a:lnTo>
                  <a:lnTo>
                    <a:pt x="182832" y="1747184"/>
                  </a:lnTo>
                  <a:lnTo>
                    <a:pt x="158454" y="1708120"/>
                  </a:lnTo>
                  <a:lnTo>
                    <a:pt x="135818" y="1668308"/>
                  </a:lnTo>
                  <a:lnTo>
                    <a:pt x="114923" y="1627802"/>
                  </a:lnTo>
                  <a:lnTo>
                    <a:pt x="95769" y="1586658"/>
                  </a:lnTo>
                  <a:lnTo>
                    <a:pt x="78356" y="1544931"/>
                  </a:lnTo>
                  <a:lnTo>
                    <a:pt x="62685" y="1502678"/>
                  </a:lnTo>
                  <a:lnTo>
                    <a:pt x="48755" y="1459952"/>
                  </a:lnTo>
                  <a:lnTo>
                    <a:pt x="36566" y="1416811"/>
                  </a:lnTo>
                  <a:lnTo>
                    <a:pt x="26118" y="1373309"/>
                  </a:lnTo>
                  <a:lnTo>
                    <a:pt x="17412" y="1329502"/>
                  </a:lnTo>
                  <a:lnTo>
                    <a:pt x="10447" y="1285445"/>
                  </a:lnTo>
                  <a:lnTo>
                    <a:pt x="5223" y="1241194"/>
                  </a:lnTo>
                  <a:lnTo>
                    <a:pt x="1741" y="1196805"/>
                  </a:lnTo>
                  <a:lnTo>
                    <a:pt x="0" y="1152332"/>
                  </a:lnTo>
                  <a:lnTo>
                    <a:pt x="0" y="1107831"/>
                  </a:lnTo>
                  <a:lnTo>
                    <a:pt x="1741" y="1063358"/>
                  </a:lnTo>
                  <a:lnTo>
                    <a:pt x="5223" y="1018969"/>
                  </a:lnTo>
                  <a:lnTo>
                    <a:pt x="10447" y="974718"/>
                  </a:lnTo>
                  <a:lnTo>
                    <a:pt x="17412" y="930661"/>
                  </a:lnTo>
                  <a:lnTo>
                    <a:pt x="26118" y="886854"/>
                  </a:lnTo>
                  <a:lnTo>
                    <a:pt x="36566" y="843352"/>
                  </a:lnTo>
                  <a:lnTo>
                    <a:pt x="48755" y="800211"/>
                  </a:lnTo>
                  <a:lnTo>
                    <a:pt x="62685" y="757486"/>
                  </a:lnTo>
                  <a:lnTo>
                    <a:pt x="78356" y="715232"/>
                  </a:lnTo>
                  <a:lnTo>
                    <a:pt x="95769" y="673505"/>
                  </a:lnTo>
                  <a:lnTo>
                    <a:pt x="114923" y="632361"/>
                  </a:lnTo>
                  <a:lnTo>
                    <a:pt x="135818" y="591856"/>
                  </a:lnTo>
                  <a:lnTo>
                    <a:pt x="158454" y="552043"/>
                  </a:lnTo>
                  <a:lnTo>
                    <a:pt x="182832" y="512980"/>
                  </a:lnTo>
                  <a:lnTo>
                    <a:pt x="208951" y="474721"/>
                  </a:lnTo>
                  <a:lnTo>
                    <a:pt x="236811" y="437322"/>
                  </a:lnTo>
                  <a:lnTo>
                    <a:pt x="266412" y="400838"/>
                  </a:lnTo>
                  <a:lnTo>
                    <a:pt x="297755" y="365325"/>
                  </a:lnTo>
                  <a:lnTo>
                    <a:pt x="330839" y="330839"/>
                  </a:lnTo>
                  <a:lnTo>
                    <a:pt x="365325" y="297755"/>
                  </a:lnTo>
                  <a:lnTo>
                    <a:pt x="400838" y="266412"/>
                  </a:lnTo>
                  <a:lnTo>
                    <a:pt x="437322" y="236811"/>
                  </a:lnTo>
                  <a:lnTo>
                    <a:pt x="474721" y="208951"/>
                  </a:lnTo>
                  <a:lnTo>
                    <a:pt x="512980" y="182832"/>
                  </a:lnTo>
                  <a:lnTo>
                    <a:pt x="552043" y="158454"/>
                  </a:lnTo>
                  <a:lnTo>
                    <a:pt x="591856" y="135818"/>
                  </a:lnTo>
                  <a:lnTo>
                    <a:pt x="632361" y="114923"/>
                  </a:lnTo>
                  <a:lnTo>
                    <a:pt x="673505" y="95769"/>
                  </a:lnTo>
                  <a:lnTo>
                    <a:pt x="715232" y="78356"/>
                  </a:lnTo>
                  <a:lnTo>
                    <a:pt x="757486" y="62685"/>
                  </a:lnTo>
                  <a:lnTo>
                    <a:pt x="800211" y="48755"/>
                  </a:lnTo>
                  <a:lnTo>
                    <a:pt x="843352" y="36566"/>
                  </a:lnTo>
                  <a:lnTo>
                    <a:pt x="886854" y="26118"/>
                  </a:lnTo>
                  <a:lnTo>
                    <a:pt x="930661" y="17412"/>
                  </a:lnTo>
                  <a:lnTo>
                    <a:pt x="974718" y="10447"/>
                  </a:lnTo>
                  <a:lnTo>
                    <a:pt x="1018969" y="5223"/>
                  </a:lnTo>
                  <a:lnTo>
                    <a:pt x="1063358" y="1741"/>
                  </a:lnTo>
                  <a:lnTo>
                    <a:pt x="1107831" y="0"/>
                  </a:lnTo>
                  <a:lnTo>
                    <a:pt x="1152332" y="0"/>
                  </a:lnTo>
                  <a:lnTo>
                    <a:pt x="1196805" y="1741"/>
                  </a:lnTo>
                  <a:lnTo>
                    <a:pt x="1241194" y="5223"/>
                  </a:lnTo>
                  <a:lnTo>
                    <a:pt x="1285445" y="10447"/>
                  </a:lnTo>
                  <a:lnTo>
                    <a:pt x="1329502" y="17412"/>
                  </a:lnTo>
                  <a:lnTo>
                    <a:pt x="1373309" y="26118"/>
                  </a:lnTo>
                  <a:lnTo>
                    <a:pt x="1416811" y="36566"/>
                  </a:lnTo>
                  <a:lnTo>
                    <a:pt x="1459952" y="48755"/>
                  </a:lnTo>
                  <a:lnTo>
                    <a:pt x="1502678" y="62685"/>
                  </a:lnTo>
                  <a:lnTo>
                    <a:pt x="1544931" y="78356"/>
                  </a:lnTo>
                  <a:lnTo>
                    <a:pt x="1586658" y="95769"/>
                  </a:lnTo>
                  <a:lnTo>
                    <a:pt x="1627802" y="114923"/>
                  </a:lnTo>
                  <a:lnTo>
                    <a:pt x="1668308" y="135818"/>
                  </a:lnTo>
                  <a:lnTo>
                    <a:pt x="1708120" y="158454"/>
                  </a:lnTo>
                  <a:lnTo>
                    <a:pt x="1747184" y="182832"/>
                  </a:lnTo>
                  <a:lnTo>
                    <a:pt x="1785443" y="208951"/>
                  </a:lnTo>
                  <a:lnTo>
                    <a:pt x="1822842" y="236811"/>
                  </a:lnTo>
                  <a:lnTo>
                    <a:pt x="1859326" y="266412"/>
                  </a:lnTo>
                  <a:lnTo>
                    <a:pt x="1894838" y="297755"/>
                  </a:lnTo>
                  <a:lnTo>
                    <a:pt x="1929325" y="330839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4400" y="7653866"/>
              <a:ext cx="196426" cy="19642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23360" y="5149990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39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21760" y="4021101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52747" y="5718950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39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51147" y="4590061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539110" y="7277100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40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37510" y="6150187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97600" y="7739662"/>
              <a:ext cx="1031875" cy="2540"/>
            </a:xfrm>
            <a:custGeom>
              <a:avLst/>
              <a:gdLst/>
              <a:ahLst/>
              <a:cxnLst/>
              <a:rect l="l" t="t" r="r" b="b"/>
              <a:pathLst>
                <a:path w="1031875" h="2540">
                  <a:moveTo>
                    <a:pt x="0" y="0"/>
                  </a:moveTo>
                  <a:lnTo>
                    <a:pt x="1031804" y="2257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93741" y="6616700"/>
              <a:ext cx="5080" cy="1043305"/>
            </a:xfrm>
            <a:custGeom>
              <a:avLst/>
              <a:gdLst/>
              <a:ahLst/>
              <a:cxnLst/>
              <a:rect l="l" t="t" r="r" b="b"/>
              <a:pathLst>
                <a:path w="5079" h="1043304">
                  <a:moveTo>
                    <a:pt x="0" y="1043093"/>
                  </a:moveTo>
                  <a:lnTo>
                    <a:pt x="4515" y="0"/>
                  </a:lnTo>
                </a:path>
              </a:pathLst>
            </a:custGeom>
            <a:ln w="9525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07623" y="5285845"/>
              <a:ext cx="454659" cy="420370"/>
            </a:xfrm>
            <a:custGeom>
              <a:avLst/>
              <a:gdLst/>
              <a:ahLst/>
              <a:cxnLst/>
              <a:rect l="l" t="t" r="r" b="b"/>
              <a:pathLst>
                <a:path w="454660" h="420370">
                  <a:moveTo>
                    <a:pt x="0" y="0"/>
                  </a:moveTo>
                  <a:lnTo>
                    <a:pt x="9326" y="8620"/>
                  </a:lnTo>
                  <a:lnTo>
                    <a:pt x="454239" y="419842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49800" y="5232400"/>
              <a:ext cx="131445" cy="127635"/>
            </a:xfrm>
            <a:custGeom>
              <a:avLst/>
              <a:gdLst/>
              <a:ahLst/>
              <a:cxnLst/>
              <a:rect l="l" t="t" r="r" b="b"/>
              <a:pathLst>
                <a:path w="131445" h="127635">
                  <a:moveTo>
                    <a:pt x="0" y="0"/>
                  </a:moveTo>
                  <a:lnTo>
                    <a:pt x="48157" y="127520"/>
                  </a:lnTo>
                  <a:lnTo>
                    <a:pt x="67151" y="62064"/>
                  </a:lnTo>
                  <a:lnTo>
                    <a:pt x="130911" y="37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21928" y="4075290"/>
              <a:ext cx="7412355" cy="4339590"/>
            </a:xfrm>
            <a:custGeom>
              <a:avLst/>
              <a:gdLst/>
              <a:ahLst/>
              <a:cxnLst/>
              <a:rect l="l" t="t" r="r" b="b"/>
              <a:pathLst>
                <a:path w="7412355" h="4339590">
                  <a:moveTo>
                    <a:pt x="194170" y="3949700"/>
                  </a:moveTo>
                  <a:lnTo>
                    <a:pt x="0" y="3949700"/>
                  </a:lnTo>
                  <a:lnTo>
                    <a:pt x="0" y="4143870"/>
                  </a:lnTo>
                  <a:lnTo>
                    <a:pt x="194170" y="4143870"/>
                  </a:lnTo>
                  <a:lnTo>
                    <a:pt x="194170" y="3949700"/>
                  </a:lnTo>
                  <a:close/>
                </a:path>
                <a:path w="7412355" h="4339590">
                  <a:moveTo>
                    <a:pt x="918921" y="1195222"/>
                  </a:moveTo>
                  <a:lnTo>
                    <a:pt x="724750" y="1195222"/>
                  </a:lnTo>
                  <a:lnTo>
                    <a:pt x="724750" y="1389380"/>
                  </a:lnTo>
                  <a:lnTo>
                    <a:pt x="918921" y="1389380"/>
                  </a:lnTo>
                  <a:lnTo>
                    <a:pt x="918921" y="1195222"/>
                  </a:lnTo>
                  <a:close/>
                </a:path>
                <a:path w="7412355" h="4339590">
                  <a:moveTo>
                    <a:pt x="955040" y="0"/>
                  </a:moveTo>
                  <a:lnTo>
                    <a:pt x="760869" y="0"/>
                  </a:lnTo>
                  <a:lnTo>
                    <a:pt x="760869" y="194170"/>
                  </a:lnTo>
                  <a:lnTo>
                    <a:pt x="955040" y="194170"/>
                  </a:lnTo>
                  <a:lnTo>
                    <a:pt x="955040" y="0"/>
                  </a:lnTo>
                  <a:close/>
                </a:path>
                <a:path w="7412355" h="4339590">
                  <a:moveTo>
                    <a:pt x="1189850" y="1682051"/>
                  </a:moveTo>
                  <a:lnTo>
                    <a:pt x="995680" y="1682051"/>
                  </a:lnTo>
                  <a:lnTo>
                    <a:pt x="995680" y="1876221"/>
                  </a:lnTo>
                  <a:lnTo>
                    <a:pt x="1189850" y="1876221"/>
                  </a:lnTo>
                  <a:lnTo>
                    <a:pt x="1189850" y="1682051"/>
                  </a:lnTo>
                  <a:close/>
                </a:path>
                <a:path w="7412355" h="4339590">
                  <a:moveTo>
                    <a:pt x="1621091" y="1555610"/>
                  </a:moveTo>
                  <a:lnTo>
                    <a:pt x="1426921" y="1555610"/>
                  </a:lnTo>
                  <a:lnTo>
                    <a:pt x="1426921" y="1749780"/>
                  </a:lnTo>
                  <a:lnTo>
                    <a:pt x="1621091" y="1749780"/>
                  </a:lnTo>
                  <a:lnTo>
                    <a:pt x="1621091" y="1555610"/>
                  </a:lnTo>
                  <a:close/>
                </a:path>
                <a:path w="7412355" h="4339590">
                  <a:moveTo>
                    <a:pt x="1889760" y="589280"/>
                  </a:moveTo>
                  <a:lnTo>
                    <a:pt x="1695589" y="589280"/>
                  </a:lnTo>
                  <a:lnTo>
                    <a:pt x="1695589" y="783450"/>
                  </a:lnTo>
                  <a:lnTo>
                    <a:pt x="1889760" y="783450"/>
                  </a:lnTo>
                  <a:lnTo>
                    <a:pt x="1889760" y="589280"/>
                  </a:lnTo>
                  <a:close/>
                </a:path>
                <a:path w="7412355" h="4339590">
                  <a:moveTo>
                    <a:pt x="2066429" y="1914601"/>
                  </a:moveTo>
                  <a:lnTo>
                    <a:pt x="1872272" y="1914601"/>
                  </a:lnTo>
                  <a:lnTo>
                    <a:pt x="1872272" y="2108771"/>
                  </a:lnTo>
                  <a:lnTo>
                    <a:pt x="2066429" y="2108771"/>
                  </a:lnTo>
                  <a:lnTo>
                    <a:pt x="2066429" y="1914601"/>
                  </a:lnTo>
                  <a:close/>
                </a:path>
                <a:path w="7412355" h="4339590">
                  <a:moveTo>
                    <a:pt x="3095129" y="3788562"/>
                  </a:moveTo>
                  <a:lnTo>
                    <a:pt x="2900972" y="3788562"/>
                  </a:lnTo>
                  <a:lnTo>
                    <a:pt x="2900972" y="3982720"/>
                  </a:lnTo>
                  <a:lnTo>
                    <a:pt x="3095129" y="3982720"/>
                  </a:lnTo>
                  <a:lnTo>
                    <a:pt x="3095129" y="3788562"/>
                  </a:lnTo>
                  <a:close/>
                </a:path>
                <a:path w="7412355" h="4339590">
                  <a:moveTo>
                    <a:pt x="3793071" y="4145280"/>
                  </a:moveTo>
                  <a:lnTo>
                    <a:pt x="3598900" y="4145280"/>
                  </a:lnTo>
                  <a:lnTo>
                    <a:pt x="3598900" y="4339450"/>
                  </a:lnTo>
                  <a:lnTo>
                    <a:pt x="3793071" y="4339450"/>
                  </a:lnTo>
                  <a:lnTo>
                    <a:pt x="3793071" y="4145280"/>
                  </a:lnTo>
                  <a:close/>
                </a:path>
                <a:path w="7412355" h="4339590">
                  <a:moveTo>
                    <a:pt x="4061739" y="3178962"/>
                  </a:moveTo>
                  <a:lnTo>
                    <a:pt x="3867581" y="3178962"/>
                  </a:lnTo>
                  <a:lnTo>
                    <a:pt x="3867581" y="3373120"/>
                  </a:lnTo>
                  <a:lnTo>
                    <a:pt x="4061739" y="3373120"/>
                  </a:lnTo>
                  <a:lnTo>
                    <a:pt x="4061739" y="3178962"/>
                  </a:lnTo>
                  <a:close/>
                </a:path>
                <a:path w="7412355" h="4339590">
                  <a:moveTo>
                    <a:pt x="5664771" y="887310"/>
                  </a:moveTo>
                  <a:lnTo>
                    <a:pt x="5470601" y="887310"/>
                  </a:lnTo>
                  <a:lnTo>
                    <a:pt x="5470601" y="1081481"/>
                  </a:lnTo>
                  <a:lnTo>
                    <a:pt x="5664771" y="1081481"/>
                  </a:lnTo>
                  <a:lnTo>
                    <a:pt x="5664771" y="887310"/>
                  </a:lnTo>
                  <a:close/>
                </a:path>
                <a:path w="7412355" h="4339590">
                  <a:moveTo>
                    <a:pt x="5937961" y="1311770"/>
                  </a:moveTo>
                  <a:lnTo>
                    <a:pt x="5743791" y="1311770"/>
                  </a:lnTo>
                  <a:lnTo>
                    <a:pt x="5743791" y="1505940"/>
                  </a:lnTo>
                  <a:lnTo>
                    <a:pt x="5937961" y="1505940"/>
                  </a:lnTo>
                  <a:lnTo>
                    <a:pt x="5937961" y="1311770"/>
                  </a:lnTo>
                  <a:close/>
                </a:path>
                <a:path w="7412355" h="4339590">
                  <a:moveTo>
                    <a:pt x="6100521" y="1790420"/>
                  </a:moveTo>
                  <a:lnTo>
                    <a:pt x="5906351" y="1790420"/>
                  </a:lnTo>
                  <a:lnTo>
                    <a:pt x="5906351" y="1984590"/>
                  </a:lnTo>
                  <a:lnTo>
                    <a:pt x="6100521" y="1984590"/>
                  </a:lnTo>
                  <a:lnTo>
                    <a:pt x="6100521" y="1790420"/>
                  </a:lnTo>
                  <a:close/>
                </a:path>
                <a:path w="7412355" h="4339590">
                  <a:moveTo>
                    <a:pt x="6154699" y="806030"/>
                  </a:moveTo>
                  <a:lnTo>
                    <a:pt x="5960542" y="806030"/>
                  </a:lnTo>
                  <a:lnTo>
                    <a:pt x="5960542" y="1000201"/>
                  </a:lnTo>
                  <a:lnTo>
                    <a:pt x="6154699" y="1000201"/>
                  </a:lnTo>
                  <a:lnTo>
                    <a:pt x="6154699" y="806030"/>
                  </a:lnTo>
                  <a:close/>
                </a:path>
                <a:path w="7412355" h="4339590">
                  <a:moveTo>
                    <a:pt x="6222441" y="2948660"/>
                  </a:moveTo>
                  <a:lnTo>
                    <a:pt x="6028271" y="2948660"/>
                  </a:lnTo>
                  <a:lnTo>
                    <a:pt x="6028271" y="3142831"/>
                  </a:lnTo>
                  <a:lnTo>
                    <a:pt x="6222441" y="3142831"/>
                  </a:lnTo>
                  <a:lnTo>
                    <a:pt x="6222441" y="2948660"/>
                  </a:lnTo>
                  <a:close/>
                </a:path>
                <a:path w="7412355" h="4339590">
                  <a:moveTo>
                    <a:pt x="6543040" y="2338222"/>
                  </a:moveTo>
                  <a:lnTo>
                    <a:pt x="6348870" y="2338222"/>
                  </a:lnTo>
                  <a:lnTo>
                    <a:pt x="6348870" y="2532380"/>
                  </a:lnTo>
                  <a:lnTo>
                    <a:pt x="6543040" y="2532380"/>
                  </a:lnTo>
                  <a:lnTo>
                    <a:pt x="6543040" y="2338222"/>
                  </a:lnTo>
                  <a:close/>
                </a:path>
                <a:path w="7412355" h="4339590">
                  <a:moveTo>
                    <a:pt x="6613030" y="2874162"/>
                  </a:moveTo>
                  <a:lnTo>
                    <a:pt x="6418872" y="2874162"/>
                  </a:lnTo>
                  <a:lnTo>
                    <a:pt x="6418872" y="3068320"/>
                  </a:lnTo>
                  <a:lnTo>
                    <a:pt x="6613030" y="3068320"/>
                  </a:lnTo>
                  <a:lnTo>
                    <a:pt x="6613030" y="2874162"/>
                  </a:lnTo>
                  <a:close/>
                </a:path>
                <a:path w="7412355" h="4339590">
                  <a:moveTo>
                    <a:pt x="6655930" y="1030122"/>
                  </a:moveTo>
                  <a:lnTo>
                    <a:pt x="6461760" y="1030122"/>
                  </a:lnTo>
                  <a:lnTo>
                    <a:pt x="6461760" y="1224280"/>
                  </a:lnTo>
                  <a:lnTo>
                    <a:pt x="6655930" y="1224280"/>
                  </a:lnTo>
                  <a:lnTo>
                    <a:pt x="6655930" y="1030122"/>
                  </a:lnTo>
                  <a:close/>
                </a:path>
                <a:path w="7412355" h="4339590">
                  <a:moveTo>
                    <a:pt x="6759791" y="1830222"/>
                  </a:moveTo>
                  <a:lnTo>
                    <a:pt x="6565620" y="1830222"/>
                  </a:lnTo>
                  <a:lnTo>
                    <a:pt x="6565620" y="2024380"/>
                  </a:lnTo>
                  <a:lnTo>
                    <a:pt x="6759791" y="2024380"/>
                  </a:lnTo>
                  <a:lnTo>
                    <a:pt x="6759791" y="1830222"/>
                  </a:lnTo>
                  <a:close/>
                </a:path>
                <a:path w="7412355" h="4339590">
                  <a:moveTo>
                    <a:pt x="7195540" y="4090822"/>
                  </a:moveTo>
                  <a:lnTo>
                    <a:pt x="7001370" y="4090822"/>
                  </a:lnTo>
                  <a:lnTo>
                    <a:pt x="7001370" y="4284980"/>
                  </a:lnTo>
                  <a:lnTo>
                    <a:pt x="7195540" y="4284980"/>
                  </a:lnTo>
                  <a:lnTo>
                    <a:pt x="7195540" y="4090822"/>
                  </a:lnTo>
                  <a:close/>
                </a:path>
                <a:path w="7412355" h="4339590">
                  <a:moveTo>
                    <a:pt x="7290371" y="2592222"/>
                  </a:moveTo>
                  <a:lnTo>
                    <a:pt x="7096201" y="2592222"/>
                  </a:lnTo>
                  <a:lnTo>
                    <a:pt x="7096201" y="2786380"/>
                  </a:lnTo>
                  <a:lnTo>
                    <a:pt x="7290371" y="2786380"/>
                  </a:lnTo>
                  <a:lnTo>
                    <a:pt x="7290371" y="2592222"/>
                  </a:lnTo>
                  <a:close/>
                </a:path>
                <a:path w="7412355" h="4339590">
                  <a:moveTo>
                    <a:pt x="7412291" y="3582822"/>
                  </a:moveTo>
                  <a:lnTo>
                    <a:pt x="7218121" y="3582822"/>
                  </a:lnTo>
                  <a:lnTo>
                    <a:pt x="7218121" y="3776980"/>
                  </a:lnTo>
                  <a:lnTo>
                    <a:pt x="7412291" y="3776980"/>
                  </a:lnTo>
                  <a:lnTo>
                    <a:pt x="7412291" y="3582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841500" y="3683000"/>
            <a:ext cx="9361170" cy="4628511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R="313055" algn="ctr">
              <a:lnSpc>
                <a:spcPct val="100000"/>
              </a:lnSpc>
              <a:spcBef>
                <a:spcPts val="1600"/>
              </a:spcBef>
            </a:pPr>
            <a:r>
              <a:rPr sz="1600" b="1" dirty="0">
                <a:latin typeface="Tahoma"/>
                <a:cs typeface="Tahoma"/>
              </a:rPr>
              <a:t>k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4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centers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600">
              <a:latin typeface="Tahoma"/>
              <a:cs typeface="Tahoma"/>
            </a:endParaRPr>
          </a:p>
          <a:p>
            <a:pPr marR="1986914" algn="ctr">
              <a:lnSpc>
                <a:spcPct val="100000"/>
              </a:lnSpc>
            </a:pP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r(C)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65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079500" marR="7656830">
              <a:lnSpc>
                <a:spcPct val="151000"/>
              </a:lnSpc>
            </a:pPr>
            <a:endParaRPr lang="en-US" sz="1600" spc="-10" dirty="0">
              <a:solidFill>
                <a:srgbClr val="0048AA"/>
              </a:solidFill>
              <a:latin typeface="Lucida Sans Unicode"/>
              <a:cs typeface="Lucida Sans Unicode"/>
            </a:endParaRPr>
          </a:p>
          <a:p>
            <a:pPr marL="1079500" marR="7656830">
              <a:lnSpc>
                <a:spcPct val="151000"/>
              </a:lnSpc>
            </a:pPr>
            <a:r>
              <a:rPr sz="16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center </a:t>
            </a:r>
            <a:r>
              <a:rPr sz="1600" spc="-20" dirty="0">
                <a:latin typeface="Lucida Sans Unicode"/>
                <a:cs typeface="Lucida Sans Unicode"/>
              </a:rPr>
              <a:t>site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5118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17545" algn="l"/>
              </a:tabLst>
            </a:pPr>
            <a:r>
              <a:rPr spc="70" dirty="0"/>
              <a:t>Greedy</a:t>
            </a:r>
            <a:r>
              <a:rPr spc="100" dirty="0"/>
              <a:t> </a:t>
            </a:r>
            <a:r>
              <a:rPr spc="40" dirty="0"/>
              <a:t>algorithm:</a:t>
            </a:r>
            <a:r>
              <a:rPr dirty="0"/>
              <a:t>	</a:t>
            </a:r>
            <a:r>
              <a:rPr spc="105" dirty="0"/>
              <a:t>a</a:t>
            </a:r>
            <a:r>
              <a:rPr spc="75" dirty="0"/>
              <a:t> </a:t>
            </a:r>
            <a:r>
              <a:rPr dirty="0"/>
              <a:t>false</a:t>
            </a:r>
            <a:r>
              <a:rPr spc="80" dirty="0"/>
              <a:t> </a:t>
            </a:r>
            <a:r>
              <a:rPr spc="-10" dirty="0"/>
              <a:t>start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10828020" cy="2342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288099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Greedy</a:t>
            </a:r>
            <a:r>
              <a:rPr sz="24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Put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first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possible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lang="en-GB" sz="2400" dirty="0">
                <a:latin typeface="Lucida Sans Unicode"/>
                <a:cs typeface="Lucida Sans Unicode"/>
              </a:rPr>
              <a:t>site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single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keep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adding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reduce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covering </a:t>
            </a:r>
            <a:r>
              <a:rPr sz="2400" dirty="0">
                <a:latin typeface="Lucida Sans Unicode"/>
                <a:cs typeface="Lucida Sans Unicode"/>
              </a:rPr>
              <a:t>radius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by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much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possible.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4198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Remark: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arbitrarily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bad!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67368" y="4501445"/>
            <a:ext cx="9753600" cy="3746500"/>
            <a:chOff x="1667368" y="4501445"/>
            <a:chExt cx="9753600" cy="3746500"/>
          </a:xfrm>
        </p:grpSpPr>
        <p:sp>
          <p:nvSpPr>
            <p:cNvPr id="6" name="object 6"/>
            <p:cNvSpPr/>
            <p:nvPr/>
          </p:nvSpPr>
          <p:spPr>
            <a:xfrm>
              <a:off x="1667368" y="4501445"/>
              <a:ext cx="9753600" cy="3746500"/>
            </a:xfrm>
            <a:custGeom>
              <a:avLst/>
              <a:gdLst/>
              <a:ahLst/>
              <a:cxnLst/>
              <a:rect l="l" t="t" r="r" b="b"/>
              <a:pathLst>
                <a:path w="9753600" h="3746500">
                  <a:moveTo>
                    <a:pt x="9753600" y="0"/>
                  </a:moveTo>
                  <a:lnTo>
                    <a:pt x="0" y="0"/>
                  </a:lnTo>
                  <a:lnTo>
                    <a:pt x="0" y="3746500"/>
                  </a:lnTo>
                  <a:lnTo>
                    <a:pt x="9753600" y="37465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8711" y="5680286"/>
              <a:ext cx="196426" cy="1964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06967" y="5295899"/>
              <a:ext cx="8298815" cy="1158240"/>
            </a:xfrm>
            <a:custGeom>
              <a:avLst/>
              <a:gdLst/>
              <a:ahLst/>
              <a:cxnLst/>
              <a:rect l="l" t="t" r="r" b="b"/>
              <a:pathLst>
                <a:path w="8298815" h="1158239">
                  <a:moveTo>
                    <a:pt x="142240" y="355041"/>
                  </a:moveTo>
                  <a:lnTo>
                    <a:pt x="0" y="355041"/>
                  </a:lnTo>
                  <a:lnTo>
                    <a:pt x="0" y="497281"/>
                  </a:lnTo>
                  <a:lnTo>
                    <a:pt x="142240" y="497281"/>
                  </a:lnTo>
                  <a:lnTo>
                    <a:pt x="142240" y="355041"/>
                  </a:lnTo>
                  <a:close/>
                </a:path>
                <a:path w="8298815" h="1158239">
                  <a:moveTo>
                    <a:pt x="234810" y="969162"/>
                  </a:moveTo>
                  <a:lnTo>
                    <a:pt x="92570" y="969162"/>
                  </a:lnTo>
                  <a:lnTo>
                    <a:pt x="92570" y="1111402"/>
                  </a:lnTo>
                  <a:lnTo>
                    <a:pt x="234810" y="1111402"/>
                  </a:lnTo>
                  <a:lnTo>
                    <a:pt x="234810" y="969162"/>
                  </a:lnTo>
                  <a:close/>
                </a:path>
                <a:path w="8298815" h="1158239">
                  <a:moveTo>
                    <a:pt x="343179" y="138290"/>
                  </a:moveTo>
                  <a:lnTo>
                    <a:pt x="200952" y="138290"/>
                  </a:lnTo>
                  <a:lnTo>
                    <a:pt x="200952" y="280530"/>
                  </a:lnTo>
                  <a:lnTo>
                    <a:pt x="343179" y="280530"/>
                  </a:lnTo>
                  <a:lnTo>
                    <a:pt x="343179" y="138290"/>
                  </a:lnTo>
                  <a:close/>
                </a:path>
                <a:path w="8298815" h="1158239">
                  <a:moveTo>
                    <a:pt x="360972" y="637260"/>
                  </a:moveTo>
                  <a:lnTo>
                    <a:pt x="218732" y="637260"/>
                  </a:lnTo>
                  <a:lnTo>
                    <a:pt x="218732" y="779500"/>
                  </a:lnTo>
                  <a:lnTo>
                    <a:pt x="360972" y="779500"/>
                  </a:lnTo>
                  <a:lnTo>
                    <a:pt x="360972" y="637260"/>
                  </a:lnTo>
                  <a:close/>
                </a:path>
                <a:path w="8298815" h="1158239">
                  <a:moveTo>
                    <a:pt x="449872" y="355041"/>
                  </a:moveTo>
                  <a:lnTo>
                    <a:pt x="307632" y="355041"/>
                  </a:lnTo>
                  <a:lnTo>
                    <a:pt x="307632" y="497281"/>
                  </a:lnTo>
                  <a:lnTo>
                    <a:pt x="449872" y="497281"/>
                  </a:lnTo>
                  <a:lnTo>
                    <a:pt x="449872" y="355041"/>
                  </a:lnTo>
                  <a:close/>
                </a:path>
                <a:path w="8298815" h="1158239">
                  <a:moveTo>
                    <a:pt x="559930" y="851750"/>
                  </a:moveTo>
                  <a:lnTo>
                    <a:pt x="417690" y="851750"/>
                  </a:lnTo>
                  <a:lnTo>
                    <a:pt x="417690" y="993990"/>
                  </a:lnTo>
                  <a:lnTo>
                    <a:pt x="559930" y="993990"/>
                  </a:lnTo>
                  <a:lnTo>
                    <a:pt x="559930" y="851750"/>
                  </a:lnTo>
                  <a:close/>
                </a:path>
                <a:path w="8298815" h="1158239">
                  <a:moveTo>
                    <a:pt x="559930" y="569531"/>
                  </a:moveTo>
                  <a:lnTo>
                    <a:pt x="417690" y="569531"/>
                  </a:lnTo>
                  <a:lnTo>
                    <a:pt x="417690" y="711771"/>
                  </a:lnTo>
                  <a:lnTo>
                    <a:pt x="559930" y="711771"/>
                  </a:lnTo>
                  <a:lnTo>
                    <a:pt x="559930" y="569531"/>
                  </a:lnTo>
                  <a:close/>
                </a:path>
                <a:path w="8298815" h="1158239">
                  <a:moveTo>
                    <a:pt x="638949" y="203200"/>
                  </a:moveTo>
                  <a:lnTo>
                    <a:pt x="496709" y="203200"/>
                  </a:lnTo>
                  <a:lnTo>
                    <a:pt x="496709" y="345440"/>
                  </a:lnTo>
                  <a:lnTo>
                    <a:pt x="638949" y="345440"/>
                  </a:lnTo>
                  <a:lnTo>
                    <a:pt x="638949" y="203200"/>
                  </a:lnTo>
                  <a:close/>
                </a:path>
                <a:path w="8298815" h="1158239">
                  <a:moveTo>
                    <a:pt x="774420" y="772731"/>
                  </a:moveTo>
                  <a:lnTo>
                    <a:pt x="632180" y="772731"/>
                  </a:lnTo>
                  <a:lnTo>
                    <a:pt x="632180" y="914971"/>
                  </a:lnTo>
                  <a:lnTo>
                    <a:pt x="774420" y="914971"/>
                  </a:lnTo>
                  <a:lnTo>
                    <a:pt x="774420" y="772731"/>
                  </a:lnTo>
                  <a:close/>
                </a:path>
                <a:path w="8298815" h="1158239">
                  <a:moveTo>
                    <a:pt x="785710" y="546950"/>
                  </a:moveTo>
                  <a:lnTo>
                    <a:pt x="643470" y="546950"/>
                  </a:lnTo>
                  <a:lnTo>
                    <a:pt x="643470" y="689190"/>
                  </a:lnTo>
                  <a:lnTo>
                    <a:pt x="785710" y="689190"/>
                  </a:lnTo>
                  <a:lnTo>
                    <a:pt x="785710" y="546950"/>
                  </a:lnTo>
                  <a:close/>
                </a:path>
                <a:path w="8298815" h="1158239">
                  <a:moveTo>
                    <a:pt x="887310" y="355041"/>
                  </a:moveTo>
                  <a:lnTo>
                    <a:pt x="745070" y="355041"/>
                  </a:lnTo>
                  <a:lnTo>
                    <a:pt x="745070" y="497281"/>
                  </a:lnTo>
                  <a:lnTo>
                    <a:pt x="887310" y="497281"/>
                  </a:lnTo>
                  <a:lnTo>
                    <a:pt x="887310" y="355041"/>
                  </a:lnTo>
                  <a:close/>
                </a:path>
                <a:path w="8298815" h="1158239">
                  <a:moveTo>
                    <a:pt x="982141" y="745642"/>
                  </a:moveTo>
                  <a:lnTo>
                    <a:pt x="839901" y="745642"/>
                  </a:lnTo>
                  <a:lnTo>
                    <a:pt x="839901" y="887882"/>
                  </a:lnTo>
                  <a:lnTo>
                    <a:pt x="982141" y="887882"/>
                  </a:lnTo>
                  <a:lnTo>
                    <a:pt x="982141" y="745642"/>
                  </a:lnTo>
                  <a:close/>
                </a:path>
                <a:path w="8298815" h="1158239">
                  <a:moveTo>
                    <a:pt x="7288111" y="513092"/>
                  </a:moveTo>
                  <a:lnTo>
                    <a:pt x="7145871" y="513092"/>
                  </a:lnTo>
                  <a:lnTo>
                    <a:pt x="7145871" y="655320"/>
                  </a:lnTo>
                  <a:lnTo>
                    <a:pt x="7288111" y="655320"/>
                  </a:lnTo>
                  <a:lnTo>
                    <a:pt x="7288111" y="513092"/>
                  </a:lnTo>
                  <a:close/>
                </a:path>
                <a:path w="8298815" h="1158239">
                  <a:moveTo>
                    <a:pt x="7489050" y="296341"/>
                  </a:moveTo>
                  <a:lnTo>
                    <a:pt x="7346810" y="296341"/>
                  </a:lnTo>
                  <a:lnTo>
                    <a:pt x="7346810" y="438581"/>
                  </a:lnTo>
                  <a:lnTo>
                    <a:pt x="7489050" y="438581"/>
                  </a:lnTo>
                  <a:lnTo>
                    <a:pt x="7489050" y="296341"/>
                  </a:lnTo>
                  <a:close/>
                </a:path>
                <a:path w="8298815" h="1158239">
                  <a:moveTo>
                    <a:pt x="7502601" y="795312"/>
                  </a:moveTo>
                  <a:lnTo>
                    <a:pt x="7360361" y="795312"/>
                  </a:lnTo>
                  <a:lnTo>
                    <a:pt x="7360361" y="937552"/>
                  </a:lnTo>
                  <a:lnTo>
                    <a:pt x="7502601" y="937552"/>
                  </a:lnTo>
                  <a:lnTo>
                    <a:pt x="7502601" y="795312"/>
                  </a:lnTo>
                  <a:close/>
                </a:path>
                <a:path w="8298815" h="1158239">
                  <a:moveTo>
                    <a:pt x="7592911" y="513092"/>
                  </a:moveTo>
                  <a:lnTo>
                    <a:pt x="7450671" y="513092"/>
                  </a:lnTo>
                  <a:lnTo>
                    <a:pt x="7450671" y="655320"/>
                  </a:lnTo>
                  <a:lnTo>
                    <a:pt x="7592911" y="655320"/>
                  </a:lnTo>
                  <a:lnTo>
                    <a:pt x="7592911" y="513092"/>
                  </a:lnTo>
                  <a:close/>
                </a:path>
                <a:path w="8298815" h="1158239">
                  <a:moveTo>
                    <a:pt x="7705801" y="1016000"/>
                  </a:moveTo>
                  <a:lnTo>
                    <a:pt x="7563561" y="1016000"/>
                  </a:lnTo>
                  <a:lnTo>
                    <a:pt x="7563561" y="1158240"/>
                  </a:lnTo>
                  <a:lnTo>
                    <a:pt x="7705801" y="1158240"/>
                  </a:lnTo>
                  <a:lnTo>
                    <a:pt x="7705801" y="1016000"/>
                  </a:lnTo>
                  <a:close/>
                </a:path>
                <a:path w="8298815" h="1158239">
                  <a:moveTo>
                    <a:pt x="7705801" y="727570"/>
                  </a:moveTo>
                  <a:lnTo>
                    <a:pt x="7563561" y="727570"/>
                  </a:lnTo>
                  <a:lnTo>
                    <a:pt x="7563561" y="869810"/>
                  </a:lnTo>
                  <a:lnTo>
                    <a:pt x="7705801" y="869810"/>
                  </a:lnTo>
                  <a:lnTo>
                    <a:pt x="7705801" y="727570"/>
                  </a:lnTo>
                  <a:close/>
                </a:path>
                <a:path w="8298815" h="1158239">
                  <a:moveTo>
                    <a:pt x="7759992" y="0"/>
                  </a:moveTo>
                  <a:lnTo>
                    <a:pt x="7617752" y="0"/>
                  </a:lnTo>
                  <a:lnTo>
                    <a:pt x="7617752" y="142240"/>
                  </a:lnTo>
                  <a:lnTo>
                    <a:pt x="7759992" y="142240"/>
                  </a:lnTo>
                  <a:lnTo>
                    <a:pt x="7759992" y="0"/>
                  </a:lnTo>
                  <a:close/>
                </a:path>
                <a:path w="8298815" h="1158239">
                  <a:moveTo>
                    <a:pt x="7784820" y="355041"/>
                  </a:moveTo>
                  <a:lnTo>
                    <a:pt x="7642580" y="355041"/>
                  </a:lnTo>
                  <a:lnTo>
                    <a:pt x="7642580" y="497281"/>
                  </a:lnTo>
                  <a:lnTo>
                    <a:pt x="7784820" y="497281"/>
                  </a:lnTo>
                  <a:lnTo>
                    <a:pt x="7784820" y="355041"/>
                  </a:lnTo>
                  <a:close/>
                </a:path>
                <a:path w="8298815" h="1158239">
                  <a:moveTo>
                    <a:pt x="7920291" y="930770"/>
                  </a:moveTo>
                  <a:lnTo>
                    <a:pt x="7778051" y="930770"/>
                  </a:lnTo>
                  <a:lnTo>
                    <a:pt x="7778051" y="1073010"/>
                  </a:lnTo>
                  <a:lnTo>
                    <a:pt x="7920291" y="1073010"/>
                  </a:lnTo>
                  <a:lnTo>
                    <a:pt x="7920291" y="930770"/>
                  </a:lnTo>
                  <a:close/>
                </a:path>
                <a:path w="8298815" h="1158239">
                  <a:moveTo>
                    <a:pt x="7976730" y="711771"/>
                  </a:moveTo>
                  <a:lnTo>
                    <a:pt x="7834490" y="711771"/>
                  </a:lnTo>
                  <a:lnTo>
                    <a:pt x="7834490" y="854011"/>
                  </a:lnTo>
                  <a:lnTo>
                    <a:pt x="7976730" y="854011"/>
                  </a:lnTo>
                  <a:lnTo>
                    <a:pt x="7976730" y="711771"/>
                  </a:lnTo>
                  <a:close/>
                </a:path>
                <a:path w="8298815" h="1158239">
                  <a:moveTo>
                    <a:pt x="8031772" y="513092"/>
                  </a:moveTo>
                  <a:lnTo>
                    <a:pt x="7889532" y="513092"/>
                  </a:lnTo>
                  <a:lnTo>
                    <a:pt x="7889532" y="655320"/>
                  </a:lnTo>
                  <a:lnTo>
                    <a:pt x="8031772" y="655320"/>
                  </a:lnTo>
                  <a:lnTo>
                    <a:pt x="8031772" y="513092"/>
                  </a:lnTo>
                  <a:close/>
                </a:path>
                <a:path w="8298815" h="1158239">
                  <a:moveTo>
                    <a:pt x="8298472" y="215900"/>
                  </a:moveTo>
                  <a:lnTo>
                    <a:pt x="8156232" y="215900"/>
                  </a:lnTo>
                  <a:lnTo>
                    <a:pt x="8156232" y="358140"/>
                  </a:lnTo>
                  <a:lnTo>
                    <a:pt x="8298472" y="358140"/>
                  </a:lnTo>
                  <a:lnTo>
                    <a:pt x="8298472" y="215900"/>
                  </a:lnTo>
                  <a:close/>
                </a:path>
              </a:pathLst>
            </a:custGeom>
            <a:solidFill>
              <a:srgbClr val="01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4826" y="6946899"/>
              <a:ext cx="196426" cy="1964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73537" y="7326489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09" h="194309">
                  <a:moveTo>
                    <a:pt x="194168" y="0"/>
                  </a:moveTo>
                  <a:lnTo>
                    <a:pt x="0" y="0"/>
                  </a:lnTo>
                  <a:lnTo>
                    <a:pt x="0" y="194168"/>
                  </a:lnTo>
                  <a:lnTo>
                    <a:pt x="194168" y="194168"/>
                  </a:lnTo>
                  <a:lnTo>
                    <a:pt x="194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67368" y="4501445"/>
            <a:ext cx="9753600" cy="33121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 sz="1600">
              <a:latin typeface="Times New Roman"/>
              <a:cs typeface="Times New Roman"/>
            </a:endParaRPr>
          </a:p>
          <a:p>
            <a:pPr marR="865505" algn="ctr"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k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2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centers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ahoma"/>
              <a:cs typeface="Tahoma"/>
            </a:endParaRPr>
          </a:p>
          <a:p>
            <a:pPr marR="401955" algn="ctr">
              <a:lnSpc>
                <a:spcPct val="100000"/>
              </a:lnSpc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greedy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center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7705090" marR="1423670">
              <a:lnSpc>
                <a:spcPct val="151000"/>
              </a:lnSpc>
            </a:pPr>
            <a:endParaRPr lang="en-GB" sz="1600" spc="-10" dirty="0">
              <a:solidFill>
                <a:srgbClr val="0048AA"/>
              </a:solidFill>
              <a:latin typeface="Lucida Sans Unicode"/>
              <a:cs typeface="Lucida Sans Unicode"/>
            </a:endParaRPr>
          </a:p>
          <a:p>
            <a:pPr marL="7705090" marR="1423670">
              <a:lnSpc>
                <a:spcPct val="151000"/>
              </a:lnSpc>
            </a:pPr>
            <a:r>
              <a:rPr sz="16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center </a:t>
            </a:r>
            <a:r>
              <a:rPr sz="1600" spc="-20" dirty="0">
                <a:latin typeface="Lucida Sans Unicode"/>
                <a:cs typeface="Lucida Sans Unicode"/>
              </a:rPr>
              <a:t>site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5715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12110" algn="l"/>
              </a:tabLst>
            </a:pPr>
            <a:r>
              <a:rPr dirty="0"/>
              <a:t>Center</a:t>
            </a:r>
            <a:r>
              <a:rPr spc="30" dirty="0"/>
              <a:t> </a:t>
            </a:r>
            <a:r>
              <a:rPr spc="-10" dirty="0"/>
              <a:t>selection:</a:t>
            </a:r>
            <a:r>
              <a:rPr dirty="0"/>
              <a:t>	</a:t>
            </a:r>
            <a:r>
              <a:rPr spc="60" dirty="0"/>
              <a:t>greedy</a:t>
            </a:r>
            <a:r>
              <a:rPr spc="90" dirty="0"/>
              <a:t> </a:t>
            </a:r>
            <a:r>
              <a:rPr spc="4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3500"/>
            <a:ext cx="11124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Repeatedly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choose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next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farthest</a:t>
            </a:r>
            <a:r>
              <a:rPr sz="2400" spc="-3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center.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7973059"/>
            <a:ext cx="1119695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581660" algn="l"/>
                <a:tab pos="155511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Property.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Upon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termination,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pairwise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apart.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50" dirty="0">
                <a:latin typeface="Lucida Sans Unicode"/>
                <a:cs typeface="Lucida Sans Unicode"/>
              </a:rPr>
              <a:t>By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construction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algorithm.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6300" y="2882900"/>
            <a:ext cx="8318500" cy="3975100"/>
          </a:xfrm>
          <a:custGeom>
            <a:avLst/>
            <a:gdLst/>
            <a:ahLst/>
            <a:cxnLst/>
            <a:rect l="l" t="t" r="r" b="b"/>
            <a:pathLst>
              <a:path w="8318500" h="3975100">
                <a:moveTo>
                  <a:pt x="8318500" y="0"/>
                </a:moveTo>
                <a:lnTo>
                  <a:pt x="0" y="0"/>
                </a:lnTo>
                <a:lnTo>
                  <a:pt x="0" y="3975100"/>
                </a:lnTo>
                <a:lnTo>
                  <a:pt x="8318500" y="3975100"/>
                </a:lnTo>
                <a:lnTo>
                  <a:pt x="8318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13000" y="3149600"/>
            <a:ext cx="5835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003F83"/>
                </a:solidFill>
                <a:latin typeface="Times New Roman"/>
                <a:cs typeface="Times New Roman"/>
              </a:rPr>
              <a:t>G</a:t>
            </a:r>
            <a:r>
              <a:rPr sz="1900" i="1" spc="-10" dirty="0">
                <a:solidFill>
                  <a:srgbClr val="003F83"/>
                </a:solidFill>
                <a:latin typeface="Times New Roman"/>
                <a:cs typeface="Times New Roman"/>
              </a:rPr>
              <a:t>REEDY</a:t>
            </a:r>
            <a:r>
              <a:rPr sz="2400" i="1" spc="-10" dirty="0">
                <a:solidFill>
                  <a:srgbClr val="003F83"/>
                </a:solidFill>
                <a:latin typeface="Times New Roman"/>
                <a:cs typeface="Times New Roman"/>
              </a:rPr>
              <a:t>-</a:t>
            </a:r>
            <a:r>
              <a:rPr sz="2400" i="1" dirty="0">
                <a:solidFill>
                  <a:srgbClr val="003F83"/>
                </a:solidFill>
                <a:latin typeface="Times New Roman"/>
                <a:cs typeface="Times New Roman"/>
              </a:rPr>
              <a:t>C</a:t>
            </a:r>
            <a:r>
              <a:rPr sz="1900" i="1" dirty="0">
                <a:solidFill>
                  <a:srgbClr val="003F83"/>
                </a:solidFill>
                <a:latin typeface="Times New Roman"/>
                <a:cs typeface="Times New Roman"/>
              </a:rPr>
              <a:t>ENTER</a:t>
            </a:r>
            <a:r>
              <a:rPr sz="2400" i="1" dirty="0">
                <a:solidFill>
                  <a:srgbClr val="003F83"/>
                </a:solidFill>
                <a:latin typeface="Times New Roman"/>
                <a:cs typeface="Times New Roman"/>
              </a:rPr>
              <a:t>-S</a:t>
            </a:r>
            <a:r>
              <a:rPr sz="1900" i="1" dirty="0">
                <a:solidFill>
                  <a:srgbClr val="003F83"/>
                </a:solidFill>
                <a:latin typeface="Times New Roman"/>
                <a:cs typeface="Times New Roman"/>
              </a:rPr>
              <a:t>ELECTION</a:t>
            </a:r>
            <a:r>
              <a:rPr sz="1900" i="1" spc="1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(k, n,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1</a:t>
            </a:r>
            <a:r>
              <a:rPr sz="2400" i="1" dirty="0">
                <a:latin typeface="Times New Roman"/>
                <a:cs typeface="Times New Roman"/>
              </a:rPr>
              <a:t>, s</a:t>
            </a:r>
            <a:r>
              <a:rPr sz="2400" i="1" baseline="-6944" dirty="0">
                <a:latin typeface="Times New Roman"/>
                <a:cs typeface="Times New Roman"/>
              </a:rPr>
              <a:t>2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… ,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i="1" spc="-37" baseline="-6944" dirty="0">
                <a:latin typeface="Times New Roman"/>
                <a:cs typeface="Times New Roman"/>
              </a:rPr>
              <a:t>n</a:t>
            </a:r>
            <a:r>
              <a:rPr sz="2400" i="1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38400" y="3709365"/>
            <a:ext cx="7162800" cy="2794635"/>
            <a:chOff x="2438400" y="3709365"/>
            <a:chExt cx="7162800" cy="2794635"/>
          </a:xfrm>
        </p:grpSpPr>
        <p:sp>
          <p:nvSpPr>
            <p:cNvPr id="9" name="object 9"/>
            <p:cNvSpPr/>
            <p:nvPr/>
          </p:nvSpPr>
          <p:spPr>
            <a:xfrm>
              <a:off x="2438400" y="3709676"/>
              <a:ext cx="7162800" cy="2794000"/>
            </a:xfrm>
            <a:custGeom>
              <a:avLst/>
              <a:gdLst/>
              <a:ahLst/>
              <a:cxnLst/>
              <a:rect l="l" t="t" r="r" b="b"/>
              <a:pathLst>
                <a:path w="7162800" h="2794000">
                  <a:moveTo>
                    <a:pt x="0" y="0"/>
                  </a:moveTo>
                  <a:lnTo>
                    <a:pt x="7162800" y="0"/>
                  </a:lnTo>
                </a:path>
                <a:path w="7162800" h="2794000">
                  <a:moveTo>
                    <a:pt x="0" y="2794000"/>
                  </a:moveTo>
                  <a:lnTo>
                    <a:pt x="7162800" y="2794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61758" y="5438124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12700"/>
                  </a:lnTo>
                  <a:lnTo>
                    <a:pt x="0" y="371984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0798" y="5359384"/>
              <a:ext cx="121920" cy="12191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438400" y="5943600"/>
            <a:ext cx="1327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i="1" cap="small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2400" i="1" cap="small" spc="10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cap="small" spc="-100" dirty="0">
                <a:latin typeface="Times New Roman"/>
                <a:cs typeface="Times New Roman"/>
              </a:rPr>
              <a:t>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2413000" y="3667759"/>
            <a:ext cx="6508750" cy="245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4635500">
              <a:lnSpc>
                <a:spcPct val="1458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Symbol"/>
                <a:cs typeface="Symbol"/>
              </a:rPr>
              <a:t></a:t>
            </a:r>
            <a:r>
              <a:rPr sz="2400" i="1" spc="-25" dirty="0">
                <a:latin typeface="Times New Roman"/>
                <a:cs typeface="Times New Roman"/>
              </a:rPr>
              <a:t>. </a:t>
            </a:r>
            <a:r>
              <a:rPr sz="2400" i="1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i="1" dirty="0">
                <a:solidFill>
                  <a:srgbClr val="003F83"/>
                </a:solidFill>
                <a:latin typeface="Times New Roman"/>
                <a:cs typeface="Times New Roman"/>
              </a:rPr>
              <a:t>EPEAT</a:t>
            </a:r>
            <a:r>
              <a:rPr sz="1900" i="1" spc="7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times</a:t>
            </a:r>
            <a:endParaRPr sz="2400">
              <a:latin typeface="Times New Roman"/>
              <a:cs typeface="Times New Roman"/>
            </a:endParaRPr>
          </a:p>
          <a:p>
            <a:pPr marL="482600" marR="30480">
              <a:lnSpc>
                <a:spcPts val="4100"/>
              </a:lnSpc>
              <a:spcBef>
                <a:spcPts val="340"/>
              </a:spcBef>
              <a:tabLst>
                <a:tab pos="1804670" algn="l"/>
              </a:tabLst>
            </a:pPr>
            <a:r>
              <a:rPr sz="2400" i="1" dirty="0">
                <a:latin typeface="Times New Roman"/>
                <a:cs typeface="Times New Roman"/>
              </a:rPr>
              <a:t>Select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site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254" baseline="-694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with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maximum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distance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dist(s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dirty="0">
                <a:latin typeface="Times New Roman"/>
                <a:cs typeface="Times New Roman"/>
              </a:rPr>
              <a:t>,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C). </a:t>
            </a:r>
            <a:r>
              <a:rPr sz="2400" i="1" dirty="0">
                <a:latin typeface="Times New Roman"/>
                <a:cs typeface="Times New Roman"/>
              </a:rPr>
              <a:t>C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 </a:t>
            </a:r>
            <a:r>
              <a:rPr sz="2400" spc="-50" dirty="0">
                <a:latin typeface="Symbol"/>
                <a:cs typeface="Symbol"/>
              </a:rPr>
              <a:t>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i="1" spc="-37" baseline="-6944" dirty="0">
                <a:latin typeface="Times New Roman"/>
                <a:cs typeface="Times New Roman"/>
              </a:rPr>
              <a:t>i</a:t>
            </a:r>
            <a:r>
              <a:rPr sz="2400" i="1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403600">
              <a:lnSpc>
                <a:spcPct val="100000"/>
              </a:lnSpc>
              <a:spcBef>
                <a:spcPts val="28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site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farthest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6100" y="6121400"/>
            <a:ext cx="15836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from any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center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7537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12110" algn="l"/>
              </a:tabLst>
            </a:pPr>
            <a:r>
              <a:rPr dirty="0"/>
              <a:t>Center</a:t>
            </a:r>
            <a:r>
              <a:rPr spc="30" dirty="0"/>
              <a:t> </a:t>
            </a:r>
            <a:r>
              <a:rPr spc="-10" dirty="0"/>
              <a:t>selection:</a:t>
            </a:r>
            <a:r>
              <a:rPr dirty="0"/>
              <a:t>	analysis</a:t>
            </a:r>
            <a:r>
              <a:rPr spc="60" dirty="0"/>
              <a:t> </a:t>
            </a:r>
            <a:r>
              <a:rPr spc="80" dirty="0"/>
              <a:t>of</a:t>
            </a:r>
            <a:r>
              <a:rPr spc="60" dirty="0"/>
              <a:t> greedy </a:t>
            </a:r>
            <a:r>
              <a:rPr spc="4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60953" y="2815679"/>
            <a:ext cx="101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400" y="1216660"/>
            <a:ext cx="9498965" cy="199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31900"/>
              </a:lnSpc>
              <a:spcBef>
                <a:spcPts val="100"/>
              </a:spcBef>
              <a:tabLst>
                <a:tab pos="594360" algn="l"/>
                <a:tab pos="1383665" algn="l"/>
                <a:tab pos="3403600" algn="l"/>
                <a:tab pos="8227059" algn="l"/>
                <a:tab pos="854646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Lemma.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centers.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C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i="1" spc="-1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*)</a:t>
            </a:r>
            <a:r>
              <a:rPr sz="2400" spc="-10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[by</a:t>
            </a:r>
            <a:r>
              <a:rPr sz="2400" spc="10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contradiction]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Assume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*)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½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52400">
              <a:lnSpc>
                <a:spcPts val="3679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70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spc="-20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ball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radius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½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spc="6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around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it.</a:t>
            </a:r>
            <a:endParaRPr sz="2400">
              <a:latin typeface="Lucida Sans Unicode"/>
              <a:cs typeface="Lucida Sans Unicode"/>
            </a:endParaRPr>
          </a:p>
          <a:p>
            <a:pPr marL="152400">
              <a:lnSpc>
                <a:spcPts val="4210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Exactly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525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ball;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517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paired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585" baseline="-19097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7620" y="3298279"/>
            <a:ext cx="101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3081020"/>
            <a:ext cx="778700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7020559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closest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i="1" spc="-37" baseline="-19097" dirty="0">
                <a:latin typeface="Times New Roman"/>
                <a:cs typeface="Times New Roman"/>
              </a:rPr>
              <a:t>i</a:t>
            </a:r>
            <a:r>
              <a:rPr sz="2400" i="1" baseline="-19097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spc="-25" dirty="0">
                <a:latin typeface="Lucida Sans Unicode"/>
                <a:cs typeface="Lucida Sans Unicode"/>
              </a:rPr>
              <a:t>*.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6300" y="3563620"/>
            <a:ext cx="8077834" cy="109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ts val="4210"/>
              </a:lnSpc>
              <a:spcBef>
                <a:spcPts val="90"/>
              </a:spcBef>
              <a:tabLst>
                <a:tab pos="1816100" algn="l"/>
                <a:tab pos="2135505" algn="l"/>
                <a:tab pos="3394075" algn="l"/>
                <a:tab pos="3713479" algn="l"/>
                <a:tab pos="6780530" algn="l"/>
                <a:tab pos="7100570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i="1" spc="-37" baseline="-19097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dirty="0">
                <a:latin typeface="Times New Roman"/>
                <a:cs typeface="Times New Roman"/>
              </a:rPr>
              <a:t>*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*,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i="1" spc="-37" baseline="-19097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i="1" spc="-1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*)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ts val="4210"/>
              </a:lnSpc>
              <a:tabLst>
                <a:tab pos="2141855" algn="l"/>
                <a:tab pos="2461895" algn="l"/>
                <a:tab pos="367665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Thus, </a:t>
            </a:r>
            <a:r>
              <a:rPr sz="2400" i="1" spc="-2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C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i="1" spc="-1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*)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16200" y="5337386"/>
            <a:ext cx="7886700" cy="3903979"/>
            <a:chOff x="2616200" y="5337386"/>
            <a:chExt cx="7886700" cy="3903979"/>
          </a:xfrm>
        </p:grpSpPr>
        <p:sp>
          <p:nvSpPr>
            <p:cNvPr id="10" name="object 10"/>
            <p:cNvSpPr/>
            <p:nvPr/>
          </p:nvSpPr>
          <p:spPr>
            <a:xfrm>
              <a:off x="2616200" y="5337386"/>
              <a:ext cx="7886700" cy="3903979"/>
            </a:xfrm>
            <a:custGeom>
              <a:avLst/>
              <a:gdLst/>
              <a:ahLst/>
              <a:cxnLst/>
              <a:rect l="l" t="t" r="r" b="b"/>
              <a:pathLst>
                <a:path w="7886700" h="3903979">
                  <a:moveTo>
                    <a:pt x="7886418" y="0"/>
                  </a:moveTo>
                  <a:lnTo>
                    <a:pt x="0" y="0"/>
                  </a:lnTo>
                  <a:lnTo>
                    <a:pt x="0" y="3903698"/>
                  </a:lnTo>
                  <a:lnTo>
                    <a:pt x="7886418" y="3903698"/>
                  </a:lnTo>
                  <a:lnTo>
                    <a:pt x="7886418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1234" y="5595196"/>
              <a:ext cx="6295808" cy="34309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112000" y="6083300"/>
            <a:ext cx="5492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½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(</a:t>
            </a:r>
            <a:r>
              <a:rPr sz="1600" i="1" spc="-20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48700" y="7454900"/>
            <a:ext cx="207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Times New Roman"/>
                <a:cs typeface="Times New Roman"/>
              </a:rPr>
              <a:t>c</a:t>
            </a:r>
            <a:r>
              <a:rPr sz="1800" i="1" spc="-37" baseline="-18518" dirty="0">
                <a:latin typeface="Times New Roman"/>
                <a:cs typeface="Times New Roman"/>
              </a:rPr>
              <a:t>i</a:t>
            </a:r>
            <a:endParaRPr sz="1800" baseline="-1851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91600" y="8356600"/>
            <a:ext cx="32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i="1" spc="-25" dirty="0">
                <a:latin typeface="Times New Roman"/>
                <a:cs typeface="Times New Roman"/>
              </a:rPr>
              <a:t>c</a:t>
            </a:r>
            <a:r>
              <a:rPr sz="1800" i="1" spc="-37" baseline="-18518" dirty="0">
                <a:latin typeface="Times New Roman"/>
                <a:cs typeface="Times New Roman"/>
              </a:rPr>
              <a:t>i</a:t>
            </a:r>
            <a:r>
              <a:rPr sz="1800" i="1" spc="-25" dirty="0">
                <a:latin typeface="Times New Roman"/>
                <a:cs typeface="Times New Roman"/>
              </a:rPr>
              <a:t>*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69200" y="8534400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73700" y="4275623"/>
            <a:ext cx="381000" cy="344805"/>
            <a:chOff x="5473700" y="4275623"/>
            <a:chExt cx="381000" cy="344805"/>
          </a:xfrm>
        </p:grpSpPr>
        <p:sp>
          <p:nvSpPr>
            <p:cNvPr id="17" name="object 17"/>
            <p:cNvSpPr/>
            <p:nvPr/>
          </p:nvSpPr>
          <p:spPr>
            <a:xfrm>
              <a:off x="5532212" y="4328314"/>
              <a:ext cx="309880" cy="279400"/>
            </a:xfrm>
            <a:custGeom>
              <a:avLst/>
              <a:gdLst/>
              <a:ahLst/>
              <a:cxnLst/>
              <a:rect l="l" t="t" r="r" b="b"/>
              <a:pathLst>
                <a:path w="309879" h="279400">
                  <a:moveTo>
                    <a:pt x="0" y="0"/>
                  </a:moveTo>
                  <a:lnTo>
                    <a:pt x="9437" y="8498"/>
                  </a:lnTo>
                  <a:lnTo>
                    <a:pt x="309787" y="278963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73700" y="4275623"/>
              <a:ext cx="131445" cy="127000"/>
            </a:xfrm>
            <a:custGeom>
              <a:avLst/>
              <a:gdLst/>
              <a:ahLst/>
              <a:cxnLst/>
              <a:rect l="l" t="t" r="r" b="b"/>
              <a:pathLst>
                <a:path w="131445" h="127000">
                  <a:moveTo>
                    <a:pt x="0" y="0"/>
                  </a:moveTo>
                  <a:lnTo>
                    <a:pt x="49806" y="126885"/>
                  </a:lnTo>
                  <a:lnTo>
                    <a:pt x="67950" y="61188"/>
                  </a:lnTo>
                  <a:lnTo>
                    <a:pt x="131392" y="362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800600" y="6108700"/>
            <a:ext cx="5492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½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(</a:t>
            </a:r>
            <a:r>
              <a:rPr sz="1600" i="1" spc="-20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35700" y="7683500"/>
            <a:ext cx="5492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½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(</a:t>
            </a:r>
            <a:r>
              <a:rPr sz="1600" i="1" spc="-20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22700" y="4622800"/>
            <a:ext cx="4904740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5600">
              <a:lnSpc>
                <a:spcPts val="1810"/>
              </a:lnSpc>
              <a:spcBef>
                <a:spcPts val="100"/>
              </a:spcBef>
              <a:tabLst>
                <a:tab pos="1864995" algn="l"/>
              </a:tabLst>
            </a:pPr>
            <a:r>
              <a:rPr sz="1600" spc="-50" dirty="0">
                <a:solidFill>
                  <a:srgbClr val="8D3124"/>
                </a:solidFill>
                <a:latin typeface="Symbol"/>
                <a:cs typeface="Symbol"/>
              </a:rPr>
              <a:t></a:t>
            </a:r>
            <a:r>
              <a:rPr sz="1600" dirty="0">
                <a:solidFill>
                  <a:srgbClr val="8D3124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r(C*)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since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</a:t>
            </a:r>
            <a:r>
              <a:rPr sz="1575" baseline="-18518" dirty="0">
                <a:solidFill>
                  <a:srgbClr val="8D3124"/>
                </a:solidFill>
                <a:latin typeface="Lucida Sans Unicode"/>
                <a:cs typeface="Lucida Sans Unicode"/>
              </a:rPr>
              <a:t>i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*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closest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center</a:t>
            </a:r>
            <a:endParaRPr sz="1600">
              <a:latin typeface="Lucida Sans Unicode"/>
              <a:cs typeface="Lucida Sans Unicode"/>
            </a:endParaRPr>
          </a:p>
          <a:p>
            <a:pPr marL="25400">
              <a:lnSpc>
                <a:spcPts val="1810"/>
              </a:lnSpc>
            </a:pP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Δ-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inequality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57507" y="4172087"/>
            <a:ext cx="121920" cy="642620"/>
            <a:chOff x="4357507" y="4172087"/>
            <a:chExt cx="121920" cy="642620"/>
          </a:xfrm>
        </p:grpSpPr>
        <p:sp>
          <p:nvSpPr>
            <p:cNvPr id="23" name="object 23"/>
            <p:cNvSpPr/>
            <p:nvPr/>
          </p:nvSpPr>
          <p:spPr>
            <a:xfrm>
              <a:off x="4418467" y="4250827"/>
              <a:ext cx="0" cy="563880"/>
            </a:xfrm>
            <a:custGeom>
              <a:avLst/>
              <a:gdLst/>
              <a:ahLst/>
              <a:cxnLst/>
              <a:rect l="l" t="t" r="r" b="b"/>
              <a:pathLst>
                <a:path h="563879">
                  <a:moveTo>
                    <a:pt x="0" y="0"/>
                  </a:moveTo>
                  <a:lnTo>
                    <a:pt x="0" y="12700"/>
                  </a:lnTo>
                  <a:lnTo>
                    <a:pt x="0" y="563396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7507" y="4172087"/>
              <a:ext cx="121920" cy="12191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068038" y="8293100"/>
            <a:ext cx="208279" cy="574040"/>
            <a:chOff x="3068038" y="8293100"/>
            <a:chExt cx="208279" cy="57404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9327" y="8293100"/>
              <a:ext cx="196426" cy="19642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68038" y="8672689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09">
                  <a:moveTo>
                    <a:pt x="194168" y="0"/>
                  </a:moveTo>
                  <a:lnTo>
                    <a:pt x="0" y="0"/>
                  </a:lnTo>
                  <a:lnTo>
                    <a:pt x="0" y="194168"/>
                  </a:lnTo>
                  <a:lnTo>
                    <a:pt x="194168" y="194168"/>
                  </a:lnTo>
                  <a:lnTo>
                    <a:pt x="194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467100" y="8105140"/>
            <a:ext cx="36449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8100">
              <a:lnSpc>
                <a:spcPct val="151000"/>
              </a:lnSpc>
              <a:spcBef>
                <a:spcPts val="100"/>
              </a:spcBef>
            </a:pPr>
            <a:r>
              <a:rPr sz="16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C* </a:t>
            </a:r>
            <a:r>
              <a:rPr sz="1600" spc="-20" dirty="0">
                <a:latin typeface="Lucida Sans Unicode"/>
                <a:cs typeface="Lucida Sans Unicode"/>
              </a:rPr>
              <a:t>site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70600" y="4254500"/>
            <a:ext cx="381000" cy="344805"/>
            <a:chOff x="6070600" y="4254500"/>
            <a:chExt cx="381000" cy="344805"/>
          </a:xfrm>
        </p:grpSpPr>
        <p:sp>
          <p:nvSpPr>
            <p:cNvPr id="30" name="object 30"/>
            <p:cNvSpPr/>
            <p:nvPr/>
          </p:nvSpPr>
          <p:spPr>
            <a:xfrm>
              <a:off x="6083300" y="4307190"/>
              <a:ext cx="309880" cy="279400"/>
            </a:xfrm>
            <a:custGeom>
              <a:avLst/>
              <a:gdLst/>
              <a:ahLst/>
              <a:cxnLst/>
              <a:rect l="l" t="t" r="r" b="b"/>
              <a:pathLst>
                <a:path w="309879" h="279400">
                  <a:moveTo>
                    <a:pt x="309787" y="0"/>
                  </a:moveTo>
                  <a:lnTo>
                    <a:pt x="300350" y="8498"/>
                  </a:lnTo>
                  <a:lnTo>
                    <a:pt x="0" y="278963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20207" y="4254500"/>
              <a:ext cx="131445" cy="127000"/>
            </a:xfrm>
            <a:custGeom>
              <a:avLst/>
              <a:gdLst/>
              <a:ahLst/>
              <a:cxnLst/>
              <a:rect l="l" t="t" r="r" b="b"/>
              <a:pathLst>
                <a:path w="131445" h="127000">
                  <a:moveTo>
                    <a:pt x="131392" y="0"/>
                  </a:moveTo>
                  <a:lnTo>
                    <a:pt x="0" y="36285"/>
                  </a:lnTo>
                  <a:lnTo>
                    <a:pt x="63442" y="61188"/>
                  </a:lnTo>
                  <a:lnTo>
                    <a:pt x="81586" y="126885"/>
                  </a:lnTo>
                  <a:lnTo>
                    <a:pt x="13139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Center</a:t>
            </a:r>
            <a:r>
              <a:rPr spc="30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3500"/>
            <a:ext cx="11158855" cy="328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0965" algn="l"/>
                <a:tab pos="8214359" algn="l"/>
                <a:tab pos="853376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Lemma.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centers.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r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C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2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*)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831215">
              <a:lnSpc>
                <a:spcPct val="131900"/>
              </a:lnSpc>
              <a:tabLst>
                <a:tab pos="16192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Greedy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selection problem.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tabLst>
                <a:tab pos="14198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Greedy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always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places centers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sites, but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still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within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factor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2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allowed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place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anywhere.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6642100"/>
            <a:ext cx="80365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6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Question.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hope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3/2-</a:t>
            </a:r>
            <a:r>
              <a:rPr sz="2400" spc="-35" dirty="0">
                <a:latin typeface="Lucida Sans Unicode"/>
                <a:cs typeface="Lucida Sans Unicode"/>
              </a:rPr>
              <a:t>approximation? </a:t>
            </a:r>
            <a:r>
              <a:rPr sz="2400" spc="-20" dirty="0">
                <a:latin typeface="Lucida Sans Unicode"/>
                <a:cs typeface="Lucida Sans Unicode"/>
              </a:rPr>
              <a:t>4/3?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85200" y="5105400"/>
            <a:ext cx="23698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e.g.,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points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the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plane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383143" y="4648200"/>
            <a:ext cx="360680" cy="462280"/>
            <a:chOff x="9383143" y="4648200"/>
            <a:chExt cx="360680" cy="462280"/>
          </a:xfrm>
        </p:grpSpPr>
        <p:sp>
          <p:nvSpPr>
            <p:cNvPr id="8" name="object 8"/>
            <p:cNvSpPr/>
            <p:nvPr/>
          </p:nvSpPr>
          <p:spPr>
            <a:xfrm>
              <a:off x="9431328" y="4710474"/>
              <a:ext cx="299720" cy="387350"/>
            </a:xfrm>
            <a:custGeom>
              <a:avLst/>
              <a:gdLst/>
              <a:ahLst/>
              <a:cxnLst/>
              <a:rect l="l" t="t" r="r" b="b"/>
              <a:pathLst>
                <a:path w="299720" h="387350">
                  <a:moveTo>
                    <a:pt x="0" y="0"/>
                  </a:moveTo>
                  <a:lnTo>
                    <a:pt x="7771" y="10044"/>
                  </a:lnTo>
                  <a:lnTo>
                    <a:pt x="299545" y="387129"/>
                  </a:lnTo>
                </a:path>
              </a:pathLst>
            </a:custGeom>
            <a:ln w="25399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83143" y="4648200"/>
              <a:ext cx="123189" cy="133985"/>
            </a:xfrm>
            <a:custGeom>
              <a:avLst/>
              <a:gdLst/>
              <a:ahLst/>
              <a:cxnLst/>
              <a:rect l="l" t="t" r="r" b="b"/>
              <a:pathLst>
                <a:path w="123190" h="133985">
                  <a:moveTo>
                    <a:pt x="0" y="0"/>
                  </a:moveTo>
                  <a:lnTo>
                    <a:pt x="26396" y="133729"/>
                  </a:lnTo>
                  <a:lnTo>
                    <a:pt x="55957" y="72318"/>
                  </a:lnTo>
                  <a:lnTo>
                    <a:pt x="122822" y="59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Dominating</a:t>
            </a:r>
            <a:r>
              <a:rPr spc="20" dirty="0"/>
              <a:t> </a:t>
            </a:r>
            <a:r>
              <a:rPr dirty="0"/>
              <a:t>set</a:t>
            </a:r>
            <a:r>
              <a:rPr spc="25" dirty="0"/>
              <a:t> </a:t>
            </a:r>
            <a:r>
              <a:rPr dirty="0"/>
              <a:t>reduces</a:t>
            </a:r>
            <a:r>
              <a:rPr spc="20" dirty="0"/>
              <a:t> </a:t>
            </a:r>
            <a:r>
              <a:rPr spc="50" dirty="0"/>
              <a:t>to</a:t>
            </a:r>
            <a:r>
              <a:rPr spc="25" dirty="0"/>
              <a:t> </a:t>
            </a:r>
            <a:r>
              <a:rPr dirty="0"/>
              <a:t>center</a:t>
            </a:r>
            <a:r>
              <a:rPr spc="25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0687050" cy="3440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22225">
              <a:lnSpc>
                <a:spcPct val="131900"/>
              </a:lnSpc>
              <a:spcBef>
                <a:spcPts val="100"/>
              </a:spcBef>
              <a:tabLst>
                <a:tab pos="16573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Unless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b="1" dirty="0">
                <a:latin typeface="Tahoma"/>
                <a:cs typeface="Tahoma"/>
              </a:rPr>
              <a:t>P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=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b="1" dirty="0">
                <a:latin typeface="Tahoma"/>
                <a:cs typeface="Tahoma"/>
              </a:rPr>
              <a:t>NP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ρ-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selection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ρ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&lt;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2.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 marR="499745">
              <a:lnSpc>
                <a:spcPct val="131900"/>
              </a:lnSpc>
              <a:spcBef>
                <a:spcPts val="5"/>
              </a:spcBef>
              <a:tabLst>
                <a:tab pos="6197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how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could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 ε)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approximation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for </a:t>
            </a:r>
            <a:r>
              <a:rPr sz="2400" spc="-45" dirty="0">
                <a:latin typeface="Lucida Sans Unicode"/>
                <a:cs typeface="Lucida Sans Unicode"/>
              </a:rPr>
              <a:t>C</a:t>
            </a:r>
            <a:r>
              <a:rPr sz="1900" spc="-45" dirty="0">
                <a:latin typeface="Lucida Sans Unicode"/>
                <a:cs typeface="Lucida Sans Unicode"/>
              </a:rPr>
              <a:t>ENTER</a:t>
            </a:r>
            <a:r>
              <a:rPr sz="2400" spc="-45" dirty="0">
                <a:latin typeface="Lucida Sans Unicode"/>
                <a:cs typeface="Lucida Sans Unicode"/>
              </a:rPr>
              <a:t>-</a:t>
            </a:r>
            <a:r>
              <a:rPr sz="2400" dirty="0">
                <a:latin typeface="Lucida Sans Unicode"/>
                <a:cs typeface="Lucida Sans Unicode"/>
              </a:rPr>
              <a:t>S</a:t>
            </a:r>
            <a:r>
              <a:rPr sz="1900" dirty="0">
                <a:latin typeface="Lucida Sans Unicode"/>
                <a:cs typeface="Lucida Sans Unicode"/>
              </a:rPr>
              <a:t>ELECTION</a:t>
            </a:r>
            <a:r>
              <a:rPr sz="1900" spc="1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D</a:t>
            </a:r>
            <a:r>
              <a:rPr sz="1900" spc="-30" dirty="0">
                <a:latin typeface="Lucida Sans Unicode"/>
                <a:cs typeface="Lucida Sans Unicode"/>
              </a:rPr>
              <a:t>OMINATING</a:t>
            </a:r>
            <a:r>
              <a:rPr sz="2400" spc="-3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S</a:t>
            </a:r>
            <a:r>
              <a:rPr sz="1900" spc="-10" dirty="0">
                <a:latin typeface="Lucida Sans Unicode"/>
                <a:cs typeface="Lucida Sans Unicode"/>
              </a:rPr>
              <a:t>ET</a:t>
            </a:r>
            <a:r>
              <a:rPr sz="1900" spc="1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679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 </a:t>
            </a:r>
            <a:r>
              <a:rPr sz="2400" dirty="0">
                <a:latin typeface="Times New Roman"/>
                <a:cs typeface="Times New Roman"/>
              </a:rPr>
              <a:t>= 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Lucida Sans Unicode"/>
                <a:cs typeface="Lucida Sans Unicode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</a:t>
            </a:r>
            <a:r>
              <a:rPr sz="2400" spc="-30" dirty="0">
                <a:latin typeface="Lucida Sans Unicode"/>
                <a:cs typeface="Lucida Sans Unicode"/>
              </a:rPr>
              <a:t>D</a:t>
            </a:r>
            <a:r>
              <a:rPr sz="1900" spc="-30" dirty="0">
                <a:latin typeface="Lucida Sans Unicode"/>
                <a:cs typeface="Lucida Sans Unicode"/>
              </a:rPr>
              <a:t>OMINATING</a:t>
            </a:r>
            <a:r>
              <a:rPr sz="2400" spc="-30" dirty="0">
                <a:latin typeface="Lucida Sans Unicode"/>
                <a:cs typeface="Lucida Sans Unicode"/>
              </a:rPr>
              <a:t>-</a:t>
            </a:r>
            <a:r>
              <a:rPr sz="2400" spc="-20" dirty="0">
                <a:latin typeface="Lucida Sans Unicode"/>
                <a:cs typeface="Lucida Sans Unicode"/>
              </a:rPr>
              <a:t>S</a:t>
            </a:r>
            <a:r>
              <a:rPr sz="1900" spc="-20" dirty="0">
                <a:latin typeface="Lucida Sans Unicode"/>
                <a:cs typeface="Lucida Sans Unicode"/>
              </a:rPr>
              <a:t>ET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Construct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925" dirty="0">
                <a:latin typeface="Times New Roman"/>
                <a:cs typeface="Times New Roman"/>
              </a:rPr>
              <a:t>G</a:t>
            </a:r>
            <a:r>
              <a:rPr sz="2400" spc="-925" dirty="0">
                <a:latin typeface="Symbol"/>
                <a:cs typeface="Symbol"/>
              </a:rPr>
              <a:t>ʹ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C</a:t>
            </a:r>
            <a:r>
              <a:rPr sz="1900" spc="-45" dirty="0">
                <a:latin typeface="Lucida Sans Unicode"/>
                <a:cs typeface="Lucida Sans Unicode"/>
              </a:rPr>
              <a:t>ENTER</a:t>
            </a:r>
            <a:r>
              <a:rPr sz="2400" spc="-45" dirty="0">
                <a:latin typeface="Lucida Sans Unicode"/>
                <a:cs typeface="Lucida Sans Unicode"/>
              </a:rPr>
              <a:t>-</a:t>
            </a:r>
            <a:r>
              <a:rPr sz="2400" dirty="0">
                <a:latin typeface="Lucida Sans Unicode"/>
                <a:cs typeface="Lucida Sans Unicode"/>
              </a:rPr>
              <a:t>S</a:t>
            </a:r>
            <a:r>
              <a:rPr sz="1900" dirty="0">
                <a:latin typeface="Lucida Sans Unicode"/>
                <a:cs typeface="Lucida Sans Unicode"/>
              </a:rPr>
              <a:t>ELECTION</a:t>
            </a:r>
            <a:r>
              <a:rPr sz="1900" spc="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sites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distances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4500" y="4711700"/>
            <a:ext cx="3123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000" y="4556759"/>
            <a:ext cx="124460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4500" y="5194300"/>
            <a:ext cx="3123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dist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5494020"/>
            <a:ext cx="11209655" cy="2504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4210"/>
              </a:lnSpc>
              <a:spcBef>
                <a:spcPts val="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Note</a:t>
            </a:r>
            <a:r>
              <a:rPr sz="2400" spc="-1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i="1" spc="-925" dirty="0">
                <a:latin typeface="Times New Roman"/>
                <a:cs typeface="Times New Roman"/>
              </a:rPr>
              <a:t>G</a:t>
            </a:r>
            <a:r>
              <a:rPr sz="2400" spc="-925" dirty="0">
                <a:latin typeface="Symbol"/>
                <a:cs typeface="Symbol"/>
              </a:rPr>
              <a:t>ʹ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satisfies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triangle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inequality.</a:t>
            </a:r>
            <a:endParaRPr sz="2400">
              <a:latin typeface="Lucida Sans Unicode"/>
              <a:cs typeface="Lucida Sans Unicode"/>
            </a:endParaRPr>
          </a:p>
          <a:p>
            <a:pPr marL="38100">
              <a:lnSpc>
                <a:spcPts val="380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dominating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centers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*)</a:t>
            </a:r>
            <a:r>
              <a:rPr sz="2400" spc="-15" dirty="0">
                <a:latin typeface="Times New Roman"/>
                <a:cs typeface="Times New Roman"/>
              </a:rPr>
              <a:t> =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495300" marR="579755" indent="-457200">
              <a:lnSpc>
                <a:spcPts val="3800"/>
              </a:lnSpc>
              <a:spcBef>
                <a:spcPts val="220"/>
              </a:spcBef>
              <a:tabLst>
                <a:tab pos="697357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Thus,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dominating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ε)</a:t>
            </a:r>
            <a:r>
              <a:rPr sz="2400" spc="-10" dirty="0">
                <a:latin typeface="Lucida Sans Unicode"/>
                <a:cs typeface="Lucida Sans Unicode"/>
              </a:rPr>
              <a:t>-approximation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C</a:t>
            </a:r>
            <a:r>
              <a:rPr sz="1900" spc="-45" dirty="0">
                <a:latin typeface="Lucida Sans Unicode"/>
                <a:cs typeface="Lucida Sans Unicode"/>
              </a:rPr>
              <a:t>ENTER</a:t>
            </a:r>
            <a:r>
              <a:rPr sz="2400" spc="-45" dirty="0">
                <a:latin typeface="Lucida Sans Unicode"/>
                <a:cs typeface="Lucida Sans Unicode"/>
              </a:rPr>
              <a:t>-</a:t>
            </a:r>
            <a:r>
              <a:rPr sz="2400" dirty="0">
                <a:latin typeface="Lucida Sans Unicode"/>
                <a:cs typeface="Lucida Sans Unicode"/>
              </a:rPr>
              <a:t>S</a:t>
            </a:r>
            <a:r>
              <a:rPr sz="1900" dirty="0">
                <a:latin typeface="Lucida Sans Unicode"/>
                <a:cs typeface="Lucida Sans Unicode"/>
              </a:rPr>
              <a:t>ELECTION</a:t>
            </a:r>
            <a:r>
              <a:rPr sz="1900" spc="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would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*)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Lucida Sans Unicode"/>
                <a:cs typeface="Lucida Sans Unicode"/>
              </a:rPr>
              <a:t>since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cannot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distance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2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6712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700" algn="l"/>
                <a:tab pos="4297680" algn="l"/>
              </a:tabLst>
            </a:pPr>
            <a:r>
              <a:rPr sz="3600" b="1" cap="small" spc="-25" dirty="0">
                <a:latin typeface="Tahoma"/>
                <a:cs typeface="Tahoma"/>
              </a:rPr>
              <a:t>11.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50" dirty="0">
                <a:latin typeface="Tahoma"/>
                <a:cs typeface="Tahoma"/>
              </a:rPr>
              <a:t>Approximation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04" dirty="0">
                <a:latin typeface="Tahoma"/>
                <a:cs typeface="Tahoma"/>
              </a:rPr>
              <a:t>Algorithms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195" dirty="0"/>
              <a:t>load</a:t>
            </a:r>
            <a:r>
              <a:rPr sz="3000" spc="-170" dirty="0"/>
              <a:t> </a:t>
            </a:r>
            <a:r>
              <a:rPr sz="3000" spc="-95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5" dirty="0"/>
              <a:t>center</a:t>
            </a:r>
            <a:r>
              <a:rPr sz="3000" spc="-175" dirty="0"/>
              <a:t> </a:t>
            </a:r>
            <a:r>
              <a:rPr sz="3000" spc="-305" dirty="0"/>
              <a:t>selection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10" dirty="0">
                <a:solidFill>
                  <a:srgbClr val="000000"/>
                </a:solidFill>
              </a:rPr>
              <a:t>pricing</a:t>
            </a:r>
            <a:r>
              <a:rPr sz="3000" spc="-160" dirty="0">
                <a:solidFill>
                  <a:srgbClr val="000000"/>
                </a:solidFill>
              </a:rPr>
              <a:t> </a:t>
            </a:r>
            <a:r>
              <a:rPr sz="3000" spc="-390" dirty="0">
                <a:solidFill>
                  <a:srgbClr val="000000"/>
                </a:solidFill>
              </a:rPr>
              <a:t>method:</a:t>
            </a:r>
            <a:r>
              <a:rPr sz="3000" spc="-155" dirty="0">
                <a:solidFill>
                  <a:srgbClr val="000000"/>
                </a:solidFill>
              </a:rPr>
              <a:t> </a:t>
            </a:r>
            <a:r>
              <a:rPr sz="3000" spc="-295" dirty="0">
                <a:solidFill>
                  <a:srgbClr val="000000"/>
                </a:solidFill>
              </a:rPr>
              <a:t>weighted</a:t>
            </a:r>
            <a:r>
              <a:rPr sz="3000" spc="-155" dirty="0">
                <a:solidFill>
                  <a:srgbClr val="000000"/>
                </a:solidFill>
              </a:rPr>
              <a:t> </a:t>
            </a:r>
            <a:r>
              <a:rPr sz="3000" spc="-355" dirty="0">
                <a:solidFill>
                  <a:srgbClr val="000000"/>
                </a:solidFill>
              </a:rPr>
              <a:t>vertex</a:t>
            </a:r>
            <a:r>
              <a:rPr sz="3000" spc="-155" dirty="0">
                <a:solidFill>
                  <a:srgbClr val="000000"/>
                </a:solidFill>
              </a:rPr>
              <a:t> </a:t>
            </a:r>
            <a:r>
              <a:rPr sz="3000" spc="-310" dirty="0">
                <a:solidFill>
                  <a:srgbClr val="000000"/>
                </a:solidFill>
              </a:rPr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440" dirty="0"/>
              <a:t>LP</a:t>
            </a:r>
            <a:r>
              <a:rPr sz="3000" spc="-170" dirty="0"/>
              <a:t> </a:t>
            </a:r>
            <a:r>
              <a:rPr sz="3000" spc="-280" dirty="0"/>
              <a:t>rounding:</a:t>
            </a:r>
            <a:r>
              <a:rPr sz="3000" spc="-170" dirty="0"/>
              <a:t> </a:t>
            </a:r>
            <a:r>
              <a:rPr sz="3000" spc="-295" dirty="0"/>
              <a:t>weighted</a:t>
            </a:r>
            <a:r>
              <a:rPr sz="3000" spc="-170" dirty="0"/>
              <a:t> </a:t>
            </a:r>
            <a:r>
              <a:rPr sz="3000" spc="-355" dirty="0"/>
              <a:t>vertex</a:t>
            </a:r>
            <a:r>
              <a:rPr sz="3000" spc="-170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29" dirty="0"/>
              <a:t>generalized</a:t>
            </a:r>
            <a:r>
              <a:rPr sz="3000" spc="-130" dirty="0"/>
              <a:t> </a:t>
            </a:r>
            <a:r>
              <a:rPr sz="3000" spc="-195" dirty="0"/>
              <a:t>load</a:t>
            </a:r>
            <a:r>
              <a:rPr sz="3000" spc="-125" dirty="0"/>
              <a:t> </a:t>
            </a:r>
            <a:r>
              <a:rPr sz="3000" spc="-90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/>
              <a:t>knapsack</a:t>
            </a:r>
            <a:r>
              <a:rPr sz="3000" spc="-155" dirty="0"/>
              <a:t> </a:t>
            </a:r>
            <a:r>
              <a:rPr sz="3000" spc="-295" dirty="0"/>
              <a:t>problem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146300" y="6921500"/>
            <a:ext cx="145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70" dirty="0">
                <a:solidFill>
                  <a:srgbClr val="606060"/>
                </a:solidFill>
                <a:latin typeface="Tahoma"/>
                <a:cs typeface="Tahoma"/>
              </a:rPr>
              <a:t>11.4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370" dirty="0"/>
              <a:t> </a:t>
            </a:r>
            <a:r>
              <a:rPr dirty="0"/>
              <a:t>vertex</a:t>
            </a:r>
            <a:r>
              <a:rPr spc="375" dirty="0"/>
              <a:t> </a:t>
            </a:r>
            <a:r>
              <a:rPr spc="-10" dirty="0"/>
              <a:t>cover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11127740" cy="243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9550">
              <a:lnSpc>
                <a:spcPct val="131900"/>
              </a:lnSpc>
              <a:spcBef>
                <a:spcPts val="100"/>
              </a:spcBef>
              <a:tabLst>
                <a:tab pos="175450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Definition.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 </a:t>
            </a:r>
            <a:r>
              <a:rPr sz="2400" i="1" dirty="0">
                <a:latin typeface="Times New Roman"/>
                <a:cs typeface="Times New Roman"/>
              </a:rPr>
              <a:t>G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 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 cover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 set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that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spcBef>
                <a:spcPts val="5"/>
              </a:spcBef>
              <a:tabLst>
                <a:tab pos="36201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Weighted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vertex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cover.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weights,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vertex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minimum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weight.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19735" y="4612393"/>
            <a:ext cx="450215" cy="450215"/>
            <a:chOff x="5219735" y="4612393"/>
            <a:chExt cx="450215" cy="450215"/>
          </a:xfrm>
        </p:grpSpPr>
        <p:sp>
          <p:nvSpPr>
            <p:cNvPr id="6" name="object 6"/>
            <p:cNvSpPr/>
            <p:nvPr/>
          </p:nvSpPr>
          <p:spPr>
            <a:xfrm>
              <a:off x="5224497" y="4617155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220133" y="0"/>
                  </a:moveTo>
                  <a:lnTo>
                    <a:pt x="178089" y="4029"/>
                  </a:lnTo>
                  <a:lnTo>
                    <a:pt x="137297" y="16118"/>
                  </a:lnTo>
                  <a:lnTo>
                    <a:pt x="99008" y="36267"/>
                  </a:lnTo>
                  <a:lnTo>
                    <a:pt x="64475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7"/>
                  </a:lnTo>
                  <a:lnTo>
                    <a:pt x="16118" y="302969"/>
                  </a:lnTo>
                  <a:lnTo>
                    <a:pt x="36267" y="341257"/>
                  </a:lnTo>
                  <a:lnTo>
                    <a:pt x="64475" y="375790"/>
                  </a:lnTo>
                  <a:lnTo>
                    <a:pt x="99008" y="403998"/>
                  </a:lnTo>
                  <a:lnTo>
                    <a:pt x="137297" y="424147"/>
                  </a:lnTo>
                  <a:lnTo>
                    <a:pt x="178089" y="436236"/>
                  </a:lnTo>
                  <a:lnTo>
                    <a:pt x="220133" y="440266"/>
                  </a:lnTo>
                  <a:lnTo>
                    <a:pt x="262177" y="436236"/>
                  </a:lnTo>
                  <a:lnTo>
                    <a:pt x="302969" y="424147"/>
                  </a:lnTo>
                  <a:lnTo>
                    <a:pt x="341257" y="403998"/>
                  </a:lnTo>
                  <a:lnTo>
                    <a:pt x="375790" y="375790"/>
                  </a:lnTo>
                  <a:lnTo>
                    <a:pt x="403998" y="341257"/>
                  </a:lnTo>
                  <a:lnTo>
                    <a:pt x="424147" y="302969"/>
                  </a:lnTo>
                  <a:lnTo>
                    <a:pt x="436236" y="262177"/>
                  </a:lnTo>
                  <a:lnTo>
                    <a:pt x="440266" y="220133"/>
                  </a:lnTo>
                  <a:lnTo>
                    <a:pt x="436236" y="178089"/>
                  </a:lnTo>
                  <a:lnTo>
                    <a:pt x="424147" y="137297"/>
                  </a:lnTo>
                  <a:lnTo>
                    <a:pt x="403998" y="99008"/>
                  </a:lnTo>
                  <a:lnTo>
                    <a:pt x="375790" y="64475"/>
                  </a:lnTo>
                  <a:lnTo>
                    <a:pt x="341257" y="36267"/>
                  </a:lnTo>
                  <a:lnTo>
                    <a:pt x="302969" y="16118"/>
                  </a:lnTo>
                  <a:lnTo>
                    <a:pt x="262177" y="4029"/>
                  </a:lnTo>
                  <a:lnTo>
                    <a:pt x="22013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24498" y="4617156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84800" y="46609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27637" y="6586537"/>
            <a:ext cx="450215" cy="450215"/>
            <a:chOff x="5227637" y="6586537"/>
            <a:chExt cx="450215" cy="450215"/>
          </a:xfrm>
        </p:grpSpPr>
        <p:sp>
          <p:nvSpPr>
            <p:cNvPr id="10" name="object 10"/>
            <p:cNvSpPr/>
            <p:nvPr/>
          </p:nvSpPr>
          <p:spPr>
            <a:xfrm>
              <a:off x="5232399" y="659129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90">
                  <a:moveTo>
                    <a:pt x="220133" y="0"/>
                  </a:moveTo>
                  <a:lnTo>
                    <a:pt x="178089" y="4029"/>
                  </a:lnTo>
                  <a:lnTo>
                    <a:pt x="137297" y="16118"/>
                  </a:lnTo>
                  <a:lnTo>
                    <a:pt x="99008" y="36267"/>
                  </a:lnTo>
                  <a:lnTo>
                    <a:pt x="64475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8"/>
                  </a:lnTo>
                  <a:lnTo>
                    <a:pt x="16118" y="302970"/>
                  </a:lnTo>
                  <a:lnTo>
                    <a:pt x="36267" y="341259"/>
                  </a:lnTo>
                  <a:lnTo>
                    <a:pt x="64475" y="375792"/>
                  </a:lnTo>
                  <a:lnTo>
                    <a:pt x="99008" y="403999"/>
                  </a:lnTo>
                  <a:lnTo>
                    <a:pt x="137297" y="424148"/>
                  </a:lnTo>
                  <a:lnTo>
                    <a:pt x="178089" y="436237"/>
                  </a:lnTo>
                  <a:lnTo>
                    <a:pt x="220133" y="440266"/>
                  </a:lnTo>
                  <a:lnTo>
                    <a:pt x="262178" y="436237"/>
                  </a:lnTo>
                  <a:lnTo>
                    <a:pt x="302970" y="424148"/>
                  </a:lnTo>
                  <a:lnTo>
                    <a:pt x="341259" y="403999"/>
                  </a:lnTo>
                  <a:lnTo>
                    <a:pt x="375792" y="375792"/>
                  </a:lnTo>
                  <a:lnTo>
                    <a:pt x="403999" y="341259"/>
                  </a:lnTo>
                  <a:lnTo>
                    <a:pt x="424148" y="302970"/>
                  </a:lnTo>
                  <a:lnTo>
                    <a:pt x="436237" y="262178"/>
                  </a:lnTo>
                  <a:lnTo>
                    <a:pt x="440266" y="220133"/>
                  </a:lnTo>
                  <a:lnTo>
                    <a:pt x="436237" y="178089"/>
                  </a:lnTo>
                  <a:lnTo>
                    <a:pt x="424148" y="137297"/>
                  </a:lnTo>
                  <a:lnTo>
                    <a:pt x="403999" y="99008"/>
                  </a:lnTo>
                  <a:lnTo>
                    <a:pt x="375792" y="64475"/>
                  </a:lnTo>
                  <a:lnTo>
                    <a:pt x="341259" y="36267"/>
                  </a:lnTo>
                  <a:lnTo>
                    <a:pt x="302970" y="16118"/>
                  </a:lnTo>
                  <a:lnTo>
                    <a:pt x="262178" y="4029"/>
                  </a:lnTo>
                  <a:lnTo>
                    <a:pt x="22013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32400" y="6591300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90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97500" y="66294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9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44268" y="4612393"/>
            <a:ext cx="450215" cy="450215"/>
            <a:chOff x="2544268" y="4612393"/>
            <a:chExt cx="450215" cy="450215"/>
          </a:xfrm>
        </p:grpSpPr>
        <p:sp>
          <p:nvSpPr>
            <p:cNvPr id="14" name="object 14"/>
            <p:cNvSpPr/>
            <p:nvPr/>
          </p:nvSpPr>
          <p:spPr>
            <a:xfrm>
              <a:off x="2549030" y="4617155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220133" y="0"/>
                  </a:moveTo>
                  <a:lnTo>
                    <a:pt x="178089" y="4029"/>
                  </a:lnTo>
                  <a:lnTo>
                    <a:pt x="137297" y="16118"/>
                  </a:lnTo>
                  <a:lnTo>
                    <a:pt x="99008" y="36267"/>
                  </a:lnTo>
                  <a:lnTo>
                    <a:pt x="64475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7"/>
                  </a:lnTo>
                  <a:lnTo>
                    <a:pt x="16118" y="302969"/>
                  </a:lnTo>
                  <a:lnTo>
                    <a:pt x="36267" y="341257"/>
                  </a:lnTo>
                  <a:lnTo>
                    <a:pt x="64475" y="375790"/>
                  </a:lnTo>
                  <a:lnTo>
                    <a:pt x="99008" y="403998"/>
                  </a:lnTo>
                  <a:lnTo>
                    <a:pt x="137297" y="424147"/>
                  </a:lnTo>
                  <a:lnTo>
                    <a:pt x="178089" y="436236"/>
                  </a:lnTo>
                  <a:lnTo>
                    <a:pt x="220133" y="440266"/>
                  </a:lnTo>
                  <a:lnTo>
                    <a:pt x="262178" y="436236"/>
                  </a:lnTo>
                  <a:lnTo>
                    <a:pt x="302970" y="424147"/>
                  </a:lnTo>
                  <a:lnTo>
                    <a:pt x="341259" y="403998"/>
                  </a:lnTo>
                  <a:lnTo>
                    <a:pt x="375792" y="375790"/>
                  </a:lnTo>
                  <a:lnTo>
                    <a:pt x="404000" y="341257"/>
                  </a:lnTo>
                  <a:lnTo>
                    <a:pt x="424148" y="302969"/>
                  </a:lnTo>
                  <a:lnTo>
                    <a:pt x="436237" y="262177"/>
                  </a:lnTo>
                  <a:lnTo>
                    <a:pt x="440267" y="220133"/>
                  </a:lnTo>
                  <a:lnTo>
                    <a:pt x="436237" y="178089"/>
                  </a:lnTo>
                  <a:lnTo>
                    <a:pt x="424148" y="137297"/>
                  </a:lnTo>
                  <a:lnTo>
                    <a:pt x="404000" y="99008"/>
                  </a:lnTo>
                  <a:lnTo>
                    <a:pt x="375792" y="64475"/>
                  </a:lnTo>
                  <a:lnTo>
                    <a:pt x="341259" y="36267"/>
                  </a:lnTo>
                  <a:lnTo>
                    <a:pt x="302970" y="16118"/>
                  </a:lnTo>
                  <a:lnTo>
                    <a:pt x="262178" y="4029"/>
                  </a:lnTo>
                  <a:lnTo>
                    <a:pt x="22013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49031" y="4617156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89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717800" y="46609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57815" y="4824588"/>
            <a:ext cx="2726690" cy="2212340"/>
            <a:chOff x="2557815" y="4824588"/>
            <a:chExt cx="2726690" cy="2212340"/>
          </a:xfrm>
        </p:grpSpPr>
        <p:sp>
          <p:nvSpPr>
            <p:cNvPr id="18" name="object 18"/>
            <p:cNvSpPr/>
            <p:nvPr/>
          </p:nvSpPr>
          <p:spPr>
            <a:xfrm>
              <a:off x="2993928" y="4837288"/>
              <a:ext cx="2226310" cy="0"/>
            </a:xfrm>
            <a:custGeom>
              <a:avLst/>
              <a:gdLst/>
              <a:ahLst/>
              <a:cxnLst/>
              <a:rect l="l" t="t" r="r" b="b"/>
              <a:pathLst>
                <a:path w="2226310">
                  <a:moveTo>
                    <a:pt x="0" y="0"/>
                  </a:moveTo>
                  <a:lnTo>
                    <a:pt x="0" y="0"/>
                  </a:lnTo>
                  <a:lnTo>
                    <a:pt x="2175220" y="0"/>
                  </a:lnTo>
                  <a:lnTo>
                    <a:pt x="2225807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50249" y="4970511"/>
              <a:ext cx="2321560" cy="1708150"/>
            </a:xfrm>
            <a:custGeom>
              <a:avLst/>
              <a:gdLst/>
              <a:ahLst/>
              <a:cxnLst/>
              <a:rect l="l" t="t" r="r" b="b"/>
              <a:pathLst>
                <a:path w="2321560" h="1708150">
                  <a:moveTo>
                    <a:pt x="0" y="0"/>
                  </a:moveTo>
                  <a:lnTo>
                    <a:pt x="2321050" y="170758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62577" y="659129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90">
                  <a:moveTo>
                    <a:pt x="220133" y="0"/>
                  </a:moveTo>
                  <a:lnTo>
                    <a:pt x="178089" y="4029"/>
                  </a:lnTo>
                  <a:lnTo>
                    <a:pt x="137297" y="16118"/>
                  </a:lnTo>
                  <a:lnTo>
                    <a:pt x="99008" y="36267"/>
                  </a:lnTo>
                  <a:lnTo>
                    <a:pt x="64475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8"/>
                  </a:lnTo>
                  <a:lnTo>
                    <a:pt x="16118" y="302970"/>
                  </a:lnTo>
                  <a:lnTo>
                    <a:pt x="36267" y="341259"/>
                  </a:lnTo>
                  <a:lnTo>
                    <a:pt x="64475" y="375792"/>
                  </a:lnTo>
                  <a:lnTo>
                    <a:pt x="99008" y="403999"/>
                  </a:lnTo>
                  <a:lnTo>
                    <a:pt x="137297" y="424148"/>
                  </a:lnTo>
                  <a:lnTo>
                    <a:pt x="178089" y="436237"/>
                  </a:lnTo>
                  <a:lnTo>
                    <a:pt x="220133" y="440266"/>
                  </a:lnTo>
                  <a:lnTo>
                    <a:pt x="262177" y="436237"/>
                  </a:lnTo>
                  <a:lnTo>
                    <a:pt x="302969" y="424148"/>
                  </a:lnTo>
                  <a:lnTo>
                    <a:pt x="341257" y="403999"/>
                  </a:lnTo>
                  <a:lnTo>
                    <a:pt x="375790" y="375792"/>
                  </a:lnTo>
                  <a:lnTo>
                    <a:pt x="403998" y="341259"/>
                  </a:lnTo>
                  <a:lnTo>
                    <a:pt x="424147" y="302970"/>
                  </a:lnTo>
                  <a:lnTo>
                    <a:pt x="436236" y="262178"/>
                  </a:lnTo>
                  <a:lnTo>
                    <a:pt x="440266" y="220133"/>
                  </a:lnTo>
                  <a:lnTo>
                    <a:pt x="436236" y="178089"/>
                  </a:lnTo>
                  <a:lnTo>
                    <a:pt x="424147" y="137297"/>
                  </a:lnTo>
                  <a:lnTo>
                    <a:pt x="403998" y="99008"/>
                  </a:lnTo>
                  <a:lnTo>
                    <a:pt x="375790" y="64475"/>
                  </a:lnTo>
                  <a:lnTo>
                    <a:pt x="341257" y="36267"/>
                  </a:lnTo>
                  <a:lnTo>
                    <a:pt x="302969" y="16118"/>
                  </a:lnTo>
                  <a:lnTo>
                    <a:pt x="262177" y="4029"/>
                  </a:lnTo>
                  <a:lnTo>
                    <a:pt x="22013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62578" y="659129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89" h="440690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30500" y="66294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58006" y="5049348"/>
            <a:ext cx="2706370" cy="1774825"/>
            <a:chOff x="2758006" y="5049348"/>
            <a:chExt cx="2706370" cy="1774825"/>
          </a:xfrm>
        </p:grpSpPr>
        <p:sp>
          <p:nvSpPr>
            <p:cNvPr id="24" name="object 24"/>
            <p:cNvSpPr/>
            <p:nvPr/>
          </p:nvSpPr>
          <p:spPr>
            <a:xfrm>
              <a:off x="3007474" y="6811432"/>
              <a:ext cx="2220595" cy="0"/>
            </a:xfrm>
            <a:custGeom>
              <a:avLst/>
              <a:gdLst/>
              <a:ahLst/>
              <a:cxnLst/>
              <a:rect l="l" t="t" r="r" b="b"/>
              <a:pathLst>
                <a:path w="2220595">
                  <a:moveTo>
                    <a:pt x="0" y="0"/>
                  </a:moveTo>
                  <a:lnTo>
                    <a:pt x="0" y="0"/>
                  </a:lnTo>
                  <a:lnTo>
                    <a:pt x="2169704" y="0"/>
                  </a:lnTo>
                  <a:lnTo>
                    <a:pt x="2220163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45531" y="5062050"/>
              <a:ext cx="6350" cy="1524635"/>
            </a:xfrm>
            <a:custGeom>
              <a:avLst/>
              <a:gdLst/>
              <a:ahLst/>
              <a:cxnLst/>
              <a:rect l="l" t="t" r="r" b="b"/>
              <a:pathLst>
                <a:path w="6350" h="1524634">
                  <a:moveTo>
                    <a:pt x="0" y="0"/>
                  </a:moveTo>
                  <a:lnTo>
                    <a:pt x="6102" y="152448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70706" y="5062048"/>
              <a:ext cx="10795" cy="1524635"/>
            </a:xfrm>
            <a:custGeom>
              <a:avLst/>
              <a:gdLst/>
              <a:ahLst/>
              <a:cxnLst/>
              <a:rect l="l" t="t" r="r" b="b"/>
              <a:pathLst>
                <a:path w="10794" h="1524634">
                  <a:moveTo>
                    <a:pt x="0" y="0"/>
                  </a:moveTo>
                  <a:lnTo>
                    <a:pt x="10461" y="152449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0220713" y="4612393"/>
            <a:ext cx="450215" cy="450215"/>
            <a:chOff x="10220713" y="4612393"/>
            <a:chExt cx="450215" cy="450215"/>
          </a:xfrm>
        </p:grpSpPr>
        <p:sp>
          <p:nvSpPr>
            <p:cNvPr id="28" name="object 28"/>
            <p:cNvSpPr/>
            <p:nvPr/>
          </p:nvSpPr>
          <p:spPr>
            <a:xfrm>
              <a:off x="10225475" y="4617155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220133" y="0"/>
                  </a:moveTo>
                  <a:lnTo>
                    <a:pt x="178089" y="4029"/>
                  </a:lnTo>
                  <a:lnTo>
                    <a:pt x="137297" y="16118"/>
                  </a:lnTo>
                  <a:lnTo>
                    <a:pt x="99008" y="36267"/>
                  </a:lnTo>
                  <a:lnTo>
                    <a:pt x="64475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7"/>
                  </a:lnTo>
                  <a:lnTo>
                    <a:pt x="16118" y="302969"/>
                  </a:lnTo>
                  <a:lnTo>
                    <a:pt x="36267" y="341257"/>
                  </a:lnTo>
                  <a:lnTo>
                    <a:pt x="64475" y="375790"/>
                  </a:lnTo>
                  <a:lnTo>
                    <a:pt x="99008" y="403998"/>
                  </a:lnTo>
                  <a:lnTo>
                    <a:pt x="137297" y="424147"/>
                  </a:lnTo>
                  <a:lnTo>
                    <a:pt x="178089" y="436236"/>
                  </a:lnTo>
                  <a:lnTo>
                    <a:pt x="220133" y="440266"/>
                  </a:lnTo>
                  <a:lnTo>
                    <a:pt x="262177" y="436236"/>
                  </a:lnTo>
                  <a:lnTo>
                    <a:pt x="302969" y="424147"/>
                  </a:lnTo>
                  <a:lnTo>
                    <a:pt x="341257" y="403998"/>
                  </a:lnTo>
                  <a:lnTo>
                    <a:pt x="375790" y="375790"/>
                  </a:lnTo>
                  <a:lnTo>
                    <a:pt x="403998" y="341257"/>
                  </a:lnTo>
                  <a:lnTo>
                    <a:pt x="424147" y="302969"/>
                  </a:lnTo>
                  <a:lnTo>
                    <a:pt x="436236" y="262177"/>
                  </a:lnTo>
                  <a:lnTo>
                    <a:pt x="440266" y="220133"/>
                  </a:lnTo>
                  <a:lnTo>
                    <a:pt x="436236" y="178089"/>
                  </a:lnTo>
                  <a:lnTo>
                    <a:pt x="424147" y="137297"/>
                  </a:lnTo>
                  <a:lnTo>
                    <a:pt x="403998" y="99008"/>
                  </a:lnTo>
                  <a:lnTo>
                    <a:pt x="375790" y="64475"/>
                  </a:lnTo>
                  <a:lnTo>
                    <a:pt x="341257" y="36267"/>
                  </a:lnTo>
                  <a:lnTo>
                    <a:pt x="302969" y="16118"/>
                  </a:lnTo>
                  <a:lnTo>
                    <a:pt x="262177" y="4029"/>
                  </a:lnTo>
                  <a:lnTo>
                    <a:pt x="22013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225475" y="4617156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388600" y="46609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4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234259" y="6586537"/>
            <a:ext cx="450215" cy="450215"/>
            <a:chOff x="10234259" y="6586537"/>
            <a:chExt cx="450215" cy="450215"/>
          </a:xfrm>
        </p:grpSpPr>
        <p:sp>
          <p:nvSpPr>
            <p:cNvPr id="32" name="object 32"/>
            <p:cNvSpPr/>
            <p:nvPr/>
          </p:nvSpPr>
          <p:spPr>
            <a:xfrm>
              <a:off x="10239022" y="659129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90">
                  <a:moveTo>
                    <a:pt x="220132" y="0"/>
                  </a:moveTo>
                  <a:lnTo>
                    <a:pt x="178088" y="4029"/>
                  </a:lnTo>
                  <a:lnTo>
                    <a:pt x="137296" y="16118"/>
                  </a:lnTo>
                  <a:lnTo>
                    <a:pt x="99007" y="36267"/>
                  </a:lnTo>
                  <a:lnTo>
                    <a:pt x="64474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8"/>
                  </a:lnTo>
                  <a:lnTo>
                    <a:pt x="16118" y="302970"/>
                  </a:lnTo>
                  <a:lnTo>
                    <a:pt x="36267" y="341259"/>
                  </a:lnTo>
                  <a:lnTo>
                    <a:pt x="64474" y="375792"/>
                  </a:lnTo>
                  <a:lnTo>
                    <a:pt x="99007" y="403999"/>
                  </a:lnTo>
                  <a:lnTo>
                    <a:pt x="137296" y="424148"/>
                  </a:lnTo>
                  <a:lnTo>
                    <a:pt x="178088" y="436237"/>
                  </a:lnTo>
                  <a:lnTo>
                    <a:pt x="220132" y="440266"/>
                  </a:lnTo>
                  <a:lnTo>
                    <a:pt x="262177" y="436237"/>
                  </a:lnTo>
                  <a:lnTo>
                    <a:pt x="302969" y="424148"/>
                  </a:lnTo>
                  <a:lnTo>
                    <a:pt x="341258" y="403999"/>
                  </a:lnTo>
                  <a:lnTo>
                    <a:pt x="375791" y="375792"/>
                  </a:lnTo>
                  <a:lnTo>
                    <a:pt x="403999" y="341259"/>
                  </a:lnTo>
                  <a:lnTo>
                    <a:pt x="424147" y="302970"/>
                  </a:lnTo>
                  <a:lnTo>
                    <a:pt x="436237" y="262178"/>
                  </a:lnTo>
                  <a:lnTo>
                    <a:pt x="440266" y="220133"/>
                  </a:lnTo>
                  <a:lnTo>
                    <a:pt x="436237" y="178089"/>
                  </a:lnTo>
                  <a:lnTo>
                    <a:pt x="424147" y="137297"/>
                  </a:lnTo>
                  <a:lnTo>
                    <a:pt x="403999" y="99008"/>
                  </a:lnTo>
                  <a:lnTo>
                    <a:pt x="375791" y="64475"/>
                  </a:lnTo>
                  <a:lnTo>
                    <a:pt x="341258" y="36267"/>
                  </a:lnTo>
                  <a:lnTo>
                    <a:pt x="302969" y="16118"/>
                  </a:lnTo>
                  <a:lnTo>
                    <a:pt x="262177" y="4029"/>
                  </a:lnTo>
                  <a:lnTo>
                    <a:pt x="220132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239022" y="6591300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90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401300" y="66294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9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539037" y="4612393"/>
            <a:ext cx="450215" cy="450215"/>
            <a:chOff x="7539037" y="4612393"/>
            <a:chExt cx="450215" cy="450215"/>
          </a:xfrm>
        </p:grpSpPr>
        <p:sp>
          <p:nvSpPr>
            <p:cNvPr id="36" name="object 36"/>
            <p:cNvSpPr/>
            <p:nvPr/>
          </p:nvSpPr>
          <p:spPr>
            <a:xfrm>
              <a:off x="7543799" y="4617155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220133" y="0"/>
                  </a:moveTo>
                  <a:lnTo>
                    <a:pt x="178089" y="4029"/>
                  </a:lnTo>
                  <a:lnTo>
                    <a:pt x="137297" y="16118"/>
                  </a:lnTo>
                  <a:lnTo>
                    <a:pt x="99008" y="36267"/>
                  </a:lnTo>
                  <a:lnTo>
                    <a:pt x="64475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7"/>
                  </a:lnTo>
                  <a:lnTo>
                    <a:pt x="16118" y="302969"/>
                  </a:lnTo>
                  <a:lnTo>
                    <a:pt x="36267" y="341257"/>
                  </a:lnTo>
                  <a:lnTo>
                    <a:pt x="64475" y="375790"/>
                  </a:lnTo>
                  <a:lnTo>
                    <a:pt x="99008" y="403998"/>
                  </a:lnTo>
                  <a:lnTo>
                    <a:pt x="137297" y="424147"/>
                  </a:lnTo>
                  <a:lnTo>
                    <a:pt x="178089" y="436236"/>
                  </a:lnTo>
                  <a:lnTo>
                    <a:pt x="220133" y="440266"/>
                  </a:lnTo>
                  <a:lnTo>
                    <a:pt x="262178" y="436236"/>
                  </a:lnTo>
                  <a:lnTo>
                    <a:pt x="302970" y="424147"/>
                  </a:lnTo>
                  <a:lnTo>
                    <a:pt x="341259" y="403998"/>
                  </a:lnTo>
                  <a:lnTo>
                    <a:pt x="375792" y="375790"/>
                  </a:lnTo>
                  <a:lnTo>
                    <a:pt x="403999" y="341257"/>
                  </a:lnTo>
                  <a:lnTo>
                    <a:pt x="424148" y="302969"/>
                  </a:lnTo>
                  <a:lnTo>
                    <a:pt x="436237" y="262177"/>
                  </a:lnTo>
                  <a:lnTo>
                    <a:pt x="440266" y="220133"/>
                  </a:lnTo>
                  <a:lnTo>
                    <a:pt x="436237" y="178089"/>
                  </a:lnTo>
                  <a:lnTo>
                    <a:pt x="424148" y="137297"/>
                  </a:lnTo>
                  <a:lnTo>
                    <a:pt x="403999" y="99008"/>
                  </a:lnTo>
                  <a:lnTo>
                    <a:pt x="375792" y="64475"/>
                  </a:lnTo>
                  <a:lnTo>
                    <a:pt x="341259" y="36267"/>
                  </a:lnTo>
                  <a:lnTo>
                    <a:pt x="302970" y="16118"/>
                  </a:lnTo>
                  <a:lnTo>
                    <a:pt x="262178" y="4029"/>
                  </a:lnTo>
                  <a:lnTo>
                    <a:pt x="22013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43800" y="4617156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89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708900" y="46609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58792" y="4824588"/>
            <a:ext cx="2731770" cy="2212340"/>
            <a:chOff x="7558792" y="4824588"/>
            <a:chExt cx="2731770" cy="2212340"/>
          </a:xfrm>
        </p:grpSpPr>
        <p:sp>
          <p:nvSpPr>
            <p:cNvPr id="40" name="object 40"/>
            <p:cNvSpPr/>
            <p:nvPr/>
          </p:nvSpPr>
          <p:spPr>
            <a:xfrm>
              <a:off x="7988696" y="4837288"/>
              <a:ext cx="2232025" cy="0"/>
            </a:xfrm>
            <a:custGeom>
              <a:avLst/>
              <a:gdLst/>
              <a:ahLst/>
              <a:cxnLst/>
              <a:rect l="l" t="t" r="r" b="b"/>
              <a:pathLst>
                <a:path w="2232025">
                  <a:moveTo>
                    <a:pt x="0" y="0"/>
                  </a:moveTo>
                  <a:lnTo>
                    <a:pt x="0" y="0"/>
                  </a:lnTo>
                  <a:lnTo>
                    <a:pt x="2181288" y="0"/>
                  </a:lnTo>
                  <a:lnTo>
                    <a:pt x="223201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945298" y="4970132"/>
              <a:ext cx="2332355" cy="1708785"/>
            </a:xfrm>
            <a:custGeom>
              <a:avLst/>
              <a:gdLst/>
              <a:ahLst/>
              <a:cxnLst/>
              <a:rect l="l" t="t" r="r" b="b"/>
              <a:pathLst>
                <a:path w="2332354" h="1708784">
                  <a:moveTo>
                    <a:pt x="0" y="0"/>
                  </a:moveTo>
                  <a:lnTo>
                    <a:pt x="2332339" y="170834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63555" y="659129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90">
                  <a:moveTo>
                    <a:pt x="220132" y="0"/>
                  </a:moveTo>
                  <a:lnTo>
                    <a:pt x="178088" y="4029"/>
                  </a:lnTo>
                  <a:lnTo>
                    <a:pt x="137296" y="16118"/>
                  </a:lnTo>
                  <a:lnTo>
                    <a:pt x="99008" y="36267"/>
                  </a:lnTo>
                  <a:lnTo>
                    <a:pt x="64475" y="64475"/>
                  </a:lnTo>
                  <a:lnTo>
                    <a:pt x="36267" y="99008"/>
                  </a:lnTo>
                  <a:lnTo>
                    <a:pt x="16118" y="137297"/>
                  </a:lnTo>
                  <a:lnTo>
                    <a:pt x="4029" y="178089"/>
                  </a:lnTo>
                  <a:lnTo>
                    <a:pt x="0" y="220133"/>
                  </a:lnTo>
                  <a:lnTo>
                    <a:pt x="4029" y="262178"/>
                  </a:lnTo>
                  <a:lnTo>
                    <a:pt x="16118" y="302970"/>
                  </a:lnTo>
                  <a:lnTo>
                    <a:pt x="36267" y="341259"/>
                  </a:lnTo>
                  <a:lnTo>
                    <a:pt x="64475" y="375792"/>
                  </a:lnTo>
                  <a:lnTo>
                    <a:pt x="99008" y="403999"/>
                  </a:lnTo>
                  <a:lnTo>
                    <a:pt x="137296" y="424148"/>
                  </a:lnTo>
                  <a:lnTo>
                    <a:pt x="178088" y="436237"/>
                  </a:lnTo>
                  <a:lnTo>
                    <a:pt x="220132" y="440266"/>
                  </a:lnTo>
                  <a:lnTo>
                    <a:pt x="262176" y="436237"/>
                  </a:lnTo>
                  <a:lnTo>
                    <a:pt x="302969" y="424148"/>
                  </a:lnTo>
                  <a:lnTo>
                    <a:pt x="341257" y="403999"/>
                  </a:lnTo>
                  <a:lnTo>
                    <a:pt x="375790" y="375792"/>
                  </a:lnTo>
                  <a:lnTo>
                    <a:pt x="403998" y="341259"/>
                  </a:lnTo>
                  <a:lnTo>
                    <a:pt x="424147" y="302970"/>
                  </a:lnTo>
                  <a:lnTo>
                    <a:pt x="436236" y="262178"/>
                  </a:lnTo>
                  <a:lnTo>
                    <a:pt x="440266" y="220133"/>
                  </a:lnTo>
                  <a:lnTo>
                    <a:pt x="436236" y="178089"/>
                  </a:lnTo>
                  <a:lnTo>
                    <a:pt x="424147" y="137297"/>
                  </a:lnTo>
                  <a:lnTo>
                    <a:pt x="403998" y="99008"/>
                  </a:lnTo>
                  <a:lnTo>
                    <a:pt x="375790" y="64475"/>
                  </a:lnTo>
                  <a:lnTo>
                    <a:pt x="341257" y="36267"/>
                  </a:lnTo>
                  <a:lnTo>
                    <a:pt x="302969" y="16118"/>
                  </a:lnTo>
                  <a:lnTo>
                    <a:pt x="262176" y="4029"/>
                  </a:lnTo>
                  <a:lnTo>
                    <a:pt x="220132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63554" y="6591299"/>
              <a:ext cx="440690" cy="440690"/>
            </a:xfrm>
            <a:custGeom>
              <a:avLst/>
              <a:gdLst/>
              <a:ahLst/>
              <a:cxnLst/>
              <a:rect l="l" t="t" r="r" b="b"/>
              <a:pathLst>
                <a:path w="440690" h="440690">
                  <a:moveTo>
                    <a:pt x="375791" y="64475"/>
                  </a:moveTo>
                  <a:lnTo>
                    <a:pt x="403999" y="99008"/>
                  </a:lnTo>
                  <a:lnTo>
                    <a:pt x="424147" y="137296"/>
                  </a:lnTo>
                  <a:lnTo>
                    <a:pt x="436236" y="178089"/>
                  </a:lnTo>
                  <a:lnTo>
                    <a:pt x="440266" y="220133"/>
                  </a:lnTo>
                  <a:lnTo>
                    <a:pt x="436236" y="262177"/>
                  </a:lnTo>
                  <a:lnTo>
                    <a:pt x="424147" y="302969"/>
                  </a:lnTo>
                  <a:lnTo>
                    <a:pt x="403999" y="341258"/>
                  </a:lnTo>
                  <a:lnTo>
                    <a:pt x="375791" y="375791"/>
                  </a:lnTo>
                  <a:lnTo>
                    <a:pt x="341258" y="403999"/>
                  </a:lnTo>
                  <a:lnTo>
                    <a:pt x="302969" y="424147"/>
                  </a:lnTo>
                  <a:lnTo>
                    <a:pt x="262177" y="436236"/>
                  </a:lnTo>
                  <a:lnTo>
                    <a:pt x="220133" y="440266"/>
                  </a:lnTo>
                  <a:lnTo>
                    <a:pt x="178089" y="436236"/>
                  </a:lnTo>
                  <a:lnTo>
                    <a:pt x="137296" y="424147"/>
                  </a:lnTo>
                  <a:lnTo>
                    <a:pt x="99008" y="403999"/>
                  </a:lnTo>
                  <a:lnTo>
                    <a:pt x="64475" y="375791"/>
                  </a:lnTo>
                  <a:lnTo>
                    <a:pt x="36267" y="341258"/>
                  </a:lnTo>
                  <a:lnTo>
                    <a:pt x="16118" y="302969"/>
                  </a:lnTo>
                  <a:lnTo>
                    <a:pt x="4029" y="262177"/>
                  </a:lnTo>
                  <a:lnTo>
                    <a:pt x="0" y="220133"/>
                  </a:lnTo>
                  <a:lnTo>
                    <a:pt x="4029" y="178089"/>
                  </a:lnTo>
                  <a:lnTo>
                    <a:pt x="16118" y="137296"/>
                  </a:lnTo>
                  <a:lnTo>
                    <a:pt x="36267" y="99008"/>
                  </a:lnTo>
                  <a:lnTo>
                    <a:pt x="64475" y="64475"/>
                  </a:lnTo>
                  <a:lnTo>
                    <a:pt x="99008" y="36267"/>
                  </a:lnTo>
                  <a:lnTo>
                    <a:pt x="137296" y="16118"/>
                  </a:lnTo>
                  <a:lnTo>
                    <a:pt x="178089" y="4029"/>
                  </a:lnTo>
                  <a:lnTo>
                    <a:pt x="220133" y="0"/>
                  </a:lnTo>
                  <a:lnTo>
                    <a:pt x="262177" y="4029"/>
                  </a:lnTo>
                  <a:lnTo>
                    <a:pt x="302969" y="16118"/>
                  </a:lnTo>
                  <a:lnTo>
                    <a:pt x="341258" y="36267"/>
                  </a:lnTo>
                  <a:lnTo>
                    <a:pt x="375791" y="644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721600" y="66294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753481" y="5049343"/>
            <a:ext cx="2717165" cy="1774825"/>
            <a:chOff x="7753481" y="5049343"/>
            <a:chExt cx="2717165" cy="1774825"/>
          </a:xfrm>
        </p:grpSpPr>
        <p:sp>
          <p:nvSpPr>
            <p:cNvPr id="46" name="object 46"/>
            <p:cNvSpPr/>
            <p:nvPr/>
          </p:nvSpPr>
          <p:spPr>
            <a:xfrm>
              <a:off x="8008452" y="6811432"/>
              <a:ext cx="2226310" cy="0"/>
            </a:xfrm>
            <a:custGeom>
              <a:avLst/>
              <a:gdLst/>
              <a:ahLst/>
              <a:cxnLst/>
              <a:rect l="l" t="t" r="r" b="b"/>
              <a:pathLst>
                <a:path w="2226309">
                  <a:moveTo>
                    <a:pt x="0" y="0"/>
                  </a:moveTo>
                  <a:lnTo>
                    <a:pt x="0" y="0"/>
                  </a:lnTo>
                  <a:lnTo>
                    <a:pt x="2175220" y="0"/>
                  </a:lnTo>
                  <a:lnTo>
                    <a:pt x="2225807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447151" y="5062048"/>
              <a:ext cx="10795" cy="1524635"/>
            </a:xfrm>
            <a:custGeom>
              <a:avLst/>
              <a:gdLst/>
              <a:ahLst/>
              <a:cxnLst/>
              <a:rect l="l" t="t" r="r" b="b"/>
              <a:pathLst>
                <a:path w="10795" h="1524634">
                  <a:moveTo>
                    <a:pt x="0" y="0"/>
                  </a:moveTo>
                  <a:lnTo>
                    <a:pt x="10460" y="152449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66181" y="5062043"/>
              <a:ext cx="15875" cy="1524635"/>
            </a:xfrm>
            <a:custGeom>
              <a:avLst/>
              <a:gdLst/>
              <a:ahLst/>
              <a:cxnLst/>
              <a:rect l="l" t="t" r="r" b="b"/>
              <a:pathLst>
                <a:path w="15875" h="1524634">
                  <a:moveTo>
                    <a:pt x="0" y="0"/>
                  </a:moveTo>
                  <a:lnTo>
                    <a:pt x="15255" y="152450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048000" y="7658100"/>
            <a:ext cx="202501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weight</a:t>
            </a:r>
            <a:r>
              <a:rPr sz="1600" b="1" spc="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2</a:t>
            </a:r>
            <a:r>
              <a:rPr sz="1600" b="1" spc="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+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2</a:t>
            </a:r>
            <a:r>
              <a:rPr sz="1600" b="1" spc="3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+</a:t>
            </a:r>
            <a:r>
              <a:rPr sz="1600" b="1" spc="3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4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50" name="object 50"/>
          <p:cNvSpPr txBox="1"/>
          <p:nvPr/>
        </p:nvSpPr>
        <p:spPr>
          <a:xfrm>
            <a:off x="8509000" y="7645400"/>
            <a:ext cx="1299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weight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11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Pricing</a:t>
            </a:r>
            <a:r>
              <a:rPr spc="10" dirty="0"/>
              <a:t> </a:t>
            </a:r>
            <a:r>
              <a:rPr spc="-10" dirty="0"/>
              <a:t>method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9184640" cy="195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  <a:tabLst>
                <a:tab pos="25787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Pricing</a:t>
            </a:r>
            <a:r>
              <a:rPr sz="2400" spc="-8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method.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Each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edge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must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be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covered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spc="55" dirty="0">
                <a:solidFill>
                  <a:srgbClr val="232323"/>
                </a:solidFill>
                <a:latin typeface="Lucida Sans Unicode"/>
                <a:cs typeface="Lucida Sans Unicode"/>
              </a:rPr>
              <a:t>by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 some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Lucida Sans Unicode"/>
                <a:cs typeface="Lucida Sans Unicode"/>
              </a:rPr>
              <a:t>vertex.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Edge</a:t>
            </a:r>
            <a:r>
              <a:rPr sz="2400" spc="-10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e 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= (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,</a:t>
            </a:r>
            <a:r>
              <a:rPr sz="2400" spc="-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j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)</a:t>
            </a:r>
            <a:r>
              <a:rPr sz="2400" spc="15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pays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price</a:t>
            </a:r>
            <a:r>
              <a:rPr sz="2400" spc="-10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p</a:t>
            </a:r>
            <a:r>
              <a:rPr sz="2400" i="1" baseline="-6944" dirty="0">
                <a:solidFill>
                  <a:srgbClr val="232323"/>
                </a:solidFill>
                <a:latin typeface="Times New Roman"/>
                <a:cs typeface="Times New Roman"/>
              </a:rPr>
              <a:t>e</a:t>
            </a:r>
            <a:r>
              <a:rPr sz="2400" i="1" spc="300" baseline="-6944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≥</a:t>
            </a:r>
            <a:r>
              <a:rPr sz="2400" spc="-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0</a:t>
            </a:r>
            <a:r>
              <a:rPr sz="2400" spc="15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to</a:t>
            </a:r>
            <a:r>
              <a:rPr sz="2400" spc="-10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use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both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vertex</a:t>
            </a:r>
            <a:r>
              <a:rPr sz="2400" spc="-10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i</a:t>
            </a:r>
            <a:r>
              <a:rPr sz="2400" i="1" spc="15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2323"/>
                </a:solidFill>
                <a:latin typeface="Lucida Sans Unicode"/>
                <a:cs typeface="Lucida Sans Unicode"/>
              </a:rPr>
              <a:t>and</a:t>
            </a:r>
            <a:r>
              <a:rPr sz="2400" spc="-5" dirty="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sz="2400" i="1" spc="-25" dirty="0">
                <a:solidFill>
                  <a:srgbClr val="232323"/>
                </a:solidFill>
                <a:latin typeface="Times New Roman"/>
                <a:cs typeface="Times New Roman"/>
              </a:rPr>
              <a:t>j</a:t>
            </a:r>
            <a:r>
              <a:rPr sz="2400" spc="-25" dirty="0">
                <a:solidFill>
                  <a:srgbClr val="232323"/>
                </a:solidFill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55321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Fairness.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Edges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incident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i</a:t>
            </a:r>
            <a:r>
              <a:rPr sz="2400" i="1" spc="15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should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52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total.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6642100"/>
            <a:ext cx="1006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632710" algn="l"/>
                <a:tab pos="940117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Fairness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lemma.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S</a:t>
            </a:r>
            <a:r>
              <a:rPr sz="2400" i="1" spc="18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fair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prices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e</a:t>
            </a:r>
            <a:r>
              <a:rPr sz="2400" i="1" spc="22" baseline="-694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∑</a:t>
            </a:r>
            <a:r>
              <a:rPr sz="2400" i="1" baseline="-6944" dirty="0">
                <a:latin typeface="Times New Roman"/>
                <a:cs typeface="Times New Roman"/>
              </a:rPr>
              <a:t>e</a:t>
            </a:r>
            <a:r>
              <a:rPr sz="2400" i="1" spc="262" baseline="-6944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p</a:t>
            </a:r>
            <a:r>
              <a:rPr sz="2400" i="1" spc="-37" baseline="-6944" dirty="0">
                <a:latin typeface="Times New Roman"/>
                <a:cs typeface="Times New Roman"/>
              </a:rPr>
              <a:t>e</a:t>
            </a:r>
            <a:endParaRPr sz="2400" baseline="-6944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42345" y="6642100"/>
            <a:ext cx="1000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</a:tabLst>
            </a:pP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10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100" y="7607300"/>
            <a:ext cx="402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7933" y="7607300"/>
            <a:ext cx="17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041076" y="3696909"/>
            <a:ext cx="402590" cy="400050"/>
            <a:chOff x="9041076" y="3696909"/>
            <a:chExt cx="402590" cy="400050"/>
          </a:xfrm>
        </p:grpSpPr>
        <p:sp>
          <p:nvSpPr>
            <p:cNvPr id="10" name="object 10"/>
            <p:cNvSpPr/>
            <p:nvPr/>
          </p:nvSpPr>
          <p:spPr>
            <a:xfrm>
              <a:off x="9045838" y="3701671"/>
              <a:ext cx="393065" cy="390525"/>
            </a:xfrm>
            <a:custGeom>
              <a:avLst/>
              <a:gdLst/>
              <a:ahLst/>
              <a:cxnLst/>
              <a:rect l="l" t="t" r="r" b="b"/>
              <a:pathLst>
                <a:path w="393065" h="390525">
                  <a:moveTo>
                    <a:pt x="218007" y="0"/>
                  </a:moveTo>
                  <a:lnTo>
                    <a:pt x="174741" y="0"/>
                  </a:lnTo>
                  <a:lnTo>
                    <a:pt x="132313" y="9393"/>
                  </a:lnTo>
                  <a:lnTo>
                    <a:pt x="92401" y="28179"/>
                  </a:lnTo>
                  <a:lnTo>
                    <a:pt x="56681" y="56358"/>
                  </a:lnTo>
                  <a:lnTo>
                    <a:pt x="28340" y="91874"/>
                  </a:lnTo>
                  <a:lnTo>
                    <a:pt x="9446" y="131558"/>
                  </a:lnTo>
                  <a:lnTo>
                    <a:pt x="0" y="173743"/>
                  </a:lnTo>
                  <a:lnTo>
                    <a:pt x="0" y="216762"/>
                  </a:lnTo>
                  <a:lnTo>
                    <a:pt x="9446" y="258947"/>
                  </a:lnTo>
                  <a:lnTo>
                    <a:pt x="28340" y="298631"/>
                  </a:lnTo>
                  <a:lnTo>
                    <a:pt x="56681" y="334147"/>
                  </a:lnTo>
                  <a:lnTo>
                    <a:pt x="92401" y="362326"/>
                  </a:lnTo>
                  <a:lnTo>
                    <a:pt x="132313" y="381111"/>
                  </a:lnTo>
                  <a:lnTo>
                    <a:pt x="174741" y="390504"/>
                  </a:lnTo>
                  <a:lnTo>
                    <a:pt x="218007" y="390504"/>
                  </a:lnTo>
                  <a:lnTo>
                    <a:pt x="260435" y="381111"/>
                  </a:lnTo>
                  <a:lnTo>
                    <a:pt x="300348" y="362326"/>
                  </a:lnTo>
                  <a:lnTo>
                    <a:pt x="336067" y="334147"/>
                  </a:lnTo>
                  <a:lnTo>
                    <a:pt x="364408" y="298631"/>
                  </a:lnTo>
                  <a:lnTo>
                    <a:pt x="383302" y="258947"/>
                  </a:lnTo>
                  <a:lnTo>
                    <a:pt x="392749" y="216762"/>
                  </a:lnTo>
                  <a:lnTo>
                    <a:pt x="392749" y="173743"/>
                  </a:lnTo>
                  <a:lnTo>
                    <a:pt x="383302" y="131558"/>
                  </a:lnTo>
                  <a:lnTo>
                    <a:pt x="364408" y="91874"/>
                  </a:lnTo>
                  <a:lnTo>
                    <a:pt x="336067" y="56358"/>
                  </a:lnTo>
                  <a:lnTo>
                    <a:pt x="300348" y="28179"/>
                  </a:lnTo>
                  <a:lnTo>
                    <a:pt x="260435" y="9393"/>
                  </a:lnTo>
                  <a:lnTo>
                    <a:pt x="218007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45838" y="3701672"/>
              <a:ext cx="393065" cy="390525"/>
            </a:xfrm>
            <a:custGeom>
              <a:avLst/>
              <a:gdLst/>
              <a:ahLst/>
              <a:cxnLst/>
              <a:rect l="l" t="t" r="r" b="b"/>
              <a:pathLst>
                <a:path w="393065" h="390525">
                  <a:moveTo>
                    <a:pt x="336067" y="56357"/>
                  </a:moveTo>
                  <a:lnTo>
                    <a:pt x="364408" y="91873"/>
                  </a:lnTo>
                  <a:lnTo>
                    <a:pt x="383302" y="131557"/>
                  </a:lnTo>
                  <a:lnTo>
                    <a:pt x="392749" y="173742"/>
                  </a:lnTo>
                  <a:lnTo>
                    <a:pt x="392749" y="216762"/>
                  </a:lnTo>
                  <a:lnTo>
                    <a:pt x="383302" y="258947"/>
                  </a:lnTo>
                  <a:lnTo>
                    <a:pt x="364408" y="298631"/>
                  </a:lnTo>
                  <a:lnTo>
                    <a:pt x="336067" y="334147"/>
                  </a:lnTo>
                  <a:lnTo>
                    <a:pt x="300347" y="362326"/>
                  </a:lnTo>
                  <a:lnTo>
                    <a:pt x="260435" y="381112"/>
                  </a:lnTo>
                  <a:lnTo>
                    <a:pt x="218007" y="390505"/>
                  </a:lnTo>
                  <a:lnTo>
                    <a:pt x="174741" y="390505"/>
                  </a:lnTo>
                  <a:lnTo>
                    <a:pt x="132313" y="381112"/>
                  </a:lnTo>
                  <a:lnTo>
                    <a:pt x="92401" y="362326"/>
                  </a:lnTo>
                  <a:lnTo>
                    <a:pt x="56681" y="334147"/>
                  </a:lnTo>
                  <a:lnTo>
                    <a:pt x="28340" y="298631"/>
                  </a:lnTo>
                  <a:lnTo>
                    <a:pt x="9446" y="258947"/>
                  </a:lnTo>
                  <a:lnTo>
                    <a:pt x="0" y="216762"/>
                  </a:lnTo>
                  <a:lnTo>
                    <a:pt x="0" y="173742"/>
                  </a:lnTo>
                  <a:lnTo>
                    <a:pt x="9446" y="131557"/>
                  </a:lnTo>
                  <a:lnTo>
                    <a:pt x="28340" y="91873"/>
                  </a:lnTo>
                  <a:lnTo>
                    <a:pt x="56681" y="56357"/>
                  </a:lnTo>
                  <a:lnTo>
                    <a:pt x="92401" y="28178"/>
                  </a:lnTo>
                  <a:lnTo>
                    <a:pt x="132313" y="9392"/>
                  </a:lnTo>
                  <a:lnTo>
                    <a:pt x="174741" y="0"/>
                  </a:lnTo>
                  <a:lnTo>
                    <a:pt x="218007" y="0"/>
                  </a:lnTo>
                  <a:lnTo>
                    <a:pt x="260435" y="9392"/>
                  </a:lnTo>
                  <a:lnTo>
                    <a:pt x="300347" y="28178"/>
                  </a:lnTo>
                  <a:lnTo>
                    <a:pt x="336067" y="563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182100" y="37211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4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054615" y="5464749"/>
            <a:ext cx="400050" cy="400050"/>
            <a:chOff x="9054615" y="5464749"/>
            <a:chExt cx="400050" cy="400050"/>
          </a:xfrm>
        </p:grpSpPr>
        <p:sp>
          <p:nvSpPr>
            <p:cNvPr id="14" name="object 14"/>
            <p:cNvSpPr/>
            <p:nvPr/>
          </p:nvSpPr>
          <p:spPr>
            <a:xfrm>
              <a:off x="9059378" y="5469512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216762" y="0"/>
                  </a:moveTo>
                  <a:lnTo>
                    <a:pt x="173743" y="0"/>
                  </a:lnTo>
                  <a:lnTo>
                    <a:pt x="131557" y="9392"/>
                  </a:lnTo>
                  <a:lnTo>
                    <a:pt x="91873" y="28178"/>
                  </a:lnTo>
                  <a:lnTo>
                    <a:pt x="56357" y="56357"/>
                  </a:lnTo>
                  <a:lnTo>
                    <a:pt x="28178" y="91873"/>
                  </a:lnTo>
                  <a:lnTo>
                    <a:pt x="9392" y="131557"/>
                  </a:lnTo>
                  <a:lnTo>
                    <a:pt x="0" y="173742"/>
                  </a:lnTo>
                  <a:lnTo>
                    <a:pt x="0" y="216761"/>
                  </a:lnTo>
                  <a:lnTo>
                    <a:pt x="9392" y="258946"/>
                  </a:lnTo>
                  <a:lnTo>
                    <a:pt x="28178" y="298630"/>
                  </a:lnTo>
                  <a:lnTo>
                    <a:pt x="56357" y="334146"/>
                  </a:lnTo>
                  <a:lnTo>
                    <a:pt x="91873" y="362325"/>
                  </a:lnTo>
                  <a:lnTo>
                    <a:pt x="131557" y="381111"/>
                  </a:lnTo>
                  <a:lnTo>
                    <a:pt x="173743" y="390504"/>
                  </a:lnTo>
                  <a:lnTo>
                    <a:pt x="216762" y="390504"/>
                  </a:lnTo>
                  <a:lnTo>
                    <a:pt x="258947" y="381111"/>
                  </a:lnTo>
                  <a:lnTo>
                    <a:pt x="298631" y="362325"/>
                  </a:lnTo>
                  <a:lnTo>
                    <a:pt x="334147" y="334146"/>
                  </a:lnTo>
                  <a:lnTo>
                    <a:pt x="362326" y="298630"/>
                  </a:lnTo>
                  <a:lnTo>
                    <a:pt x="381112" y="258946"/>
                  </a:lnTo>
                  <a:lnTo>
                    <a:pt x="390505" y="216761"/>
                  </a:lnTo>
                  <a:lnTo>
                    <a:pt x="390505" y="173742"/>
                  </a:lnTo>
                  <a:lnTo>
                    <a:pt x="381112" y="131557"/>
                  </a:lnTo>
                  <a:lnTo>
                    <a:pt x="362326" y="91873"/>
                  </a:lnTo>
                  <a:lnTo>
                    <a:pt x="334147" y="56357"/>
                  </a:lnTo>
                  <a:lnTo>
                    <a:pt x="298631" y="28178"/>
                  </a:lnTo>
                  <a:lnTo>
                    <a:pt x="258947" y="9392"/>
                  </a:lnTo>
                  <a:lnTo>
                    <a:pt x="216762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059378" y="5469512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34147" y="56357"/>
                  </a:moveTo>
                  <a:lnTo>
                    <a:pt x="362326" y="91873"/>
                  </a:lnTo>
                  <a:lnTo>
                    <a:pt x="381112" y="131557"/>
                  </a:lnTo>
                  <a:lnTo>
                    <a:pt x="390505" y="173742"/>
                  </a:lnTo>
                  <a:lnTo>
                    <a:pt x="390505" y="216762"/>
                  </a:lnTo>
                  <a:lnTo>
                    <a:pt x="381112" y="258947"/>
                  </a:lnTo>
                  <a:lnTo>
                    <a:pt x="362326" y="298631"/>
                  </a:lnTo>
                  <a:lnTo>
                    <a:pt x="334147" y="334147"/>
                  </a:lnTo>
                  <a:lnTo>
                    <a:pt x="298631" y="362326"/>
                  </a:lnTo>
                  <a:lnTo>
                    <a:pt x="258947" y="381112"/>
                  </a:lnTo>
                  <a:lnTo>
                    <a:pt x="216762" y="390505"/>
                  </a:lnTo>
                  <a:lnTo>
                    <a:pt x="173742" y="390505"/>
                  </a:lnTo>
                  <a:lnTo>
                    <a:pt x="131557" y="381112"/>
                  </a:lnTo>
                  <a:lnTo>
                    <a:pt x="91873" y="362326"/>
                  </a:lnTo>
                  <a:lnTo>
                    <a:pt x="56357" y="334147"/>
                  </a:lnTo>
                  <a:lnTo>
                    <a:pt x="28178" y="298631"/>
                  </a:lnTo>
                  <a:lnTo>
                    <a:pt x="9392" y="258947"/>
                  </a:lnTo>
                  <a:lnTo>
                    <a:pt x="0" y="216762"/>
                  </a:lnTo>
                  <a:lnTo>
                    <a:pt x="0" y="173742"/>
                  </a:lnTo>
                  <a:lnTo>
                    <a:pt x="9392" y="131557"/>
                  </a:lnTo>
                  <a:lnTo>
                    <a:pt x="28178" y="91873"/>
                  </a:lnTo>
                  <a:lnTo>
                    <a:pt x="56357" y="56357"/>
                  </a:lnTo>
                  <a:lnTo>
                    <a:pt x="91873" y="28178"/>
                  </a:lnTo>
                  <a:lnTo>
                    <a:pt x="131557" y="9392"/>
                  </a:lnTo>
                  <a:lnTo>
                    <a:pt x="173742" y="0"/>
                  </a:lnTo>
                  <a:lnTo>
                    <a:pt x="216762" y="0"/>
                  </a:lnTo>
                  <a:lnTo>
                    <a:pt x="258947" y="9392"/>
                  </a:lnTo>
                  <a:lnTo>
                    <a:pt x="298631" y="28178"/>
                  </a:lnTo>
                  <a:lnTo>
                    <a:pt x="334147" y="563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194800" y="54864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9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47824" y="3696909"/>
            <a:ext cx="400050" cy="400050"/>
            <a:chOff x="6647824" y="3696909"/>
            <a:chExt cx="400050" cy="400050"/>
          </a:xfrm>
        </p:grpSpPr>
        <p:sp>
          <p:nvSpPr>
            <p:cNvPr id="18" name="object 18"/>
            <p:cNvSpPr/>
            <p:nvPr/>
          </p:nvSpPr>
          <p:spPr>
            <a:xfrm>
              <a:off x="6652587" y="3701671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216762" y="0"/>
                  </a:moveTo>
                  <a:lnTo>
                    <a:pt x="173743" y="0"/>
                  </a:lnTo>
                  <a:lnTo>
                    <a:pt x="131557" y="9393"/>
                  </a:lnTo>
                  <a:lnTo>
                    <a:pt x="91873" y="28179"/>
                  </a:lnTo>
                  <a:lnTo>
                    <a:pt x="56357" y="56358"/>
                  </a:lnTo>
                  <a:lnTo>
                    <a:pt x="28178" y="91874"/>
                  </a:lnTo>
                  <a:lnTo>
                    <a:pt x="9392" y="131558"/>
                  </a:lnTo>
                  <a:lnTo>
                    <a:pt x="0" y="173743"/>
                  </a:lnTo>
                  <a:lnTo>
                    <a:pt x="0" y="216762"/>
                  </a:lnTo>
                  <a:lnTo>
                    <a:pt x="9392" y="258947"/>
                  </a:lnTo>
                  <a:lnTo>
                    <a:pt x="28178" y="298631"/>
                  </a:lnTo>
                  <a:lnTo>
                    <a:pt x="56357" y="334147"/>
                  </a:lnTo>
                  <a:lnTo>
                    <a:pt x="91873" y="362326"/>
                  </a:lnTo>
                  <a:lnTo>
                    <a:pt x="131557" y="381111"/>
                  </a:lnTo>
                  <a:lnTo>
                    <a:pt x="173743" y="390504"/>
                  </a:lnTo>
                  <a:lnTo>
                    <a:pt x="216762" y="390504"/>
                  </a:lnTo>
                  <a:lnTo>
                    <a:pt x="258947" y="381111"/>
                  </a:lnTo>
                  <a:lnTo>
                    <a:pt x="298631" y="362326"/>
                  </a:lnTo>
                  <a:lnTo>
                    <a:pt x="334147" y="334147"/>
                  </a:lnTo>
                  <a:lnTo>
                    <a:pt x="362326" y="298631"/>
                  </a:lnTo>
                  <a:lnTo>
                    <a:pt x="381112" y="258947"/>
                  </a:lnTo>
                  <a:lnTo>
                    <a:pt x="390505" y="216762"/>
                  </a:lnTo>
                  <a:lnTo>
                    <a:pt x="390505" y="173743"/>
                  </a:lnTo>
                  <a:lnTo>
                    <a:pt x="381112" y="131558"/>
                  </a:lnTo>
                  <a:lnTo>
                    <a:pt x="362326" y="91874"/>
                  </a:lnTo>
                  <a:lnTo>
                    <a:pt x="334147" y="56358"/>
                  </a:lnTo>
                  <a:lnTo>
                    <a:pt x="298631" y="28179"/>
                  </a:lnTo>
                  <a:lnTo>
                    <a:pt x="258947" y="9393"/>
                  </a:lnTo>
                  <a:lnTo>
                    <a:pt x="216762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2586" y="3701672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34147" y="56357"/>
                  </a:moveTo>
                  <a:lnTo>
                    <a:pt x="362326" y="91873"/>
                  </a:lnTo>
                  <a:lnTo>
                    <a:pt x="381112" y="131557"/>
                  </a:lnTo>
                  <a:lnTo>
                    <a:pt x="390505" y="173742"/>
                  </a:lnTo>
                  <a:lnTo>
                    <a:pt x="390505" y="216762"/>
                  </a:lnTo>
                  <a:lnTo>
                    <a:pt x="381112" y="258947"/>
                  </a:lnTo>
                  <a:lnTo>
                    <a:pt x="362326" y="298631"/>
                  </a:lnTo>
                  <a:lnTo>
                    <a:pt x="334147" y="334147"/>
                  </a:lnTo>
                  <a:lnTo>
                    <a:pt x="298631" y="362326"/>
                  </a:lnTo>
                  <a:lnTo>
                    <a:pt x="258947" y="381112"/>
                  </a:lnTo>
                  <a:lnTo>
                    <a:pt x="216762" y="390505"/>
                  </a:lnTo>
                  <a:lnTo>
                    <a:pt x="173742" y="390505"/>
                  </a:lnTo>
                  <a:lnTo>
                    <a:pt x="131557" y="381112"/>
                  </a:lnTo>
                  <a:lnTo>
                    <a:pt x="91873" y="362326"/>
                  </a:lnTo>
                  <a:lnTo>
                    <a:pt x="56357" y="334147"/>
                  </a:lnTo>
                  <a:lnTo>
                    <a:pt x="28178" y="298631"/>
                  </a:lnTo>
                  <a:lnTo>
                    <a:pt x="9392" y="258947"/>
                  </a:lnTo>
                  <a:lnTo>
                    <a:pt x="0" y="216762"/>
                  </a:lnTo>
                  <a:lnTo>
                    <a:pt x="0" y="173742"/>
                  </a:lnTo>
                  <a:lnTo>
                    <a:pt x="9392" y="131557"/>
                  </a:lnTo>
                  <a:lnTo>
                    <a:pt x="28178" y="91873"/>
                  </a:lnTo>
                  <a:lnTo>
                    <a:pt x="56357" y="56357"/>
                  </a:lnTo>
                  <a:lnTo>
                    <a:pt x="91873" y="28178"/>
                  </a:lnTo>
                  <a:lnTo>
                    <a:pt x="131557" y="9392"/>
                  </a:lnTo>
                  <a:lnTo>
                    <a:pt x="173742" y="0"/>
                  </a:lnTo>
                  <a:lnTo>
                    <a:pt x="216762" y="0"/>
                  </a:lnTo>
                  <a:lnTo>
                    <a:pt x="258947" y="9392"/>
                  </a:lnTo>
                  <a:lnTo>
                    <a:pt x="298631" y="28178"/>
                  </a:lnTo>
                  <a:lnTo>
                    <a:pt x="334147" y="563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94500" y="37211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59121" y="3884223"/>
            <a:ext cx="2446655" cy="1980564"/>
            <a:chOff x="6659121" y="3884223"/>
            <a:chExt cx="2446655" cy="1980564"/>
          </a:xfrm>
        </p:grpSpPr>
        <p:sp>
          <p:nvSpPr>
            <p:cNvPr id="22" name="object 22"/>
            <p:cNvSpPr/>
            <p:nvPr/>
          </p:nvSpPr>
          <p:spPr>
            <a:xfrm>
              <a:off x="7049081" y="3896923"/>
              <a:ext cx="1991360" cy="0"/>
            </a:xfrm>
            <a:custGeom>
              <a:avLst/>
              <a:gdLst/>
              <a:ahLst/>
              <a:cxnLst/>
              <a:rect l="l" t="t" r="r" b="b"/>
              <a:pathLst>
                <a:path w="1991359">
                  <a:moveTo>
                    <a:pt x="0" y="0"/>
                  </a:moveTo>
                  <a:lnTo>
                    <a:pt x="0" y="0"/>
                  </a:lnTo>
                  <a:lnTo>
                    <a:pt x="1939767" y="0"/>
                  </a:lnTo>
                  <a:lnTo>
                    <a:pt x="1990813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09625" y="4015758"/>
              <a:ext cx="2083435" cy="1530350"/>
            </a:xfrm>
            <a:custGeom>
              <a:avLst/>
              <a:gdLst/>
              <a:ahLst/>
              <a:cxnLst/>
              <a:rect l="l" t="t" r="r" b="b"/>
              <a:pathLst>
                <a:path w="2083434" h="1530350">
                  <a:moveTo>
                    <a:pt x="0" y="0"/>
                  </a:moveTo>
                  <a:lnTo>
                    <a:pt x="2082971" y="152998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63883" y="5469512"/>
              <a:ext cx="393065" cy="390525"/>
            </a:xfrm>
            <a:custGeom>
              <a:avLst/>
              <a:gdLst/>
              <a:ahLst/>
              <a:cxnLst/>
              <a:rect l="l" t="t" r="r" b="b"/>
              <a:pathLst>
                <a:path w="393065" h="390525">
                  <a:moveTo>
                    <a:pt x="218007" y="0"/>
                  </a:moveTo>
                  <a:lnTo>
                    <a:pt x="174741" y="0"/>
                  </a:lnTo>
                  <a:lnTo>
                    <a:pt x="132314" y="9392"/>
                  </a:lnTo>
                  <a:lnTo>
                    <a:pt x="92402" y="28178"/>
                  </a:lnTo>
                  <a:lnTo>
                    <a:pt x="56682" y="56357"/>
                  </a:lnTo>
                  <a:lnTo>
                    <a:pt x="28341" y="91873"/>
                  </a:lnTo>
                  <a:lnTo>
                    <a:pt x="9447" y="131557"/>
                  </a:lnTo>
                  <a:lnTo>
                    <a:pt x="0" y="173742"/>
                  </a:lnTo>
                  <a:lnTo>
                    <a:pt x="0" y="216761"/>
                  </a:lnTo>
                  <a:lnTo>
                    <a:pt x="9447" y="258946"/>
                  </a:lnTo>
                  <a:lnTo>
                    <a:pt x="28341" y="298630"/>
                  </a:lnTo>
                  <a:lnTo>
                    <a:pt x="56682" y="334146"/>
                  </a:lnTo>
                  <a:lnTo>
                    <a:pt x="92402" y="362325"/>
                  </a:lnTo>
                  <a:lnTo>
                    <a:pt x="132314" y="381111"/>
                  </a:lnTo>
                  <a:lnTo>
                    <a:pt x="174741" y="390504"/>
                  </a:lnTo>
                  <a:lnTo>
                    <a:pt x="218007" y="390504"/>
                  </a:lnTo>
                  <a:lnTo>
                    <a:pt x="260435" y="381111"/>
                  </a:lnTo>
                  <a:lnTo>
                    <a:pt x="300347" y="362325"/>
                  </a:lnTo>
                  <a:lnTo>
                    <a:pt x="336067" y="334146"/>
                  </a:lnTo>
                  <a:lnTo>
                    <a:pt x="364408" y="298630"/>
                  </a:lnTo>
                  <a:lnTo>
                    <a:pt x="383302" y="258946"/>
                  </a:lnTo>
                  <a:lnTo>
                    <a:pt x="392749" y="216761"/>
                  </a:lnTo>
                  <a:lnTo>
                    <a:pt x="392749" y="173742"/>
                  </a:lnTo>
                  <a:lnTo>
                    <a:pt x="383302" y="131557"/>
                  </a:lnTo>
                  <a:lnTo>
                    <a:pt x="364408" y="91873"/>
                  </a:lnTo>
                  <a:lnTo>
                    <a:pt x="336067" y="56357"/>
                  </a:lnTo>
                  <a:lnTo>
                    <a:pt x="300347" y="28178"/>
                  </a:lnTo>
                  <a:lnTo>
                    <a:pt x="260435" y="9392"/>
                  </a:lnTo>
                  <a:lnTo>
                    <a:pt x="218007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63883" y="5469512"/>
              <a:ext cx="393065" cy="390525"/>
            </a:xfrm>
            <a:custGeom>
              <a:avLst/>
              <a:gdLst/>
              <a:ahLst/>
              <a:cxnLst/>
              <a:rect l="l" t="t" r="r" b="b"/>
              <a:pathLst>
                <a:path w="393065" h="390525">
                  <a:moveTo>
                    <a:pt x="336067" y="56357"/>
                  </a:moveTo>
                  <a:lnTo>
                    <a:pt x="364408" y="91873"/>
                  </a:lnTo>
                  <a:lnTo>
                    <a:pt x="383302" y="131557"/>
                  </a:lnTo>
                  <a:lnTo>
                    <a:pt x="392749" y="173742"/>
                  </a:lnTo>
                  <a:lnTo>
                    <a:pt x="392749" y="216762"/>
                  </a:lnTo>
                  <a:lnTo>
                    <a:pt x="383302" y="258947"/>
                  </a:lnTo>
                  <a:lnTo>
                    <a:pt x="364408" y="298631"/>
                  </a:lnTo>
                  <a:lnTo>
                    <a:pt x="336067" y="334147"/>
                  </a:lnTo>
                  <a:lnTo>
                    <a:pt x="300347" y="362326"/>
                  </a:lnTo>
                  <a:lnTo>
                    <a:pt x="260435" y="381112"/>
                  </a:lnTo>
                  <a:lnTo>
                    <a:pt x="218007" y="390505"/>
                  </a:lnTo>
                  <a:lnTo>
                    <a:pt x="174741" y="390505"/>
                  </a:lnTo>
                  <a:lnTo>
                    <a:pt x="132313" y="381112"/>
                  </a:lnTo>
                  <a:lnTo>
                    <a:pt x="92401" y="362326"/>
                  </a:lnTo>
                  <a:lnTo>
                    <a:pt x="56681" y="334147"/>
                  </a:lnTo>
                  <a:lnTo>
                    <a:pt x="28340" y="298631"/>
                  </a:lnTo>
                  <a:lnTo>
                    <a:pt x="9446" y="258947"/>
                  </a:lnTo>
                  <a:lnTo>
                    <a:pt x="0" y="216762"/>
                  </a:lnTo>
                  <a:lnTo>
                    <a:pt x="0" y="173742"/>
                  </a:lnTo>
                  <a:lnTo>
                    <a:pt x="9446" y="131557"/>
                  </a:lnTo>
                  <a:lnTo>
                    <a:pt x="28340" y="91873"/>
                  </a:lnTo>
                  <a:lnTo>
                    <a:pt x="56681" y="56357"/>
                  </a:lnTo>
                  <a:lnTo>
                    <a:pt x="92401" y="28178"/>
                  </a:lnTo>
                  <a:lnTo>
                    <a:pt x="132313" y="9392"/>
                  </a:lnTo>
                  <a:lnTo>
                    <a:pt x="174741" y="0"/>
                  </a:lnTo>
                  <a:lnTo>
                    <a:pt x="218007" y="0"/>
                  </a:lnTo>
                  <a:lnTo>
                    <a:pt x="260435" y="9392"/>
                  </a:lnTo>
                  <a:lnTo>
                    <a:pt x="300347" y="28178"/>
                  </a:lnTo>
                  <a:lnTo>
                    <a:pt x="336067" y="5635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807200" y="5486400"/>
            <a:ext cx="17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2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36553" y="4085461"/>
            <a:ext cx="2429510" cy="1592580"/>
            <a:chOff x="6836553" y="4085461"/>
            <a:chExt cx="2429510" cy="1592580"/>
          </a:xfrm>
        </p:grpSpPr>
        <p:sp>
          <p:nvSpPr>
            <p:cNvPr id="28" name="object 28"/>
            <p:cNvSpPr/>
            <p:nvPr/>
          </p:nvSpPr>
          <p:spPr>
            <a:xfrm>
              <a:off x="7062752" y="5664765"/>
              <a:ext cx="1990725" cy="0"/>
            </a:xfrm>
            <a:custGeom>
              <a:avLst/>
              <a:gdLst/>
              <a:ahLst/>
              <a:cxnLst/>
              <a:rect l="l" t="t" r="r" b="b"/>
              <a:pathLst>
                <a:path w="1990725">
                  <a:moveTo>
                    <a:pt x="0" y="0"/>
                  </a:moveTo>
                  <a:lnTo>
                    <a:pt x="0" y="0"/>
                  </a:lnTo>
                  <a:lnTo>
                    <a:pt x="1939646" y="0"/>
                  </a:lnTo>
                  <a:lnTo>
                    <a:pt x="199068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243627" y="4098161"/>
              <a:ext cx="10160" cy="1365885"/>
            </a:xfrm>
            <a:custGeom>
              <a:avLst/>
              <a:gdLst/>
              <a:ahLst/>
              <a:cxnLst/>
              <a:rect l="l" t="t" r="r" b="b"/>
              <a:pathLst>
                <a:path w="10159" h="1365885">
                  <a:moveTo>
                    <a:pt x="0" y="0"/>
                  </a:moveTo>
                  <a:lnTo>
                    <a:pt x="9590" y="1365417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49253" y="4098161"/>
              <a:ext cx="10160" cy="1365885"/>
            </a:xfrm>
            <a:custGeom>
              <a:avLst/>
              <a:gdLst/>
              <a:ahLst/>
              <a:cxnLst/>
              <a:rect l="l" t="t" r="r" b="b"/>
              <a:pathLst>
                <a:path w="10159" h="1365885">
                  <a:moveTo>
                    <a:pt x="0" y="0"/>
                  </a:moveTo>
                  <a:lnTo>
                    <a:pt x="9591" y="1365418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031216" y="4386562"/>
            <a:ext cx="2044064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latin typeface="Times New Roman"/>
                <a:cs typeface="Times New Roman"/>
              </a:rPr>
              <a:t>for</a:t>
            </a:r>
            <a:r>
              <a:rPr sz="2250" spc="3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each</a:t>
            </a:r>
            <a:r>
              <a:rPr sz="2250" spc="3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vertex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i="1" dirty="0">
                <a:latin typeface="Times New Roman"/>
                <a:cs typeface="Times New Roman"/>
              </a:rPr>
              <a:t>i</a:t>
            </a:r>
            <a:r>
              <a:rPr sz="2250" i="1" spc="-105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Times New Roman"/>
                <a:cs typeface="Times New Roman"/>
              </a:rPr>
              <a:t>: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67685" y="4372996"/>
            <a:ext cx="542290" cy="640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110"/>
              </a:spcBef>
            </a:pPr>
            <a:r>
              <a:rPr sz="2550" spc="-50" dirty="0">
                <a:latin typeface="Symbol"/>
                <a:cs typeface="Symbol"/>
              </a:rPr>
              <a:t></a:t>
            </a:r>
            <a:endParaRPr sz="2550">
              <a:latin typeface="Symbol"/>
              <a:cs typeface="Symbol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400" i="1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Symbol"/>
                <a:cs typeface="Symbol"/>
              </a:rPr>
              <a:t></a:t>
            </a:r>
            <a:r>
              <a:rPr sz="1400" dirty="0">
                <a:latin typeface="Times New Roman"/>
                <a:cs typeface="Times New Roman"/>
              </a:rPr>
              <a:t>(</a:t>
            </a:r>
            <a:r>
              <a:rPr sz="1400" i="1" dirty="0">
                <a:latin typeface="Times New Roman"/>
                <a:cs typeface="Times New Roman"/>
              </a:rPr>
              <a:t>i</a:t>
            </a:r>
            <a:r>
              <a:rPr sz="1400" i="1" spc="-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j</a:t>
            </a:r>
            <a:r>
              <a:rPr sz="1400" i="1" spc="-18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95599" y="4386562"/>
            <a:ext cx="890269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250" i="1" dirty="0">
                <a:latin typeface="Times New Roman"/>
                <a:cs typeface="Times New Roman"/>
              </a:rPr>
              <a:t>p</a:t>
            </a:r>
            <a:r>
              <a:rPr sz="2100" i="1" baseline="-21825" dirty="0">
                <a:latin typeface="Times New Roman"/>
                <a:cs typeface="Times New Roman"/>
              </a:rPr>
              <a:t>e</a:t>
            </a:r>
            <a:r>
              <a:rPr sz="2100" i="1" spc="135" baseline="-21825" dirty="0">
                <a:latin typeface="Times New Roman"/>
                <a:cs typeface="Times New Roman"/>
              </a:rPr>
              <a:t>  </a:t>
            </a:r>
            <a:r>
              <a:rPr sz="2250" dirty="0">
                <a:latin typeface="Symbol"/>
                <a:cs typeface="Symbol"/>
              </a:rPr>
              <a:t></a:t>
            </a:r>
            <a:r>
              <a:rPr sz="2250" spc="100" dirty="0">
                <a:latin typeface="Times New Roman"/>
                <a:cs typeface="Times New Roman"/>
              </a:rPr>
              <a:t> </a:t>
            </a:r>
            <a:r>
              <a:rPr sz="2250" i="1" spc="-25" dirty="0">
                <a:latin typeface="Times New Roman"/>
                <a:cs typeface="Times New Roman"/>
              </a:rPr>
              <a:t>w</a:t>
            </a:r>
            <a:r>
              <a:rPr sz="2100" i="1" spc="-37" baseline="-21825" dirty="0">
                <a:latin typeface="Times New Roman"/>
                <a:cs typeface="Times New Roman"/>
              </a:rPr>
              <a:t>i</a:t>
            </a:r>
            <a:endParaRPr sz="2100" baseline="-21825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555165" y="7661076"/>
            <a:ext cx="690880" cy="295910"/>
            <a:chOff x="7555165" y="7661076"/>
            <a:chExt cx="690880" cy="295910"/>
          </a:xfrm>
        </p:grpSpPr>
        <p:sp>
          <p:nvSpPr>
            <p:cNvPr id="35" name="object 35"/>
            <p:cNvSpPr/>
            <p:nvPr/>
          </p:nvSpPr>
          <p:spPr>
            <a:xfrm>
              <a:off x="7776819" y="7661084"/>
              <a:ext cx="469265" cy="295910"/>
            </a:xfrm>
            <a:custGeom>
              <a:avLst/>
              <a:gdLst/>
              <a:ahLst/>
              <a:cxnLst/>
              <a:rect l="l" t="t" r="r" b="b"/>
              <a:pathLst>
                <a:path w="469265" h="295909">
                  <a:moveTo>
                    <a:pt x="87617" y="0"/>
                  </a:moveTo>
                  <a:lnTo>
                    <a:pt x="52260" y="23253"/>
                  </a:lnTo>
                  <a:lnTo>
                    <a:pt x="24282" y="58051"/>
                  </a:lnTo>
                  <a:lnTo>
                    <a:pt x="6070" y="100799"/>
                  </a:lnTo>
                  <a:lnTo>
                    <a:pt x="0" y="147878"/>
                  </a:lnTo>
                  <a:lnTo>
                    <a:pt x="774" y="164566"/>
                  </a:lnTo>
                  <a:lnTo>
                    <a:pt x="12382" y="212852"/>
                  </a:lnTo>
                  <a:lnTo>
                    <a:pt x="36842" y="255143"/>
                  </a:lnTo>
                  <a:lnTo>
                    <a:pt x="65633" y="282346"/>
                  </a:lnTo>
                  <a:lnTo>
                    <a:pt x="87617" y="295452"/>
                  </a:lnTo>
                  <a:lnTo>
                    <a:pt x="87617" y="289572"/>
                  </a:lnTo>
                  <a:lnTo>
                    <a:pt x="79984" y="283946"/>
                  </a:lnTo>
                  <a:lnTo>
                    <a:pt x="73113" y="278180"/>
                  </a:lnTo>
                  <a:lnTo>
                    <a:pt x="49060" y="247294"/>
                  </a:lnTo>
                  <a:lnTo>
                    <a:pt x="35864" y="205549"/>
                  </a:lnTo>
                  <a:lnTo>
                    <a:pt x="30962" y="160362"/>
                  </a:lnTo>
                  <a:lnTo>
                    <a:pt x="30632" y="143751"/>
                  </a:lnTo>
                  <a:lnTo>
                    <a:pt x="31013" y="128270"/>
                  </a:lnTo>
                  <a:lnTo>
                    <a:pt x="36817" y="83705"/>
                  </a:lnTo>
                  <a:lnTo>
                    <a:pt x="49682" y="46215"/>
                  </a:lnTo>
                  <a:lnTo>
                    <a:pt x="78282" y="12560"/>
                  </a:lnTo>
                  <a:lnTo>
                    <a:pt x="87617" y="6667"/>
                  </a:lnTo>
                  <a:lnTo>
                    <a:pt x="87617" y="0"/>
                  </a:lnTo>
                  <a:close/>
                </a:path>
                <a:path w="469265" h="295909">
                  <a:moveTo>
                    <a:pt x="397611" y="147561"/>
                  </a:moveTo>
                  <a:lnTo>
                    <a:pt x="390652" y="98285"/>
                  </a:lnTo>
                  <a:lnTo>
                    <a:pt x="370268" y="53314"/>
                  </a:lnTo>
                  <a:lnTo>
                    <a:pt x="341630" y="20281"/>
                  </a:lnTo>
                  <a:lnTo>
                    <a:pt x="309994" y="0"/>
                  </a:lnTo>
                  <a:lnTo>
                    <a:pt x="309994" y="6667"/>
                  </a:lnTo>
                  <a:lnTo>
                    <a:pt x="317690" y="12293"/>
                  </a:lnTo>
                  <a:lnTo>
                    <a:pt x="324599" y="18072"/>
                  </a:lnTo>
                  <a:lnTo>
                    <a:pt x="348602" y="48907"/>
                  </a:lnTo>
                  <a:lnTo>
                    <a:pt x="361734" y="90538"/>
                  </a:lnTo>
                  <a:lnTo>
                    <a:pt x="366649" y="135775"/>
                  </a:lnTo>
                  <a:lnTo>
                    <a:pt x="366877" y="147561"/>
                  </a:lnTo>
                  <a:lnTo>
                    <a:pt x="366979" y="152336"/>
                  </a:lnTo>
                  <a:lnTo>
                    <a:pt x="363537" y="197891"/>
                  </a:lnTo>
                  <a:lnTo>
                    <a:pt x="353123" y="238747"/>
                  </a:lnTo>
                  <a:lnTo>
                    <a:pt x="327787" y="276682"/>
                  </a:lnTo>
                  <a:lnTo>
                    <a:pt x="309994" y="289572"/>
                  </a:lnTo>
                  <a:lnTo>
                    <a:pt x="309994" y="295452"/>
                  </a:lnTo>
                  <a:lnTo>
                    <a:pt x="345452" y="272199"/>
                  </a:lnTo>
                  <a:lnTo>
                    <a:pt x="373405" y="237388"/>
                  </a:lnTo>
                  <a:lnTo>
                    <a:pt x="391553" y="194640"/>
                  </a:lnTo>
                  <a:lnTo>
                    <a:pt x="396100" y="171640"/>
                  </a:lnTo>
                  <a:lnTo>
                    <a:pt x="397611" y="147561"/>
                  </a:lnTo>
                  <a:close/>
                </a:path>
                <a:path w="469265" h="295909">
                  <a:moveTo>
                    <a:pt x="468731" y="207822"/>
                  </a:moveTo>
                  <a:lnTo>
                    <a:pt x="467042" y="203669"/>
                  </a:lnTo>
                  <a:lnTo>
                    <a:pt x="460273" y="196786"/>
                  </a:lnTo>
                  <a:lnTo>
                    <a:pt x="456082" y="195059"/>
                  </a:lnTo>
                  <a:lnTo>
                    <a:pt x="446252" y="195059"/>
                  </a:lnTo>
                  <a:lnTo>
                    <a:pt x="442061" y="196786"/>
                  </a:lnTo>
                  <a:lnTo>
                    <a:pt x="435216" y="203530"/>
                  </a:lnTo>
                  <a:lnTo>
                    <a:pt x="433501" y="207822"/>
                  </a:lnTo>
                  <a:lnTo>
                    <a:pt x="433501" y="217563"/>
                  </a:lnTo>
                  <a:lnTo>
                    <a:pt x="435216" y="221716"/>
                  </a:lnTo>
                  <a:lnTo>
                    <a:pt x="442099" y="228600"/>
                  </a:lnTo>
                  <a:lnTo>
                    <a:pt x="446252" y="230327"/>
                  </a:lnTo>
                  <a:lnTo>
                    <a:pt x="455980" y="230327"/>
                  </a:lnTo>
                  <a:lnTo>
                    <a:pt x="460133" y="228600"/>
                  </a:lnTo>
                  <a:lnTo>
                    <a:pt x="467017" y="221716"/>
                  </a:lnTo>
                  <a:lnTo>
                    <a:pt x="468731" y="217563"/>
                  </a:lnTo>
                  <a:lnTo>
                    <a:pt x="468731" y="207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8175" y="7666635"/>
              <a:ext cx="173956" cy="22524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5165" y="7743198"/>
              <a:ext cx="209509" cy="147568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6678180" y="7743202"/>
            <a:ext cx="250190" cy="227965"/>
          </a:xfrm>
          <a:custGeom>
            <a:avLst/>
            <a:gdLst/>
            <a:ahLst/>
            <a:cxnLst/>
            <a:rect l="l" t="t" r="r" b="b"/>
            <a:pathLst>
              <a:path w="250190" h="227965">
                <a:moveTo>
                  <a:pt x="209511" y="12395"/>
                </a:moveTo>
                <a:lnTo>
                  <a:pt x="208000" y="8077"/>
                </a:lnTo>
                <a:lnTo>
                  <a:pt x="201968" y="1612"/>
                </a:lnTo>
                <a:lnTo>
                  <a:pt x="198297" y="0"/>
                </a:lnTo>
                <a:lnTo>
                  <a:pt x="190144" y="0"/>
                </a:lnTo>
                <a:lnTo>
                  <a:pt x="187020" y="1143"/>
                </a:lnTo>
                <a:lnTo>
                  <a:pt x="182156" y="5689"/>
                </a:lnTo>
                <a:lnTo>
                  <a:pt x="180936" y="8470"/>
                </a:lnTo>
                <a:lnTo>
                  <a:pt x="180936" y="13982"/>
                </a:lnTo>
                <a:lnTo>
                  <a:pt x="181229" y="15049"/>
                </a:lnTo>
                <a:lnTo>
                  <a:pt x="181343" y="15405"/>
                </a:lnTo>
                <a:lnTo>
                  <a:pt x="181419" y="15722"/>
                </a:lnTo>
                <a:lnTo>
                  <a:pt x="181521" y="16078"/>
                </a:lnTo>
                <a:lnTo>
                  <a:pt x="183845" y="19989"/>
                </a:lnTo>
                <a:lnTo>
                  <a:pt x="185889" y="21894"/>
                </a:lnTo>
                <a:lnTo>
                  <a:pt x="191706" y="25603"/>
                </a:lnTo>
                <a:lnTo>
                  <a:pt x="193370" y="27000"/>
                </a:lnTo>
                <a:lnTo>
                  <a:pt x="193802" y="27965"/>
                </a:lnTo>
                <a:lnTo>
                  <a:pt x="194754" y="29603"/>
                </a:lnTo>
                <a:lnTo>
                  <a:pt x="194856" y="29756"/>
                </a:lnTo>
                <a:lnTo>
                  <a:pt x="195389" y="31826"/>
                </a:lnTo>
                <a:lnTo>
                  <a:pt x="195389" y="34150"/>
                </a:lnTo>
                <a:lnTo>
                  <a:pt x="194894" y="37642"/>
                </a:lnTo>
                <a:lnTo>
                  <a:pt x="194779" y="38468"/>
                </a:lnTo>
                <a:lnTo>
                  <a:pt x="176758" y="72758"/>
                </a:lnTo>
                <a:lnTo>
                  <a:pt x="141579" y="119138"/>
                </a:lnTo>
                <a:lnTo>
                  <a:pt x="134162" y="38468"/>
                </a:lnTo>
                <a:lnTo>
                  <a:pt x="134086" y="37642"/>
                </a:lnTo>
                <a:lnTo>
                  <a:pt x="130771" y="1612"/>
                </a:lnTo>
                <a:lnTo>
                  <a:pt x="130733" y="1143"/>
                </a:lnTo>
                <a:lnTo>
                  <a:pt x="130632" y="0"/>
                </a:lnTo>
                <a:lnTo>
                  <a:pt x="124752" y="0"/>
                </a:lnTo>
                <a:lnTo>
                  <a:pt x="59524" y="107696"/>
                </a:lnTo>
                <a:lnTo>
                  <a:pt x="59283" y="105206"/>
                </a:lnTo>
                <a:lnTo>
                  <a:pt x="59182" y="104038"/>
                </a:lnTo>
                <a:lnTo>
                  <a:pt x="58801" y="98450"/>
                </a:lnTo>
                <a:lnTo>
                  <a:pt x="58381" y="90932"/>
                </a:lnTo>
                <a:lnTo>
                  <a:pt x="57937" y="81495"/>
                </a:lnTo>
                <a:lnTo>
                  <a:pt x="56083" y="55791"/>
                </a:lnTo>
                <a:lnTo>
                  <a:pt x="53467" y="34150"/>
                </a:lnTo>
                <a:lnTo>
                  <a:pt x="53403" y="33642"/>
                </a:lnTo>
                <a:lnTo>
                  <a:pt x="50190" y="16624"/>
                </a:lnTo>
                <a:lnTo>
                  <a:pt x="50088" y="16078"/>
                </a:lnTo>
                <a:lnTo>
                  <a:pt x="49961" y="15405"/>
                </a:lnTo>
                <a:lnTo>
                  <a:pt x="49898" y="15049"/>
                </a:lnTo>
                <a:lnTo>
                  <a:pt x="45554" y="0"/>
                </a:lnTo>
                <a:lnTo>
                  <a:pt x="0" y="10642"/>
                </a:lnTo>
                <a:lnTo>
                  <a:pt x="0" y="16357"/>
                </a:lnTo>
                <a:lnTo>
                  <a:pt x="4762" y="15722"/>
                </a:lnTo>
                <a:lnTo>
                  <a:pt x="8674" y="15405"/>
                </a:lnTo>
                <a:lnTo>
                  <a:pt x="17145" y="15405"/>
                </a:lnTo>
                <a:lnTo>
                  <a:pt x="21158" y="16624"/>
                </a:lnTo>
                <a:lnTo>
                  <a:pt x="34315" y="61912"/>
                </a:lnTo>
                <a:lnTo>
                  <a:pt x="37719" y="115443"/>
                </a:lnTo>
                <a:lnTo>
                  <a:pt x="38569" y="147574"/>
                </a:lnTo>
                <a:lnTo>
                  <a:pt x="45554" y="147574"/>
                </a:lnTo>
                <a:lnTo>
                  <a:pt x="69329" y="107696"/>
                </a:lnTo>
                <a:lnTo>
                  <a:pt x="111099" y="37642"/>
                </a:lnTo>
                <a:lnTo>
                  <a:pt x="121424" y="147574"/>
                </a:lnTo>
                <a:lnTo>
                  <a:pt x="127292" y="147574"/>
                </a:lnTo>
                <a:lnTo>
                  <a:pt x="153873" y="116509"/>
                </a:lnTo>
                <a:lnTo>
                  <a:pt x="180086" y="81178"/>
                </a:lnTo>
                <a:lnTo>
                  <a:pt x="204177" y="40525"/>
                </a:lnTo>
                <a:lnTo>
                  <a:pt x="209511" y="23304"/>
                </a:lnTo>
                <a:lnTo>
                  <a:pt x="209511" y="12395"/>
                </a:lnTo>
                <a:close/>
              </a:path>
              <a:path w="250190" h="227965">
                <a:moveTo>
                  <a:pt x="240677" y="129247"/>
                </a:moveTo>
                <a:lnTo>
                  <a:pt x="204165" y="135178"/>
                </a:lnTo>
                <a:lnTo>
                  <a:pt x="204165" y="139306"/>
                </a:lnTo>
                <a:lnTo>
                  <a:pt x="208368" y="138645"/>
                </a:lnTo>
                <a:lnTo>
                  <a:pt x="208153" y="138645"/>
                </a:lnTo>
                <a:lnTo>
                  <a:pt x="212242" y="138150"/>
                </a:lnTo>
                <a:lnTo>
                  <a:pt x="215696" y="138150"/>
                </a:lnTo>
                <a:lnTo>
                  <a:pt x="217195" y="138645"/>
                </a:lnTo>
                <a:lnTo>
                  <a:pt x="219379" y="140614"/>
                </a:lnTo>
                <a:lnTo>
                  <a:pt x="219925" y="141884"/>
                </a:lnTo>
                <a:lnTo>
                  <a:pt x="219925" y="145415"/>
                </a:lnTo>
                <a:lnTo>
                  <a:pt x="218808" y="150291"/>
                </a:lnTo>
                <a:lnTo>
                  <a:pt x="201028" y="211569"/>
                </a:lnTo>
                <a:lnTo>
                  <a:pt x="200177" y="215734"/>
                </a:lnTo>
                <a:lnTo>
                  <a:pt x="200139" y="221132"/>
                </a:lnTo>
                <a:lnTo>
                  <a:pt x="201066" y="223304"/>
                </a:lnTo>
                <a:lnTo>
                  <a:pt x="204736" y="226758"/>
                </a:lnTo>
                <a:lnTo>
                  <a:pt x="207098" y="227634"/>
                </a:lnTo>
                <a:lnTo>
                  <a:pt x="214363" y="227634"/>
                </a:lnTo>
                <a:lnTo>
                  <a:pt x="218948" y="225755"/>
                </a:lnTo>
                <a:lnTo>
                  <a:pt x="230225" y="217004"/>
                </a:lnTo>
                <a:lnTo>
                  <a:pt x="230873" y="216293"/>
                </a:lnTo>
                <a:lnTo>
                  <a:pt x="235877" y="210820"/>
                </a:lnTo>
                <a:lnTo>
                  <a:pt x="240677" y="203479"/>
                </a:lnTo>
                <a:lnTo>
                  <a:pt x="236969" y="201053"/>
                </a:lnTo>
                <a:lnTo>
                  <a:pt x="232879" y="206908"/>
                </a:lnTo>
                <a:lnTo>
                  <a:pt x="229362" y="210820"/>
                </a:lnTo>
                <a:lnTo>
                  <a:pt x="228638" y="211569"/>
                </a:lnTo>
                <a:lnTo>
                  <a:pt x="224802" y="214604"/>
                </a:lnTo>
                <a:lnTo>
                  <a:pt x="223316" y="215734"/>
                </a:lnTo>
                <a:lnTo>
                  <a:pt x="222046" y="216293"/>
                </a:lnTo>
                <a:lnTo>
                  <a:pt x="220078" y="216293"/>
                </a:lnTo>
                <a:lnTo>
                  <a:pt x="219278" y="215950"/>
                </a:lnTo>
                <a:lnTo>
                  <a:pt x="218008" y="214604"/>
                </a:lnTo>
                <a:lnTo>
                  <a:pt x="217601" y="213614"/>
                </a:lnTo>
                <a:lnTo>
                  <a:pt x="217601" y="211569"/>
                </a:lnTo>
                <a:lnTo>
                  <a:pt x="218313" y="208495"/>
                </a:lnTo>
                <a:lnTo>
                  <a:pt x="238163" y="138150"/>
                </a:lnTo>
                <a:lnTo>
                  <a:pt x="240677" y="129247"/>
                </a:lnTo>
                <a:close/>
              </a:path>
              <a:path w="250190" h="227965">
                <a:moveTo>
                  <a:pt x="249872" y="94830"/>
                </a:moveTo>
                <a:lnTo>
                  <a:pt x="248856" y="92329"/>
                </a:lnTo>
                <a:lnTo>
                  <a:pt x="244767" y="88226"/>
                </a:lnTo>
                <a:lnTo>
                  <a:pt x="242252" y="87210"/>
                </a:lnTo>
                <a:lnTo>
                  <a:pt x="236334" y="87210"/>
                </a:lnTo>
                <a:lnTo>
                  <a:pt x="233832" y="88226"/>
                </a:lnTo>
                <a:lnTo>
                  <a:pt x="229743" y="92329"/>
                </a:lnTo>
                <a:lnTo>
                  <a:pt x="228714" y="94830"/>
                </a:lnTo>
                <a:lnTo>
                  <a:pt x="228714" y="100698"/>
                </a:lnTo>
                <a:lnTo>
                  <a:pt x="229755" y="103187"/>
                </a:lnTo>
                <a:lnTo>
                  <a:pt x="233921" y="107353"/>
                </a:lnTo>
                <a:lnTo>
                  <a:pt x="236397" y="108394"/>
                </a:lnTo>
                <a:lnTo>
                  <a:pt x="242189" y="108394"/>
                </a:lnTo>
                <a:lnTo>
                  <a:pt x="244678" y="107353"/>
                </a:lnTo>
                <a:lnTo>
                  <a:pt x="248831" y="103187"/>
                </a:lnTo>
                <a:lnTo>
                  <a:pt x="249872" y="100698"/>
                </a:lnTo>
                <a:lnTo>
                  <a:pt x="249872" y="94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15077" y="7743202"/>
            <a:ext cx="288290" cy="227965"/>
          </a:xfrm>
          <a:custGeom>
            <a:avLst/>
            <a:gdLst/>
            <a:ahLst/>
            <a:cxnLst/>
            <a:rect l="l" t="t" r="r" b="b"/>
            <a:pathLst>
              <a:path w="288289" h="227965">
                <a:moveTo>
                  <a:pt x="189509" y="40347"/>
                </a:moveTo>
                <a:lnTo>
                  <a:pt x="181533" y="13982"/>
                </a:lnTo>
                <a:lnTo>
                  <a:pt x="181419" y="13817"/>
                </a:lnTo>
                <a:lnTo>
                  <a:pt x="179514" y="11201"/>
                </a:lnTo>
                <a:lnTo>
                  <a:pt x="174256" y="6299"/>
                </a:lnTo>
                <a:lnTo>
                  <a:pt x="168478" y="2806"/>
                </a:lnTo>
                <a:lnTo>
                  <a:pt x="162369" y="762"/>
                </a:lnTo>
                <a:lnTo>
                  <a:pt x="162369" y="31559"/>
                </a:lnTo>
                <a:lnTo>
                  <a:pt x="162356" y="40347"/>
                </a:lnTo>
                <a:lnTo>
                  <a:pt x="162052" y="47917"/>
                </a:lnTo>
                <a:lnTo>
                  <a:pt x="161201" y="54889"/>
                </a:lnTo>
                <a:lnTo>
                  <a:pt x="161086" y="55841"/>
                </a:lnTo>
                <a:lnTo>
                  <a:pt x="148717" y="93497"/>
                </a:lnTo>
                <a:lnTo>
                  <a:pt x="125412" y="126606"/>
                </a:lnTo>
                <a:lnTo>
                  <a:pt x="102806" y="138836"/>
                </a:lnTo>
                <a:lnTo>
                  <a:pt x="97294" y="138836"/>
                </a:lnTo>
                <a:lnTo>
                  <a:pt x="89395" y="138099"/>
                </a:lnTo>
                <a:lnTo>
                  <a:pt x="82334" y="135890"/>
                </a:lnTo>
                <a:lnTo>
                  <a:pt x="76136" y="132219"/>
                </a:lnTo>
                <a:lnTo>
                  <a:pt x="70789" y="127076"/>
                </a:lnTo>
                <a:lnTo>
                  <a:pt x="84594" y="79578"/>
                </a:lnTo>
                <a:lnTo>
                  <a:pt x="101307" y="43789"/>
                </a:lnTo>
                <a:lnTo>
                  <a:pt x="134467" y="15049"/>
                </a:lnTo>
                <a:lnTo>
                  <a:pt x="143014" y="13817"/>
                </a:lnTo>
                <a:lnTo>
                  <a:pt x="148196" y="13817"/>
                </a:lnTo>
                <a:lnTo>
                  <a:pt x="152717" y="16078"/>
                </a:lnTo>
                <a:lnTo>
                  <a:pt x="160439" y="25069"/>
                </a:lnTo>
                <a:lnTo>
                  <a:pt x="162369" y="31559"/>
                </a:lnTo>
                <a:lnTo>
                  <a:pt x="162369" y="762"/>
                </a:lnTo>
                <a:lnTo>
                  <a:pt x="162191" y="698"/>
                </a:lnTo>
                <a:lnTo>
                  <a:pt x="155384" y="0"/>
                </a:lnTo>
                <a:lnTo>
                  <a:pt x="148361" y="508"/>
                </a:lnTo>
                <a:lnTo>
                  <a:pt x="113068" y="19380"/>
                </a:lnTo>
                <a:lnTo>
                  <a:pt x="96824" y="36537"/>
                </a:lnTo>
                <a:lnTo>
                  <a:pt x="103492" y="14300"/>
                </a:lnTo>
                <a:lnTo>
                  <a:pt x="103581" y="13982"/>
                </a:lnTo>
                <a:lnTo>
                  <a:pt x="103708" y="13563"/>
                </a:lnTo>
                <a:lnTo>
                  <a:pt x="103822" y="13182"/>
                </a:lnTo>
                <a:lnTo>
                  <a:pt x="107772" y="0"/>
                </a:lnTo>
                <a:lnTo>
                  <a:pt x="53327" y="8102"/>
                </a:lnTo>
                <a:lnTo>
                  <a:pt x="53327" y="14300"/>
                </a:lnTo>
                <a:lnTo>
                  <a:pt x="58839" y="13563"/>
                </a:lnTo>
                <a:lnTo>
                  <a:pt x="63119" y="13182"/>
                </a:lnTo>
                <a:lnTo>
                  <a:pt x="69570" y="13182"/>
                </a:lnTo>
                <a:lnTo>
                  <a:pt x="72085" y="13982"/>
                </a:lnTo>
                <a:lnTo>
                  <a:pt x="74244" y="16078"/>
                </a:lnTo>
                <a:lnTo>
                  <a:pt x="75387" y="17221"/>
                </a:lnTo>
                <a:lnTo>
                  <a:pt x="75958" y="18745"/>
                </a:lnTo>
                <a:lnTo>
                  <a:pt x="76022" y="25069"/>
                </a:lnTo>
                <a:lnTo>
                  <a:pt x="74968" y="29806"/>
                </a:lnTo>
                <a:lnTo>
                  <a:pt x="32385" y="177749"/>
                </a:lnTo>
                <a:lnTo>
                  <a:pt x="1587" y="207454"/>
                </a:lnTo>
                <a:lnTo>
                  <a:pt x="0" y="213334"/>
                </a:lnTo>
                <a:lnTo>
                  <a:pt x="74764" y="213334"/>
                </a:lnTo>
                <a:lnTo>
                  <a:pt x="76187" y="207454"/>
                </a:lnTo>
                <a:lnTo>
                  <a:pt x="68046" y="207454"/>
                </a:lnTo>
                <a:lnTo>
                  <a:pt x="62903" y="207035"/>
                </a:lnTo>
                <a:lnTo>
                  <a:pt x="62674" y="207035"/>
                </a:lnTo>
                <a:lnTo>
                  <a:pt x="57086" y="205206"/>
                </a:lnTo>
                <a:lnTo>
                  <a:pt x="55105" y="203936"/>
                </a:lnTo>
                <a:lnTo>
                  <a:pt x="52666" y="200647"/>
                </a:lnTo>
                <a:lnTo>
                  <a:pt x="52057" y="198666"/>
                </a:lnTo>
                <a:lnTo>
                  <a:pt x="52057" y="193992"/>
                </a:lnTo>
                <a:lnTo>
                  <a:pt x="53225" y="188658"/>
                </a:lnTo>
                <a:lnTo>
                  <a:pt x="55549" y="180606"/>
                </a:lnTo>
                <a:lnTo>
                  <a:pt x="67144" y="139623"/>
                </a:lnTo>
                <a:lnTo>
                  <a:pt x="72224" y="142595"/>
                </a:lnTo>
                <a:lnTo>
                  <a:pt x="76796" y="144653"/>
                </a:lnTo>
                <a:lnTo>
                  <a:pt x="84937" y="146989"/>
                </a:lnTo>
                <a:lnTo>
                  <a:pt x="89623" y="147574"/>
                </a:lnTo>
                <a:lnTo>
                  <a:pt x="94919" y="147574"/>
                </a:lnTo>
                <a:lnTo>
                  <a:pt x="113220" y="145313"/>
                </a:lnTo>
                <a:lnTo>
                  <a:pt x="127584" y="139623"/>
                </a:lnTo>
                <a:lnTo>
                  <a:pt x="129603" y="138836"/>
                </a:lnTo>
                <a:lnTo>
                  <a:pt x="161099" y="111429"/>
                </a:lnTo>
                <a:lnTo>
                  <a:pt x="182410" y="75590"/>
                </a:lnTo>
                <a:lnTo>
                  <a:pt x="187731" y="57899"/>
                </a:lnTo>
                <a:lnTo>
                  <a:pt x="189509" y="40347"/>
                </a:lnTo>
                <a:close/>
              </a:path>
              <a:path w="288289" h="227965">
                <a:moveTo>
                  <a:pt x="288239" y="140436"/>
                </a:moveTo>
                <a:lnTo>
                  <a:pt x="286435" y="136842"/>
                </a:lnTo>
                <a:lnTo>
                  <a:pt x="283718" y="134543"/>
                </a:lnTo>
                <a:lnTo>
                  <a:pt x="279247" y="130771"/>
                </a:lnTo>
                <a:lnTo>
                  <a:pt x="273710" y="129247"/>
                </a:lnTo>
                <a:lnTo>
                  <a:pt x="273100" y="129247"/>
                </a:lnTo>
                <a:lnTo>
                  <a:pt x="273100" y="141528"/>
                </a:lnTo>
                <a:lnTo>
                  <a:pt x="273088" y="149415"/>
                </a:lnTo>
                <a:lnTo>
                  <a:pt x="241795" y="175844"/>
                </a:lnTo>
                <a:lnTo>
                  <a:pt x="221576" y="179971"/>
                </a:lnTo>
                <a:lnTo>
                  <a:pt x="224828" y="169430"/>
                </a:lnTo>
                <a:lnTo>
                  <a:pt x="251193" y="137414"/>
                </a:lnTo>
                <a:lnTo>
                  <a:pt x="262318" y="134543"/>
                </a:lnTo>
                <a:lnTo>
                  <a:pt x="265772" y="134543"/>
                </a:lnTo>
                <a:lnTo>
                  <a:pt x="268427" y="135458"/>
                </a:lnTo>
                <a:lnTo>
                  <a:pt x="272173" y="139128"/>
                </a:lnTo>
                <a:lnTo>
                  <a:pt x="273100" y="141528"/>
                </a:lnTo>
                <a:lnTo>
                  <a:pt x="273100" y="129247"/>
                </a:lnTo>
                <a:lnTo>
                  <a:pt x="266230" y="129247"/>
                </a:lnTo>
                <a:lnTo>
                  <a:pt x="258508" y="129819"/>
                </a:lnTo>
                <a:lnTo>
                  <a:pt x="222504" y="149415"/>
                </a:lnTo>
                <a:lnTo>
                  <a:pt x="202399" y="188455"/>
                </a:lnTo>
                <a:lnTo>
                  <a:pt x="201790" y="196392"/>
                </a:lnTo>
                <a:lnTo>
                  <a:pt x="201790" y="204228"/>
                </a:lnTo>
                <a:lnTo>
                  <a:pt x="204406" y="211404"/>
                </a:lnTo>
                <a:lnTo>
                  <a:pt x="214833" y="224383"/>
                </a:lnTo>
                <a:lnTo>
                  <a:pt x="222592" y="227634"/>
                </a:lnTo>
                <a:lnTo>
                  <a:pt x="232892" y="227634"/>
                </a:lnTo>
                <a:lnTo>
                  <a:pt x="268325" y="213626"/>
                </a:lnTo>
                <a:lnTo>
                  <a:pt x="280720" y="202742"/>
                </a:lnTo>
                <a:lnTo>
                  <a:pt x="278498" y="199669"/>
                </a:lnTo>
                <a:lnTo>
                  <a:pt x="269265" y="206806"/>
                </a:lnTo>
                <a:lnTo>
                  <a:pt x="262293" y="211404"/>
                </a:lnTo>
                <a:lnTo>
                  <a:pt x="252907" y="215569"/>
                </a:lnTo>
                <a:lnTo>
                  <a:pt x="248031" y="216611"/>
                </a:lnTo>
                <a:lnTo>
                  <a:pt x="236601" y="216611"/>
                </a:lnTo>
                <a:lnTo>
                  <a:pt x="231203" y="214414"/>
                </a:lnTo>
                <a:lnTo>
                  <a:pt x="222313" y="205587"/>
                </a:lnTo>
                <a:lnTo>
                  <a:pt x="220091" y="200240"/>
                </a:lnTo>
                <a:lnTo>
                  <a:pt x="220091" y="191617"/>
                </a:lnTo>
                <a:lnTo>
                  <a:pt x="220345" y="188696"/>
                </a:lnTo>
                <a:lnTo>
                  <a:pt x="220840" y="185166"/>
                </a:lnTo>
                <a:lnTo>
                  <a:pt x="230974" y="183832"/>
                </a:lnTo>
                <a:lnTo>
                  <a:pt x="239903" y="182257"/>
                </a:lnTo>
                <a:lnTo>
                  <a:pt x="247637" y="180441"/>
                </a:lnTo>
                <a:lnTo>
                  <a:pt x="249110" y="179971"/>
                </a:lnTo>
                <a:lnTo>
                  <a:pt x="254165" y="178384"/>
                </a:lnTo>
                <a:lnTo>
                  <a:pt x="285915" y="156083"/>
                </a:lnTo>
                <a:lnTo>
                  <a:pt x="288239" y="150469"/>
                </a:lnTo>
                <a:lnTo>
                  <a:pt x="288239" y="140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184144" y="7743202"/>
            <a:ext cx="288290" cy="227965"/>
          </a:xfrm>
          <a:custGeom>
            <a:avLst/>
            <a:gdLst/>
            <a:ahLst/>
            <a:cxnLst/>
            <a:rect l="l" t="t" r="r" b="b"/>
            <a:pathLst>
              <a:path w="288289" h="227965">
                <a:moveTo>
                  <a:pt x="189509" y="40347"/>
                </a:moveTo>
                <a:lnTo>
                  <a:pt x="181533" y="13982"/>
                </a:lnTo>
                <a:lnTo>
                  <a:pt x="181419" y="13817"/>
                </a:lnTo>
                <a:lnTo>
                  <a:pt x="179514" y="11201"/>
                </a:lnTo>
                <a:lnTo>
                  <a:pt x="174256" y="6299"/>
                </a:lnTo>
                <a:lnTo>
                  <a:pt x="168478" y="2806"/>
                </a:lnTo>
                <a:lnTo>
                  <a:pt x="162369" y="762"/>
                </a:lnTo>
                <a:lnTo>
                  <a:pt x="162369" y="31559"/>
                </a:lnTo>
                <a:lnTo>
                  <a:pt x="162356" y="40347"/>
                </a:lnTo>
                <a:lnTo>
                  <a:pt x="162052" y="47917"/>
                </a:lnTo>
                <a:lnTo>
                  <a:pt x="161201" y="54889"/>
                </a:lnTo>
                <a:lnTo>
                  <a:pt x="161086" y="55841"/>
                </a:lnTo>
                <a:lnTo>
                  <a:pt x="148717" y="93497"/>
                </a:lnTo>
                <a:lnTo>
                  <a:pt x="125412" y="126606"/>
                </a:lnTo>
                <a:lnTo>
                  <a:pt x="102793" y="138836"/>
                </a:lnTo>
                <a:lnTo>
                  <a:pt x="97294" y="138836"/>
                </a:lnTo>
                <a:lnTo>
                  <a:pt x="89395" y="138099"/>
                </a:lnTo>
                <a:lnTo>
                  <a:pt x="82334" y="135890"/>
                </a:lnTo>
                <a:lnTo>
                  <a:pt x="76136" y="132219"/>
                </a:lnTo>
                <a:lnTo>
                  <a:pt x="70789" y="127076"/>
                </a:lnTo>
                <a:lnTo>
                  <a:pt x="84594" y="79578"/>
                </a:lnTo>
                <a:lnTo>
                  <a:pt x="101307" y="43789"/>
                </a:lnTo>
                <a:lnTo>
                  <a:pt x="134467" y="15049"/>
                </a:lnTo>
                <a:lnTo>
                  <a:pt x="143014" y="13817"/>
                </a:lnTo>
                <a:lnTo>
                  <a:pt x="148196" y="13817"/>
                </a:lnTo>
                <a:lnTo>
                  <a:pt x="152717" y="16078"/>
                </a:lnTo>
                <a:lnTo>
                  <a:pt x="160439" y="25069"/>
                </a:lnTo>
                <a:lnTo>
                  <a:pt x="162369" y="31559"/>
                </a:lnTo>
                <a:lnTo>
                  <a:pt x="162369" y="762"/>
                </a:lnTo>
                <a:lnTo>
                  <a:pt x="162191" y="698"/>
                </a:lnTo>
                <a:lnTo>
                  <a:pt x="155384" y="0"/>
                </a:lnTo>
                <a:lnTo>
                  <a:pt x="148361" y="508"/>
                </a:lnTo>
                <a:lnTo>
                  <a:pt x="113068" y="19380"/>
                </a:lnTo>
                <a:lnTo>
                  <a:pt x="96824" y="36537"/>
                </a:lnTo>
                <a:lnTo>
                  <a:pt x="103492" y="14300"/>
                </a:lnTo>
                <a:lnTo>
                  <a:pt x="103581" y="13982"/>
                </a:lnTo>
                <a:lnTo>
                  <a:pt x="103708" y="13563"/>
                </a:lnTo>
                <a:lnTo>
                  <a:pt x="103822" y="13182"/>
                </a:lnTo>
                <a:lnTo>
                  <a:pt x="107772" y="0"/>
                </a:lnTo>
                <a:lnTo>
                  <a:pt x="53327" y="8102"/>
                </a:lnTo>
                <a:lnTo>
                  <a:pt x="53327" y="14300"/>
                </a:lnTo>
                <a:lnTo>
                  <a:pt x="58839" y="13563"/>
                </a:lnTo>
                <a:lnTo>
                  <a:pt x="63119" y="13182"/>
                </a:lnTo>
                <a:lnTo>
                  <a:pt x="69570" y="13182"/>
                </a:lnTo>
                <a:lnTo>
                  <a:pt x="72085" y="13982"/>
                </a:lnTo>
                <a:lnTo>
                  <a:pt x="74244" y="16078"/>
                </a:lnTo>
                <a:lnTo>
                  <a:pt x="75387" y="17221"/>
                </a:lnTo>
                <a:lnTo>
                  <a:pt x="75958" y="18745"/>
                </a:lnTo>
                <a:lnTo>
                  <a:pt x="76022" y="25069"/>
                </a:lnTo>
                <a:lnTo>
                  <a:pt x="74968" y="29806"/>
                </a:lnTo>
                <a:lnTo>
                  <a:pt x="32385" y="177749"/>
                </a:lnTo>
                <a:lnTo>
                  <a:pt x="1587" y="207454"/>
                </a:lnTo>
                <a:lnTo>
                  <a:pt x="0" y="213334"/>
                </a:lnTo>
                <a:lnTo>
                  <a:pt x="74764" y="213334"/>
                </a:lnTo>
                <a:lnTo>
                  <a:pt x="76187" y="207454"/>
                </a:lnTo>
                <a:lnTo>
                  <a:pt x="68033" y="207454"/>
                </a:lnTo>
                <a:lnTo>
                  <a:pt x="62903" y="207035"/>
                </a:lnTo>
                <a:lnTo>
                  <a:pt x="62674" y="207035"/>
                </a:lnTo>
                <a:lnTo>
                  <a:pt x="57086" y="205206"/>
                </a:lnTo>
                <a:lnTo>
                  <a:pt x="55105" y="203936"/>
                </a:lnTo>
                <a:lnTo>
                  <a:pt x="52666" y="200647"/>
                </a:lnTo>
                <a:lnTo>
                  <a:pt x="52057" y="198666"/>
                </a:lnTo>
                <a:lnTo>
                  <a:pt x="52057" y="193992"/>
                </a:lnTo>
                <a:lnTo>
                  <a:pt x="53225" y="188658"/>
                </a:lnTo>
                <a:lnTo>
                  <a:pt x="55549" y="180606"/>
                </a:lnTo>
                <a:lnTo>
                  <a:pt x="67144" y="139623"/>
                </a:lnTo>
                <a:lnTo>
                  <a:pt x="72224" y="142595"/>
                </a:lnTo>
                <a:lnTo>
                  <a:pt x="76796" y="144653"/>
                </a:lnTo>
                <a:lnTo>
                  <a:pt x="84950" y="146989"/>
                </a:lnTo>
                <a:lnTo>
                  <a:pt x="89623" y="147574"/>
                </a:lnTo>
                <a:lnTo>
                  <a:pt x="94919" y="147574"/>
                </a:lnTo>
                <a:lnTo>
                  <a:pt x="113220" y="145313"/>
                </a:lnTo>
                <a:lnTo>
                  <a:pt x="127584" y="139623"/>
                </a:lnTo>
                <a:lnTo>
                  <a:pt x="129603" y="138836"/>
                </a:lnTo>
                <a:lnTo>
                  <a:pt x="161099" y="111429"/>
                </a:lnTo>
                <a:lnTo>
                  <a:pt x="182410" y="75590"/>
                </a:lnTo>
                <a:lnTo>
                  <a:pt x="187731" y="57899"/>
                </a:lnTo>
                <a:lnTo>
                  <a:pt x="189509" y="40347"/>
                </a:lnTo>
                <a:close/>
              </a:path>
              <a:path w="288289" h="227965">
                <a:moveTo>
                  <a:pt x="288239" y="140436"/>
                </a:moveTo>
                <a:lnTo>
                  <a:pt x="286435" y="136842"/>
                </a:lnTo>
                <a:lnTo>
                  <a:pt x="283718" y="134543"/>
                </a:lnTo>
                <a:lnTo>
                  <a:pt x="279247" y="130771"/>
                </a:lnTo>
                <a:lnTo>
                  <a:pt x="273710" y="129247"/>
                </a:lnTo>
                <a:lnTo>
                  <a:pt x="273100" y="129247"/>
                </a:lnTo>
                <a:lnTo>
                  <a:pt x="273100" y="141528"/>
                </a:lnTo>
                <a:lnTo>
                  <a:pt x="273088" y="149415"/>
                </a:lnTo>
                <a:lnTo>
                  <a:pt x="241795" y="175844"/>
                </a:lnTo>
                <a:lnTo>
                  <a:pt x="221576" y="179971"/>
                </a:lnTo>
                <a:lnTo>
                  <a:pt x="224828" y="169430"/>
                </a:lnTo>
                <a:lnTo>
                  <a:pt x="251193" y="137414"/>
                </a:lnTo>
                <a:lnTo>
                  <a:pt x="262318" y="134543"/>
                </a:lnTo>
                <a:lnTo>
                  <a:pt x="265772" y="134543"/>
                </a:lnTo>
                <a:lnTo>
                  <a:pt x="268427" y="135458"/>
                </a:lnTo>
                <a:lnTo>
                  <a:pt x="272173" y="139128"/>
                </a:lnTo>
                <a:lnTo>
                  <a:pt x="273100" y="141528"/>
                </a:lnTo>
                <a:lnTo>
                  <a:pt x="273100" y="129247"/>
                </a:lnTo>
                <a:lnTo>
                  <a:pt x="266230" y="129247"/>
                </a:lnTo>
                <a:lnTo>
                  <a:pt x="258508" y="129819"/>
                </a:lnTo>
                <a:lnTo>
                  <a:pt x="222504" y="149415"/>
                </a:lnTo>
                <a:lnTo>
                  <a:pt x="202399" y="188455"/>
                </a:lnTo>
                <a:lnTo>
                  <a:pt x="201790" y="196392"/>
                </a:lnTo>
                <a:lnTo>
                  <a:pt x="201790" y="204228"/>
                </a:lnTo>
                <a:lnTo>
                  <a:pt x="204406" y="211404"/>
                </a:lnTo>
                <a:lnTo>
                  <a:pt x="214833" y="224383"/>
                </a:lnTo>
                <a:lnTo>
                  <a:pt x="222592" y="227634"/>
                </a:lnTo>
                <a:lnTo>
                  <a:pt x="232892" y="227634"/>
                </a:lnTo>
                <a:lnTo>
                  <a:pt x="244411" y="226072"/>
                </a:lnTo>
                <a:lnTo>
                  <a:pt x="256235" y="221411"/>
                </a:lnTo>
                <a:lnTo>
                  <a:pt x="263690" y="216611"/>
                </a:lnTo>
                <a:lnTo>
                  <a:pt x="268325" y="213626"/>
                </a:lnTo>
                <a:lnTo>
                  <a:pt x="280720" y="202742"/>
                </a:lnTo>
                <a:lnTo>
                  <a:pt x="278498" y="199669"/>
                </a:lnTo>
                <a:lnTo>
                  <a:pt x="269265" y="206806"/>
                </a:lnTo>
                <a:lnTo>
                  <a:pt x="262293" y="211404"/>
                </a:lnTo>
                <a:lnTo>
                  <a:pt x="252907" y="215569"/>
                </a:lnTo>
                <a:lnTo>
                  <a:pt x="248031" y="216611"/>
                </a:lnTo>
                <a:lnTo>
                  <a:pt x="236601" y="216611"/>
                </a:lnTo>
                <a:lnTo>
                  <a:pt x="231203" y="214414"/>
                </a:lnTo>
                <a:lnTo>
                  <a:pt x="222313" y="205587"/>
                </a:lnTo>
                <a:lnTo>
                  <a:pt x="220091" y="200240"/>
                </a:lnTo>
                <a:lnTo>
                  <a:pt x="220091" y="191617"/>
                </a:lnTo>
                <a:lnTo>
                  <a:pt x="220345" y="188696"/>
                </a:lnTo>
                <a:lnTo>
                  <a:pt x="220840" y="185166"/>
                </a:lnTo>
                <a:lnTo>
                  <a:pt x="230974" y="183832"/>
                </a:lnTo>
                <a:lnTo>
                  <a:pt x="239903" y="182257"/>
                </a:lnTo>
                <a:lnTo>
                  <a:pt x="247637" y="180441"/>
                </a:lnTo>
                <a:lnTo>
                  <a:pt x="249110" y="179971"/>
                </a:lnTo>
                <a:lnTo>
                  <a:pt x="254165" y="178384"/>
                </a:lnTo>
                <a:lnTo>
                  <a:pt x="285915" y="156083"/>
                </a:lnTo>
                <a:lnTo>
                  <a:pt x="288239" y="150469"/>
                </a:lnTo>
                <a:lnTo>
                  <a:pt x="288239" y="140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79259" y="7777670"/>
            <a:ext cx="151130" cy="65405"/>
          </a:xfrm>
          <a:custGeom>
            <a:avLst/>
            <a:gdLst/>
            <a:ahLst/>
            <a:cxnLst/>
            <a:rect l="l" t="t" r="r" b="b"/>
            <a:pathLst>
              <a:path w="151129" h="65404">
                <a:moveTo>
                  <a:pt x="150787" y="42887"/>
                </a:moveTo>
                <a:lnTo>
                  <a:pt x="0" y="42887"/>
                </a:lnTo>
                <a:lnTo>
                  <a:pt x="0" y="64973"/>
                </a:lnTo>
                <a:lnTo>
                  <a:pt x="150787" y="64973"/>
                </a:lnTo>
                <a:lnTo>
                  <a:pt x="150787" y="42887"/>
                </a:lnTo>
                <a:close/>
              </a:path>
              <a:path w="151129" h="65404">
                <a:moveTo>
                  <a:pt x="150787" y="0"/>
                </a:moveTo>
                <a:lnTo>
                  <a:pt x="0" y="0"/>
                </a:lnTo>
                <a:lnTo>
                  <a:pt x="0" y="22085"/>
                </a:lnTo>
                <a:lnTo>
                  <a:pt x="150787" y="22085"/>
                </a:lnTo>
                <a:lnTo>
                  <a:pt x="1507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45737" y="7737957"/>
            <a:ext cx="150465" cy="14312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8981" y="7737957"/>
            <a:ext cx="150465" cy="143120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6269413" y="7652428"/>
            <a:ext cx="345440" cy="523240"/>
            <a:chOff x="6269413" y="7652428"/>
            <a:chExt cx="345440" cy="523240"/>
          </a:xfrm>
        </p:grpSpPr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8603" y="8025292"/>
              <a:ext cx="115971" cy="15016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269406" y="7652435"/>
              <a:ext cx="285750" cy="522605"/>
            </a:xfrm>
            <a:custGeom>
              <a:avLst/>
              <a:gdLst/>
              <a:ahLst/>
              <a:cxnLst/>
              <a:rect l="l" t="t" r="r" b="b"/>
              <a:pathLst>
                <a:path w="285750" h="522604">
                  <a:moveTo>
                    <a:pt x="40525" y="423900"/>
                  </a:moveTo>
                  <a:lnTo>
                    <a:pt x="4025" y="429831"/>
                  </a:lnTo>
                  <a:lnTo>
                    <a:pt x="4025" y="433959"/>
                  </a:lnTo>
                  <a:lnTo>
                    <a:pt x="8216" y="433298"/>
                  </a:lnTo>
                  <a:lnTo>
                    <a:pt x="8001" y="433298"/>
                  </a:lnTo>
                  <a:lnTo>
                    <a:pt x="12103" y="432803"/>
                  </a:lnTo>
                  <a:lnTo>
                    <a:pt x="15557" y="432803"/>
                  </a:lnTo>
                  <a:lnTo>
                    <a:pt x="17056" y="433298"/>
                  </a:lnTo>
                  <a:lnTo>
                    <a:pt x="19240" y="435267"/>
                  </a:lnTo>
                  <a:lnTo>
                    <a:pt x="19786" y="436537"/>
                  </a:lnTo>
                  <a:lnTo>
                    <a:pt x="19786" y="440067"/>
                  </a:lnTo>
                  <a:lnTo>
                    <a:pt x="18656" y="444944"/>
                  </a:lnTo>
                  <a:lnTo>
                    <a:pt x="889" y="506222"/>
                  </a:lnTo>
                  <a:lnTo>
                    <a:pt x="38" y="510387"/>
                  </a:lnTo>
                  <a:lnTo>
                    <a:pt x="0" y="515785"/>
                  </a:lnTo>
                  <a:lnTo>
                    <a:pt x="914" y="517956"/>
                  </a:lnTo>
                  <a:lnTo>
                    <a:pt x="4584" y="521423"/>
                  </a:lnTo>
                  <a:lnTo>
                    <a:pt x="6946" y="522287"/>
                  </a:lnTo>
                  <a:lnTo>
                    <a:pt x="14211" y="522287"/>
                  </a:lnTo>
                  <a:lnTo>
                    <a:pt x="18796" y="520407"/>
                  </a:lnTo>
                  <a:lnTo>
                    <a:pt x="30086" y="511657"/>
                  </a:lnTo>
                  <a:lnTo>
                    <a:pt x="30734" y="510946"/>
                  </a:lnTo>
                  <a:lnTo>
                    <a:pt x="35725" y="505485"/>
                  </a:lnTo>
                  <a:lnTo>
                    <a:pt x="40525" y="498132"/>
                  </a:lnTo>
                  <a:lnTo>
                    <a:pt x="36830" y="495706"/>
                  </a:lnTo>
                  <a:lnTo>
                    <a:pt x="32727" y="501561"/>
                  </a:lnTo>
                  <a:lnTo>
                    <a:pt x="29210" y="505485"/>
                  </a:lnTo>
                  <a:lnTo>
                    <a:pt x="28498" y="506222"/>
                  </a:lnTo>
                  <a:lnTo>
                    <a:pt x="24650" y="509257"/>
                  </a:lnTo>
                  <a:lnTo>
                    <a:pt x="23177" y="510387"/>
                  </a:lnTo>
                  <a:lnTo>
                    <a:pt x="21907" y="510946"/>
                  </a:lnTo>
                  <a:lnTo>
                    <a:pt x="19926" y="510946"/>
                  </a:lnTo>
                  <a:lnTo>
                    <a:pt x="19138" y="510603"/>
                  </a:lnTo>
                  <a:lnTo>
                    <a:pt x="17868" y="509257"/>
                  </a:lnTo>
                  <a:lnTo>
                    <a:pt x="17462" y="508266"/>
                  </a:lnTo>
                  <a:lnTo>
                    <a:pt x="17462" y="506222"/>
                  </a:lnTo>
                  <a:lnTo>
                    <a:pt x="18161" y="503148"/>
                  </a:lnTo>
                  <a:lnTo>
                    <a:pt x="38011" y="432803"/>
                  </a:lnTo>
                  <a:lnTo>
                    <a:pt x="40525" y="423900"/>
                  </a:lnTo>
                  <a:close/>
                </a:path>
                <a:path w="285750" h="522604">
                  <a:moveTo>
                    <a:pt x="49733" y="389483"/>
                  </a:moveTo>
                  <a:lnTo>
                    <a:pt x="48704" y="386981"/>
                  </a:lnTo>
                  <a:lnTo>
                    <a:pt x="44615" y="382892"/>
                  </a:lnTo>
                  <a:lnTo>
                    <a:pt x="42113" y="381863"/>
                  </a:lnTo>
                  <a:lnTo>
                    <a:pt x="36195" y="381863"/>
                  </a:lnTo>
                  <a:lnTo>
                    <a:pt x="33680" y="382892"/>
                  </a:lnTo>
                  <a:lnTo>
                    <a:pt x="29591" y="386981"/>
                  </a:lnTo>
                  <a:lnTo>
                    <a:pt x="28575" y="389483"/>
                  </a:lnTo>
                  <a:lnTo>
                    <a:pt x="28575" y="395351"/>
                  </a:lnTo>
                  <a:lnTo>
                    <a:pt x="29616" y="397840"/>
                  </a:lnTo>
                  <a:lnTo>
                    <a:pt x="33769" y="402005"/>
                  </a:lnTo>
                  <a:lnTo>
                    <a:pt x="36258" y="403047"/>
                  </a:lnTo>
                  <a:lnTo>
                    <a:pt x="42049" y="403047"/>
                  </a:lnTo>
                  <a:lnTo>
                    <a:pt x="44526" y="402005"/>
                  </a:lnTo>
                  <a:lnTo>
                    <a:pt x="48691" y="397840"/>
                  </a:lnTo>
                  <a:lnTo>
                    <a:pt x="49733" y="395351"/>
                  </a:lnTo>
                  <a:lnTo>
                    <a:pt x="49733" y="389483"/>
                  </a:lnTo>
                  <a:close/>
                </a:path>
                <a:path w="285750" h="522604">
                  <a:moveTo>
                    <a:pt x="285343" y="261734"/>
                  </a:moveTo>
                  <a:lnTo>
                    <a:pt x="269113" y="261734"/>
                  </a:lnTo>
                  <a:lnTo>
                    <a:pt x="262801" y="275958"/>
                  </a:lnTo>
                  <a:lnTo>
                    <a:pt x="255676" y="287731"/>
                  </a:lnTo>
                  <a:lnTo>
                    <a:pt x="214274" y="312394"/>
                  </a:lnTo>
                  <a:lnTo>
                    <a:pt x="176885" y="315214"/>
                  </a:lnTo>
                  <a:lnTo>
                    <a:pt x="109347" y="315214"/>
                  </a:lnTo>
                  <a:lnTo>
                    <a:pt x="233667" y="172783"/>
                  </a:lnTo>
                  <a:lnTo>
                    <a:pt x="119926" y="17119"/>
                  </a:lnTo>
                  <a:lnTo>
                    <a:pt x="167538" y="17119"/>
                  </a:lnTo>
                  <a:lnTo>
                    <a:pt x="187020" y="17995"/>
                  </a:lnTo>
                  <a:lnTo>
                    <a:pt x="228561" y="31064"/>
                  </a:lnTo>
                  <a:lnTo>
                    <a:pt x="253022" y="65582"/>
                  </a:lnTo>
                  <a:lnTo>
                    <a:pt x="259245" y="83121"/>
                  </a:lnTo>
                  <a:lnTo>
                    <a:pt x="275120" y="83121"/>
                  </a:lnTo>
                  <a:lnTo>
                    <a:pt x="269824" y="36537"/>
                  </a:lnTo>
                  <a:lnTo>
                    <a:pt x="268084" y="24955"/>
                  </a:lnTo>
                  <a:lnTo>
                    <a:pt x="268058" y="24777"/>
                  </a:lnTo>
                  <a:lnTo>
                    <a:pt x="266268" y="17119"/>
                  </a:lnTo>
                  <a:lnTo>
                    <a:pt x="265925" y="15646"/>
                  </a:lnTo>
                  <a:lnTo>
                    <a:pt x="263423" y="9118"/>
                  </a:lnTo>
                  <a:lnTo>
                    <a:pt x="230670" y="0"/>
                  </a:lnTo>
                  <a:lnTo>
                    <a:pt x="64541" y="0"/>
                  </a:lnTo>
                  <a:lnTo>
                    <a:pt x="199986" y="185851"/>
                  </a:lnTo>
                  <a:lnTo>
                    <a:pt x="59613" y="346989"/>
                  </a:lnTo>
                  <a:lnTo>
                    <a:pt x="233667" y="346989"/>
                  </a:lnTo>
                  <a:lnTo>
                    <a:pt x="248145" y="344754"/>
                  </a:lnTo>
                  <a:lnTo>
                    <a:pt x="259638" y="338074"/>
                  </a:lnTo>
                  <a:lnTo>
                    <a:pt x="268160" y="326936"/>
                  </a:lnTo>
                  <a:lnTo>
                    <a:pt x="272326" y="315214"/>
                  </a:lnTo>
                  <a:lnTo>
                    <a:pt x="273710" y="311340"/>
                  </a:lnTo>
                  <a:lnTo>
                    <a:pt x="274358" y="308864"/>
                  </a:lnTo>
                  <a:lnTo>
                    <a:pt x="285343" y="261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37028" y="8037681"/>
              <a:ext cx="142847" cy="134490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4720028" y="7652428"/>
            <a:ext cx="622300" cy="567055"/>
            <a:chOff x="4720028" y="7652428"/>
            <a:chExt cx="622300" cy="567055"/>
          </a:xfrm>
        </p:grpSpPr>
        <p:sp>
          <p:nvSpPr>
            <p:cNvPr id="49" name="object 49"/>
            <p:cNvSpPr/>
            <p:nvPr/>
          </p:nvSpPr>
          <p:spPr>
            <a:xfrm>
              <a:off x="4952390" y="8021586"/>
              <a:ext cx="389890" cy="197485"/>
            </a:xfrm>
            <a:custGeom>
              <a:avLst/>
              <a:gdLst/>
              <a:ahLst/>
              <a:cxnLst/>
              <a:rect l="l" t="t" r="r" b="b"/>
              <a:pathLst>
                <a:path w="389889" h="197484">
                  <a:moveTo>
                    <a:pt x="58407" y="0"/>
                  </a:moveTo>
                  <a:lnTo>
                    <a:pt x="24892" y="26149"/>
                  </a:lnTo>
                  <a:lnTo>
                    <a:pt x="4038" y="67208"/>
                  </a:lnTo>
                  <a:lnTo>
                    <a:pt x="0" y="98590"/>
                  </a:lnTo>
                  <a:lnTo>
                    <a:pt x="508" y="109715"/>
                  </a:lnTo>
                  <a:lnTo>
                    <a:pt x="12814" y="151993"/>
                  </a:lnTo>
                  <a:lnTo>
                    <a:pt x="37414" y="183349"/>
                  </a:lnTo>
                  <a:lnTo>
                    <a:pt x="58407" y="196977"/>
                  </a:lnTo>
                  <a:lnTo>
                    <a:pt x="58407" y="193052"/>
                  </a:lnTo>
                  <a:lnTo>
                    <a:pt x="51460" y="188239"/>
                  </a:lnTo>
                  <a:lnTo>
                    <a:pt x="45516" y="182918"/>
                  </a:lnTo>
                  <a:lnTo>
                    <a:pt x="25742" y="146773"/>
                  </a:lnTo>
                  <a:lnTo>
                    <a:pt x="20637" y="106908"/>
                  </a:lnTo>
                  <a:lnTo>
                    <a:pt x="20421" y="95846"/>
                  </a:lnTo>
                  <a:lnTo>
                    <a:pt x="20675" y="85521"/>
                  </a:lnTo>
                  <a:lnTo>
                    <a:pt x="26873" y="46647"/>
                  </a:lnTo>
                  <a:lnTo>
                    <a:pt x="46558" y="12979"/>
                  </a:lnTo>
                  <a:lnTo>
                    <a:pt x="58407" y="4457"/>
                  </a:lnTo>
                  <a:lnTo>
                    <a:pt x="58407" y="0"/>
                  </a:lnTo>
                  <a:close/>
                </a:path>
                <a:path w="389889" h="197484">
                  <a:moveTo>
                    <a:pt x="187782" y="144945"/>
                  </a:moveTo>
                  <a:lnTo>
                    <a:pt x="185966" y="139560"/>
                  </a:lnTo>
                  <a:lnTo>
                    <a:pt x="178701" y="131445"/>
                  </a:lnTo>
                  <a:lnTo>
                    <a:pt x="174548" y="129413"/>
                  </a:lnTo>
                  <a:lnTo>
                    <a:pt x="166090" y="129413"/>
                  </a:lnTo>
                  <a:lnTo>
                    <a:pt x="162864" y="130644"/>
                  </a:lnTo>
                  <a:lnTo>
                    <a:pt x="157568" y="135585"/>
                  </a:lnTo>
                  <a:lnTo>
                    <a:pt x="156248" y="138557"/>
                  </a:lnTo>
                  <a:lnTo>
                    <a:pt x="156248" y="145618"/>
                  </a:lnTo>
                  <a:lnTo>
                    <a:pt x="157276" y="148437"/>
                  </a:lnTo>
                  <a:lnTo>
                    <a:pt x="161188" y="152349"/>
                  </a:lnTo>
                  <a:lnTo>
                    <a:pt x="161556" y="152603"/>
                  </a:lnTo>
                  <a:lnTo>
                    <a:pt x="164109" y="153555"/>
                  </a:lnTo>
                  <a:lnTo>
                    <a:pt x="168986" y="153555"/>
                  </a:lnTo>
                  <a:lnTo>
                    <a:pt x="170319" y="153238"/>
                  </a:lnTo>
                  <a:lnTo>
                    <a:pt x="171589" y="152603"/>
                  </a:lnTo>
                  <a:lnTo>
                    <a:pt x="174205" y="151193"/>
                  </a:lnTo>
                  <a:lnTo>
                    <a:pt x="175895" y="150482"/>
                  </a:lnTo>
                  <a:lnTo>
                    <a:pt x="177165" y="150482"/>
                  </a:lnTo>
                  <a:lnTo>
                    <a:pt x="177660" y="150799"/>
                  </a:lnTo>
                  <a:lnTo>
                    <a:pt x="178155" y="151434"/>
                  </a:lnTo>
                  <a:lnTo>
                    <a:pt x="178790" y="152349"/>
                  </a:lnTo>
                  <a:lnTo>
                    <a:pt x="179031" y="153238"/>
                  </a:lnTo>
                  <a:lnTo>
                    <a:pt x="179108" y="160477"/>
                  </a:lnTo>
                  <a:lnTo>
                    <a:pt x="177165" y="165684"/>
                  </a:lnTo>
                  <a:lnTo>
                    <a:pt x="177114" y="165823"/>
                  </a:lnTo>
                  <a:lnTo>
                    <a:pt x="169138" y="175920"/>
                  </a:lnTo>
                  <a:lnTo>
                    <a:pt x="163512" y="179641"/>
                  </a:lnTo>
                  <a:lnTo>
                    <a:pt x="156248" y="182041"/>
                  </a:lnTo>
                  <a:lnTo>
                    <a:pt x="156248" y="186702"/>
                  </a:lnTo>
                  <a:lnTo>
                    <a:pt x="185140" y="165823"/>
                  </a:lnTo>
                  <a:lnTo>
                    <a:pt x="185254" y="165684"/>
                  </a:lnTo>
                  <a:lnTo>
                    <a:pt x="187782" y="158915"/>
                  </a:lnTo>
                  <a:lnTo>
                    <a:pt x="187782" y="150482"/>
                  </a:lnTo>
                  <a:lnTo>
                    <a:pt x="187782" y="144945"/>
                  </a:lnTo>
                  <a:close/>
                </a:path>
                <a:path w="389889" h="197484">
                  <a:moveTo>
                    <a:pt x="389597" y="98386"/>
                  </a:moveTo>
                  <a:lnTo>
                    <a:pt x="381342" y="55016"/>
                  </a:lnTo>
                  <a:lnTo>
                    <a:pt x="357962" y="18745"/>
                  </a:lnTo>
                  <a:lnTo>
                    <a:pt x="331190" y="0"/>
                  </a:lnTo>
                  <a:lnTo>
                    <a:pt x="331190" y="4457"/>
                  </a:lnTo>
                  <a:lnTo>
                    <a:pt x="338391" y="9398"/>
                  </a:lnTo>
                  <a:lnTo>
                    <a:pt x="344170" y="14579"/>
                  </a:lnTo>
                  <a:lnTo>
                    <a:pt x="363918" y="50622"/>
                  </a:lnTo>
                  <a:lnTo>
                    <a:pt x="368960" y="90525"/>
                  </a:lnTo>
                  <a:lnTo>
                    <a:pt x="369112" y="98386"/>
                  </a:lnTo>
                  <a:lnTo>
                    <a:pt x="369176" y="101561"/>
                  </a:lnTo>
                  <a:lnTo>
                    <a:pt x="365099" y="141643"/>
                  </a:lnTo>
                  <a:lnTo>
                    <a:pt x="348119" y="179209"/>
                  </a:lnTo>
                  <a:lnTo>
                    <a:pt x="331190" y="193052"/>
                  </a:lnTo>
                  <a:lnTo>
                    <a:pt x="331190" y="196977"/>
                  </a:lnTo>
                  <a:lnTo>
                    <a:pt x="364769" y="170827"/>
                  </a:lnTo>
                  <a:lnTo>
                    <a:pt x="385572" y="129768"/>
                  </a:lnTo>
                  <a:lnTo>
                    <a:pt x="388594" y="114439"/>
                  </a:lnTo>
                  <a:lnTo>
                    <a:pt x="389597" y="983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1762" y="8034399"/>
              <a:ext cx="97558" cy="18457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032952" y="8034293"/>
              <a:ext cx="50165" cy="140970"/>
            </a:xfrm>
            <a:custGeom>
              <a:avLst/>
              <a:gdLst/>
              <a:ahLst/>
              <a:cxnLst/>
              <a:rect l="l" t="t" r="r" b="b"/>
              <a:pathLst>
                <a:path w="50164" h="140970">
                  <a:moveTo>
                    <a:pt x="42113" y="0"/>
                  </a:moveTo>
                  <a:lnTo>
                    <a:pt x="36188" y="0"/>
                  </a:lnTo>
                  <a:lnTo>
                    <a:pt x="33684" y="1023"/>
                  </a:lnTo>
                  <a:lnTo>
                    <a:pt x="29592" y="5118"/>
                  </a:lnTo>
                  <a:lnTo>
                    <a:pt x="28569" y="7625"/>
                  </a:lnTo>
                  <a:lnTo>
                    <a:pt x="28569" y="13484"/>
                  </a:lnTo>
                  <a:lnTo>
                    <a:pt x="29610" y="15972"/>
                  </a:lnTo>
                  <a:lnTo>
                    <a:pt x="33771" y="20138"/>
                  </a:lnTo>
                  <a:lnTo>
                    <a:pt x="36258" y="21179"/>
                  </a:lnTo>
                  <a:lnTo>
                    <a:pt x="42043" y="21179"/>
                  </a:lnTo>
                  <a:lnTo>
                    <a:pt x="44530" y="20138"/>
                  </a:lnTo>
                  <a:lnTo>
                    <a:pt x="48691" y="15972"/>
                  </a:lnTo>
                  <a:lnTo>
                    <a:pt x="49731" y="13484"/>
                  </a:lnTo>
                  <a:lnTo>
                    <a:pt x="49731" y="7625"/>
                  </a:lnTo>
                  <a:lnTo>
                    <a:pt x="48709" y="5118"/>
                  </a:lnTo>
                  <a:lnTo>
                    <a:pt x="44617" y="1023"/>
                  </a:lnTo>
                  <a:lnTo>
                    <a:pt x="42113" y="0"/>
                  </a:lnTo>
                  <a:close/>
                </a:path>
                <a:path w="50164" h="140970">
                  <a:moveTo>
                    <a:pt x="38016" y="50937"/>
                  </a:moveTo>
                  <a:lnTo>
                    <a:pt x="15553" y="50937"/>
                  </a:lnTo>
                  <a:lnTo>
                    <a:pt x="17053" y="51431"/>
                  </a:lnTo>
                  <a:lnTo>
                    <a:pt x="19240" y="53407"/>
                  </a:lnTo>
                  <a:lnTo>
                    <a:pt x="19786" y="54678"/>
                  </a:lnTo>
                  <a:lnTo>
                    <a:pt x="19786" y="58207"/>
                  </a:lnTo>
                  <a:lnTo>
                    <a:pt x="18657" y="63079"/>
                  </a:lnTo>
                  <a:lnTo>
                    <a:pt x="881" y="124358"/>
                  </a:lnTo>
                  <a:lnTo>
                    <a:pt x="35" y="128524"/>
                  </a:lnTo>
                  <a:lnTo>
                    <a:pt x="0" y="133925"/>
                  </a:lnTo>
                  <a:lnTo>
                    <a:pt x="916" y="136095"/>
                  </a:lnTo>
                  <a:lnTo>
                    <a:pt x="4584" y="139555"/>
                  </a:lnTo>
                  <a:lnTo>
                    <a:pt x="6948" y="140420"/>
                  </a:lnTo>
                  <a:lnTo>
                    <a:pt x="14213" y="140420"/>
                  </a:lnTo>
                  <a:lnTo>
                    <a:pt x="18799" y="138549"/>
                  </a:lnTo>
                  <a:lnTo>
                    <a:pt x="30086" y="129795"/>
                  </a:lnTo>
                  <a:lnTo>
                    <a:pt x="30731" y="129089"/>
                  </a:lnTo>
                  <a:lnTo>
                    <a:pt x="19928" y="129089"/>
                  </a:lnTo>
                  <a:lnTo>
                    <a:pt x="19135" y="128736"/>
                  </a:lnTo>
                  <a:lnTo>
                    <a:pt x="17861" y="127394"/>
                  </a:lnTo>
                  <a:lnTo>
                    <a:pt x="17458" y="126405"/>
                  </a:lnTo>
                  <a:lnTo>
                    <a:pt x="17458" y="124358"/>
                  </a:lnTo>
                  <a:lnTo>
                    <a:pt x="18164" y="121287"/>
                  </a:lnTo>
                  <a:lnTo>
                    <a:pt x="38016" y="50937"/>
                  </a:lnTo>
                  <a:close/>
                </a:path>
                <a:path w="50164" h="140970">
                  <a:moveTo>
                    <a:pt x="36822" y="113840"/>
                  </a:moveTo>
                  <a:lnTo>
                    <a:pt x="21903" y="129089"/>
                  </a:lnTo>
                  <a:lnTo>
                    <a:pt x="30731" y="129089"/>
                  </a:lnTo>
                  <a:lnTo>
                    <a:pt x="35728" y="123617"/>
                  </a:lnTo>
                  <a:lnTo>
                    <a:pt x="40526" y="116274"/>
                  </a:lnTo>
                  <a:lnTo>
                    <a:pt x="36822" y="113840"/>
                  </a:lnTo>
                  <a:close/>
                </a:path>
                <a:path w="50164" h="140970">
                  <a:moveTo>
                    <a:pt x="40526" y="42040"/>
                  </a:moveTo>
                  <a:lnTo>
                    <a:pt x="4020" y="47971"/>
                  </a:lnTo>
                  <a:lnTo>
                    <a:pt x="4020" y="52101"/>
                  </a:lnTo>
                  <a:lnTo>
                    <a:pt x="8220" y="51431"/>
                  </a:lnTo>
                  <a:lnTo>
                    <a:pt x="8004" y="51431"/>
                  </a:lnTo>
                  <a:lnTo>
                    <a:pt x="12098" y="50937"/>
                  </a:lnTo>
                  <a:lnTo>
                    <a:pt x="38016" y="50937"/>
                  </a:lnTo>
                  <a:lnTo>
                    <a:pt x="40526" y="42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0028" y="8076333"/>
              <a:ext cx="86448" cy="9837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827524" y="7652435"/>
              <a:ext cx="316230" cy="490220"/>
            </a:xfrm>
            <a:custGeom>
              <a:avLst/>
              <a:gdLst/>
              <a:ahLst/>
              <a:cxnLst/>
              <a:rect l="l" t="t" r="r" b="b"/>
              <a:pathLst>
                <a:path w="316229" h="490220">
                  <a:moveTo>
                    <a:pt x="100533" y="475475"/>
                  </a:moveTo>
                  <a:lnTo>
                    <a:pt x="0" y="475475"/>
                  </a:lnTo>
                  <a:lnTo>
                    <a:pt x="0" y="490194"/>
                  </a:lnTo>
                  <a:lnTo>
                    <a:pt x="100533" y="490194"/>
                  </a:lnTo>
                  <a:lnTo>
                    <a:pt x="100533" y="475475"/>
                  </a:lnTo>
                  <a:close/>
                </a:path>
                <a:path w="316229" h="490220">
                  <a:moveTo>
                    <a:pt x="100533" y="446887"/>
                  </a:moveTo>
                  <a:lnTo>
                    <a:pt x="0" y="446887"/>
                  </a:lnTo>
                  <a:lnTo>
                    <a:pt x="0" y="461606"/>
                  </a:lnTo>
                  <a:lnTo>
                    <a:pt x="100533" y="461606"/>
                  </a:lnTo>
                  <a:lnTo>
                    <a:pt x="100533" y="446887"/>
                  </a:lnTo>
                  <a:close/>
                </a:path>
                <a:path w="316229" h="490220">
                  <a:moveTo>
                    <a:pt x="315823" y="261734"/>
                  </a:moveTo>
                  <a:lnTo>
                    <a:pt x="299593" y="261734"/>
                  </a:lnTo>
                  <a:lnTo>
                    <a:pt x="293281" y="275958"/>
                  </a:lnTo>
                  <a:lnTo>
                    <a:pt x="286143" y="287731"/>
                  </a:lnTo>
                  <a:lnTo>
                    <a:pt x="244754" y="312394"/>
                  </a:lnTo>
                  <a:lnTo>
                    <a:pt x="207365" y="315214"/>
                  </a:lnTo>
                  <a:lnTo>
                    <a:pt x="139814" y="315214"/>
                  </a:lnTo>
                  <a:lnTo>
                    <a:pt x="264147" y="172783"/>
                  </a:lnTo>
                  <a:lnTo>
                    <a:pt x="150406" y="17119"/>
                  </a:lnTo>
                  <a:lnTo>
                    <a:pt x="198018" y="17119"/>
                  </a:lnTo>
                  <a:lnTo>
                    <a:pt x="217500" y="17995"/>
                  </a:lnTo>
                  <a:lnTo>
                    <a:pt x="259029" y="31064"/>
                  </a:lnTo>
                  <a:lnTo>
                    <a:pt x="283502" y="65582"/>
                  </a:lnTo>
                  <a:lnTo>
                    <a:pt x="289725" y="83121"/>
                  </a:lnTo>
                  <a:lnTo>
                    <a:pt x="305587" y="83121"/>
                  </a:lnTo>
                  <a:lnTo>
                    <a:pt x="300304" y="36537"/>
                  </a:lnTo>
                  <a:lnTo>
                    <a:pt x="280530" y="1295"/>
                  </a:lnTo>
                  <a:lnTo>
                    <a:pt x="261150" y="0"/>
                  </a:lnTo>
                  <a:lnTo>
                    <a:pt x="95021" y="0"/>
                  </a:lnTo>
                  <a:lnTo>
                    <a:pt x="230466" y="185851"/>
                  </a:lnTo>
                  <a:lnTo>
                    <a:pt x="90081" y="346989"/>
                  </a:lnTo>
                  <a:lnTo>
                    <a:pt x="264147" y="346989"/>
                  </a:lnTo>
                  <a:lnTo>
                    <a:pt x="278625" y="344754"/>
                  </a:lnTo>
                  <a:lnTo>
                    <a:pt x="302806" y="315214"/>
                  </a:lnTo>
                  <a:lnTo>
                    <a:pt x="304838" y="308864"/>
                  </a:lnTo>
                  <a:lnTo>
                    <a:pt x="315823" y="261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4192656" y="7652428"/>
            <a:ext cx="345440" cy="523240"/>
            <a:chOff x="4192656" y="7652428"/>
            <a:chExt cx="345440" cy="523240"/>
          </a:xfrm>
        </p:grpSpPr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1847" y="8025292"/>
              <a:ext cx="115970" cy="15016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192651" y="7652435"/>
              <a:ext cx="285750" cy="522605"/>
            </a:xfrm>
            <a:custGeom>
              <a:avLst/>
              <a:gdLst/>
              <a:ahLst/>
              <a:cxnLst/>
              <a:rect l="l" t="t" r="r" b="b"/>
              <a:pathLst>
                <a:path w="285750" h="522604">
                  <a:moveTo>
                    <a:pt x="40525" y="423900"/>
                  </a:moveTo>
                  <a:lnTo>
                    <a:pt x="4025" y="429831"/>
                  </a:lnTo>
                  <a:lnTo>
                    <a:pt x="4025" y="433959"/>
                  </a:lnTo>
                  <a:lnTo>
                    <a:pt x="8216" y="433298"/>
                  </a:lnTo>
                  <a:lnTo>
                    <a:pt x="8001" y="433298"/>
                  </a:lnTo>
                  <a:lnTo>
                    <a:pt x="12103" y="432803"/>
                  </a:lnTo>
                  <a:lnTo>
                    <a:pt x="15557" y="432803"/>
                  </a:lnTo>
                  <a:lnTo>
                    <a:pt x="17056" y="433298"/>
                  </a:lnTo>
                  <a:lnTo>
                    <a:pt x="19240" y="435267"/>
                  </a:lnTo>
                  <a:lnTo>
                    <a:pt x="19786" y="436537"/>
                  </a:lnTo>
                  <a:lnTo>
                    <a:pt x="19786" y="440067"/>
                  </a:lnTo>
                  <a:lnTo>
                    <a:pt x="18656" y="444944"/>
                  </a:lnTo>
                  <a:lnTo>
                    <a:pt x="876" y="506222"/>
                  </a:lnTo>
                  <a:lnTo>
                    <a:pt x="38" y="510387"/>
                  </a:lnTo>
                  <a:lnTo>
                    <a:pt x="0" y="515785"/>
                  </a:lnTo>
                  <a:lnTo>
                    <a:pt x="914" y="517956"/>
                  </a:lnTo>
                  <a:lnTo>
                    <a:pt x="4584" y="521423"/>
                  </a:lnTo>
                  <a:lnTo>
                    <a:pt x="6946" y="522287"/>
                  </a:lnTo>
                  <a:lnTo>
                    <a:pt x="14211" y="522287"/>
                  </a:lnTo>
                  <a:lnTo>
                    <a:pt x="18796" y="520407"/>
                  </a:lnTo>
                  <a:lnTo>
                    <a:pt x="30086" y="511657"/>
                  </a:lnTo>
                  <a:lnTo>
                    <a:pt x="30734" y="510946"/>
                  </a:lnTo>
                  <a:lnTo>
                    <a:pt x="35725" y="505485"/>
                  </a:lnTo>
                  <a:lnTo>
                    <a:pt x="40525" y="498132"/>
                  </a:lnTo>
                  <a:lnTo>
                    <a:pt x="36817" y="495706"/>
                  </a:lnTo>
                  <a:lnTo>
                    <a:pt x="32727" y="501561"/>
                  </a:lnTo>
                  <a:lnTo>
                    <a:pt x="29210" y="505485"/>
                  </a:lnTo>
                  <a:lnTo>
                    <a:pt x="28498" y="506222"/>
                  </a:lnTo>
                  <a:lnTo>
                    <a:pt x="24650" y="509257"/>
                  </a:lnTo>
                  <a:lnTo>
                    <a:pt x="23177" y="510387"/>
                  </a:lnTo>
                  <a:lnTo>
                    <a:pt x="21907" y="510946"/>
                  </a:lnTo>
                  <a:lnTo>
                    <a:pt x="19926" y="510946"/>
                  </a:lnTo>
                  <a:lnTo>
                    <a:pt x="19138" y="510603"/>
                  </a:lnTo>
                  <a:lnTo>
                    <a:pt x="17856" y="509257"/>
                  </a:lnTo>
                  <a:lnTo>
                    <a:pt x="17462" y="508266"/>
                  </a:lnTo>
                  <a:lnTo>
                    <a:pt x="17462" y="506222"/>
                  </a:lnTo>
                  <a:lnTo>
                    <a:pt x="18161" y="503148"/>
                  </a:lnTo>
                  <a:lnTo>
                    <a:pt x="38011" y="432803"/>
                  </a:lnTo>
                  <a:lnTo>
                    <a:pt x="40525" y="423900"/>
                  </a:lnTo>
                  <a:close/>
                </a:path>
                <a:path w="285750" h="522604">
                  <a:moveTo>
                    <a:pt x="49733" y="389483"/>
                  </a:moveTo>
                  <a:lnTo>
                    <a:pt x="48704" y="386981"/>
                  </a:lnTo>
                  <a:lnTo>
                    <a:pt x="44615" y="382892"/>
                  </a:lnTo>
                  <a:lnTo>
                    <a:pt x="42113" y="381863"/>
                  </a:lnTo>
                  <a:lnTo>
                    <a:pt x="36182" y="381863"/>
                  </a:lnTo>
                  <a:lnTo>
                    <a:pt x="33680" y="382892"/>
                  </a:lnTo>
                  <a:lnTo>
                    <a:pt x="29591" y="386981"/>
                  </a:lnTo>
                  <a:lnTo>
                    <a:pt x="28575" y="389483"/>
                  </a:lnTo>
                  <a:lnTo>
                    <a:pt x="28575" y="395351"/>
                  </a:lnTo>
                  <a:lnTo>
                    <a:pt x="29603" y="397840"/>
                  </a:lnTo>
                  <a:lnTo>
                    <a:pt x="33769" y="402005"/>
                  </a:lnTo>
                  <a:lnTo>
                    <a:pt x="36258" y="403047"/>
                  </a:lnTo>
                  <a:lnTo>
                    <a:pt x="42037" y="403047"/>
                  </a:lnTo>
                  <a:lnTo>
                    <a:pt x="44526" y="402005"/>
                  </a:lnTo>
                  <a:lnTo>
                    <a:pt x="48691" y="397840"/>
                  </a:lnTo>
                  <a:lnTo>
                    <a:pt x="49733" y="395351"/>
                  </a:lnTo>
                  <a:lnTo>
                    <a:pt x="49733" y="389483"/>
                  </a:lnTo>
                  <a:close/>
                </a:path>
                <a:path w="285750" h="522604">
                  <a:moveTo>
                    <a:pt x="285343" y="261734"/>
                  </a:moveTo>
                  <a:lnTo>
                    <a:pt x="269113" y="261734"/>
                  </a:lnTo>
                  <a:lnTo>
                    <a:pt x="262801" y="275958"/>
                  </a:lnTo>
                  <a:lnTo>
                    <a:pt x="255663" y="287731"/>
                  </a:lnTo>
                  <a:lnTo>
                    <a:pt x="214274" y="312394"/>
                  </a:lnTo>
                  <a:lnTo>
                    <a:pt x="176885" y="315214"/>
                  </a:lnTo>
                  <a:lnTo>
                    <a:pt x="109334" y="315214"/>
                  </a:lnTo>
                  <a:lnTo>
                    <a:pt x="233667" y="172783"/>
                  </a:lnTo>
                  <a:lnTo>
                    <a:pt x="119926" y="17119"/>
                  </a:lnTo>
                  <a:lnTo>
                    <a:pt x="167538" y="17119"/>
                  </a:lnTo>
                  <a:lnTo>
                    <a:pt x="187020" y="17995"/>
                  </a:lnTo>
                  <a:lnTo>
                    <a:pt x="228561" y="31064"/>
                  </a:lnTo>
                  <a:lnTo>
                    <a:pt x="253022" y="65582"/>
                  </a:lnTo>
                  <a:lnTo>
                    <a:pt x="259245" y="83121"/>
                  </a:lnTo>
                  <a:lnTo>
                    <a:pt x="275107" y="83121"/>
                  </a:lnTo>
                  <a:lnTo>
                    <a:pt x="269824" y="36537"/>
                  </a:lnTo>
                  <a:lnTo>
                    <a:pt x="268084" y="24955"/>
                  </a:lnTo>
                  <a:lnTo>
                    <a:pt x="268058" y="24777"/>
                  </a:lnTo>
                  <a:lnTo>
                    <a:pt x="266268" y="17119"/>
                  </a:lnTo>
                  <a:lnTo>
                    <a:pt x="265925" y="15646"/>
                  </a:lnTo>
                  <a:lnTo>
                    <a:pt x="263423" y="9118"/>
                  </a:lnTo>
                  <a:lnTo>
                    <a:pt x="230670" y="0"/>
                  </a:lnTo>
                  <a:lnTo>
                    <a:pt x="64541" y="0"/>
                  </a:lnTo>
                  <a:lnTo>
                    <a:pt x="199986" y="185851"/>
                  </a:lnTo>
                  <a:lnTo>
                    <a:pt x="59613" y="346989"/>
                  </a:lnTo>
                  <a:lnTo>
                    <a:pt x="233667" y="346989"/>
                  </a:lnTo>
                  <a:lnTo>
                    <a:pt x="248145" y="344754"/>
                  </a:lnTo>
                  <a:lnTo>
                    <a:pt x="272326" y="315214"/>
                  </a:lnTo>
                  <a:lnTo>
                    <a:pt x="274358" y="308864"/>
                  </a:lnTo>
                  <a:lnTo>
                    <a:pt x="285343" y="261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60270" y="8037681"/>
              <a:ext cx="142847" cy="134490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2700833" y="7652428"/>
            <a:ext cx="401320" cy="522605"/>
            <a:chOff x="2700833" y="7652428"/>
            <a:chExt cx="401320" cy="522605"/>
          </a:xfrm>
        </p:grpSpPr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60076" y="8028574"/>
              <a:ext cx="141894" cy="14359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0833" y="8076333"/>
              <a:ext cx="86448" cy="9837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786683" y="7652428"/>
              <a:ext cx="226060" cy="347345"/>
            </a:xfrm>
            <a:custGeom>
              <a:avLst/>
              <a:gdLst/>
              <a:ahLst/>
              <a:cxnLst/>
              <a:rect l="l" t="t" r="r" b="b"/>
              <a:pathLst>
                <a:path w="226060" h="347345">
                  <a:moveTo>
                    <a:pt x="171065" y="0"/>
                  </a:moveTo>
                  <a:lnTo>
                    <a:pt x="4937" y="0"/>
                  </a:lnTo>
                  <a:lnTo>
                    <a:pt x="140378" y="185849"/>
                  </a:lnTo>
                  <a:lnTo>
                    <a:pt x="0" y="346989"/>
                  </a:lnTo>
                  <a:lnTo>
                    <a:pt x="174062" y="346989"/>
                  </a:lnTo>
                  <a:lnTo>
                    <a:pt x="188534" y="344761"/>
                  </a:lnTo>
                  <a:lnTo>
                    <a:pt x="200030" y="338076"/>
                  </a:lnTo>
                  <a:lnTo>
                    <a:pt x="208550" y="326935"/>
                  </a:lnTo>
                  <a:lnTo>
                    <a:pt x="212715" y="315220"/>
                  </a:lnTo>
                  <a:lnTo>
                    <a:pt x="49731" y="315220"/>
                  </a:lnTo>
                  <a:lnTo>
                    <a:pt x="174062" y="172788"/>
                  </a:lnTo>
                  <a:lnTo>
                    <a:pt x="60313" y="17119"/>
                  </a:lnTo>
                  <a:lnTo>
                    <a:pt x="206658" y="17119"/>
                  </a:lnTo>
                  <a:lnTo>
                    <a:pt x="206314" y="15641"/>
                  </a:lnTo>
                  <a:lnTo>
                    <a:pt x="181861" y="325"/>
                  </a:lnTo>
                  <a:lnTo>
                    <a:pt x="171065" y="0"/>
                  </a:lnTo>
                  <a:close/>
                </a:path>
                <a:path w="226060" h="347345">
                  <a:moveTo>
                    <a:pt x="225734" y="261741"/>
                  </a:moveTo>
                  <a:lnTo>
                    <a:pt x="209509" y="261741"/>
                  </a:lnTo>
                  <a:lnTo>
                    <a:pt x="203194" y="275961"/>
                  </a:lnTo>
                  <a:lnTo>
                    <a:pt x="196062" y="287731"/>
                  </a:lnTo>
                  <a:lnTo>
                    <a:pt x="154663" y="312396"/>
                  </a:lnTo>
                  <a:lnTo>
                    <a:pt x="117276" y="315220"/>
                  </a:lnTo>
                  <a:lnTo>
                    <a:pt x="212715" y="315220"/>
                  </a:lnTo>
                  <a:lnTo>
                    <a:pt x="214095" y="311337"/>
                  </a:lnTo>
                  <a:lnTo>
                    <a:pt x="214753" y="308866"/>
                  </a:lnTo>
                  <a:lnTo>
                    <a:pt x="225734" y="261741"/>
                  </a:lnTo>
                  <a:close/>
                </a:path>
                <a:path w="226060" h="347345">
                  <a:moveTo>
                    <a:pt x="206658" y="17119"/>
                  </a:moveTo>
                  <a:lnTo>
                    <a:pt x="107929" y="17119"/>
                  </a:lnTo>
                  <a:lnTo>
                    <a:pt x="127416" y="17991"/>
                  </a:lnTo>
                  <a:lnTo>
                    <a:pt x="144082" y="20605"/>
                  </a:lnTo>
                  <a:lnTo>
                    <a:pt x="178074" y="39545"/>
                  </a:lnTo>
                  <a:lnTo>
                    <a:pt x="199633" y="83129"/>
                  </a:lnTo>
                  <a:lnTo>
                    <a:pt x="215506" y="83129"/>
                  </a:lnTo>
                  <a:lnTo>
                    <a:pt x="210215" y="36534"/>
                  </a:lnTo>
                  <a:lnTo>
                    <a:pt x="208474" y="24962"/>
                  </a:lnTo>
                  <a:lnTo>
                    <a:pt x="208446" y="24780"/>
                  </a:lnTo>
                  <a:lnTo>
                    <a:pt x="206658" y="171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01462" y="8037681"/>
              <a:ext cx="142847" cy="134490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5054600" y="8623300"/>
            <a:ext cx="2481580" cy="523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55600" marR="5080" indent="-342900">
              <a:lnSpc>
                <a:spcPct val="1042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sum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fairness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inequalities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each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node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752708" y="8122336"/>
            <a:ext cx="121920" cy="421005"/>
            <a:chOff x="3752708" y="8122336"/>
            <a:chExt cx="121920" cy="421005"/>
          </a:xfrm>
        </p:grpSpPr>
        <p:sp>
          <p:nvSpPr>
            <p:cNvPr id="65" name="object 65"/>
            <p:cNvSpPr/>
            <p:nvPr/>
          </p:nvSpPr>
          <p:spPr>
            <a:xfrm>
              <a:off x="3813668" y="8201076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h="342265">
                  <a:moveTo>
                    <a:pt x="0" y="0"/>
                  </a:moveTo>
                  <a:lnTo>
                    <a:pt x="0" y="12699"/>
                  </a:lnTo>
                  <a:lnTo>
                    <a:pt x="0" y="342073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2708" y="8122336"/>
              <a:ext cx="121920" cy="121919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2235200" y="8610600"/>
            <a:ext cx="2360295" cy="523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0" marR="5080" indent="-114300">
              <a:lnSpc>
                <a:spcPct val="1042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each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edge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covered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by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at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least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one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node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857240" y="8128000"/>
            <a:ext cx="121920" cy="421005"/>
            <a:chOff x="5857240" y="8128000"/>
            <a:chExt cx="121920" cy="421005"/>
          </a:xfrm>
        </p:grpSpPr>
        <p:sp>
          <p:nvSpPr>
            <p:cNvPr id="69" name="object 69"/>
            <p:cNvSpPr/>
            <p:nvPr/>
          </p:nvSpPr>
          <p:spPr>
            <a:xfrm>
              <a:off x="5918200" y="8206739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h="342265">
                  <a:moveTo>
                    <a:pt x="0" y="0"/>
                  </a:moveTo>
                  <a:lnTo>
                    <a:pt x="0" y="12699"/>
                  </a:lnTo>
                  <a:lnTo>
                    <a:pt x="0" y="342073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57240" y="8128000"/>
              <a:ext cx="121920" cy="121919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Pricing</a:t>
            </a:r>
            <a:r>
              <a:rPr spc="10" dirty="0"/>
              <a:t> </a:t>
            </a:r>
            <a:r>
              <a:rPr spc="-10" dirty="0"/>
              <a:t>method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3500"/>
            <a:ext cx="7158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prices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simultaneously.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01800" y="2540000"/>
            <a:ext cx="9118600" cy="6134100"/>
            <a:chOff x="1701800" y="2540000"/>
            <a:chExt cx="9118600" cy="6134100"/>
          </a:xfrm>
        </p:grpSpPr>
        <p:sp>
          <p:nvSpPr>
            <p:cNvPr id="6" name="object 6"/>
            <p:cNvSpPr/>
            <p:nvPr/>
          </p:nvSpPr>
          <p:spPr>
            <a:xfrm>
              <a:off x="1701800" y="2540000"/>
              <a:ext cx="9118600" cy="6134100"/>
            </a:xfrm>
            <a:custGeom>
              <a:avLst/>
              <a:gdLst/>
              <a:ahLst/>
              <a:cxnLst/>
              <a:rect l="l" t="t" r="r" b="b"/>
              <a:pathLst>
                <a:path w="9118600" h="6134100">
                  <a:moveTo>
                    <a:pt x="9118600" y="0"/>
                  </a:moveTo>
                  <a:lnTo>
                    <a:pt x="0" y="0"/>
                  </a:lnTo>
                  <a:lnTo>
                    <a:pt x="0" y="6134100"/>
                  </a:lnTo>
                  <a:lnTo>
                    <a:pt x="9118600" y="6134100"/>
                  </a:lnTo>
                  <a:lnTo>
                    <a:pt x="911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93900" y="3366776"/>
              <a:ext cx="8191500" cy="0"/>
            </a:xfrm>
            <a:custGeom>
              <a:avLst/>
              <a:gdLst/>
              <a:ahLst/>
              <a:cxnLst/>
              <a:rect l="l" t="t" r="r" b="b"/>
              <a:pathLst>
                <a:path w="8191500">
                  <a:moveTo>
                    <a:pt x="0" y="0"/>
                  </a:moveTo>
                  <a:lnTo>
                    <a:pt x="81915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01800" y="2540000"/>
            <a:ext cx="9118600" cy="61341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sz="2400" cap="small" spc="-10" dirty="0">
                <a:solidFill>
                  <a:srgbClr val="003F83"/>
                </a:solidFill>
                <a:latin typeface="Times New Roman"/>
                <a:cs typeface="Times New Roman"/>
              </a:rPr>
              <a:t>Weighted-</a:t>
            </a:r>
            <a:r>
              <a:rPr sz="2400" cap="small" spc="-25" dirty="0">
                <a:solidFill>
                  <a:srgbClr val="003F83"/>
                </a:solidFill>
                <a:latin typeface="Times New Roman"/>
                <a:cs typeface="Times New Roman"/>
              </a:rPr>
              <a:t>Vertex-</a:t>
            </a: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Cover</a:t>
            </a:r>
            <a:r>
              <a:rPr sz="2400" cap="small" spc="16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cap="small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cap="small" dirty="0">
                <a:latin typeface="Times New Roman"/>
                <a:cs typeface="Times New Roman"/>
              </a:rPr>
              <a:t>,</a:t>
            </a:r>
            <a:r>
              <a:rPr sz="2400" cap="small" spc="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cap="small" spc="-2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9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S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Symbol"/>
                <a:cs typeface="Symbol"/>
              </a:rPr>
              <a:t></a:t>
            </a:r>
            <a:r>
              <a:rPr sz="2400" i="1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1320"/>
              </a:spcBef>
            </a:pPr>
            <a:r>
              <a:rPr sz="2400" cap="small" dirty="0">
                <a:solidFill>
                  <a:srgbClr val="003F83"/>
                </a:solidFill>
                <a:latin typeface="Times New Roman"/>
                <a:cs typeface="Times New Roman"/>
              </a:rPr>
              <a:t>Foreach</a:t>
            </a:r>
            <a:r>
              <a:rPr sz="2400" cap="small" spc="12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cap="small" spc="5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635000">
              <a:lnSpc>
                <a:spcPct val="100000"/>
              </a:lnSpc>
              <a:spcBef>
                <a:spcPts val="1320"/>
              </a:spcBef>
            </a:pP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e</a:t>
            </a:r>
            <a:r>
              <a:rPr sz="2400" i="1" spc="292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i="1" spc="-2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400">
              <a:latin typeface="Times New Roman"/>
              <a:cs typeface="Times New Roman"/>
            </a:endParaRPr>
          </a:p>
          <a:p>
            <a:pPr marL="749300" marR="890905" indent="-457200">
              <a:lnSpc>
                <a:spcPct val="142400"/>
              </a:lnSpc>
              <a:spcBef>
                <a:spcPts val="5"/>
              </a:spcBef>
            </a:pP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W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HILE</a:t>
            </a:r>
            <a:r>
              <a:rPr sz="1900" spc="10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neither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tight)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Times New Roman"/>
                <a:cs typeface="Times New Roman"/>
              </a:rPr>
              <a:t>).</a:t>
            </a:r>
            <a:endParaRPr sz="2400">
              <a:latin typeface="Times New Roman"/>
              <a:cs typeface="Times New Roman"/>
            </a:endParaRPr>
          </a:p>
          <a:p>
            <a:pPr marL="749300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latin typeface="Times New Roman"/>
                <a:cs typeface="Times New Roman"/>
              </a:rPr>
              <a:t>Increase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baseline="-6944" dirty="0">
                <a:latin typeface="Times New Roman"/>
                <a:cs typeface="Times New Roman"/>
              </a:rPr>
              <a:t>e</a:t>
            </a:r>
            <a:r>
              <a:rPr sz="2400" i="1" spc="27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tight.</a:t>
            </a:r>
            <a:endParaRPr sz="2400">
              <a:latin typeface="Times New Roman"/>
              <a:cs typeface="Times New Roman"/>
            </a:endParaRPr>
          </a:p>
          <a:p>
            <a:pPr marL="292100" marR="5664835">
              <a:lnSpc>
                <a:spcPct val="145800"/>
              </a:lnSpc>
              <a:spcBef>
                <a:spcPts val="160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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tight</a:t>
            </a:r>
            <a:r>
              <a:rPr sz="2400" spc="-10" dirty="0">
                <a:latin typeface="Times New Roman"/>
                <a:cs typeface="Times New Roman"/>
              </a:rPr>
              <a:t> nodes. </a:t>
            </a:r>
            <a:r>
              <a:rPr sz="2400" dirty="0">
                <a:solidFill>
                  <a:srgbClr val="003F83"/>
                </a:solidFill>
                <a:latin typeface="Times New Roman"/>
                <a:cs typeface="Times New Roman"/>
              </a:rPr>
              <a:t>R</a:t>
            </a:r>
            <a:r>
              <a:rPr sz="1900" dirty="0">
                <a:solidFill>
                  <a:srgbClr val="003F83"/>
                </a:solidFill>
                <a:latin typeface="Times New Roman"/>
                <a:cs typeface="Times New Roman"/>
              </a:rPr>
              <a:t>ETURN</a:t>
            </a:r>
            <a:r>
              <a:rPr sz="1900" spc="13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93900" y="4230386"/>
            <a:ext cx="8191500" cy="4102735"/>
            <a:chOff x="1993900" y="4230386"/>
            <a:chExt cx="8191500" cy="4102735"/>
          </a:xfrm>
        </p:grpSpPr>
        <p:sp>
          <p:nvSpPr>
            <p:cNvPr id="10" name="object 10"/>
            <p:cNvSpPr/>
            <p:nvPr/>
          </p:nvSpPr>
          <p:spPr>
            <a:xfrm>
              <a:off x="1993900" y="8332476"/>
              <a:ext cx="8191500" cy="0"/>
            </a:xfrm>
            <a:custGeom>
              <a:avLst/>
              <a:gdLst/>
              <a:ahLst/>
              <a:cxnLst/>
              <a:rect l="l" t="t" r="r" b="b"/>
              <a:pathLst>
                <a:path w="8191500">
                  <a:moveTo>
                    <a:pt x="0" y="0"/>
                  </a:moveTo>
                  <a:lnTo>
                    <a:pt x="81915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92826" y="4927341"/>
              <a:ext cx="0" cy="436880"/>
            </a:xfrm>
            <a:custGeom>
              <a:avLst/>
              <a:gdLst/>
              <a:ahLst/>
              <a:cxnLst/>
              <a:rect l="l" t="t" r="r" b="b"/>
              <a:pathLst>
                <a:path h="436879">
                  <a:moveTo>
                    <a:pt x="0" y="436856"/>
                  </a:moveTo>
                  <a:lnTo>
                    <a:pt x="0" y="424156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1866" y="5321017"/>
              <a:ext cx="121920" cy="1219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664333" y="4408785"/>
              <a:ext cx="50165" cy="140970"/>
            </a:xfrm>
            <a:custGeom>
              <a:avLst/>
              <a:gdLst/>
              <a:ahLst/>
              <a:cxnLst/>
              <a:rect l="l" t="t" r="r" b="b"/>
              <a:pathLst>
                <a:path w="50165" h="140970">
                  <a:moveTo>
                    <a:pt x="42148" y="0"/>
                  </a:moveTo>
                  <a:lnTo>
                    <a:pt x="36219" y="0"/>
                  </a:lnTo>
                  <a:lnTo>
                    <a:pt x="33712" y="1024"/>
                  </a:lnTo>
                  <a:lnTo>
                    <a:pt x="29617" y="5129"/>
                  </a:lnTo>
                  <a:lnTo>
                    <a:pt x="28594" y="7641"/>
                  </a:lnTo>
                  <a:lnTo>
                    <a:pt x="28594" y="13515"/>
                  </a:lnTo>
                  <a:lnTo>
                    <a:pt x="29635" y="16009"/>
                  </a:lnTo>
                  <a:lnTo>
                    <a:pt x="33801" y="20185"/>
                  </a:lnTo>
                  <a:lnTo>
                    <a:pt x="36288" y="21229"/>
                  </a:lnTo>
                  <a:lnTo>
                    <a:pt x="42078" y="21229"/>
                  </a:lnTo>
                  <a:lnTo>
                    <a:pt x="44566" y="20185"/>
                  </a:lnTo>
                  <a:lnTo>
                    <a:pt x="48733" y="16009"/>
                  </a:lnTo>
                  <a:lnTo>
                    <a:pt x="49773" y="13515"/>
                  </a:lnTo>
                  <a:lnTo>
                    <a:pt x="49773" y="7641"/>
                  </a:lnTo>
                  <a:lnTo>
                    <a:pt x="48751" y="5129"/>
                  </a:lnTo>
                  <a:lnTo>
                    <a:pt x="44655" y="1024"/>
                  </a:lnTo>
                  <a:lnTo>
                    <a:pt x="42148" y="0"/>
                  </a:lnTo>
                  <a:close/>
                </a:path>
                <a:path w="50165" h="140970">
                  <a:moveTo>
                    <a:pt x="38048" y="51056"/>
                  </a:moveTo>
                  <a:lnTo>
                    <a:pt x="15567" y="51056"/>
                  </a:lnTo>
                  <a:lnTo>
                    <a:pt x="17067" y="51551"/>
                  </a:lnTo>
                  <a:lnTo>
                    <a:pt x="19257" y="53533"/>
                  </a:lnTo>
                  <a:lnTo>
                    <a:pt x="19804" y="54806"/>
                  </a:lnTo>
                  <a:lnTo>
                    <a:pt x="19804" y="58345"/>
                  </a:lnTo>
                  <a:lnTo>
                    <a:pt x="18674" y="63228"/>
                  </a:lnTo>
                  <a:lnTo>
                    <a:pt x="882" y="124651"/>
                  </a:lnTo>
                  <a:lnTo>
                    <a:pt x="35" y="128827"/>
                  </a:lnTo>
                  <a:lnTo>
                    <a:pt x="0" y="134240"/>
                  </a:lnTo>
                  <a:lnTo>
                    <a:pt x="918" y="136417"/>
                  </a:lnTo>
                  <a:lnTo>
                    <a:pt x="4589" y="139884"/>
                  </a:lnTo>
                  <a:lnTo>
                    <a:pt x="6954" y="140751"/>
                  </a:lnTo>
                  <a:lnTo>
                    <a:pt x="14226" y="140751"/>
                  </a:lnTo>
                  <a:lnTo>
                    <a:pt x="18815" y="138875"/>
                  </a:lnTo>
                  <a:lnTo>
                    <a:pt x="30111" y="130101"/>
                  </a:lnTo>
                  <a:lnTo>
                    <a:pt x="30758" y="129392"/>
                  </a:lnTo>
                  <a:lnTo>
                    <a:pt x="19945" y="129392"/>
                  </a:lnTo>
                  <a:lnTo>
                    <a:pt x="19150" y="129039"/>
                  </a:lnTo>
                  <a:lnTo>
                    <a:pt x="17876" y="127694"/>
                  </a:lnTo>
                  <a:lnTo>
                    <a:pt x="17473" y="126704"/>
                  </a:lnTo>
                  <a:lnTo>
                    <a:pt x="17473" y="124651"/>
                  </a:lnTo>
                  <a:lnTo>
                    <a:pt x="18180" y="121573"/>
                  </a:lnTo>
                  <a:lnTo>
                    <a:pt x="38048" y="51056"/>
                  </a:lnTo>
                  <a:close/>
                </a:path>
                <a:path w="50165" h="140970">
                  <a:moveTo>
                    <a:pt x="36854" y="114108"/>
                  </a:moveTo>
                  <a:lnTo>
                    <a:pt x="21921" y="129392"/>
                  </a:lnTo>
                  <a:lnTo>
                    <a:pt x="30758" y="129392"/>
                  </a:lnTo>
                  <a:lnTo>
                    <a:pt x="35759" y="123908"/>
                  </a:lnTo>
                  <a:lnTo>
                    <a:pt x="40561" y="116549"/>
                  </a:lnTo>
                  <a:lnTo>
                    <a:pt x="36854" y="114108"/>
                  </a:lnTo>
                  <a:close/>
                </a:path>
                <a:path w="50165" h="140970">
                  <a:moveTo>
                    <a:pt x="40561" y="42139"/>
                  </a:moveTo>
                  <a:lnTo>
                    <a:pt x="4024" y="48084"/>
                  </a:lnTo>
                  <a:lnTo>
                    <a:pt x="4024" y="52223"/>
                  </a:lnTo>
                  <a:lnTo>
                    <a:pt x="8228" y="51551"/>
                  </a:lnTo>
                  <a:lnTo>
                    <a:pt x="8014" y="51551"/>
                  </a:lnTo>
                  <a:lnTo>
                    <a:pt x="12108" y="51056"/>
                  </a:lnTo>
                  <a:lnTo>
                    <a:pt x="38048" y="51056"/>
                  </a:lnTo>
                  <a:lnTo>
                    <a:pt x="40561" y="421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45551" y="4613260"/>
              <a:ext cx="97642" cy="18501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496300" y="4613154"/>
              <a:ext cx="50165" cy="140970"/>
            </a:xfrm>
            <a:custGeom>
              <a:avLst/>
              <a:gdLst/>
              <a:ahLst/>
              <a:cxnLst/>
              <a:rect l="l" t="t" r="r" b="b"/>
              <a:pathLst>
                <a:path w="50165" h="140970">
                  <a:moveTo>
                    <a:pt x="42148" y="0"/>
                  </a:moveTo>
                  <a:lnTo>
                    <a:pt x="36219" y="0"/>
                  </a:lnTo>
                  <a:lnTo>
                    <a:pt x="33712" y="1026"/>
                  </a:lnTo>
                  <a:lnTo>
                    <a:pt x="29617" y="5130"/>
                  </a:lnTo>
                  <a:lnTo>
                    <a:pt x="28594" y="7642"/>
                  </a:lnTo>
                  <a:lnTo>
                    <a:pt x="28594" y="13516"/>
                  </a:lnTo>
                  <a:lnTo>
                    <a:pt x="29635" y="16010"/>
                  </a:lnTo>
                  <a:lnTo>
                    <a:pt x="33801" y="20186"/>
                  </a:lnTo>
                  <a:lnTo>
                    <a:pt x="36288" y="21229"/>
                  </a:lnTo>
                  <a:lnTo>
                    <a:pt x="42078" y="21229"/>
                  </a:lnTo>
                  <a:lnTo>
                    <a:pt x="44566" y="20186"/>
                  </a:lnTo>
                  <a:lnTo>
                    <a:pt x="48732" y="16010"/>
                  </a:lnTo>
                  <a:lnTo>
                    <a:pt x="49773" y="13516"/>
                  </a:lnTo>
                  <a:lnTo>
                    <a:pt x="49773" y="7642"/>
                  </a:lnTo>
                  <a:lnTo>
                    <a:pt x="48750" y="5130"/>
                  </a:lnTo>
                  <a:lnTo>
                    <a:pt x="44655" y="1026"/>
                  </a:lnTo>
                  <a:lnTo>
                    <a:pt x="42148" y="0"/>
                  </a:lnTo>
                  <a:close/>
                </a:path>
                <a:path w="50165" h="140970">
                  <a:moveTo>
                    <a:pt x="38047" y="51057"/>
                  </a:moveTo>
                  <a:lnTo>
                    <a:pt x="15567" y="51057"/>
                  </a:lnTo>
                  <a:lnTo>
                    <a:pt x="17067" y="51553"/>
                  </a:lnTo>
                  <a:lnTo>
                    <a:pt x="19257" y="53534"/>
                  </a:lnTo>
                  <a:lnTo>
                    <a:pt x="19804" y="54808"/>
                  </a:lnTo>
                  <a:lnTo>
                    <a:pt x="19804" y="58346"/>
                  </a:lnTo>
                  <a:lnTo>
                    <a:pt x="18674" y="63229"/>
                  </a:lnTo>
                  <a:lnTo>
                    <a:pt x="882" y="124653"/>
                  </a:lnTo>
                  <a:lnTo>
                    <a:pt x="36" y="128827"/>
                  </a:lnTo>
                  <a:lnTo>
                    <a:pt x="0" y="134241"/>
                  </a:lnTo>
                  <a:lnTo>
                    <a:pt x="918" y="136417"/>
                  </a:lnTo>
                  <a:lnTo>
                    <a:pt x="4588" y="139885"/>
                  </a:lnTo>
                  <a:lnTo>
                    <a:pt x="6954" y="140751"/>
                  </a:lnTo>
                  <a:lnTo>
                    <a:pt x="14226" y="140751"/>
                  </a:lnTo>
                  <a:lnTo>
                    <a:pt x="18815" y="138877"/>
                  </a:lnTo>
                  <a:lnTo>
                    <a:pt x="30111" y="130101"/>
                  </a:lnTo>
                  <a:lnTo>
                    <a:pt x="30756" y="129393"/>
                  </a:lnTo>
                  <a:lnTo>
                    <a:pt x="19945" y="129393"/>
                  </a:lnTo>
                  <a:lnTo>
                    <a:pt x="19150" y="129040"/>
                  </a:lnTo>
                  <a:lnTo>
                    <a:pt x="17876" y="127695"/>
                  </a:lnTo>
                  <a:lnTo>
                    <a:pt x="17473" y="126705"/>
                  </a:lnTo>
                  <a:lnTo>
                    <a:pt x="17473" y="124653"/>
                  </a:lnTo>
                  <a:lnTo>
                    <a:pt x="18180" y="121574"/>
                  </a:lnTo>
                  <a:lnTo>
                    <a:pt x="38047" y="51057"/>
                  </a:lnTo>
                  <a:close/>
                </a:path>
                <a:path w="50165" h="140970">
                  <a:moveTo>
                    <a:pt x="36854" y="114109"/>
                  </a:moveTo>
                  <a:lnTo>
                    <a:pt x="21921" y="129393"/>
                  </a:lnTo>
                  <a:lnTo>
                    <a:pt x="30756" y="129393"/>
                  </a:lnTo>
                  <a:lnTo>
                    <a:pt x="35759" y="123910"/>
                  </a:lnTo>
                  <a:lnTo>
                    <a:pt x="40559" y="116550"/>
                  </a:lnTo>
                  <a:lnTo>
                    <a:pt x="36854" y="114109"/>
                  </a:lnTo>
                  <a:close/>
                </a:path>
                <a:path w="50165" h="140970">
                  <a:moveTo>
                    <a:pt x="40559" y="42141"/>
                  </a:moveTo>
                  <a:lnTo>
                    <a:pt x="4024" y="48084"/>
                  </a:lnTo>
                  <a:lnTo>
                    <a:pt x="4024" y="52224"/>
                  </a:lnTo>
                  <a:lnTo>
                    <a:pt x="8228" y="51553"/>
                  </a:lnTo>
                  <a:lnTo>
                    <a:pt x="8014" y="51553"/>
                  </a:lnTo>
                  <a:lnTo>
                    <a:pt x="12108" y="51057"/>
                  </a:lnTo>
                  <a:lnTo>
                    <a:pt x="38047" y="51057"/>
                  </a:lnTo>
                  <a:lnTo>
                    <a:pt x="40559" y="421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2444" y="4655295"/>
              <a:ext cx="86522" cy="986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270367" y="4230394"/>
              <a:ext cx="1403350" cy="567690"/>
            </a:xfrm>
            <a:custGeom>
              <a:avLst/>
              <a:gdLst/>
              <a:ahLst/>
              <a:cxnLst/>
              <a:rect l="l" t="t" r="r" b="b"/>
              <a:pathLst>
                <a:path w="1403350" h="567689">
                  <a:moveTo>
                    <a:pt x="100609" y="476605"/>
                  </a:moveTo>
                  <a:lnTo>
                    <a:pt x="0" y="476605"/>
                  </a:lnTo>
                  <a:lnTo>
                    <a:pt x="0" y="491350"/>
                  </a:lnTo>
                  <a:lnTo>
                    <a:pt x="100609" y="491350"/>
                  </a:lnTo>
                  <a:lnTo>
                    <a:pt x="100609" y="476605"/>
                  </a:lnTo>
                  <a:close/>
                </a:path>
                <a:path w="1403350" h="567689">
                  <a:moveTo>
                    <a:pt x="100609" y="447941"/>
                  </a:moveTo>
                  <a:lnTo>
                    <a:pt x="0" y="447941"/>
                  </a:lnTo>
                  <a:lnTo>
                    <a:pt x="0" y="462699"/>
                  </a:lnTo>
                  <a:lnTo>
                    <a:pt x="100609" y="462699"/>
                  </a:lnTo>
                  <a:lnTo>
                    <a:pt x="100609" y="447941"/>
                  </a:lnTo>
                  <a:close/>
                </a:path>
                <a:path w="1403350" h="567689">
                  <a:moveTo>
                    <a:pt x="203758" y="370027"/>
                  </a:moveTo>
                  <a:lnTo>
                    <a:pt x="170218" y="396227"/>
                  </a:lnTo>
                  <a:lnTo>
                    <a:pt x="149352" y="437388"/>
                  </a:lnTo>
                  <a:lnTo>
                    <a:pt x="145300" y="468845"/>
                  </a:lnTo>
                  <a:lnTo>
                    <a:pt x="145821" y="480009"/>
                  </a:lnTo>
                  <a:lnTo>
                    <a:pt x="158127" y="522376"/>
                  </a:lnTo>
                  <a:lnTo>
                    <a:pt x="182753" y="553808"/>
                  </a:lnTo>
                  <a:lnTo>
                    <a:pt x="203758" y="567461"/>
                  </a:lnTo>
                  <a:lnTo>
                    <a:pt x="203758" y="563537"/>
                  </a:lnTo>
                  <a:lnTo>
                    <a:pt x="196799" y="558711"/>
                  </a:lnTo>
                  <a:lnTo>
                    <a:pt x="190855" y="553377"/>
                  </a:lnTo>
                  <a:lnTo>
                    <a:pt x="171069" y="517144"/>
                  </a:lnTo>
                  <a:lnTo>
                    <a:pt x="165950" y="477189"/>
                  </a:lnTo>
                  <a:lnTo>
                    <a:pt x="165798" y="468845"/>
                  </a:lnTo>
                  <a:lnTo>
                    <a:pt x="165735" y="466090"/>
                  </a:lnTo>
                  <a:lnTo>
                    <a:pt x="169875" y="425970"/>
                  </a:lnTo>
                  <a:lnTo>
                    <a:pt x="186842" y="388302"/>
                  </a:lnTo>
                  <a:lnTo>
                    <a:pt x="203758" y="374484"/>
                  </a:lnTo>
                  <a:lnTo>
                    <a:pt x="203758" y="370027"/>
                  </a:lnTo>
                  <a:close/>
                </a:path>
                <a:path w="1403350" h="567689">
                  <a:moveTo>
                    <a:pt x="326250" y="262356"/>
                  </a:moveTo>
                  <a:lnTo>
                    <a:pt x="310019" y="262356"/>
                  </a:lnTo>
                  <a:lnTo>
                    <a:pt x="303695" y="276606"/>
                  </a:lnTo>
                  <a:lnTo>
                    <a:pt x="296557" y="288404"/>
                  </a:lnTo>
                  <a:lnTo>
                    <a:pt x="255117" y="313131"/>
                  </a:lnTo>
                  <a:lnTo>
                    <a:pt x="217703" y="315963"/>
                  </a:lnTo>
                  <a:lnTo>
                    <a:pt x="150101" y="315963"/>
                  </a:lnTo>
                  <a:lnTo>
                    <a:pt x="274535" y="173189"/>
                  </a:lnTo>
                  <a:lnTo>
                    <a:pt x="160693" y="17157"/>
                  </a:lnTo>
                  <a:lnTo>
                    <a:pt x="208343" y="17157"/>
                  </a:lnTo>
                  <a:lnTo>
                    <a:pt x="227850" y="18034"/>
                  </a:lnTo>
                  <a:lnTo>
                    <a:pt x="269417" y="31127"/>
                  </a:lnTo>
                  <a:lnTo>
                    <a:pt x="293903" y="65735"/>
                  </a:lnTo>
                  <a:lnTo>
                    <a:pt x="300126" y="83324"/>
                  </a:lnTo>
                  <a:lnTo>
                    <a:pt x="316014" y="83324"/>
                  </a:lnTo>
                  <a:lnTo>
                    <a:pt x="310718" y="36614"/>
                  </a:lnTo>
                  <a:lnTo>
                    <a:pt x="308978" y="25019"/>
                  </a:lnTo>
                  <a:lnTo>
                    <a:pt x="308952" y="24841"/>
                  </a:lnTo>
                  <a:lnTo>
                    <a:pt x="307162" y="17157"/>
                  </a:lnTo>
                  <a:lnTo>
                    <a:pt x="306819" y="15671"/>
                  </a:lnTo>
                  <a:lnTo>
                    <a:pt x="304317" y="9131"/>
                  </a:lnTo>
                  <a:lnTo>
                    <a:pt x="271538" y="0"/>
                  </a:lnTo>
                  <a:lnTo>
                    <a:pt x="105270" y="0"/>
                  </a:lnTo>
                  <a:lnTo>
                    <a:pt x="240830" y="186283"/>
                  </a:lnTo>
                  <a:lnTo>
                    <a:pt x="100330" y="347802"/>
                  </a:lnTo>
                  <a:lnTo>
                    <a:pt x="274535" y="347802"/>
                  </a:lnTo>
                  <a:lnTo>
                    <a:pt x="289013" y="345579"/>
                  </a:lnTo>
                  <a:lnTo>
                    <a:pt x="300520" y="338874"/>
                  </a:lnTo>
                  <a:lnTo>
                    <a:pt x="309054" y="327710"/>
                  </a:lnTo>
                  <a:lnTo>
                    <a:pt x="313220" y="315963"/>
                  </a:lnTo>
                  <a:lnTo>
                    <a:pt x="314604" y="312077"/>
                  </a:lnTo>
                  <a:lnTo>
                    <a:pt x="315264" y="309600"/>
                  </a:lnTo>
                  <a:lnTo>
                    <a:pt x="326250" y="262356"/>
                  </a:lnTo>
                  <a:close/>
                </a:path>
                <a:path w="1403350" h="567689">
                  <a:moveTo>
                    <a:pt x="333248" y="515302"/>
                  </a:moveTo>
                  <a:lnTo>
                    <a:pt x="331419" y="509917"/>
                  </a:lnTo>
                  <a:lnTo>
                    <a:pt x="324154" y="501777"/>
                  </a:lnTo>
                  <a:lnTo>
                    <a:pt x="320001" y="499745"/>
                  </a:lnTo>
                  <a:lnTo>
                    <a:pt x="311531" y="499745"/>
                  </a:lnTo>
                  <a:lnTo>
                    <a:pt x="308305" y="500976"/>
                  </a:lnTo>
                  <a:lnTo>
                    <a:pt x="303009" y="505929"/>
                  </a:lnTo>
                  <a:lnTo>
                    <a:pt x="301688" y="508901"/>
                  </a:lnTo>
                  <a:lnTo>
                    <a:pt x="301688" y="515975"/>
                  </a:lnTo>
                  <a:lnTo>
                    <a:pt x="302704" y="518807"/>
                  </a:lnTo>
                  <a:lnTo>
                    <a:pt x="306628" y="522732"/>
                  </a:lnTo>
                  <a:lnTo>
                    <a:pt x="306984" y="522986"/>
                  </a:lnTo>
                  <a:lnTo>
                    <a:pt x="309549" y="523938"/>
                  </a:lnTo>
                  <a:lnTo>
                    <a:pt x="314426" y="523938"/>
                  </a:lnTo>
                  <a:lnTo>
                    <a:pt x="315772" y="523621"/>
                  </a:lnTo>
                  <a:lnTo>
                    <a:pt x="317042" y="522986"/>
                  </a:lnTo>
                  <a:lnTo>
                    <a:pt x="319646" y="521576"/>
                  </a:lnTo>
                  <a:lnTo>
                    <a:pt x="321348" y="520865"/>
                  </a:lnTo>
                  <a:lnTo>
                    <a:pt x="322618" y="520865"/>
                  </a:lnTo>
                  <a:lnTo>
                    <a:pt x="323113" y="521182"/>
                  </a:lnTo>
                  <a:lnTo>
                    <a:pt x="323608" y="521817"/>
                  </a:lnTo>
                  <a:lnTo>
                    <a:pt x="324243" y="522732"/>
                  </a:lnTo>
                  <a:lnTo>
                    <a:pt x="324485" y="523621"/>
                  </a:lnTo>
                  <a:lnTo>
                    <a:pt x="324561" y="530872"/>
                  </a:lnTo>
                  <a:lnTo>
                    <a:pt x="322618" y="536092"/>
                  </a:lnTo>
                  <a:lnTo>
                    <a:pt x="322567" y="536232"/>
                  </a:lnTo>
                  <a:lnTo>
                    <a:pt x="314579" y="546354"/>
                  </a:lnTo>
                  <a:lnTo>
                    <a:pt x="308952" y="550087"/>
                  </a:lnTo>
                  <a:lnTo>
                    <a:pt x="301688" y="552500"/>
                  </a:lnTo>
                  <a:lnTo>
                    <a:pt x="301688" y="557161"/>
                  </a:lnTo>
                  <a:lnTo>
                    <a:pt x="330606" y="536232"/>
                  </a:lnTo>
                  <a:lnTo>
                    <a:pt x="330720" y="536092"/>
                  </a:lnTo>
                  <a:lnTo>
                    <a:pt x="333248" y="529323"/>
                  </a:lnTo>
                  <a:lnTo>
                    <a:pt x="333248" y="520865"/>
                  </a:lnTo>
                  <a:lnTo>
                    <a:pt x="333248" y="515302"/>
                  </a:lnTo>
                  <a:close/>
                </a:path>
                <a:path w="1403350" h="567689">
                  <a:moveTo>
                    <a:pt x="555561" y="468642"/>
                  </a:moveTo>
                  <a:lnTo>
                    <a:pt x="547306" y="425170"/>
                  </a:lnTo>
                  <a:lnTo>
                    <a:pt x="523900" y="388810"/>
                  </a:lnTo>
                  <a:lnTo>
                    <a:pt x="497103" y="370027"/>
                  </a:lnTo>
                  <a:lnTo>
                    <a:pt x="497103" y="374484"/>
                  </a:lnTo>
                  <a:lnTo>
                    <a:pt x="504304" y="379437"/>
                  </a:lnTo>
                  <a:lnTo>
                    <a:pt x="510095" y="384644"/>
                  </a:lnTo>
                  <a:lnTo>
                    <a:pt x="529869" y="420763"/>
                  </a:lnTo>
                  <a:lnTo>
                    <a:pt x="534911" y="460768"/>
                  </a:lnTo>
                  <a:lnTo>
                    <a:pt x="535063" y="468642"/>
                  </a:lnTo>
                  <a:lnTo>
                    <a:pt x="535127" y="471817"/>
                  </a:lnTo>
                  <a:lnTo>
                    <a:pt x="531050" y="512000"/>
                  </a:lnTo>
                  <a:lnTo>
                    <a:pt x="514057" y="549656"/>
                  </a:lnTo>
                  <a:lnTo>
                    <a:pt x="497103" y="563537"/>
                  </a:lnTo>
                  <a:lnTo>
                    <a:pt x="497103" y="567461"/>
                  </a:lnTo>
                  <a:lnTo>
                    <a:pt x="530720" y="541261"/>
                  </a:lnTo>
                  <a:lnTo>
                    <a:pt x="551522" y="500100"/>
                  </a:lnTo>
                  <a:lnTo>
                    <a:pt x="554558" y="484733"/>
                  </a:lnTo>
                  <a:lnTo>
                    <a:pt x="555561" y="468642"/>
                  </a:lnTo>
                  <a:close/>
                </a:path>
                <a:path w="1403350" h="567689">
                  <a:moveTo>
                    <a:pt x="687806" y="131419"/>
                  </a:moveTo>
                  <a:lnTo>
                    <a:pt x="687298" y="124574"/>
                  </a:lnTo>
                  <a:lnTo>
                    <a:pt x="687171" y="122847"/>
                  </a:lnTo>
                  <a:lnTo>
                    <a:pt x="685368" y="115392"/>
                  </a:lnTo>
                  <a:lnTo>
                    <a:pt x="685304" y="115125"/>
                  </a:lnTo>
                  <a:lnTo>
                    <a:pt x="682167" y="108242"/>
                  </a:lnTo>
                  <a:lnTo>
                    <a:pt x="679818" y="104990"/>
                  </a:lnTo>
                  <a:lnTo>
                    <a:pt x="679704" y="104838"/>
                  </a:lnTo>
                  <a:lnTo>
                    <a:pt x="677799" y="102209"/>
                  </a:lnTo>
                  <a:lnTo>
                    <a:pt x="672528" y="97294"/>
                  </a:lnTo>
                  <a:lnTo>
                    <a:pt x="666750" y="93789"/>
                  </a:lnTo>
                  <a:lnTo>
                    <a:pt x="660641" y="91744"/>
                  </a:lnTo>
                  <a:lnTo>
                    <a:pt x="660641" y="122618"/>
                  </a:lnTo>
                  <a:lnTo>
                    <a:pt x="660628" y="131419"/>
                  </a:lnTo>
                  <a:lnTo>
                    <a:pt x="660311" y="139014"/>
                  </a:lnTo>
                  <a:lnTo>
                    <a:pt x="659460" y="145999"/>
                  </a:lnTo>
                  <a:lnTo>
                    <a:pt x="659345" y="146951"/>
                  </a:lnTo>
                  <a:lnTo>
                    <a:pt x="646976" y="184696"/>
                  </a:lnTo>
                  <a:lnTo>
                    <a:pt x="623658" y="217881"/>
                  </a:lnTo>
                  <a:lnTo>
                    <a:pt x="601014" y="230136"/>
                  </a:lnTo>
                  <a:lnTo>
                    <a:pt x="595503" y="230136"/>
                  </a:lnTo>
                  <a:lnTo>
                    <a:pt x="587590" y="229412"/>
                  </a:lnTo>
                  <a:lnTo>
                    <a:pt x="580542" y="227203"/>
                  </a:lnTo>
                  <a:lnTo>
                    <a:pt x="574332" y="223520"/>
                  </a:lnTo>
                  <a:lnTo>
                    <a:pt x="568985" y="218363"/>
                  </a:lnTo>
                  <a:lnTo>
                    <a:pt x="582803" y="170751"/>
                  </a:lnTo>
                  <a:lnTo>
                    <a:pt x="587248" y="157949"/>
                  </a:lnTo>
                  <a:lnTo>
                    <a:pt x="592823" y="145999"/>
                  </a:lnTo>
                  <a:lnTo>
                    <a:pt x="599528" y="134874"/>
                  </a:lnTo>
                  <a:lnTo>
                    <a:pt x="605040" y="127609"/>
                  </a:lnTo>
                  <a:lnTo>
                    <a:pt x="607339" y="124574"/>
                  </a:lnTo>
                  <a:lnTo>
                    <a:pt x="615746" y="115938"/>
                  </a:lnTo>
                  <a:lnTo>
                    <a:pt x="624205" y="109766"/>
                  </a:lnTo>
                  <a:lnTo>
                    <a:pt x="632701" y="106070"/>
                  </a:lnTo>
                  <a:lnTo>
                    <a:pt x="641261" y="104838"/>
                  </a:lnTo>
                  <a:lnTo>
                    <a:pt x="646442" y="104838"/>
                  </a:lnTo>
                  <a:lnTo>
                    <a:pt x="650976" y="107086"/>
                  </a:lnTo>
                  <a:lnTo>
                    <a:pt x="658710" y="116116"/>
                  </a:lnTo>
                  <a:lnTo>
                    <a:pt x="660641" y="122618"/>
                  </a:lnTo>
                  <a:lnTo>
                    <a:pt x="660641" y="91744"/>
                  </a:lnTo>
                  <a:lnTo>
                    <a:pt x="660463" y="91681"/>
                  </a:lnTo>
                  <a:lnTo>
                    <a:pt x="653643" y="90982"/>
                  </a:lnTo>
                  <a:lnTo>
                    <a:pt x="646620" y="91490"/>
                  </a:lnTo>
                  <a:lnTo>
                    <a:pt x="611289" y="110413"/>
                  </a:lnTo>
                  <a:lnTo>
                    <a:pt x="595033" y="127609"/>
                  </a:lnTo>
                  <a:lnTo>
                    <a:pt x="601700" y="105308"/>
                  </a:lnTo>
                  <a:lnTo>
                    <a:pt x="601802" y="104990"/>
                  </a:lnTo>
                  <a:lnTo>
                    <a:pt x="601929" y="104571"/>
                  </a:lnTo>
                  <a:lnTo>
                    <a:pt x="602043" y="104203"/>
                  </a:lnTo>
                  <a:lnTo>
                    <a:pt x="605993" y="90982"/>
                  </a:lnTo>
                  <a:lnTo>
                    <a:pt x="551510" y="99098"/>
                  </a:lnTo>
                  <a:lnTo>
                    <a:pt x="551510" y="105308"/>
                  </a:lnTo>
                  <a:lnTo>
                    <a:pt x="557009" y="104571"/>
                  </a:lnTo>
                  <a:lnTo>
                    <a:pt x="561301" y="104203"/>
                  </a:lnTo>
                  <a:lnTo>
                    <a:pt x="567766" y="104203"/>
                  </a:lnTo>
                  <a:lnTo>
                    <a:pt x="570280" y="104990"/>
                  </a:lnTo>
                  <a:lnTo>
                    <a:pt x="572439" y="107086"/>
                  </a:lnTo>
                  <a:lnTo>
                    <a:pt x="573582" y="108242"/>
                  </a:lnTo>
                  <a:lnTo>
                    <a:pt x="574141" y="109766"/>
                  </a:lnTo>
                  <a:lnTo>
                    <a:pt x="574217" y="116116"/>
                  </a:lnTo>
                  <a:lnTo>
                    <a:pt x="573163" y="120865"/>
                  </a:lnTo>
                  <a:lnTo>
                    <a:pt x="530542" y="269151"/>
                  </a:lnTo>
                  <a:lnTo>
                    <a:pt x="499719" y="298919"/>
                  </a:lnTo>
                  <a:lnTo>
                    <a:pt x="498132" y="304812"/>
                  </a:lnTo>
                  <a:lnTo>
                    <a:pt x="572947" y="304812"/>
                  </a:lnTo>
                  <a:lnTo>
                    <a:pt x="574382" y="298919"/>
                  </a:lnTo>
                  <a:lnTo>
                    <a:pt x="566229" y="298919"/>
                  </a:lnTo>
                  <a:lnTo>
                    <a:pt x="561098" y="298500"/>
                  </a:lnTo>
                  <a:lnTo>
                    <a:pt x="560857" y="298500"/>
                  </a:lnTo>
                  <a:lnTo>
                    <a:pt x="555269" y="296672"/>
                  </a:lnTo>
                  <a:lnTo>
                    <a:pt x="553275" y="295402"/>
                  </a:lnTo>
                  <a:lnTo>
                    <a:pt x="550849" y="292100"/>
                  </a:lnTo>
                  <a:lnTo>
                    <a:pt x="550240" y="290118"/>
                  </a:lnTo>
                  <a:lnTo>
                    <a:pt x="550240" y="285432"/>
                  </a:lnTo>
                  <a:lnTo>
                    <a:pt x="551395" y="280085"/>
                  </a:lnTo>
                  <a:lnTo>
                    <a:pt x="553732" y="272021"/>
                  </a:lnTo>
                  <a:lnTo>
                    <a:pt x="565327" y="230936"/>
                  </a:lnTo>
                  <a:lnTo>
                    <a:pt x="570407" y="233908"/>
                  </a:lnTo>
                  <a:lnTo>
                    <a:pt x="574992" y="235978"/>
                  </a:lnTo>
                  <a:lnTo>
                    <a:pt x="583145" y="238315"/>
                  </a:lnTo>
                  <a:lnTo>
                    <a:pt x="587832" y="238899"/>
                  </a:lnTo>
                  <a:lnTo>
                    <a:pt x="593128" y="238899"/>
                  </a:lnTo>
                  <a:lnTo>
                    <a:pt x="611441" y="236639"/>
                  </a:lnTo>
                  <a:lnTo>
                    <a:pt x="625830" y="230936"/>
                  </a:lnTo>
                  <a:lnTo>
                    <a:pt x="627837" y="230136"/>
                  </a:lnTo>
                  <a:lnTo>
                    <a:pt x="628586" y="229844"/>
                  </a:lnTo>
                  <a:lnTo>
                    <a:pt x="659371" y="202679"/>
                  </a:lnTo>
                  <a:lnTo>
                    <a:pt x="680694" y="166751"/>
                  </a:lnTo>
                  <a:lnTo>
                    <a:pt x="686028" y="149009"/>
                  </a:lnTo>
                  <a:lnTo>
                    <a:pt x="687806" y="131419"/>
                  </a:lnTo>
                  <a:close/>
                </a:path>
                <a:path w="1403350" h="567689">
                  <a:moveTo>
                    <a:pt x="786612" y="231749"/>
                  </a:moveTo>
                  <a:lnTo>
                    <a:pt x="784809" y="228142"/>
                  </a:lnTo>
                  <a:lnTo>
                    <a:pt x="782091" y="225844"/>
                  </a:lnTo>
                  <a:lnTo>
                    <a:pt x="777608" y="222059"/>
                  </a:lnTo>
                  <a:lnTo>
                    <a:pt x="772071" y="220535"/>
                  </a:lnTo>
                  <a:lnTo>
                    <a:pt x="771461" y="220535"/>
                  </a:lnTo>
                  <a:lnTo>
                    <a:pt x="771461" y="232854"/>
                  </a:lnTo>
                  <a:lnTo>
                    <a:pt x="771448" y="240741"/>
                  </a:lnTo>
                  <a:lnTo>
                    <a:pt x="740130" y="267246"/>
                  </a:lnTo>
                  <a:lnTo>
                    <a:pt x="719886" y="271386"/>
                  </a:lnTo>
                  <a:lnTo>
                    <a:pt x="723150" y="260819"/>
                  </a:lnTo>
                  <a:lnTo>
                    <a:pt x="749528" y="228727"/>
                  </a:lnTo>
                  <a:lnTo>
                    <a:pt x="760666" y="225844"/>
                  </a:lnTo>
                  <a:lnTo>
                    <a:pt x="764120" y="225844"/>
                  </a:lnTo>
                  <a:lnTo>
                    <a:pt x="766787" y="226758"/>
                  </a:lnTo>
                  <a:lnTo>
                    <a:pt x="770534" y="230441"/>
                  </a:lnTo>
                  <a:lnTo>
                    <a:pt x="771461" y="232854"/>
                  </a:lnTo>
                  <a:lnTo>
                    <a:pt x="771461" y="220535"/>
                  </a:lnTo>
                  <a:lnTo>
                    <a:pt x="764578" y="220535"/>
                  </a:lnTo>
                  <a:lnTo>
                    <a:pt x="756856" y="221107"/>
                  </a:lnTo>
                  <a:lnTo>
                    <a:pt x="720813" y="240741"/>
                  </a:lnTo>
                  <a:lnTo>
                    <a:pt x="700697" y="279882"/>
                  </a:lnTo>
                  <a:lnTo>
                    <a:pt x="700087" y="287832"/>
                  </a:lnTo>
                  <a:lnTo>
                    <a:pt x="700087" y="295694"/>
                  </a:lnTo>
                  <a:lnTo>
                    <a:pt x="702716" y="302895"/>
                  </a:lnTo>
                  <a:lnTo>
                    <a:pt x="713143" y="315887"/>
                  </a:lnTo>
                  <a:lnTo>
                    <a:pt x="720915" y="319151"/>
                  </a:lnTo>
                  <a:lnTo>
                    <a:pt x="731227" y="319151"/>
                  </a:lnTo>
                  <a:lnTo>
                    <a:pt x="742746" y="317588"/>
                  </a:lnTo>
                  <a:lnTo>
                    <a:pt x="754570" y="312915"/>
                  </a:lnTo>
                  <a:lnTo>
                    <a:pt x="762038" y="308102"/>
                  </a:lnTo>
                  <a:lnTo>
                    <a:pt x="766686" y="305117"/>
                  </a:lnTo>
                  <a:lnTo>
                    <a:pt x="779094" y="294208"/>
                  </a:lnTo>
                  <a:lnTo>
                    <a:pt x="776871" y="291122"/>
                  </a:lnTo>
                  <a:lnTo>
                    <a:pt x="767613" y="298272"/>
                  </a:lnTo>
                  <a:lnTo>
                    <a:pt x="760641" y="302895"/>
                  </a:lnTo>
                  <a:lnTo>
                    <a:pt x="751255" y="307060"/>
                  </a:lnTo>
                  <a:lnTo>
                    <a:pt x="746366" y="308102"/>
                  </a:lnTo>
                  <a:lnTo>
                    <a:pt x="734923" y="308102"/>
                  </a:lnTo>
                  <a:lnTo>
                    <a:pt x="729526" y="305892"/>
                  </a:lnTo>
                  <a:lnTo>
                    <a:pt x="720636" y="297053"/>
                  </a:lnTo>
                  <a:lnTo>
                    <a:pt x="718413" y="291693"/>
                  </a:lnTo>
                  <a:lnTo>
                    <a:pt x="718413" y="283057"/>
                  </a:lnTo>
                  <a:lnTo>
                    <a:pt x="718654" y="280123"/>
                  </a:lnTo>
                  <a:lnTo>
                    <a:pt x="719150" y="276580"/>
                  </a:lnTo>
                  <a:lnTo>
                    <a:pt x="729297" y="275247"/>
                  </a:lnTo>
                  <a:lnTo>
                    <a:pt x="738238" y="273659"/>
                  </a:lnTo>
                  <a:lnTo>
                    <a:pt x="774471" y="257810"/>
                  </a:lnTo>
                  <a:lnTo>
                    <a:pt x="786612" y="241795"/>
                  </a:lnTo>
                  <a:lnTo>
                    <a:pt x="786612" y="231749"/>
                  </a:lnTo>
                  <a:close/>
                </a:path>
                <a:path w="1403350" h="567689">
                  <a:moveTo>
                    <a:pt x="1076782" y="168529"/>
                  </a:moveTo>
                  <a:lnTo>
                    <a:pt x="925868" y="168529"/>
                  </a:lnTo>
                  <a:lnTo>
                    <a:pt x="925868" y="190652"/>
                  </a:lnTo>
                  <a:lnTo>
                    <a:pt x="1076782" y="190652"/>
                  </a:lnTo>
                  <a:lnTo>
                    <a:pt x="1076782" y="168529"/>
                  </a:lnTo>
                  <a:close/>
                </a:path>
                <a:path w="1403350" h="567689">
                  <a:moveTo>
                    <a:pt x="1076782" y="125539"/>
                  </a:moveTo>
                  <a:lnTo>
                    <a:pt x="925868" y="125539"/>
                  </a:lnTo>
                  <a:lnTo>
                    <a:pt x="925868" y="147662"/>
                  </a:lnTo>
                  <a:lnTo>
                    <a:pt x="1076782" y="147662"/>
                  </a:lnTo>
                  <a:lnTo>
                    <a:pt x="1076782" y="125539"/>
                  </a:lnTo>
                  <a:close/>
                </a:path>
                <a:path w="1403350" h="567689">
                  <a:moveTo>
                    <a:pt x="1403337" y="103403"/>
                  </a:moveTo>
                  <a:lnTo>
                    <a:pt x="1401826" y="99072"/>
                  </a:lnTo>
                  <a:lnTo>
                    <a:pt x="1395793" y="92595"/>
                  </a:lnTo>
                  <a:lnTo>
                    <a:pt x="1392110" y="90982"/>
                  </a:lnTo>
                  <a:lnTo>
                    <a:pt x="1383957" y="90982"/>
                  </a:lnTo>
                  <a:lnTo>
                    <a:pt x="1380832" y="92125"/>
                  </a:lnTo>
                  <a:lnTo>
                    <a:pt x="1375956" y="96685"/>
                  </a:lnTo>
                  <a:lnTo>
                    <a:pt x="1374736" y="99479"/>
                  </a:lnTo>
                  <a:lnTo>
                    <a:pt x="1374736" y="104990"/>
                  </a:lnTo>
                  <a:lnTo>
                    <a:pt x="1385519" y="116649"/>
                  </a:lnTo>
                  <a:lnTo>
                    <a:pt x="1387182" y="118046"/>
                  </a:lnTo>
                  <a:lnTo>
                    <a:pt x="1387602" y="119011"/>
                  </a:lnTo>
                  <a:lnTo>
                    <a:pt x="1388567" y="120650"/>
                  </a:lnTo>
                  <a:lnTo>
                    <a:pt x="1388668" y="120815"/>
                  </a:lnTo>
                  <a:lnTo>
                    <a:pt x="1389189" y="122885"/>
                  </a:lnTo>
                  <a:lnTo>
                    <a:pt x="1389189" y="125222"/>
                  </a:lnTo>
                  <a:lnTo>
                    <a:pt x="1388706" y="128714"/>
                  </a:lnTo>
                  <a:lnTo>
                    <a:pt x="1370545" y="163918"/>
                  </a:lnTo>
                  <a:lnTo>
                    <a:pt x="1335341" y="210400"/>
                  </a:lnTo>
                  <a:lnTo>
                    <a:pt x="1327924" y="129540"/>
                  </a:lnTo>
                  <a:lnTo>
                    <a:pt x="1327848" y="128714"/>
                  </a:lnTo>
                  <a:lnTo>
                    <a:pt x="1324533" y="92595"/>
                  </a:lnTo>
                  <a:lnTo>
                    <a:pt x="1324483" y="92125"/>
                  </a:lnTo>
                  <a:lnTo>
                    <a:pt x="1324381" y="90982"/>
                  </a:lnTo>
                  <a:lnTo>
                    <a:pt x="1318501" y="90982"/>
                  </a:lnTo>
                  <a:lnTo>
                    <a:pt x="1253210" y="198932"/>
                  </a:lnTo>
                  <a:lnTo>
                    <a:pt x="1252982" y="196430"/>
                  </a:lnTo>
                  <a:lnTo>
                    <a:pt x="1252880" y="195262"/>
                  </a:lnTo>
                  <a:lnTo>
                    <a:pt x="1252499" y="189661"/>
                  </a:lnTo>
                  <a:lnTo>
                    <a:pt x="1252080" y="182130"/>
                  </a:lnTo>
                  <a:lnTo>
                    <a:pt x="1251623" y="172669"/>
                  </a:lnTo>
                  <a:lnTo>
                    <a:pt x="1249781" y="146900"/>
                  </a:lnTo>
                  <a:lnTo>
                    <a:pt x="1247165" y="125222"/>
                  </a:lnTo>
                  <a:lnTo>
                    <a:pt x="1247101" y="124701"/>
                  </a:lnTo>
                  <a:lnTo>
                    <a:pt x="1243888" y="107645"/>
                  </a:lnTo>
                  <a:lnTo>
                    <a:pt x="1243774" y="107086"/>
                  </a:lnTo>
                  <a:lnTo>
                    <a:pt x="1243660" y="106426"/>
                  </a:lnTo>
                  <a:lnTo>
                    <a:pt x="1243584" y="106057"/>
                  </a:lnTo>
                  <a:lnTo>
                    <a:pt x="1239240" y="90982"/>
                  </a:lnTo>
                  <a:lnTo>
                    <a:pt x="1193647" y="101650"/>
                  </a:lnTo>
                  <a:lnTo>
                    <a:pt x="1193647" y="107378"/>
                  </a:lnTo>
                  <a:lnTo>
                    <a:pt x="1198410" y="106743"/>
                  </a:lnTo>
                  <a:lnTo>
                    <a:pt x="1202334" y="106426"/>
                  </a:lnTo>
                  <a:lnTo>
                    <a:pt x="1210805" y="106426"/>
                  </a:lnTo>
                  <a:lnTo>
                    <a:pt x="1214831" y="107645"/>
                  </a:lnTo>
                  <a:lnTo>
                    <a:pt x="1227988" y="153035"/>
                  </a:lnTo>
                  <a:lnTo>
                    <a:pt x="1231404" y="206692"/>
                  </a:lnTo>
                  <a:lnTo>
                    <a:pt x="1232242" y="238899"/>
                  </a:lnTo>
                  <a:lnTo>
                    <a:pt x="1239240" y="238899"/>
                  </a:lnTo>
                  <a:lnTo>
                    <a:pt x="1263027" y="198932"/>
                  </a:lnTo>
                  <a:lnTo>
                    <a:pt x="1304848" y="128714"/>
                  </a:lnTo>
                  <a:lnTo>
                    <a:pt x="1315173" y="238899"/>
                  </a:lnTo>
                  <a:lnTo>
                    <a:pt x="1321041" y="238899"/>
                  </a:lnTo>
                  <a:lnTo>
                    <a:pt x="1325981" y="233616"/>
                  </a:lnTo>
                  <a:lnTo>
                    <a:pt x="1332064" y="226656"/>
                  </a:lnTo>
                  <a:lnTo>
                    <a:pt x="1339291" y="218046"/>
                  </a:lnTo>
                  <a:lnTo>
                    <a:pt x="1345514" y="210400"/>
                  </a:lnTo>
                  <a:lnTo>
                    <a:pt x="1347660" y="207772"/>
                  </a:lnTo>
                  <a:lnTo>
                    <a:pt x="1373873" y="172351"/>
                  </a:lnTo>
                  <a:lnTo>
                    <a:pt x="1393913" y="139941"/>
                  </a:lnTo>
                  <a:lnTo>
                    <a:pt x="1403337" y="114338"/>
                  </a:lnTo>
                  <a:lnTo>
                    <a:pt x="1403337" y="103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pic>
        <p:nvPicPr>
          <p:cNvPr id="2050" name="Picture 2" descr="The Keyboardio Model 100 by Keyboardio — Kickstarter">
            <a:extLst>
              <a:ext uri="{FF2B5EF4-FFF2-40B4-BE49-F238E27FC236}">
                <a16:creationId xmlns:a16="http://schemas.microsoft.com/office/drawing/2014/main" id="{7296B1B1-F8E6-FB11-5A19-02903F814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148" y="636569"/>
            <a:ext cx="4906116" cy="275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03300" y="2043289"/>
            <a:ext cx="10845800" cy="6478905"/>
            <a:chOff x="1003300" y="2043289"/>
            <a:chExt cx="10845800" cy="6478905"/>
          </a:xfrm>
        </p:grpSpPr>
        <p:sp>
          <p:nvSpPr>
            <p:cNvPr id="4" name="object 4"/>
            <p:cNvSpPr/>
            <p:nvPr/>
          </p:nvSpPr>
          <p:spPr>
            <a:xfrm>
              <a:off x="1003300" y="2044700"/>
              <a:ext cx="10845800" cy="6477000"/>
            </a:xfrm>
            <a:custGeom>
              <a:avLst/>
              <a:gdLst/>
              <a:ahLst/>
              <a:cxnLst/>
              <a:rect l="l" t="t" r="r" b="b"/>
              <a:pathLst>
                <a:path w="10845800" h="6477000">
                  <a:moveTo>
                    <a:pt x="10845800" y="0"/>
                  </a:moveTo>
                  <a:lnTo>
                    <a:pt x="0" y="0"/>
                  </a:lnTo>
                  <a:lnTo>
                    <a:pt x="0" y="6477000"/>
                  </a:lnTo>
                  <a:lnTo>
                    <a:pt x="10845800" y="6477000"/>
                  </a:lnTo>
                  <a:lnTo>
                    <a:pt x="1084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9369" y="2043289"/>
              <a:ext cx="9067800" cy="61298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78191" y="6397787"/>
              <a:ext cx="367665" cy="367665"/>
            </a:xfrm>
            <a:custGeom>
              <a:avLst/>
              <a:gdLst/>
              <a:ahLst/>
              <a:cxnLst/>
              <a:rect l="l" t="t" r="r" b="b"/>
              <a:pathLst>
                <a:path w="367664" h="367665">
                  <a:moveTo>
                    <a:pt x="367564" y="367564"/>
                  </a:moveTo>
                  <a:lnTo>
                    <a:pt x="358584" y="358584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72117" y="6691713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40">
                  <a:moveTo>
                    <a:pt x="86210" y="0"/>
                  </a:moveTo>
                  <a:lnTo>
                    <a:pt x="64658" y="64658"/>
                  </a:lnTo>
                  <a:lnTo>
                    <a:pt x="0" y="86210"/>
                  </a:lnTo>
                  <a:lnTo>
                    <a:pt x="129315" y="129316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Pricing</a:t>
            </a:r>
            <a:r>
              <a:rPr spc="85" dirty="0"/>
              <a:t> </a:t>
            </a:r>
            <a:r>
              <a:rPr dirty="0"/>
              <a:t>method</a:t>
            </a:r>
            <a:r>
              <a:rPr spc="9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82700" y="5422900"/>
            <a:ext cx="283591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price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edge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45" dirty="0">
                <a:solidFill>
                  <a:srgbClr val="8D3124"/>
                </a:solidFill>
                <a:latin typeface="Lucida Sans Unicode"/>
                <a:cs typeface="Lucida Sans Unicode"/>
              </a:rPr>
              <a:t>a-</a:t>
            </a:r>
            <a:r>
              <a:rPr sz="1600" spc="-85" dirty="0">
                <a:solidFill>
                  <a:srgbClr val="8D3124"/>
                </a:solidFill>
                <a:latin typeface="Lucida Sans Unicode"/>
                <a:cs typeface="Lucida Sans Unicode"/>
              </a:rPr>
              <a:t>b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vertex</a:t>
            </a:r>
            <a:r>
              <a:rPr sz="16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7553" y="5845793"/>
            <a:ext cx="284637" cy="28463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600" y="342900"/>
            <a:ext cx="11191875" cy="576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2807335" algn="l"/>
              </a:tabLst>
            </a:pPr>
            <a:r>
              <a:rPr sz="2800" dirty="0">
                <a:latin typeface="Arial MT"/>
                <a:cs typeface="Arial MT"/>
              </a:rPr>
              <a:t>Pricing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method: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analysis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800">
              <a:latin typeface="Arial MT"/>
              <a:cs typeface="Arial MT"/>
            </a:endParaRPr>
          </a:p>
          <a:p>
            <a:pPr marL="76200" marR="128905">
              <a:lnSpc>
                <a:spcPct val="131900"/>
              </a:lnSpc>
              <a:tabLst>
                <a:tab pos="16827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Pricing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method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W</a:t>
            </a:r>
            <a:r>
              <a:rPr sz="1900" spc="-30" dirty="0">
                <a:latin typeface="Lucida Sans Unicode"/>
                <a:cs typeface="Lucida Sans Unicode"/>
              </a:rPr>
              <a:t>EIGHTED</a:t>
            </a:r>
            <a:r>
              <a:rPr sz="2400" spc="-30" dirty="0">
                <a:latin typeface="Lucida Sans Unicode"/>
                <a:cs typeface="Lucida Sans Unicode"/>
              </a:rPr>
              <a:t>-</a:t>
            </a:r>
            <a:r>
              <a:rPr sz="2400" spc="-85" dirty="0">
                <a:latin typeface="Lucida Sans Unicode"/>
                <a:cs typeface="Lucida Sans Unicode"/>
              </a:rPr>
              <a:t>V</a:t>
            </a:r>
            <a:r>
              <a:rPr sz="1900" spc="-85" dirty="0">
                <a:latin typeface="Lucida Sans Unicode"/>
                <a:cs typeface="Lucida Sans Unicode"/>
              </a:rPr>
              <a:t>ERTEX</a:t>
            </a:r>
            <a:r>
              <a:rPr sz="2400" spc="-8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660400" marR="144145" indent="-457200">
              <a:lnSpc>
                <a:spcPts val="3800"/>
              </a:lnSpc>
              <a:spcBef>
                <a:spcPts val="280"/>
              </a:spcBef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terminates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since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new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becomes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tight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after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iteration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while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loop.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ct val="100000"/>
              </a:lnSpc>
              <a:spcBef>
                <a:spcPts val="29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=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tight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termination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660400">
              <a:lnSpc>
                <a:spcPct val="100000"/>
              </a:lnSpc>
              <a:spcBef>
                <a:spcPts val="630"/>
              </a:spcBef>
              <a:tabLst>
                <a:tab pos="3651885" algn="l"/>
              </a:tabLst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cover:</a:t>
            </a:r>
            <a:r>
              <a:rPr sz="2400" dirty="0">
                <a:latin typeface="Lucida Sans Unicode"/>
                <a:cs typeface="Lucida Sans Unicode"/>
              </a:rPr>
              <a:t>	if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j</a:t>
            </a:r>
            <a:r>
              <a:rPr sz="2400" dirty="0">
                <a:solidFill>
                  <a:srgbClr val="232323"/>
                </a:solidFill>
                <a:latin typeface="Times New Roman"/>
                <a:cs typeface="Times New Roman"/>
              </a:rPr>
              <a:t>)</a:t>
            </a:r>
            <a:r>
              <a:rPr sz="2400" spc="140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uncovered,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neither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232323"/>
                </a:solidFill>
                <a:latin typeface="Times New Roman"/>
                <a:cs typeface="Times New Roman"/>
              </a:rPr>
              <a:t>i</a:t>
            </a:r>
            <a:r>
              <a:rPr sz="2400" i="1" spc="145" dirty="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solidFill>
                  <a:srgbClr val="232323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  <a:p>
            <a:pPr marL="660400">
              <a:lnSpc>
                <a:spcPct val="100000"/>
              </a:lnSpc>
              <a:spcBef>
                <a:spcPts val="919"/>
              </a:spcBef>
            </a:pP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tight. But then while loop would not </a:t>
            </a:r>
            <a:r>
              <a:rPr sz="2400" spc="-10" dirty="0">
                <a:latin typeface="Lucida Sans Unicode"/>
                <a:cs typeface="Lucida Sans Unicode"/>
              </a:rPr>
              <a:t>terminate.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ct val="100000"/>
              </a:lnSpc>
              <a:spcBef>
                <a:spcPts val="3270"/>
              </a:spcBef>
              <a:tabLst>
                <a:tab pos="7469505" algn="l"/>
                <a:tab pos="7789545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cover.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w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w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*)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3369" y="6689666"/>
            <a:ext cx="985519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i="1" spc="50" dirty="0">
                <a:latin typeface="Times New Roman"/>
                <a:cs typeface="Times New Roman"/>
              </a:rPr>
              <a:t>w</a:t>
            </a:r>
            <a:r>
              <a:rPr sz="2800" spc="50" dirty="0">
                <a:latin typeface="Times New Roman"/>
                <a:cs typeface="Times New Roman"/>
              </a:rPr>
              <a:t>(</a:t>
            </a:r>
            <a:r>
              <a:rPr sz="2800" i="1" spc="50" dirty="0">
                <a:latin typeface="Times New Roman"/>
                <a:cs typeface="Times New Roman"/>
              </a:rPr>
              <a:t>S</a:t>
            </a:r>
            <a:r>
              <a:rPr sz="2800" spc="50" dirty="0">
                <a:latin typeface="Times New Roman"/>
                <a:cs typeface="Times New Roman"/>
              </a:rPr>
              <a:t>)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4740" y="6704618"/>
            <a:ext cx="2819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50" dirty="0">
                <a:latin typeface="Symbol"/>
                <a:cs typeface="Symbol"/>
              </a:rPr>
              <a:t>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70035" y="7143220"/>
            <a:ext cx="1269365" cy="3130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00710" algn="l"/>
              </a:tabLst>
            </a:pPr>
            <a:r>
              <a:rPr sz="1850" i="1" dirty="0">
                <a:latin typeface="Times New Roman"/>
                <a:cs typeface="Times New Roman"/>
              </a:rPr>
              <a:t>i</a:t>
            </a:r>
            <a:r>
              <a:rPr sz="1850" i="1" spc="-270" dirty="0">
                <a:latin typeface="Times New Roman"/>
                <a:cs typeface="Times New Roman"/>
              </a:rPr>
              <a:t> </a:t>
            </a:r>
            <a:r>
              <a:rPr sz="1850" spc="65" dirty="0">
                <a:latin typeface="Symbol"/>
                <a:cs typeface="Symbol"/>
              </a:rPr>
              <a:t></a:t>
            </a:r>
            <a:r>
              <a:rPr sz="1850" i="1" spc="65" dirty="0">
                <a:latin typeface="Times New Roman"/>
                <a:cs typeface="Times New Roman"/>
              </a:rPr>
              <a:t>V</a:t>
            </a:r>
            <a:r>
              <a:rPr sz="1850" i="1" dirty="0">
                <a:latin typeface="Times New Roman"/>
                <a:cs typeface="Times New Roman"/>
              </a:rPr>
              <a:t>	e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i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j</a:t>
            </a:r>
            <a:r>
              <a:rPr sz="1850" i="1" spc="-21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4411" y="6655275"/>
            <a:ext cx="5269865" cy="8007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395"/>
              </a:spcBef>
              <a:tabLst>
                <a:tab pos="980440" algn="l"/>
                <a:tab pos="1429385" algn="l"/>
                <a:tab pos="2114550" algn="l"/>
                <a:tab pos="2563495" algn="l"/>
                <a:tab pos="3139440" algn="l"/>
                <a:tab pos="4471035" algn="l"/>
                <a:tab pos="4919345" algn="l"/>
              </a:tabLst>
            </a:pPr>
            <a:r>
              <a:rPr sz="4200" baseline="-1984" dirty="0">
                <a:latin typeface="Symbol"/>
                <a:cs typeface="Symbol"/>
              </a:rPr>
              <a:t></a:t>
            </a:r>
            <a:r>
              <a:rPr sz="4200" spc="44" baseline="-1984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w</a:t>
            </a:r>
            <a:r>
              <a:rPr sz="2775" i="1" spc="-37" baseline="-21021" dirty="0">
                <a:latin typeface="Times New Roman"/>
                <a:cs typeface="Times New Roman"/>
              </a:rPr>
              <a:t>i</a:t>
            </a:r>
            <a:r>
              <a:rPr sz="2775" i="1" baseline="-21021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Symbol"/>
                <a:cs typeface="Symbol"/>
              </a:rPr>
              <a:t>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4200" spc="-75" baseline="-1984" dirty="0">
                <a:latin typeface="Symbol"/>
                <a:cs typeface="Symbol"/>
              </a:rPr>
              <a:t></a:t>
            </a:r>
            <a:r>
              <a:rPr sz="4200" baseline="-1984" dirty="0">
                <a:latin typeface="Times New Roman"/>
                <a:cs typeface="Times New Roman"/>
              </a:rPr>
              <a:t>	</a:t>
            </a:r>
            <a:r>
              <a:rPr sz="4200" spc="-75" baseline="-1984" dirty="0">
                <a:latin typeface="Symbol"/>
                <a:cs typeface="Symbol"/>
              </a:rPr>
              <a:t></a:t>
            </a:r>
            <a:r>
              <a:rPr sz="4200" baseline="-1984" dirty="0">
                <a:latin typeface="Times New Roman"/>
                <a:cs typeface="Times New Roman"/>
              </a:rPr>
              <a:t>	</a:t>
            </a:r>
            <a:r>
              <a:rPr sz="2800" i="1" spc="-25" dirty="0">
                <a:latin typeface="Times New Roman"/>
                <a:cs typeface="Times New Roman"/>
              </a:rPr>
              <a:t>p</a:t>
            </a:r>
            <a:r>
              <a:rPr sz="2775" i="1" spc="-37" baseline="-21021" dirty="0">
                <a:latin typeface="Times New Roman"/>
                <a:cs typeface="Times New Roman"/>
              </a:rPr>
              <a:t>e</a:t>
            </a:r>
            <a:r>
              <a:rPr sz="2775" i="1" baseline="-21021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Symbol"/>
                <a:cs typeface="Symbol"/>
              </a:rPr>
              <a:t>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4200" spc="-75" baseline="-1984" dirty="0">
                <a:latin typeface="Symbol"/>
                <a:cs typeface="Symbol"/>
              </a:rPr>
              <a:t></a:t>
            </a:r>
            <a:r>
              <a:rPr sz="4200" baseline="-1984" dirty="0">
                <a:latin typeface="Times New Roman"/>
                <a:cs typeface="Times New Roman"/>
              </a:rPr>
              <a:t>	</a:t>
            </a:r>
            <a:r>
              <a:rPr sz="2800" i="1" spc="-25" dirty="0">
                <a:latin typeface="Times New Roman"/>
                <a:cs typeface="Times New Roman"/>
              </a:rPr>
              <a:t>p</a:t>
            </a:r>
            <a:r>
              <a:rPr sz="2775" i="1" spc="-37" baseline="-21021" dirty="0">
                <a:latin typeface="Times New Roman"/>
                <a:cs typeface="Times New Roman"/>
              </a:rPr>
              <a:t>e</a:t>
            </a:r>
            <a:endParaRPr sz="2775" baseline="-21021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220"/>
              </a:spcBef>
              <a:tabLst>
                <a:tab pos="1339215" algn="l"/>
                <a:tab pos="1912620" algn="l"/>
              </a:tabLst>
            </a:pPr>
            <a:r>
              <a:rPr sz="1850" i="1" dirty="0">
                <a:latin typeface="Times New Roman"/>
                <a:cs typeface="Times New Roman"/>
              </a:rPr>
              <a:t>i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i="1" spc="-60" dirty="0">
                <a:latin typeface="Times New Roman"/>
                <a:cs typeface="Times New Roman"/>
              </a:rPr>
              <a:t>S</a:t>
            </a:r>
            <a:r>
              <a:rPr sz="1850" i="1" dirty="0">
                <a:latin typeface="Times New Roman"/>
                <a:cs typeface="Times New Roman"/>
              </a:rPr>
              <a:t>	i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S</a:t>
            </a:r>
            <a:r>
              <a:rPr sz="1850" i="1" dirty="0">
                <a:latin typeface="Times New Roman"/>
                <a:cs typeface="Times New Roman"/>
              </a:rPr>
              <a:t>	e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i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j</a:t>
            </a:r>
            <a:r>
              <a:rPr sz="1850" i="1" spc="-23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2187" y="6655275"/>
            <a:ext cx="1481455" cy="8007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  <a:tabLst>
                <a:tab pos="456565" algn="l"/>
                <a:tab pos="780415" algn="l"/>
              </a:tabLst>
            </a:pPr>
            <a:r>
              <a:rPr sz="2800" spc="-50" dirty="0">
                <a:latin typeface="Symbol"/>
                <a:cs typeface="Symbol"/>
              </a:rPr>
              <a:t>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4200" baseline="-1984" dirty="0">
                <a:latin typeface="Symbol"/>
                <a:cs typeface="Symbol"/>
              </a:rPr>
              <a:t></a:t>
            </a:r>
            <a:r>
              <a:rPr sz="4200" spc="517" baseline="-1984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p</a:t>
            </a:r>
            <a:r>
              <a:rPr sz="2775" i="1" spc="-37" baseline="-21021" dirty="0">
                <a:latin typeface="Times New Roman"/>
                <a:cs typeface="Times New Roman"/>
              </a:rPr>
              <a:t>e</a:t>
            </a:r>
            <a:endParaRPr sz="2775" baseline="-21021">
              <a:latin typeface="Times New Roman"/>
              <a:cs typeface="Times New Roman"/>
            </a:endParaRPr>
          </a:p>
          <a:p>
            <a:pPr marL="645795">
              <a:lnSpc>
                <a:spcPct val="100000"/>
              </a:lnSpc>
              <a:spcBef>
                <a:spcPts val="220"/>
              </a:spcBef>
            </a:pP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-2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5280" y="6689666"/>
            <a:ext cx="16960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50545" algn="l"/>
              </a:tabLst>
            </a:pPr>
            <a:r>
              <a:rPr sz="2800" spc="-50" dirty="0">
                <a:latin typeface="Symbol"/>
                <a:cs typeface="Symbol"/>
              </a:rPr>
              <a:t>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2</a:t>
            </a:r>
            <a:r>
              <a:rPr sz="2800" i="1" spc="-10" dirty="0">
                <a:latin typeface="Times New Roman"/>
                <a:cs typeface="Times New Roman"/>
              </a:rPr>
              <a:t>w</a:t>
            </a:r>
            <a:r>
              <a:rPr sz="2800" spc="-10" dirty="0">
                <a:latin typeface="Times New Roman"/>
                <a:cs typeface="Times New Roman"/>
              </a:rPr>
              <a:t>(</a:t>
            </a:r>
            <a:r>
              <a:rPr sz="2800" i="1" spc="-10" dirty="0">
                <a:latin typeface="Times New Roman"/>
                <a:cs typeface="Times New Roman"/>
              </a:rPr>
              <a:t>S</a:t>
            </a:r>
            <a:r>
              <a:rPr sz="2800" spc="-10" dirty="0">
                <a:latin typeface="Times New Roman"/>
                <a:cs typeface="Times New Roman"/>
              </a:rPr>
              <a:t>*).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96547" y="7385350"/>
            <a:ext cx="121920" cy="355600"/>
            <a:chOff x="3696547" y="7385350"/>
            <a:chExt cx="121920" cy="355600"/>
          </a:xfrm>
        </p:grpSpPr>
        <p:sp>
          <p:nvSpPr>
            <p:cNvPr id="10" name="object 10"/>
            <p:cNvSpPr/>
            <p:nvPr/>
          </p:nvSpPr>
          <p:spPr>
            <a:xfrm>
              <a:off x="3757507" y="7464090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h="276859">
                  <a:moveTo>
                    <a:pt x="0" y="0"/>
                  </a:moveTo>
                  <a:lnTo>
                    <a:pt x="0" y="12699"/>
                  </a:lnTo>
                  <a:lnTo>
                    <a:pt x="0" y="27670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6547" y="7385350"/>
              <a:ext cx="121919" cy="12192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616200" y="7835900"/>
            <a:ext cx="2237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all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nodes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are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tight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9100" y="7774940"/>
            <a:ext cx="1036319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58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25" dirty="0">
                <a:solidFill>
                  <a:srgbClr val="8D3124"/>
                </a:solidFill>
                <a:latin typeface="Lucida Sans Unicode"/>
                <a:cs typeface="Lucida Sans Unicode"/>
              </a:rPr>
              <a:t>⊆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V,</a:t>
            </a:r>
            <a:endParaRPr sz="16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prices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≥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91700" y="7823200"/>
            <a:ext cx="152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fairness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lemma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34200" y="7835900"/>
            <a:ext cx="24790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each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edge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counted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twice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972996" y="6978791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900" y="0"/>
                </a:moveTo>
                <a:lnTo>
                  <a:pt x="0" y="0"/>
                </a:lnTo>
                <a:lnTo>
                  <a:pt x="0" y="88900"/>
                </a:lnTo>
                <a:lnTo>
                  <a:pt x="88900" y="88900"/>
                </a:lnTo>
                <a:lnTo>
                  <a:pt x="88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895340" y="7391400"/>
            <a:ext cx="121920" cy="355600"/>
            <a:chOff x="5895340" y="7391400"/>
            <a:chExt cx="121920" cy="355600"/>
          </a:xfrm>
        </p:grpSpPr>
        <p:sp>
          <p:nvSpPr>
            <p:cNvPr id="18" name="object 18"/>
            <p:cNvSpPr/>
            <p:nvPr/>
          </p:nvSpPr>
          <p:spPr>
            <a:xfrm>
              <a:off x="5956300" y="7470139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h="276859">
                  <a:moveTo>
                    <a:pt x="0" y="0"/>
                  </a:moveTo>
                  <a:lnTo>
                    <a:pt x="0" y="12699"/>
                  </a:lnTo>
                  <a:lnTo>
                    <a:pt x="0" y="27670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5340" y="7391400"/>
              <a:ext cx="121920" cy="12191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168640" y="7391400"/>
            <a:ext cx="121920" cy="355600"/>
            <a:chOff x="8168640" y="7391400"/>
            <a:chExt cx="121920" cy="355600"/>
          </a:xfrm>
        </p:grpSpPr>
        <p:sp>
          <p:nvSpPr>
            <p:cNvPr id="21" name="object 21"/>
            <p:cNvSpPr/>
            <p:nvPr/>
          </p:nvSpPr>
          <p:spPr>
            <a:xfrm>
              <a:off x="8229600" y="7470139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h="276859">
                  <a:moveTo>
                    <a:pt x="0" y="0"/>
                  </a:moveTo>
                  <a:lnTo>
                    <a:pt x="0" y="12699"/>
                  </a:lnTo>
                  <a:lnTo>
                    <a:pt x="0" y="27670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8640" y="7391400"/>
              <a:ext cx="121919" cy="12191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9883140" y="7391400"/>
            <a:ext cx="121920" cy="355600"/>
            <a:chOff x="9883140" y="7391400"/>
            <a:chExt cx="121920" cy="355600"/>
          </a:xfrm>
        </p:grpSpPr>
        <p:sp>
          <p:nvSpPr>
            <p:cNvPr id="24" name="object 24"/>
            <p:cNvSpPr/>
            <p:nvPr/>
          </p:nvSpPr>
          <p:spPr>
            <a:xfrm>
              <a:off x="9944100" y="7470139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h="276859">
                  <a:moveTo>
                    <a:pt x="0" y="0"/>
                  </a:moveTo>
                  <a:lnTo>
                    <a:pt x="0" y="12699"/>
                  </a:lnTo>
                  <a:lnTo>
                    <a:pt x="0" y="27670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83140" y="7391400"/>
              <a:ext cx="121919" cy="121919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6712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700" algn="l"/>
                <a:tab pos="4297680" algn="l"/>
              </a:tabLst>
            </a:pPr>
            <a:r>
              <a:rPr sz="3600" b="1" cap="small" spc="-25" dirty="0">
                <a:latin typeface="Tahoma"/>
                <a:cs typeface="Tahoma"/>
              </a:rPr>
              <a:t>11.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50" dirty="0">
                <a:latin typeface="Tahoma"/>
                <a:cs typeface="Tahoma"/>
              </a:rPr>
              <a:t>Approximation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04" dirty="0">
                <a:latin typeface="Tahoma"/>
                <a:cs typeface="Tahoma"/>
              </a:rPr>
              <a:t>Algorithms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195" dirty="0"/>
              <a:t>load</a:t>
            </a:r>
            <a:r>
              <a:rPr sz="3000" spc="-170" dirty="0"/>
              <a:t> </a:t>
            </a:r>
            <a:r>
              <a:rPr sz="3000" spc="-95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5" dirty="0"/>
              <a:t>center</a:t>
            </a:r>
            <a:r>
              <a:rPr sz="3000" spc="-175" dirty="0"/>
              <a:t> </a:t>
            </a:r>
            <a:r>
              <a:rPr sz="3000" spc="-305" dirty="0"/>
              <a:t>selection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10" dirty="0"/>
              <a:t>pricing</a:t>
            </a:r>
            <a:r>
              <a:rPr sz="3000" spc="-160" dirty="0"/>
              <a:t> </a:t>
            </a:r>
            <a:r>
              <a:rPr sz="3000" spc="-390" dirty="0"/>
              <a:t>method:</a:t>
            </a:r>
            <a:r>
              <a:rPr sz="3000" spc="-155" dirty="0"/>
              <a:t> </a:t>
            </a:r>
            <a:r>
              <a:rPr sz="3000" spc="-295" dirty="0"/>
              <a:t>weighted</a:t>
            </a:r>
            <a:r>
              <a:rPr sz="3000" spc="-155" dirty="0"/>
              <a:t> </a:t>
            </a:r>
            <a:r>
              <a:rPr sz="3000" spc="-355" dirty="0"/>
              <a:t>vertex</a:t>
            </a:r>
            <a:r>
              <a:rPr sz="3000" spc="-155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440" dirty="0">
                <a:solidFill>
                  <a:srgbClr val="000000"/>
                </a:solidFill>
              </a:rPr>
              <a:t>LP</a:t>
            </a:r>
            <a:r>
              <a:rPr sz="3000" spc="-170" dirty="0">
                <a:solidFill>
                  <a:srgbClr val="000000"/>
                </a:solidFill>
              </a:rPr>
              <a:t> </a:t>
            </a:r>
            <a:r>
              <a:rPr sz="3000" spc="-280" dirty="0">
                <a:solidFill>
                  <a:srgbClr val="000000"/>
                </a:solidFill>
              </a:rPr>
              <a:t>rounding:</a:t>
            </a:r>
            <a:r>
              <a:rPr sz="3000" spc="-170" dirty="0">
                <a:solidFill>
                  <a:srgbClr val="000000"/>
                </a:solidFill>
              </a:rPr>
              <a:t> </a:t>
            </a:r>
            <a:r>
              <a:rPr sz="3000" spc="-295" dirty="0">
                <a:solidFill>
                  <a:srgbClr val="000000"/>
                </a:solidFill>
              </a:rPr>
              <a:t>weighted</a:t>
            </a:r>
            <a:r>
              <a:rPr sz="3000" spc="-170" dirty="0">
                <a:solidFill>
                  <a:srgbClr val="000000"/>
                </a:solidFill>
              </a:rPr>
              <a:t> </a:t>
            </a:r>
            <a:r>
              <a:rPr sz="3000" spc="-355" dirty="0">
                <a:solidFill>
                  <a:srgbClr val="000000"/>
                </a:solidFill>
              </a:rPr>
              <a:t>vertex</a:t>
            </a:r>
            <a:r>
              <a:rPr sz="3000" spc="-170" dirty="0">
                <a:solidFill>
                  <a:srgbClr val="000000"/>
                </a:solidFill>
              </a:rPr>
              <a:t> </a:t>
            </a:r>
            <a:r>
              <a:rPr sz="3000" spc="-310" dirty="0">
                <a:solidFill>
                  <a:srgbClr val="000000"/>
                </a:solidFill>
              </a:rPr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29" dirty="0"/>
              <a:t>generalized</a:t>
            </a:r>
            <a:r>
              <a:rPr sz="3000" spc="-130" dirty="0"/>
              <a:t> </a:t>
            </a:r>
            <a:r>
              <a:rPr sz="3000" spc="-195" dirty="0"/>
              <a:t>load</a:t>
            </a:r>
            <a:r>
              <a:rPr sz="3000" spc="-125" dirty="0"/>
              <a:t> </a:t>
            </a:r>
            <a:r>
              <a:rPr sz="3000" spc="-90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/>
              <a:t>knapsack</a:t>
            </a:r>
            <a:r>
              <a:rPr sz="3000" spc="-155" dirty="0"/>
              <a:t> </a:t>
            </a:r>
            <a:r>
              <a:rPr sz="3000" spc="-295" dirty="0"/>
              <a:t>problem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146300" y="6921500"/>
            <a:ext cx="145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70" dirty="0">
                <a:solidFill>
                  <a:srgbClr val="606060"/>
                </a:solidFill>
                <a:latin typeface="Tahoma"/>
                <a:cs typeface="Tahoma"/>
              </a:rPr>
              <a:t>11.6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370" dirty="0"/>
              <a:t> </a:t>
            </a:r>
            <a:r>
              <a:rPr dirty="0"/>
              <a:t>vertex</a:t>
            </a:r>
            <a:r>
              <a:rPr spc="375" dirty="0"/>
              <a:t> </a:t>
            </a:r>
            <a:r>
              <a:rPr spc="-10" dirty="0"/>
              <a:t>cover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216660"/>
            <a:ext cx="1126045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9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Given a graph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 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775" i="1" spc="209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 0</a:t>
            </a:r>
            <a:r>
              <a:rPr sz="2400" dirty="0">
                <a:latin typeface="Lucida Sans Unicode"/>
                <a:cs typeface="Lucida Sans Unicode"/>
              </a:rPr>
              <a:t>, find a </a:t>
            </a:r>
            <a:r>
              <a:rPr sz="2400" spc="-65" dirty="0">
                <a:latin typeface="Lucida Sans Unicode"/>
                <a:cs typeface="Lucida Sans Unicode"/>
              </a:rPr>
              <a:t>min-</a:t>
            </a:r>
            <a:r>
              <a:rPr sz="2400" spc="-30" dirty="0">
                <a:latin typeface="Lucida Sans Unicode"/>
                <a:cs typeface="Lucida Sans Unicode"/>
              </a:rPr>
              <a:t>weight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subset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vertices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 incident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 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00093" y="4073649"/>
            <a:ext cx="3941445" cy="4370070"/>
            <a:chOff x="4500093" y="4073649"/>
            <a:chExt cx="3941445" cy="4370070"/>
          </a:xfrm>
        </p:grpSpPr>
        <p:sp>
          <p:nvSpPr>
            <p:cNvPr id="6" name="object 6"/>
            <p:cNvSpPr/>
            <p:nvPr/>
          </p:nvSpPr>
          <p:spPr>
            <a:xfrm>
              <a:off x="4503699" y="4078414"/>
              <a:ext cx="3937635" cy="4365625"/>
            </a:xfrm>
            <a:custGeom>
              <a:avLst/>
              <a:gdLst/>
              <a:ahLst/>
              <a:cxnLst/>
              <a:rect l="l" t="t" r="r" b="b"/>
              <a:pathLst>
                <a:path w="3937634" h="4365625">
                  <a:moveTo>
                    <a:pt x="340918" y="2230666"/>
                  </a:moveTo>
                  <a:lnTo>
                    <a:pt x="335368" y="2187422"/>
                  </a:lnTo>
                  <a:lnTo>
                    <a:pt x="318731" y="2146477"/>
                  </a:lnTo>
                  <a:lnTo>
                    <a:pt x="290995" y="2110130"/>
                  </a:lnTo>
                  <a:lnTo>
                    <a:pt x="254647" y="2082393"/>
                  </a:lnTo>
                  <a:lnTo>
                    <a:pt x="213702" y="2065756"/>
                  </a:lnTo>
                  <a:lnTo>
                    <a:pt x="170459" y="2060206"/>
                  </a:lnTo>
                  <a:lnTo>
                    <a:pt x="127215" y="2065756"/>
                  </a:lnTo>
                  <a:lnTo>
                    <a:pt x="86271" y="2082393"/>
                  </a:lnTo>
                  <a:lnTo>
                    <a:pt x="49923" y="2110130"/>
                  </a:lnTo>
                  <a:lnTo>
                    <a:pt x="22186" y="2146477"/>
                  </a:lnTo>
                  <a:lnTo>
                    <a:pt x="5549" y="2187422"/>
                  </a:lnTo>
                  <a:lnTo>
                    <a:pt x="0" y="2230666"/>
                  </a:lnTo>
                  <a:lnTo>
                    <a:pt x="5549" y="2273909"/>
                  </a:lnTo>
                  <a:lnTo>
                    <a:pt x="22186" y="2314854"/>
                  </a:lnTo>
                  <a:lnTo>
                    <a:pt x="49923" y="2351201"/>
                  </a:lnTo>
                  <a:lnTo>
                    <a:pt x="86271" y="2378938"/>
                  </a:lnTo>
                  <a:lnTo>
                    <a:pt x="127215" y="2395588"/>
                  </a:lnTo>
                  <a:lnTo>
                    <a:pt x="170459" y="2401138"/>
                  </a:lnTo>
                  <a:lnTo>
                    <a:pt x="213702" y="2395588"/>
                  </a:lnTo>
                  <a:lnTo>
                    <a:pt x="254647" y="2378938"/>
                  </a:lnTo>
                  <a:lnTo>
                    <a:pt x="290995" y="2351201"/>
                  </a:lnTo>
                  <a:lnTo>
                    <a:pt x="318731" y="2314854"/>
                  </a:lnTo>
                  <a:lnTo>
                    <a:pt x="335368" y="2273909"/>
                  </a:lnTo>
                  <a:lnTo>
                    <a:pt x="340918" y="2230666"/>
                  </a:lnTo>
                  <a:close/>
                </a:path>
                <a:path w="3937634" h="4365625">
                  <a:moveTo>
                    <a:pt x="384924" y="169748"/>
                  </a:moveTo>
                  <a:lnTo>
                    <a:pt x="375691" y="128536"/>
                  </a:lnTo>
                  <a:lnTo>
                    <a:pt x="357225" y="89763"/>
                  </a:lnTo>
                  <a:lnTo>
                    <a:pt x="329539" y="55067"/>
                  </a:lnTo>
                  <a:lnTo>
                    <a:pt x="294627" y="27533"/>
                  </a:lnTo>
                  <a:lnTo>
                    <a:pt x="255638" y="9182"/>
                  </a:lnTo>
                  <a:lnTo>
                    <a:pt x="214172" y="0"/>
                  </a:lnTo>
                  <a:lnTo>
                    <a:pt x="171894" y="0"/>
                  </a:lnTo>
                  <a:lnTo>
                    <a:pt x="130441" y="9182"/>
                  </a:lnTo>
                  <a:lnTo>
                    <a:pt x="91440" y="27533"/>
                  </a:lnTo>
                  <a:lnTo>
                    <a:pt x="56540" y="55067"/>
                  </a:lnTo>
                  <a:lnTo>
                    <a:pt x="28841" y="89763"/>
                  </a:lnTo>
                  <a:lnTo>
                    <a:pt x="10375" y="128536"/>
                  </a:lnTo>
                  <a:lnTo>
                    <a:pt x="1155" y="169748"/>
                  </a:lnTo>
                  <a:lnTo>
                    <a:pt x="1155" y="211785"/>
                  </a:lnTo>
                  <a:lnTo>
                    <a:pt x="10375" y="252996"/>
                  </a:lnTo>
                  <a:lnTo>
                    <a:pt x="28841" y="291769"/>
                  </a:lnTo>
                  <a:lnTo>
                    <a:pt x="56540" y="326466"/>
                  </a:lnTo>
                  <a:lnTo>
                    <a:pt x="91440" y="353999"/>
                  </a:lnTo>
                  <a:lnTo>
                    <a:pt x="130441" y="372351"/>
                  </a:lnTo>
                  <a:lnTo>
                    <a:pt x="171894" y="381533"/>
                  </a:lnTo>
                  <a:lnTo>
                    <a:pt x="214172" y="381533"/>
                  </a:lnTo>
                  <a:lnTo>
                    <a:pt x="255638" y="372351"/>
                  </a:lnTo>
                  <a:lnTo>
                    <a:pt x="294627" y="353999"/>
                  </a:lnTo>
                  <a:lnTo>
                    <a:pt x="329539" y="326466"/>
                  </a:lnTo>
                  <a:lnTo>
                    <a:pt x="357225" y="291769"/>
                  </a:lnTo>
                  <a:lnTo>
                    <a:pt x="375691" y="252996"/>
                  </a:lnTo>
                  <a:lnTo>
                    <a:pt x="384924" y="211785"/>
                  </a:lnTo>
                  <a:lnTo>
                    <a:pt x="384924" y="169748"/>
                  </a:lnTo>
                  <a:close/>
                </a:path>
                <a:path w="3937634" h="4365625">
                  <a:moveTo>
                    <a:pt x="3937558" y="4194657"/>
                  </a:moveTo>
                  <a:lnTo>
                    <a:pt x="3932009" y="4151414"/>
                  </a:lnTo>
                  <a:lnTo>
                    <a:pt x="3915372" y="4110469"/>
                  </a:lnTo>
                  <a:lnTo>
                    <a:pt x="3887635" y="4074122"/>
                  </a:lnTo>
                  <a:lnTo>
                    <a:pt x="3851287" y="4046385"/>
                  </a:lnTo>
                  <a:lnTo>
                    <a:pt x="3810343" y="4029735"/>
                  </a:lnTo>
                  <a:lnTo>
                    <a:pt x="3767099" y="4024198"/>
                  </a:lnTo>
                  <a:lnTo>
                    <a:pt x="3723856" y="4029735"/>
                  </a:lnTo>
                  <a:lnTo>
                    <a:pt x="3682911" y="4046385"/>
                  </a:lnTo>
                  <a:lnTo>
                    <a:pt x="3646563" y="4074122"/>
                  </a:lnTo>
                  <a:lnTo>
                    <a:pt x="3618827" y="4110469"/>
                  </a:lnTo>
                  <a:lnTo>
                    <a:pt x="3602190" y="4151414"/>
                  </a:lnTo>
                  <a:lnTo>
                    <a:pt x="3596640" y="4194657"/>
                  </a:lnTo>
                  <a:lnTo>
                    <a:pt x="3602190" y="4237901"/>
                  </a:lnTo>
                  <a:lnTo>
                    <a:pt x="3618827" y="4278846"/>
                  </a:lnTo>
                  <a:lnTo>
                    <a:pt x="3646563" y="4315193"/>
                  </a:lnTo>
                  <a:lnTo>
                    <a:pt x="3682911" y="4342930"/>
                  </a:lnTo>
                  <a:lnTo>
                    <a:pt x="3723856" y="4359567"/>
                  </a:lnTo>
                  <a:lnTo>
                    <a:pt x="3767099" y="4365117"/>
                  </a:lnTo>
                  <a:lnTo>
                    <a:pt x="3810343" y="4359567"/>
                  </a:lnTo>
                  <a:lnTo>
                    <a:pt x="3851287" y="4342930"/>
                  </a:lnTo>
                  <a:lnTo>
                    <a:pt x="3887635" y="4315193"/>
                  </a:lnTo>
                  <a:lnTo>
                    <a:pt x="3915372" y="4278846"/>
                  </a:lnTo>
                  <a:lnTo>
                    <a:pt x="3932009" y="4237901"/>
                  </a:lnTo>
                  <a:lnTo>
                    <a:pt x="3937558" y="4194657"/>
                  </a:lnTo>
                  <a:close/>
                </a:path>
                <a:path w="3937634" h="4365625">
                  <a:moveTo>
                    <a:pt x="3937558" y="1174026"/>
                  </a:moveTo>
                  <a:lnTo>
                    <a:pt x="3932009" y="1130782"/>
                  </a:lnTo>
                  <a:lnTo>
                    <a:pt x="3915372" y="1089837"/>
                  </a:lnTo>
                  <a:lnTo>
                    <a:pt x="3887635" y="1053490"/>
                  </a:lnTo>
                  <a:lnTo>
                    <a:pt x="3851287" y="1025753"/>
                  </a:lnTo>
                  <a:lnTo>
                    <a:pt x="3810343" y="1009116"/>
                  </a:lnTo>
                  <a:lnTo>
                    <a:pt x="3767099" y="1003566"/>
                  </a:lnTo>
                  <a:lnTo>
                    <a:pt x="3723856" y="1009116"/>
                  </a:lnTo>
                  <a:lnTo>
                    <a:pt x="3682911" y="1025753"/>
                  </a:lnTo>
                  <a:lnTo>
                    <a:pt x="3646563" y="1053490"/>
                  </a:lnTo>
                  <a:lnTo>
                    <a:pt x="3618827" y="1089837"/>
                  </a:lnTo>
                  <a:lnTo>
                    <a:pt x="3602190" y="1130782"/>
                  </a:lnTo>
                  <a:lnTo>
                    <a:pt x="3596640" y="1174026"/>
                  </a:lnTo>
                  <a:lnTo>
                    <a:pt x="3602190" y="1217269"/>
                  </a:lnTo>
                  <a:lnTo>
                    <a:pt x="3618827" y="1258214"/>
                  </a:lnTo>
                  <a:lnTo>
                    <a:pt x="3646563" y="1294561"/>
                  </a:lnTo>
                  <a:lnTo>
                    <a:pt x="3682911" y="1322298"/>
                  </a:lnTo>
                  <a:lnTo>
                    <a:pt x="3723856" y="1338948"/>
                  </a:lnTo>
                  <a:lnTo>
                    <a:pt x="3767099" y="1344485"/>
                  </a:lnTo>
                  <a:lnTo>
                    <a:pt x="3810343" y="1338948"/>
                  </a:lnTo>
                  <a:lnTo>
                    <a:pt x="3851287" y="1322298"/>
                  </a:lnTo>
                  <a:lnTo>
                    <a:pt x="3887635" y="1294561"/>
                  </a:lnTo>
                  <a:lnTo>
                    <a:pt x="3915372" y="1258214"/>
                  </a:lnTo>
                  <a:lnTo>
                    <a:pt x="3932009" y="1217269"/>
                  </a:lnTo>
                  <a:lnTo>
                    <a:pt x="3937558" y="1174026"/>
                  </a:lnTo>
                  <a:close/>
                </a:path>
                <a:path w="3937634" h="4365625">
                  <a:moveTo>
                    <a:pt x="3937558" y="213347"/>
                  </a:moveTo>
                  <a:lnTo>
                    <a:pt x="3932009" y="170383"/>
                  </a:lnTo>
                  <a:lnTo>
                    <a:pt x="3915372" y="129717"/>
                  </a:lnTo>
                  <a:lnTo>
                    <a:pt x="3887635" y="93611"/>
                  </a:lnTo>
                  <a:lnTo>
                    <a:pt x="3851287" y="66052"/>
                  </a:lnTo>
                  <a:lnTo>
                    <a:pt x="3810343" y="49517"/>
                  </a:lnTo>
                  <a:lnTo>
                    <a:pt x="3767099" y="44018"/>
                  </a:lnTo>
                  <a:lnTo>
                    <a:pt x="3723856" y="49517"/>
                  </a:lnTo>
                  <a:lnTo>
                    <a:pt x="3682911" y="66052"/>
                  </a:lnTo>
                  <a:lnTo>
                    <a:pt x="3646563" y="93611"/>
                  </a:lnTo>
                  <a:lnTo>
                    <a:pt x="3618827" y="129717"/>
                  </a:lnTo>
                  <a:lnTo>
                    <a:pt x="3602190" y="170383"/>
                  </a:lnTo>
                  <a:lnTo>
                    <a:pt x="3596640" y="213347"/>
                  </a:lnTo>
                  <a:lnTo>
                    <a:pt x="3602190" y="256298"/>
                  </a:lnTo>
                  <a:lnTo>
                    <a:pt x="3618827" y="296976"/>
                  </a:lnTo>
                  <a:lnTo>
                    <a:pt x="3646563" y="333082"/>
                  </a:lnTo>
                  <a:lnTo>
                    <a:pt x="3682911" y="360629"/>
                  </a:lnTo>
                  <a:lnTo>
                    <a:pt x="3723856" y="377164"/>
                  </a:lnTo>
                  <a:lnTo>
                    <a:pt x="3767099" y="382676"/>
                  </a:lnTo>
                  <a:lnTo>
                    <a:pt x="3810343" y="377164"/>
                  </a:lnTo>
                  <a:lnTo>
                    <a:pt x="3851287" y="360629"/>
                  </a:lnTo>
                  <a:lnTo>
                    <a:pt x="3887635" y="333082"/>
                  </a:lnTo>
                  <a:lnTo>
                    <a:pt x="3915372" y="296976"/>
                  </a:lnTo>
                  <a:lnTo>
                    <a:pt x="3932009" y="256298"/>
                  </a:lnTo>
                  <a:lnTo>
                    <a:pt x="3937558" y="213347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04855" y="4078412"/>
              <a:ext cx="384175" cy="381635"/>
            </a:xfrm>
            <a:custGeom>
              <a:avLst/>
              <a:gdLst/>
              <a:ahLst/>
              <a:cxnLst/>
              <a:rect l="l" t="t" r="r" b="b"/>
              <a:pathLst>
                <a:path w="384175" h="381635">
                  <a:moveTo>
                    <a:pt x="328385" y="55062"/>
                  </a:moveTo>
                  <a:lnTo>
                    <a:pt x="356079" y="89761"/>
                  </a:lnTo>
                  <a:lnTo>
                    <a:pt x="374541" y="128533"/>
                  </a:lnTo>
                  <a:lnTo>
                    <a:pt x="383772" y="169748"/>
                  </a:lnTo>
                  <a:lnTo>
                    <a:pt x="383772" y="211779"/>
                  </a:lnTo>
                  <a:lnTo>
                    <a:pt x="374541" y="252994"/>
                  </a:lnTo>
                  <a:lnTo>
                    <a:pt x="356079" y="291766"/>
                  </a:lnTo>
                  <a:lnTo>
                    <a:pt x="328385" y="326465"/>
                  </a:lnTo>
                  <a:lnTo>
                    <a:pt x="293482" y="353996"/>
                  </a:lnTo>
                  <a:lnTo>
                    <a:pt x="254482" y="372350"/>
                  </a:lnTo>
                  <a:lnTo>
                    <a:pt x="213024" y="381527"/>
                  </a:lnTo>
                  <a:lnTo>
                    <a:pt x="170747" y="381527"/>
                  </a:lnTo>
                  <a:lnTo>
                    <a:pt x="129289" y="372350"/>
                  </a:lnTo>
                  <a:lnTo>
                    <a:pt x="90289" y="353996"/>
                  </a:lnTo>
                  <a:lnTo>
                    <a:pt x="55386" y="326465"/>
                  </a:lnTo>
                  <a:lnTo>
                    <a:pt x="27693" y="291766"/>
                  </a:lnTo>
                  <a:lnTo>
                    <a:pt x="9231" y="252994"/>
                  </a:lnTo>
                  <a:lnTo>
                    <a:pt x="0" y="211779"/>
                  </a:lnTo>
                  <a:lnTo>
                    <a:pt x="0" y="169748"/>
                  </a:lnTo>
                  <a:lnTo>
                    <a:pt x="9231" y="128533"/>
                  </a:lnTo>
                  <a:lnTo>
                    <a:pt x="27693" y="89761"/>
                  </a:lnTo>
                  <a:lnTo>
                    <a:pt x="55386" y="55062"/>
                  </a:lnTo>
                  <a:lnTo>
                    <a:pt x="90289" y="27531"/>
                  </a:lnTo>
                  <a:lnTo>
                    <a:pt x="129289" y="9177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177"/>
                  </a:lnTo>
                  <a:lnTo>
                    <a:pt x="293482" y="27531"/>
                  </a:lnTo>
                  <a:lnTo>
                    <a:pt x="328385" y="5506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84700" y="4102100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Lucida Sans Unicode"/>
                <a:cs typeface="Lucida Sans Unicode"/>
              </a:rPr>
              <a:t>10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00093" y="8054118"/>
            <a:ext cx="393700" cy="393700"/>
            <a:chOff x="4500093" y="8054118"/>
            <a:chExt cx="393700" cy="393700"/>
          </a:xfrm>
        </p:grpSpPr>
        <p:sp>
          <p:nvSpPr>
            <p:cNvPr id="10" name="object 10"/>
            <p:cNvSpPr/>
            <p:nvPr/>
          </p:nvSpPr>
          <p:spPr>
            <a:xfrm>
              <a:off x="4504855" y="80588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5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9" y="27693"/>
                  </a:lnTo>
                  <a:lnTo>
                    <a:pt x="55386" y="55386"/>
                  </a:lnTo>
                  <a:lnTo>
                    <a:pt x="27693" y="90289"/>
                  </a:lnTo>
                  <a:lnTo>
                    <a:pt x="9231" y="129289"/>
                  </a:lnTo>
                  <a:lnTo>
                    <a:pt x="0" y="170747"/>
                  </a:lnTo>
                  <a:lnTo>
                    <a:pt x="0" y="213024"/>
                  </a:lnTo>
                  <a:lnTo>
                    <a:pt x="9231" y="254482"/>
                  </a:lnTo>
                  <a:lnTo>
                    <a:pt x="27693" y="293482"/>
                  </a:lnTo>
                  <a:lnTo>
                    <a:pt x="55386" y="328385"/>
                  </a:lnTo>
                  <a:lnTo>
                    <a:pt x="90289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5" y="383772"/>
                  </a:lnTo>
                  <a:lnTo>
                    <a:pt x="254483" y="374541"/>
                  </a:lnTo>
                  <a:lnTo>
                    <a:pt x="293482" y="356078"/>
                  </a:lnTo>
                  <a:lnTo>
                    <a:pt x="328385" y="328385"/>
                  </a:lnTo>
                  <a:lnTo>
                    <a:pt x="356078" y="293482"/>
                  </a:lnTo>
                  <a:lnTo>
                    <a:pt x="374541" y="254482"/>
                  </a:lnTo>
                  <a:lnTo>
                    <a:pt x="383772" y="213024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8" y="90289"/>
                  </a:lnTo>
                  <a:lnTo>
                    <a:pt x="328385" y="55386"/>
                  </a:lnTo>
                  <a:lnTo>
                    <a:pt x="293482" y="27693"/>
                  </a:lnTo>
                  <a:lnTo>
                    <a:pt x="254483" y="9231"/>
                  </a:lnTo>
                  <a:lnTo>
                    <a:pt x="213025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04855" y="80588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22800" y="80899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7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75574" y="4250126"/>
            <a:ext cx="3615054" cy="4020185"/>
            <a:chOff x="4875574" y="4250126"/>
            <a:chExt cx="3615054" cy="4020185"/>
          </a:xfrm>
        </p:grpSpPr>
        <p:sp>
          <p:nvSpPr>
            <p:cNvPr id="14" name="object 14"/>
            <p:cNvSpPr/>
            <p:nvPr/>
          </p:nvSpPr>
          <p:spPr>
            <a:xfrm>
              <a:off x="4894624" y="6286500"/>
              <a:ext cx="3201035" cy="0"/>
            </a:xfrm>
            <a:custGeom>
              <a:avLst/>
              <a:gdLst/>
              <a:ahLst/>
              <a:cxnLst/>
              <a:rect l="l" t="t" r="r" b="b"/>
              <a:pathLst>
                <a:path w="3201034">
                  <a:moveTo>
                    <a:pt x="0" y="0"/>
                  </a:moveTo>
                  <a:lnTo>
                    <a:pt x="0" y="0"/>
                  </a:lnTo>
                  <a:lnTo>
                    <a:pt x="3150147" y="0"/>
                  </a:lnTo>
                  <a:lnTo>
                    <a:pt x="3200956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98495" y="4269176"/>
              <a:ext cx="3197225" cy="0"/>
            </a:xfrm>
            <a:custGeom>
              <a:avLst/>
              <a:gdLst/>
              <a:ahLst/>
              <a:cxnLst/>
              <a:rect l="l" t="t" r="r" b="b"/>
              <a:pathLst>
                <a:path w="3197225">
                  <a:moveTo>
                    <a:pt x="0" y="0"/>
                  </a:moveTo>
                  <a:lnTo>
                    <a:pt x="0" y="0"/>
                  </a:lnTo>
                  <a:lnTo>
                    <a:pt x="3146337" y="0"/>
                  </a:lnTo>
                  <a:lnTo>
                    <a:pt x="3197085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94624" y="8250767"/>
              <a:ext cx="3197225" cy="0"/>
            </a:xfrm>
            <a:custGeom>
              <a:avLst/>
              <a:gdLst/>
              <a:ahLst/>
              <a:cxnLst/>
              <a:rect l="l" t="t" r="r" b="b"/>
              <a:pathLst>
                <a:path w="3197225">
                  <a:moveTo>
                    <a:pt x="0" y="0"/>
                  </a:moveTo>
                  <a:lnTo>
                    <a:pt x="0" y="0"/>
                  </a:lnTo>
                  <a:lnTo>
                    <a:pt x="3146144" y="0"/>
                  </a:lnTo>
                  <a:lnTo>
                    <a:pt x="3196888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01496" y="609461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4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8" y="27693"/>
                  </a:lnTo>
                  <a:lnTo>
                    <a:pt x="55385" y="55386"/>
                  </a:lnTo>
                  <a:lnTo>
                    <a:pt x="27692" y="90289"/>
                  </a:lnTo>
                  <a:lnTo>
                    <a:pt x="9230" y="129289"/>
                  </a:lnTo>
                  <a:lnTo>
                    <a:pt x="0" y="170747"/>
                  </a:lnTo>
                  <a:lnTo>
                    <a:pt x="0" y="213025"/>
                  </a:lnTo>
                  <a:lnTo>
                    <a:pt x="9230" y="254483"/>
                  </a:lnTo>
                  <a:lnTo>
                    <a:pt x="27692" y="293482"/>
                  </a:lnTo>
                  <a:lnTo>
                    <a:pt x="55385" y="328385"/>
                  </a:lnTo>
                  <a:lnTo>
                    <a:pt x="90288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4" y="383772"/>
                  </a:lnTo>
                  <a:lnTo>
                    <a:pt x="254482" y="374541"/>
                  </a:lnTo>
                  <a:lnTo>
                    <a:pt x="293482" y="356078"/>
                  </a:lnTo>
                  <a:lnTo>
                    <a:pt x="328386" y="328385"/>
                  </a:lnTo>
                  <a:lnTo>
                    <a:pt x="356079" y="293482"/>
                  </a:lnTo>
                  <a:lnTo>
                    <a:pt x="374541" y="254483"/>
                  </a:lnTo>
                  <a:lnTo>
                    <a:pt x="383772" y="213025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9" y="90289"/>
                  </a:lnTo>
                  <a:lnTo>
                    <a:pt x="328386" y="55386"/>
                  </a:lnTo>
                  <a:lnTo>
                    <a:pt x="293482" y="27693"/>
                  </a:lnTo>
                  <a:lnTo>
                    <a:pt x="254482" y="9231"/>
                  </a:lnTo>
                  <a:lnTo>
                    <a:pt x="21302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01497" y="609461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42300" y="61214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9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00093" y="4304014"/>
            <a:ext cx="3610610" cy="1122680"/>
            <a:chOff x="4500093" y="4304014"/>
            <a:chExt cx="3610610" cy="1122680"/>
          </a:xfrm>
        </p:grpSpPr>
        <p:sp>
          <p:nvSpPr>
            <p:cNvPr id="21" name="object 21"/>
            <p:cNvSpPr/>
            <p:nvPr/>
          </p:nvSpPr>
          <p:spPr>
            <a:xfrm>
              <a:off x="4898495" y="4323064"/>
              <a:ext cx="3193415" cy="853440"/>
            </a:xfrm>
            <a:custGeom>
              <a:avLst/>
              <a:gdLst/>
              <a:ahLst/>
              <a:cxnLst/>
              <a:rect l="l" t="t" r="r" b="b"/>
              <a:pathLst>
                <a:path w="3193415" h="853439">
                  <a:moveTo>
                    <a:pt x="0" y="0"/>
                  </a:moveTo>
                  <a:lnTo>
                    <a:pt x="3193018" y="852874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4855" y="5037973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5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9" y="27693"/>
                  </a:lnTo>
                  <a:lnTo>
                    <a:pt x="55386" y="55386"/>
                  </a:lnTo>
                  <a:lnTo>
                    <a:pt x="27693" y="90289"/>
                  </a:lnTo>
                  <a:lnTo>
                    <a:pt x="9231" y="129289"/>
                  </a:lnTo>
                  <a:lnTo>
                    <a:pt x="0" y="170747"/>
                  </a:lnTo>
                  <a:lnTo>
                    <a:pt x="0" y="213025"/>
                  </a:lnTo>
                  <a:lnTo>
                    <a:pt x="9231" y="254483"/>
                  </a:lnTo>
                  <a:lnTo>
                    <a:pt x="27693" y="293482"/>
                  </a:lnTo>
                  <a:lnTo>
                    <a:pt x="55386" y="328385"/>
                  </a:lnTo>
                  <a:lnTo>
                    <a:pt x="90289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5" y="383772"/>
                  </a:lnTo>
                  <a:lnTo>
                    <a:pt x="254483" y="374541"/>
                  </a:lnTo>
                  <a:lnTo>
                    <a:pt x="293482" y="356078"/>
                  </a:lnTo>
                  <a:lnTo>
                    <a:pt x="328385" y="328385"/>
                  </a:lnTo>
                  <a:lnTo>
                    <a:pt x="356078" y="293482"/>
                  </a:lnTo>
                  <a:lnTo>
                    <a:pt x="374541" y="254483"/>
                  </a:lnTo>
                  <a:lnTo>
                    <a:pt x="383772" y="213025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8" y="90289"/>
                  </a:lnTo>
                  <a:lnTo>
                    <a:pt x="328385" y="55386"/>
                  </a:lnTo>
                  <a:lnTo>
                    <a:pt x="293482" y="27693"/>
                  </a:lnTo>
                  <a:lnTo>
                    <a:pt x="254483" y="9231"/>
                  </a:lnTo>
                  <a:lnTo>
                    <a:pt x="213025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04855" y="5037973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84700" y="5067300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Lucida Sans Unicode"/>
                <a:cs typeface="Lucida Sans Unicode"/>
              </a:rPr>
              <a:t>16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00093" y="7049407"/>
            <a:ext cx="393700" cy="393700"/>
            <a:chOff x="4500093" y="7049407"/>
            <a:chExt cx="393700" cy="393700"/>
          </a:xfrm>
        </p:grpSpPr>
        <p:sp>
          <p:nvSpPr>
            <p:cNvPr id="26" name="object 26"/>
            <p:cNvSpPr/>
            <p:nvPr/>
          </p:nvSpPr>
          <p:spPr>
            <a:xfrm>
              <a:off x="4504855" y="705417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5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9" y="27693"/>
                  </a:lnTo>
                  <a:lnTo>
                    <a:pt x="55386" y="55386"/>
                  </a:lnTo>
                  <a:lnTo>
                    <a:pt x="27693" y="90289"/>
                  </a:lnTo>
                  <a:lnTo>
                    <a:pt x="9231" y="129289"/>
                  </a:lnTo>
                  <a:lnTo>
                    <a:pt x="0" y="170747"/>
                  </a:lnTo>
                  <a:lnTo>
                    <a:pt x="0" y="213024"/>
                  </a:lnTo>
                  <a:lnTo>
                    <a:pt x="9231" y="254482"/>
                  </a:lnTo>
                  <a:lnTo>
                    <a:pt x="27693" y="293482"/>
                  </a:lnTo>
                  <a:lnTo>
                    <a:pt x="55386" y="328385"/>
                  </a:lnTo>
                  <a:lnTo>
                    <a:pt x="90289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5" y="383772"/>
                  </a:lnTo>
                  <a:lnTo>
                    <a:pt x="254483" y="374541"/>
                  </a:lnTo>
                  <a:lnTo>
                    <a:pt x="293482" y="356078"/>
                  </a:lnTo>
                  <a:lnTo>
                    <a:pt x="328385" y="328385"/>
                  </a:lnTo>
                  <a:lnTo>
                    <a:pt x="356078" y="293482"/>
                  </a:lnTo>
                  <a:lnTo>
                    <a:pt x="374541" y="254482"/>
                  </a:lnTo>
                  <a:lnTo>
                    <a:pt x="383772" y="213024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8" y="90289"/>
                  </a:lnTo>
                  <a:lnTo>
                    <a:pt x="328385" y="55386"/>
                  </a:lnTo>
                  <a:lnTo>
                    <a:pt x="293482" y="27693"/>
                  </a:lnTo>
                  <a:lnTo>
                    <a:pt x="254483" y="9231"/>
                  </a:lnTo>
                  <a:lnTo>
                    <a:pt x="213025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04855" y="705417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572000" y="7086600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Lucida Sans Unicode"/>
                <a:cs typeface="Lucida Sans Unicode"/>
              </a:rPr>
              <a:t>23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096734" y="7049407"/>
            <a:ext cx="393700" cy="393700"/>
            <a:chOff x="8096734" y="7049407"/>
            <a:chExt cx="393700" cy="393700"/>
          </a:xfrm>
        </p:grpSpPr>
        <p:sp>
          <p:nvSpPr>
            <p:cNvPr id="30" name="object 30"/>
            <p:cNvSpPr/>
            <p:nvPr/>
          </p:nvSpPr>
          <p:spPr>
            <a:xfrm>
              <a:off x="8101496" y="705417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4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8" y="27693"/>
                  </a:lnTo>
                  <a:lnTo>
                    <a:pt x="55385" y="55386"/>
                  </a:lnTo>
                  <a:lnTo>
                    <a:pt x="27692" y="90289"/>
                  </a:lnTo>
                  <a:lnTo>
                    <a:pt x="9230" y="129289"/>
                  </a:lnTo>
                  <a:lnTo>
                    <a:pt x="0" y="170747"/>
                  </a:lnTo>
                  <a:lnTo>
                    <a:pt x="0" y="213024"/>
                  </a:lnTo>
                  <a:lnTo>
                    <a:pt x="9230" y="254482"/>
                  </a:lnTo>
                  <a:lnTo>
                    <a:pt x="27692" y="293482"/>
                  </a:lnTo>
                  <a:lnTo>
                    <a:pt x="55385" y="328385"/>
                  </a:lnTo>
                  <a:lnTo>
                    <a:pt x="90288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4" y="383772"/>
                  </a:lnTo>
                  <a:lnTo>
                    <a:pt x="254482" y="374541"/>
                  </a:lnTo>
                  <a:lnTo>
                    <a:pt x="293482" y="356078"/>
                  </a:lnTo>
                  <a:lnTo>
                    <a:pt x="328386" y="328385"/>
                  </a:lnTo>
                  <a:lnTo>
                    <a:pt x="356079" y="293482"/>
                  </a:lnTo>
                  <a:lnTo>
                    <a:pt x="374541" y="254482"/>
                  </a:lnTo>
                  <a:lnTo>
                    <a:pt x="383772" y="213024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9" y="90289"/>
                  </a:lnTo>
                  <a:lnTo>
                    <a:pt x="328386" y="55386"/>
                  </a:lnTo>
                  <a:lnTo>
                    <a:pt x="293482" y="27693"/>
                  </a:lnTo>
                  <a:lnTo>
                    <a:pt x="254482" y="9231"/>
                  </a:lnTo>
                  <a:lnTo>
                    <a:pt x="21302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01496" y="705417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178800" y="7086600"/>
            <a:ext cx="283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Lucida Sans Unicode"/>
                <a:cs typeface="Lucida Sans Unicode"/>
              </a:rPr>
              <a:t>33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00093" y="4346714"/>
            <a:ext cx="3812540" cy="3867150"/>
            <a:chOff x="4500093" y="4346714"/>
            <a:chExt cx="3812540" cy="3867150"/>
          </a:xfrm>
        </p:grpSpPr>
        <p:sp>
          <p:nvSpPr>
            <p:cNvPr id="34" name="object 34"/>
            <p:cNvSpPr/>
            <p:nvPr/>
          </p:nvSpPr>
          <p:spPr>
            <a:xfrm>
              <a:off x="4898495" y="5229859"/>
              <a:ext cx="3193415" cy="0"/>
            </a:xfrm>
            <a:custGeom>
              <a:avLst/>
              <a:gdLst/>
              <a:ahLst/>
              <a:cxnLst/>
              <a:rect l="l" t="t" r="r" b="b"/>
              <a:pathLst>
                <a:path w="3193415">
                  <a:moveTo>
                    <a:pt x="0" y="0"/>
                  </a:moveTo>
                  <a:lnTo>
                    <a:pt x="0" y="0"/>
                  </a:lnTo>
                  <a:lnTo>
                    <a:pt x="3142335" y="0"/>
                  </a:lnTo>
                  <a:lnTo>
                    <a:pt x="3193018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87382" y="5342706"/>
              <a:ext cx="3204210" cy="1791335"/>
            </a:xfrm>
            <a:custGeom>
              <a:avLst/>
              <a:gdLst/>
              <a:ahLst/>
              <a:cxnLst/>
              <a:rect l="l" t="t" r="r" b="b"/>
              <a:pathLst>
                <a:path w="3204209" h="1791334">
                  <a:moveTo>
                    <a:pt x="0" y="1791134"/>
                  </a:moveTo>
                  <a:lnTo>
                    <a:pt x="3204131" y="0"/>
                  </a:lnTo>
                </a:path>
              </a:pathLst>
            </a:custGeom>
            <a:ln w="3809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87818" y="6337477"/>
              <a:ext cx="3204210" cy="855344"/>
            </a:xfrm>
            <a:custGeom>
              <a:avLst/>
              <a:gdLst/>
              <a:ahLst/>
              <a:cxnLst/>
              <a:rect l="l" t="t" r="r" b="b"/>
              <a:pathLst>
                <a:path w="3204209" h="855345">
                  <a:moveTo>
                    <a:pt x="0" y="0"/>
                  </a:moveTo>
                  <a:lnTo>
                    <a:pt x="3203694" y="854721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87382" y="7301975"/>
              <a:ext cx="3204210" cy="892810"/>
            </a:xfrm>
            <a:custGeom>
              <a:avLst/>
              <a:gdLst/>
              <a:ahLst/>
              <a:cxnLst/>
              <a:rect l="l" t="t" r="r" b="b"/>
              <a:pathLst>
                <a:path w="3204209" h="892809">
                  <a:moveTo>
                    <a:pt x="0" y="0"/>
                  </a:moveTo>
                  <a:lnTo>
                    <a:pt x="3204131" y="892558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48236" y="5361861"/>
              <a:ext cx="3288029" cy="2762250"/>
            </a:xfrm>
            <a:custGeom>
              <a:avLst/>
              <a:gdLst/>
              <a:ahLst/>
              <a:cxnLst/>
              <a:rect l="l" t="t" r="r" b="b"/>
              <a:pathLst>
                <a:path w="3288029" h="2762250">
                  <a:moveTo>
                    <a:pt x="0" y="2761661"/>
                  </a:moveTo>
                  <a:lnTo>
                    <a:pt x="3287988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69226" y="4365764"/>
              <a:ext cx="3252470" cy="1824355"/>
            </a:xfrm>
            <a:custGeom>
              <a:avLst/>
              <a:gdLst/>
              <a:ahLst/>
              <a:cxnLst/>
              <a:rect l="l" t="t" r="r" b="b"/>
              <a:pathLst>
                <a:path w="3252470" h="1824354">
                  <a:moveTo>
                    <a:pt x="0" y="1823990"/>
                  </a:moveTo>
                  <a:lnTo>
                    <a:pt x="3251950" y="0"/>
                  </a:lnTo>
                </a:path>
              </a:pathLst>
            </a:custGeom>
            <a:ln w="3809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93381" y="7443937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0"/>
                  </a:lnTo>
                  <a:lnTo>
                    <a:pt x="0" y="558274"/>
                  </a:lnTo>
                  <a:lnTo>
                    <a:pt x="0" y="609026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93381" y="5427741"/>
              <a:ext cx="0" cy="661035"/>
            </a:xfrm>
            <a:custGeom>
              <a:avLst/>
              <a:gdLst/>
              <a:ahLst/>
              <a:cxnLst/>
              <a:rect l="l" t="t" r="r" b="b"/>
              <a:pathLst>
                <a:path h="661035">
                  <a:moveTo>
                    <a:pt x="0" y="0"/>
                  </a:moveTo>
                  <a:lnTo>
                    <a:pt x="0" y="660956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93381" y="4465804"/>
              <a:ext cx="0" cy="566420"/>
            </a:xfrm>
            <a:custGeom>
              <a:avLst/>
              <a:gdLst/>
              <a:ahLst/>
              <a:cxnLst/>
              <a:rect l="l" t="t" r="r" b="b"/>
              <a:pathLst>
                <a:path h="566420">
                  <a:moveTo>
                    <a:pt x="0" y="0"/>
                  </a:moveTo>
                  <a:lnTo>
                    <a:pt x="0" y="566252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96741" y="5427741"/>
              <a:ext cx="0" cy="661035"/>
            </a:xfrm>
            <a:custGeom>
              <a:avLst/>
              <a:gdLst/>
              <a:ahLst/>
              <a:cxnLst/>
              <a:rect l="l" t="t" r="r" b="b"/>
              <a:pathLst>
                <a:path h="661035">
                  <a:moveTo>
                    <a:pt x="0" y="66095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04855" y="6094613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5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9" y="27693"/>
                  </a:lnTo>
                  <a:lnTo>
                    <a:pt x="55386" y="55386"/>
                  </a:lnTo>
                  <a:lnTo>
                    <a:pt x="27693" y="90289"/>
                  </a:lnTo>
                  <a:lnTo>
                    <a:pt x="9231" y="129289"/>
                  </a:lnTo>
                  <a:lnTo>
                    <a:pt x="0" y="170747"/>
                  </a:lnTo>
                  <a:lnTo>
                    <a:pt x="0" y="213025"/>
                  </a:lnTo>
                  <a:lnTo>
                    <a:pt x="9231" y="254483"/>
                  </a:lnTo>
                  <a:lnTo>
                    <a:pt x="27693" y="293482"/>
                  </a:lnTo>
                  <a:lnTo>
                    <a:pt x="55386" y="328385"/>
                  </a:lnTo>
                  <a:lnTo>
                    <a:pt x="90289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5" y="383772"/>
                  </a:lnTo>
                  <a:lnTo>
                    <a:pt x="254483" y="374541"/>
                  </a:lnTo>
                  <a:lnTo>
                    <a:pt x="293482" y="356078"/>
                  </a:lnTo>
                  <a:lnTo>
                    <a:pt x="328385" y="328385"/>
                  </a:lnTo>
                  <a:lnTo>
                    <a:pt x="356078" y="293482"/>
                  </a:lnTo>
                  <a:lnTo>
                    <a:pt x="374541" y="254483"/>
                  </a:lnTo>
                  <a:lnTo>
                    <a:pt x="383772" y="213025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8" y="90289"/>
                  </a:lnTo>
                  <a:lnTo>
                    <a:pt x="328385" y="55386"/>
                  </a:lnTo>
                  <a:lnTo>
                    <a:pt x="293482" y="27693"/>
                  </a:lnTo>
                  <a:lnTo>
                    <a:pt x="254483" y="9231"/>
                  </a:lnTo>
                  <a:lnTo>
                    <a:pt x="213025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04855" y="6094613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597400" y="6121400"/>
            <a:ext cx="23050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260" baseline="-6944" dirty="0">
                <a:solidFill>
                  <a:srgbClr val="8D3124"/>
                </a:solidFill>
                <a:latin typeface="Lucida Sans Unicode"/>
                <a:cs typeface="Lucida Sans Unicode"/>
              </a:rPr>
              <a:t>3</a:t>
            </a:r>
            <a:r>
              <a:rPr sz="1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096734" y="4073649"/>
            <a:ext cx="393700" cy="391160"/>
            <a:chOff x="8096734" y="4073649"/>
            <a:chExt cx="393700" cy="391160"/>
          </a:xfrm>
        </p:grpSpPr>
        <p:sp>
          <p:nvSpPr>
            <p:cNvPr id="48" name="object 48"/>
            <p:cNvSpPr/>
            <p:nvPr/>
          </p:nvSpPr>
          <p:spPr>
            <a:xfrm>
              <a:off x="8101496" y="4078411"/>
              <a:ext cx="384175" cy="381635"/>
            </a:xfrm>
            <a:custGeom>
              <a:avLst/>
              <a:gdLst/>
              <a:ahLst/>
              <a:cxnLst/>
              <a:rect l="l" t="t" r="r" b="b"/>
              <a:pathLst>
                <a:path w="384175" h="381635">
                  <a:moveTo>
                    <a:pt x="213024" y="0"/>
                  </a:moveTo>
                  <a:lnTo>
                    <a:pt x="170747" y="0"/>
                  </a:lnTo>
                  <a:lnTo>
                    <a:pt x="129289" y="9177"/>
                  </a:lnTo>
                  <a:lnTo>
                    <a:pt x="90288" y="27531"/>
                  </a:lnTo>
                  <a:lnTo>
                    <a:pt x="55385" y="55062"/>
                  </a:lnTo>
                  <a:lnTo>
                    <a:pt x="27692" y="89762"/>
                  </a:lnTo>
                  <a:lnTo>
                    <a:pt x="9230" y="128534"/>
                  </a:lnTo>
                  <a:lnTo>
                    <a:pt x="0" y="169749"/>
                  </a:lnTo>
                  <a:lnTo>
                    <a:pt x="0" y="211779"/>
                  </a:lnTo>
                  <a:lnTo>
                    <a:pt x="9230" y="252995"/>
                  </a:lnTo>
                  <a:lnTo>
                    <a:pt x="27692" y="291766"/>
                  </a:lnTo>
                  <a:lnTo>
                    <a:pt x="55385" y="326465"/>
                  </a:lnTo>
                  <a:lnTo>
                    <a:pt x="90288" y="353996"/>
                  </a:lnTo>
                  <a:lnTo>
                    <a:pt x="129289" y="372351"/>
                  </a:lnTo>
                  <a:lnTo>
                    <a:pt x="170747" y="381528"/>
                  </a:lnTo>
                  <a:lnTo>
                    <a:pt x="213024" y="381528"/>
                  </a:lnTo>
                  <a:lnTo>
                    <a:pt x="254482" y="372351"/>
                  </a:lnTo>
                  <a:lnTo>
                    <a:pt x="293482" y="353996"/>
                  </a:lnTo>
                  <a:lnTo>
                    <a:pt x="328386" y="326465"/>
                  </a:lnTo>
                  <a:lnTo>
                    <a:pt x="356079" y="291766"/>
                  </a:lnTo>
                  <a:lnTo>
                    <a:pt x="374541" y="252995"/>
                  </a:lnTo>
                  <a:lnTo>
                    <a:pt x="383772" y="211779"/>
                  </a:lnTo>
                  <a:lnTo>
                    <a:pt x="383772" y="169749"/>
                  </a:lnTo>
                  <a:lnTo>
                    <a:pt x="374541" y="128534"/>
                  </a:lnTo>
                  <a:lnTo>
                    <a:pt x="356079" y="89762"/>
                  </a:lnTo>
                  <a:lnTo>
                    <a:pt x="328386" y="55062"/>
                  </a:lnTo>
                  <a:lnTo>
                    <a:pt x="293482" y="27531"/>
                  </a:lnTo>
                  <a:lnTo>
                    <a:pt x="254482" y="9177"/>
                  </a:lnTo>
                  <a:lnTo>
                    <a:pt x="21302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01496" y="4078412"/>
              <a:ext cx="384175" cy="381635"/>
            </a:xfrm>
            <a:custGeom>
              <a:avLst/>
              <a:gdLst/>
              <a:ahLst/>
              <a:cxnLst/>
              <a:rect l="l" t="t" r="r" b="b"/>
              <a:pathLst>
                <a:path w="384175" h="381635">
                  <a:moveTo>
                    <a:pt x="328385" y="55062"/>
                  </a:moveTo>
                  <a:lnTo>
                    <a:pt x="356079" y="89761"/>
                  </a:lnTo>
                  <a:lnTo>
                    <a:pt x="374541" y="128533"/>
                  </a:lnTo>
                  <a:lnTo>
                    <a:pt x="383772" y="169748"/>
                  </a:lnTo>
                  <a:lnTo>
                    <a:pt x="383772" y="211779"/>
                  </a:lnTo>
                  <a:lnTo>
                    <a:pt x="374541" y="252994"/>
                  </a:lnTo>
                  <a:lnTo>
                    <a:pt x="356079" y="291766"/>
                  </a:lnTo>
                  <a:lnTo>
                    <a:pt x="328385" y="326465"/>
                  </a:lnTo>
                  <a:lnTo>
                    <a:pt x="293482" y="353996"/>
                  </a:lnTo>
                  <a:lnTo>
                    <a:pt x="254482" y="372350"/>
                  </a:lnTo>
                  <a:lnTo>
                    <a:pt x="213024" y="381527"/>
                  </a:lnTo>
                  <a:lnTo>
                    <a:pt x="170747" y="381527"/>
                  </a:lnTo>
                  <a:lnTo>
                    <a:pt x="129289" y="372350"/>
                  </a:lnTo>
                  <a:lnTo>
                    <a:pt x="90289" y="353996"/>
                  </a:lnTo>
                  <a:lnTo>
                    <a:pt x="55386" y="326465"/>
                  </a:lnTo>
                  <a:lnTo>
                    <a:pt x="27693" y="291766"/>
                  </a:lnTo>
                  <a:lnTo>
                    <a:pt x="9231" y="252994"/>
                  </a:lnTo>
                  <a:lnTo>
                    <a:pt x="0" y="211779"/>
                  </a:lnTo>
                  <a:lnTo>
                    <a:pt x="0" y="169748"/>
                  </a:lnTo>
                  <a:lnTo>
                    <a:pt x="9231" y="128533"/>
                  </a:lnTo>
                  <a:lnTo>
                    <a:pt x="27693" y="89761"/>
                  </a:lnTo>
                  <a:lnTo>
                    <a:pt x="55386" y="55062"/>
                  </a:lnTo>
                  <a:lnTo>
                    <a:pt x="90289" y="27531"/>
                  </a:lnTo>
                  <a:lnTo>
                    <a:pt x="129289" y="9177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177"/>
                  </a:lnTo>
                  <a:lnTo>
                    <a:pt x="293482" y="27531"/>
                  </a:lnTo>
                  <a:lnTo>
                    <a:pt x="328385" y="5506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8191500" y="4102100"/>
            <a:ext cx="23050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260" baseline="-6944" dirty="0">
                <a:solidFill>
                  <a:srgbClr val="8D3124"/>
                </a:solidFill>
                <a:latin typeface="Lucida Sans Unicode"/>
                <a:cs typeface="Lucida Sans Unicode"/>
              </a:rPr>
              <a:t>6</a:t>
            </a:r>
            <a:r>
              <a:rPr sz="1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9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096734" y="8054118"/>
            <a:ext cx="393700" cy="393700"/>
            <a:chOff x="8096734" y="8054118"/>
            <a:chExt cx="393700" cy="393700"/>
          </a:xfrm>
        </p:grpSpPr>
        <p:sp>
          <p:nvSpPr>
            <p:cNvPr id="52" name="object 52"/>
            <p:cNvSpPr/>
            <p:nvPr/>
          </p:nvSpPr>
          <p:spPr>
            <a:xfrm>
              <a:off x="8101496" y="80588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4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8" y="27693"/>
                  </a:lnTo>
                  <a:lnTo>
                    <a:pt x="55385" y="55386"/>
                  </a:lnTo>
                  <a:lnTo>
                    <a:pt x="27692" y="90289"/>
                  </a:lnTo>
                  <a:lnTo>
                    <a:pt x="9230" y="129289"/>
                  </a:lnTo>
                  <a:lnTo>
                    <a:pt x="0" y="170747"/>
                  </a:lnTo>
                  <a:lnTo>
                    <a:pt x="0" y="213024"/>
                  </a:lnTo>
                  <a:lnTo>
                    <a:pt x="9230" y="254482"/>
                  </a:lnTo>
                  <a:lnTo>
                    <a:pt x="27692" y="293482"/>
                  </a:lnTo>
                  <a:lnTo>
                    <a:pt x="55385" y="328385"/>
                  </a:lnTo>
                  <a:lnTo>
                    <a:pt x="90288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4" y="383772"/>
                  </a:lnTo>
                  <a:lnTo>
                    <a:pt x="254482" y="374541"/>
                  </a:lnTo>
                  <a:lnTo>
                    <a:pt x="293482" y="356078"/>
                  </a:lnTo>
                  <a:lnTo>
                    <a:pt x="328386" y="328385"/>
                  </a:lnTo>
                  <a:lnTo>
                    <a:pt x="356079" y="293482"/>
                  </a:lnTo>
                  <a:lnTo>
                    <a:pt x="374541" y="254482"/>
                  </a:lnTo>
                  <a:lnTo>
                    <a:pt x="383772" y="213024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9" y="90289"/>
                  </a:lnTo>
                  <a:lnTo>
                    <a:pt x="328386" y="55386"/>
                  </a:lnTo>
                  <a:lnTo>
                    <a:pt x="293482" y="27693"/>
                  </a:lnTo>
                  <a:lnTo>
                    <a:pt x="254482" y="9231"/>
                  </a:lnTo>
                  <a:lnTo>
                    <a:pt x="213024" y="0"/>
                  </a:lnTo>
                  <a:close/>
                </a:path>
              </a:pathLst>
            </a:custGeom>
            <a:solidFill>
              <a:srgbClr val="0054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01496" y="80588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128000" y="8089900"/>
            <a:ext cx="3594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252" baseline="-6944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r>
              <a:rPr sz="1600" spc="-220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r>
              <a:rPr sz="2400" spc="-1252" baseline="-6944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sz="16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096734" y="5033211"/>
            <a:ext cx="393700" cy="393700"/>
            <a:chOff x="8096734" y="5033211"/>
            <a:chExt cx="393700" cy="393700"/>
          </a:xfrm>
        </p:grpSpPr>
        <p:sp>
          <p:nvSpPr>
            <p:cNvPr id="56" name="object 56"/>
            <p:cNvSpPr/>
            <p:nvPr/>
          </p:nvSpPr>
          <p:spPr>
            <a:xfrm>
              <a:off x="8101496" y="5037973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213024" y="0"/>
                  </a:moveTo>
                  <a:lnTo>
                    <a:pt x="170747" y="0"/>
                  </a:lnTo>
                  <a:lnTo>
                    <a:pt x="129289" y="9231"/>
                  </a:lnTo>
                  <a:lnTo>
                    <a:pt x="90288" y="27693"/>
                  </a:lnTo>
                  <a:lnTo>
                    <a:pt x="55385" y="55386"/>
                  </a:lnTo>
                  <a:lnTo>
                    <a:pt x="27692" y="90289"/>
                  </a:lnTo>
                  <a:lnTo>
                    <a:pt x="9230" y="129289"/>
                  </a:lnTo>
                  <a:lnTo>
                    <a:pt x="0" y="170747"/>
                  </a:lnTo>
                  <a:lnTo>
                    <a:pt x="0" y="213025"/>
                  </a:lnTo>
                  <a:lnTo>
                    <a:pt x="9230" y="254483"/>
                  </a:lnTo>
                  <a:lnTo>
                    <a:pt x="27692" y="293482"/>
                  </a:lnTo>
                  <a:lnTo>
                    <a:pt x="55385" y="328385"/>
                  </a:lnTo>
                  <a:lnTo>
                    <a:pt x="90288" y="356078"/>
                  </a:lnTo>
                  <a:lnTo>
                    <a:pt x="129289" y="374541"/>
                  </a:lnTo>
                  <a:lnTo>
                    <a:pt x="170747" y="383772"/>
                  </a:lnTo>
                  <a:lnTo>
                    <a:pt x="213024" y="383772"/>
                  </a:lnTo>
                  <a:lnTo>
                    <a:pt x="254482" y="374541"/>
                  </a:lnTo>
                  <a:lnTo>
                    <a:pt x="293482" y="356078"/>
                  </a:lnTo>
                  <a:lnTo>
                    <a:pt x="328386" y="328385"/>
                  </a:lnTo>
                  <a:lnTo>
                    <a:pt x="356079" y="293482"/>
                  </a:lnTo>
                  <a:lnTo>
                    <a:pt x="374541" y="254483"/>
                  </a:lnTo>
                  <a:lnTo>
                    <a:pt x="383772" y="213025"/>
                  </a:lnTo>
                  <a:lnTo>
                    <a:pt x="383772" y="170747"/>
                  </a:lnTo>
                  <a:lnTo>
                    <a:pt x="374541" y="129289"/>
                  </a:lnTo>
                  <a:lnTo>
                    <a:pt x="356079" y="90289"/>
                  </a:lnTo>
                  <a:lnTo>
                    <a:pt x="328386" y="55386"/>
                  </a:lnTo>
                  <a:lnTo>
                    <a:pt x="293482" y="27693"/>
                  </a:lnTo>
                  <a:lnTo>
                    <a:pt x="254482" y="9231"/>
                  </a:lnTo>
                  <a:lnTo>
                    <a:pt x="21302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101496" y="5037973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328385" y="55386"/>
                  </a:moveTo>
                  <a:lnTo>
                    <a:pt x="356079" y="90289"/>
                  </a:lnTo>
                  <a:lnTo>
                    <a:pt x="374541" y="129289"/>
                  </a:lnTo>
                  <a:lnTo>
                    <a:pt x="383772" y="170747"/>
                  </a:lnTo>
                  <a:lnTo>
                    <a:pt x="383772" y="213024"/>
                  </a:lnTo>
                  <a:lnTo>
                    <a:pt x="374541" y="254482"/>
                  </a:lnTo>
                  <a:lnTo>
                    <a:pt x="356079" y="293482"/>
                  </a:lnTo>
                  <a:lnTo>
                    <a:pt x="328385" y="328385"/>
                  </a:lnTo>
                  <a:lnTo>
                    <a:pt x="293482" y="356079"/>
                  </a:lnTo>
                  <a:lnTo>
                    <a:pt x="254482" y="374541"/>
                  </a:lnTo>
                  <a:lnTo>
                    <a:pt x="213024" y="383772"/>
                  </a:lnTo>
                  <a:lnTo>
                    <a:pt x="170747" y="383772"/>
                  </a:lnTo>
                  <a:lnTo>
                    <a:pt x="129289" y="374541"/>
                  </a:lnTo>
                  <a:lnTo>
                    <a:pt x="90289" y="356079"/>
                  </a:lnTo>
                  <a:lnTo>
                    <a:pt x="55386" y="328385"/>
                  </a:lnTo>
                  <a:lnTo>
                    <a:pt x="27693" y="293482"/>
                  </a:lnTo>
                  <a:lnTo>
                    <a:pt x="9231" y="254482"/>
                  </a:lnTo>
                  <a:lnTo>
                    <a:pt x="0" y="213024"/>
                  </a:lnTo>
                  <a:lnTo>
                    <a:pt x="0" y="170747"/>
                  </a:lnTo>
                  <a:lnTo>
                    <a:pt x="9231" y="129289"/>
                  </a:lnTo>
                  <a:lnTo>
                    <a:pt x="27693" y="90289"/>
                  </a:lnTo>
                  <a:lnTo>
                    <a:pt x="55386" y="55386"/>
                  </a:lnTo>
                  <a:lnTo>
                    <a:pt x="90289" y="27693"/>
                  </a:lnTo>
                  <a:lnTo>
                    <a:pt x="129289" y="9231"/>
                  </a:lnTo>
                  <a:lnTo>
                    <a:pt x="170747" y="0"/>
                  </a:lnTo>
                  <a:lnTo>
                    <a:pt x="213024" y="0"/>
                  </a:lnTo>
                  <a:lnTo>
                    <a:pt x="254482" y="9231"/>
                  </a:lnTo>
                  <a:lnTo>
                    <a:pt x="293482" y="27693"/>
                  </a:lnTo>
                  <a:lnTo>
                    <a:pt x="328385" y="5538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153400" y="5067300"/>
            <a:ext cx="3340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74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2400" spc="-487" baseline="-6944" dirty="0">
                <a:solidFill>
                  <a:srgbClr val="8D3124"/>
                </a:solidFill>
                <a:latin typeface="Lucida Sans Unicode"/>
                <a:cs typeface="Lucida Sans Unicode"/>
              </a:rPr>
              <a:t>7</a:t>
            </a:r>
            <a:r>
              <a:rPr sz="1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0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59" name="object 59"/>
          <p:cNvSpPr txBox="1"/>
          <p:nvPr/>
        </p:nvSpPr>
        <p:spPr>
          <a:xfrm>
            <a:off x="4381500" y="8813800"/>
            <a:ext cx="38322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total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weight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6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+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9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+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10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+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32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57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4198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8754" algn="l"/>
              </a:tabLst>
            </a:pPr>
            <a:r>
              <a:rPr lang="en-GB" altLang="zh-CN" dirty="0"/>
              <a:t>Weighted</a:t>
            </a:r>
            <a:r>
              <a:rPr lang="en-GB" altLang="zh-CN" spc="370" dirty="0"/>
              <a:t> </a:t>
            </a:r>
            <a:r>
              <a:rPr lang="en-GB" altLang="zh-CN" dirty="0"/>
              <a:t>vertex</a:t>
            </a:r>
            <a:r>
              <a:rPr lang="en-GB" altLang="zh-CN" spc="375" dirty="0"/>
              <a:t> </a:t>
            </a:r>
            <a:r>
              <a:rPr lang="en-GB" altLang="zh-CN" spc="-10" dirty="0"/>
              <a:t>cover:</a:t>
            </a:r>
            <a:r>
              <a:rPr lang="en-GB" altLang="zh-CN" dirty="0"/>
              <a:t>	</a:t>
            </a:r>
            <a:r>
              <a:rPr lang="en-GB" altLang="zh-CN" spc="-190" dirty="0"/>
              <a:t>ILP</a:t>
            </a:r>
            <a:r>
              <a:rPr lang="en-GB" altLang="zh-CN" spc="10" dirty="0"/>
              <a:t> </a:t>
            </a:r>
            <a:r>
              <a:rPr lang="en-GB" altLang="zh-CN" spc="-10" dirty="0"/>
              <a:t>formulation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1285855" cy="247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Given a graph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 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775" i="1" spc="209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 0</a:t>
            </a:r>
            <a:r>
              <a:rPr sz="2400" dirty="0">
                <a:latin typeface="Lucida Sans Unicode"/>
                <a:cs typeface="Lucida Sans Unicode"/>
              </a:rPr>
              <a:t>, find a </a:t>
            </a:r>
            <a:r>
              <a:rPr sz="2400" spc="-65" dirty="0">
                <a:latin typeface="Lucida Sans Unicode"/>
                <a:cs typeface="Lucida Sans Unicode"/>
              </a:rPr>
              <a:t>min-</a:t>
            </a:r>
            <a:r>
              <a:rPr sz="2400" spc="-30" dirty="0">
                <a:latin typeface="Lucida Sans Unicode"/>
                <a:cs typeface="Lucida Sans Unicode"/>
              </a:rPr>
              <a:t>weight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subset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vertices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 incident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 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Integer</a:t>
            </a:r>
            <a:r>
              <a:rPr sz="24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linear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</a:t>
            </a:r>
            <a:r>
              <a:rPr sz="24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formulation.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355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Model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inclusion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0/1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variable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i="1" spc="-37" baseline="-19097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300" y="5077459"/>
            <a:ext cx="9500235" cy="199263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1020"/>
              </a:spcBef>
            </a:pPr>
            <a:r>
              <a:rPr sz="2400" dirty="0">
                <a:latin typeface="Lucida Sans Unicode"/>
                <a:cs typeface="Lucida Sans Unicode"/>
              </a:rPr>
              <a:t>Vertex covers in 1–1 correspondence with 0/1 </a:t>
            </a:r>
            <a:r>
              <a:rPr sz="2400" spc="-10" dirty="0">
                <a:latin typeface="Lucida Sans Unicode"/>
                <a:cs typeface="Lucida Sans Unicode"/>
              </a:rPr>
              <a:t>assignments:</a:t>
            </a:r>
            <a:endParaRPr sz="2400">
              <a:latin typeface="Lucida Sans Unicode"/>
              <a:cs typeface="Lucida Sans Unicode"/>
            </a:endParaRPr>
          </a:p>
          <a:p>
            <a:pPr marL="616585">
              <a:lnSpc>
                <a:spcPct val="100000"/>
              </a:lnSpc>
              <a:spcBef>
                <a:spcPts val="920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775" i="1" spc="195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25" dirty="0">
                <a:latin typeface="Times New Roman"/>
                <a:cs typeface="Times New Roman"/>
              </a:rPr>
              <a:t>1}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3269"/>
              </a:spcBef>
              <a:tabLst>
                <a:tab pos="3552190" algn="l"/>
                <a:tab pos="5111750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Objective</a:t>
            </a:r>
            <a:r>
              <a:rPr sz="2400" spc="10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function: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Lucida Sans Unicode"/>
                <a:cs typeface="Lucida Sans Unicode"/>
              </a:rPr>
              <a:t>minimize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Σ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2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30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i="1" spc="-37" baseline="-19097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7424419"/>
            <a:ext cx="928179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every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i, j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 must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either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both):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99803" y="7607300"/>
            <a:ext cx="1428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97890" algn="l"/>
              </a:tabLst>
            </a:pP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9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i="1" spc="-37" baseline="-19097" dirty="0">
                <a:latin typeface="Times New Roman"/>
                <a:cs typeface="Times New Roman"/>
              </a:rPr>
              <a:t>j</a:t>
            </a:r>
            <a:r>
              <a:rPr sz="2400" i="1" baseline="-19097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102" y="3790683"/>
            <a:ext cx="410591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400"/>
              </a:lnSpc>
              <a:spcBef>
                <a:spcPts val="100"/>
              </a:spcBef>
            </a:pPr>
            <a:r>
              <a:rPr sz="2550" dirty="0">
                <a:latin typeface="Times New Roman"/>
                <a:cs typeface="Times New Roman"/>
              </a:rPr>
              <a:t>if</a:t>
            </a:r>
            <a:r>
              <a:rPr sz="2550" spc="-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vertex</a:t>
            </a:r>
            <a:r>
              <a:rPr sz="2550" spc="-3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i</a:t>
            </a:r>
            <a:r>
              <a:rPr sz="2550" i="1" spc="-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-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not</a:t>
            </a:r>
            <a:r>
              <a:rPr sz="2550" spc="-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-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vertex</a:t>
            </a:r>
            <a:r>
              <a:rPr sz="2550" spc="-2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cover </a:t>
            </a:r>
            <a:r>
              <a:rPr sz="2550" dirty="0">
                <a:latin typeface="Times New Roman"/>
                <a:cs typeface="Times New Roman"/>
              </a:rPr>
              <a:t>if</a:t>
            </a:r>
            <a:r>
              <a:rPr sz="2550" spc="-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vertex</a:t>
            </a:r>
            <a:r>
              <a:rPr sz="2550" spc="-4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i</a:t>
            </a:r>
            <a:r>
              <a:rPr sz="2550" i="1" spc="-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-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-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vertex</a:t>
            </a:r>
            <a:r>
              <a:rPr sz="2550" spc="-3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cover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80228" y="3867874"/>
            <a:ext cx="483234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7340" algn="l"/>
              </a:tabLst>
            </a:pPr>
            <a:r>
              <a:rPr sz="2550" spc="-50" dirty="0">
                <a:latin typeface="Symbol"/>
                <a:cs typeface="Symbol"/>
              </a:rPr>
              <a:t>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3825" spc="-75" baseline="-3267" dirty="0">
                <a:latin typeface="Times New Roman"/>
                <a:cs typeface="Times New Roman"/>
              </a:rPr>
              <a:t>0</a:t>
            </a:r>
            <a:endParaRPr sz="3825" baseline="-3267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0228" y="4122918"/>
            <a:ext cx="129222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480695" algn="l"/>
                <a:tab pos="832485" algn="l"/>
              </a:tabLst>
            </a:pPr>
            <a:r>
              <a:rPr sz="2550" i="1" spc="-25" dirty="0">
                <a:latin typeface="Times New Roman"/>
                <a:cs typeface="Times New Roman"/>
              </a:rPr>
              <a:t>x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3825" baseline="-2178" dirty="0">
                <a:latin typeface="Symbol"/>
                <a:cs typeface="Symbol"/>
              </a:rPr>
              <a:t></a:t>
            </a:r>
            <a:r>
              <a:rPr sz="3825" spc="209" baseline="-2178" dirty="0">
                <a:latin typeface="Times New Roman"/>
                <a:cs typeface="Times New Roman"/>
              </a:rPr>
              <a:t> </a:t>
            </a:r>
            <a:r>
              <a:rPr sz="3825" spc="-75" baseline="-43572" dirty="0">
                <a:latin typeface="Times New Roman"/>
                <a:cs typeface="Times New Roman"/>
              </a:rPr>
              <a:t>1</a:t>
            </a:r>
            <a:endParaRPr sz="3825" baseline="-43572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80228" y="4405047"/>
            <a:ext cx="18605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spc="-50" dirty="0">
                <a:latin typeface="Symbol"/>
                <a:cs typeface="Symbol"/>
              </a:rPr>
              <a:t></a:t>
            </a:r>
            <a:endParaRPr sz="25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4198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8754" algn="l"/>
              </a:tabLst>
            </a:pPr>
            <a:r>
              <a:rPr dirty="0"/>
              <a:t>Weighted</a:t>
            </a:r>
            <a:r>
              <a:rPr spc="370" dirty="0"/>
              <a:t> </a:t>
            </a:r>
            <a:r>
              <a:rPr dirty="0"/>
              <a:t>vertex</a:t>
            </a:r>
            <a:r>
              <a:rPr spc="375" dirty="0"/>
              <a:t> </a:t>
            </a:r>
            <a:r>
              <a:rPr spc="-10" dirty="0"/>
              <a:t>cover:</a:t>
            </a:r>
            <a:r>
              <a:rPr dirty="0"/>
              <a:t>	</a:t>
            </a:r>
            <a:r>
              <a:rPr spc="-190" dirty="0"/>
              <a:t>ILP</a:t>
            </a:r>
            <a:r>
              <a:rPr spc="10" dirty="0"/>
              <a:t> </a:t>
            </a:r>
            <a:r>
              <a:rPr spc="-10" dirty="0"/>
              <a:t>formulation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800100" y="1333500"/>
            <a:ext cx="9646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01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Weighted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vertex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cover.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1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linear</a:t>
            </a:r>
            <a:r>
              <a:rPr sz="2400" spc="-10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programming</a:t>
            </a:r>
            <a:r>
              <a:rPr sz="2400" spc="-1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formulation.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5560059"/>
            <a:ext cx="10056495" cy="9906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20"/>
              </a:spcBef>
              <a:tabLst>
                <a:tab pos="21259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ILP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1}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20"/>
              </a:spcBef>
            </a:pP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min-</a:t>
            </a:r>
            <a:r>
              <a:rPr sz="2400" spc="-30" dirty="0">
                <a:latin typeface="Lucida Sans Unicode"/>
                <a:cs typeface="Lucida Sans Unicode"/>
              </a:rPr>
              <a:t>weight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15" name="图片 14" descr="文本&#10;&#10;AI 生成的内容可能不正确。">
            <a:extLst>
              <a:ext uri="{FF2B5EF4-FFF2-40B4-BE49-F238E27FC236}">
                <a16:creationId xmlns:a16="http://schemas.microsoft.com/office/drawing/2014/main" id="{7F244AD6-9F66-BCA0-BFEF-DB38E1296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803253"/>
            <a:ext cx="10669588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700" y="1333500"/>
            <a:ext cx="8253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775" i="1" baseline="-18018" dirty="0">
                <a:latin typeface="Times New Roman"/>
                <a:cs typeface="Times New Roman"/>
              </a:rPr>
              <a:t>ij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775" i="1" baseline="-18018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integers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j</a:t>
            </a:r>
            <a:r>
              <a:rPr sz="2775" i="1" spc="405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satisfy: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100" y="6042659"/>
            <a:ext cx="1066990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21005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 formulation proves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 </a:t>
            </a:r>
            <a:r>
              <a:rPr sz="2400" spc="-40" dirty="0">
                <a:latin typeface="Lucida Sans Unicode"/>
                <a:cs typeface="Lucida Sans Unicode"/>
              </a:rPr>
              <a:t>I</a:t>
            </a:r>
            <a:r>
              <a:rPr sz="1900" spc="-40" dirty="0">
                <a:latin typeface="Lucida Sans Unicode"/>
                <a:cs typeface="Lucida Sans Unicode"/>
              </a:rPr>
              <a:t>NTEGER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P</a:t>
            </a:r>
            <a:r>
              <a:rPr sz="1900" spc="-10" dirty="0">
                <a:latin typeface="Lucida Sans Unicode"/>
                <a:cs typeface="Lucida Sans Unicode"/>
              </a:rPr>
              <a:t>ROGRAMMING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b="1" spc="-100" dirty="0">
                <a:latin typeface="Tahoma"/>
                <a:cs typeface="Tahoma"/>
              </a:rPr>
              <a:t>NP</a:t>
            </a:r>
            <a:r>
              <a:rPr sz="2400" spc="-100" dirty="0">
                <a:latin typeface="Lucida Sans Unicode"/>
                <a:cs typeface="Lucida Sans Unicode"/>
              </a:rPr>
              <a:t>-</a:t>
            </a:r>
            <a:r>
              <a:rPr sz="2400" spc="-125" dirty="0">
                <a:latin typeface="Lucida Sans Unicode"/>
                <a:cs typeface="Lucida Sans Unicode"/>
              </a:rPr>
              <a:t>hard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optimization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Integer</a:t>
            </a:r>
            <a:r>
              <a:rPr spc="315" dirty="0"/>
              <a:t> </a:t>
            </a:r>
            <a:r>
              <a:rPr dirty="0"/>
              <a:t>linear</a:t>
            </a:r>
            <a:r>
              <a:rPr spc="320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pic>
        <p:nvPicPr>
          <p:cNvPr id="21" name="图片 20" descr="文本, 信件&#10;&#10;AI 生成的内容可能不正确。">
            <a:extLst>
              <a:ext uri="{FF2B5EF4-FFF2-40B4-BE49-F238E27FC236}">
                <a16:creationId xmlns:a16="http://schemas.microsoft.com/office/drawing/2014/main" id="{BA055154-8525-ADDC-7BBE-C153F3BEB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911985"/>
            <a:ext cx="10763686" cy="37611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20" dirty="0"/>
              <a:t> </a:t>
            </a:r>
            <a:r>
              <a:rPr spc="-10" dirty="0"/>
              <a:t>programming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74700" y="1333500"/>
            <a:ext cx="900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775" i="1" baseline="-18018" dirty="0">
                <a:latin typeface="Times New Roman"/>
                <a:cs typeface="Times New Roman"/>
              </a:rPr>
              <a:t>ij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775" i="1" baseline="-18018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real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numbers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j</a:t>
            </a:r>
            <a:r>
              <a:rPr sz="2775" i="1" spc="397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satisfy: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5676900"/>
            <a:ext cx="6049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41425" algn="l"/>
                <a:tab pos="2306955" algn="l"/>
                <a:tab pos="2867025" algn="l"/>
                <a:tab pos="42722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Linear.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360" dirty="0">
                <a:latin typeface="Times New Roman"/>
                <a:cs typeface="Times New Roman"/>
              </a:rPr>
              <a:t> </a:t>
            </a:r>
            <a:r>
              <a:rPr sz="2400" spc="-37" baseline="27777" dirty="0">
                <a:latin typeface="Times New Roman"/>
                <a:cs typeface="Times New Roman"/>
              </a:rPr>
              <a:t>2</a:t>
            </a:r>
            <a:r>
              <a:rPr sz="2400" spc="-25" dirty="0">
                <a:latin typeface="Lucida Sans Unicode"/>
                <a:cs typeface="Lucida Sans Unicode"/>
              </a:rPr>
              <a:t>,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xy</a:t>
            </a:r>
            <a:r>
              <a:rPr sz="2400" spc="-25" dirty="0">
                <a:latin typeface="Lucida Sans Unicode"/>
                <a:cs typeface="Lucida Sans Unicode"/>
              </a:rPr>
              <a:t>,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arccos(</a:t>
            </a:r>
            <a:r>
              <a:rPr sz="2400" i="1" spc="-10" dirty="0">
                <a:latin typeface="Times New Roman"/>
                <a:cs typeface="Times New Roman"/>
              </a:rPr>
              <a:t>x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,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etc.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7007859"/>
            <a:ext cx="9697720" cy="195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3005455" algn="l"/>
                <a:tab pos="3075305" algn="l"/>
                <a:tab pos="3938270" algn="l"/>
                <a:tab pos="5415915" algn="l"/>
                <a:tab pos="585597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Simplex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[Dantzig</a:t>
            </a:r>
            <a:r>
              <a:rPr sz="2400" spc="-10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1947]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LP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practice.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Ellipsoid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[Khachiyan</a:t>
            </a:r>
            <a:r>
              <a:rPr sz="2400" spc="12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1979]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LP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40" dirty="0">
                <a:latin typeface="Lucida Sans Unicode"/>
                <a:cs typeface="Lucida Sans Unicode"/>
              </a:rPr>
              <a:t>time.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Interior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point</a:t>
            </a:r>
            <a:r>
              <a:rPr sz="2400" spc="-8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[Karmarkar</a:t>
            </a:r>
            <a:r>
              <a:rPr sz="2400" spc="-3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1984,</a:t>
            </a:r>
            <a:r>
              <a:rPr sz="2400" spc="-3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Renegar</a:t>
            </a:r>
            <a:r>
              <a:rPr sz="2400" spc="-3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1988,</a:t>
            </a:r>
            <a:r>
              <a:rPr sz="24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…</a:t>
            </a:r>
            <a:r>
              <a:rPr sz="24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LP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25" dirty="0">
                <a:latin typeface="Lucida Sans Unicode"/>
                <a:cs typeface="Lucida Sans Unicode"/>
              </a:rPr>
              <a:t>time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practice.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22" name="图片 21" descr="文本, 信件&#10;&#10;AI 生成的内容可能不正确。">
            <a:extLst>
              <a:ext uri="{FF2B5EF4-FFF2-40B4-BE49-F238E27FC236}">
                <a16:creationId xmlns:a16="http://schemas.microsoft.com/office/drawing/2014/main" id="{47FFC495-AF54-E01D-8482-B00D5B558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02" y="1851805"/>
            <a:ext cx="12133416" cy="345156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LP</a:t>
            </a:r>
            <a:r>
              <a:rPr spc="150" dirty="0"/>
              <a:t> </a:t>
            </a:r>
            <a:r>
              <a:rPr dirty="0"/>
              <a:t>feasible</a:t>
            </a:r>
            <a:r>
              <a:rPr spc="155" dirty="0"/>
              <a:t> </a:t>
            </a:r>
            <a:r>
              <a:rPr spc="40" dirty="0"/>
              <a:t>region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5500" y="2743200"/>
            <a:ext cx="7264400" cy="62517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64200" y="8864600"/>
            <a:ext cx="1514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2x</a:t>
            </a:r>
            <a:r>
              <a:rPr sz="1800" b="1" baseline="-18518" dirty="0">
                <a:latin typeface="Tahoma"/>
                <a:cs typeface="Tahoma"/>
              </a:rPr>
              <a:t>1</a:t>
            </a:r>
            <a:r>
              <a:rPr sz="1800" b="1" spc="322" baseline="-18518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+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baseline="-18518" dirty="0">
                <a:latin typeface="Tahoma"/>
                <a:cs typeface="Tahoma"/>
              </a:rPr>
              <a:t>2</a:t>
            </a:r>
            <a:r>
              <a:rPr sz="1800" b="1" spc="330" baseline="-18518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9017000" y="7797800"/>
            <a:ext cx="153987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baseline="-18518" dirty="0">
                <a:latin typeface="Tahoma"/>
                <a:cs typeface="Tahoma"/>
              </a:rPr>
              <a:t>2</a:t>
            </a:r>
            <a:r>
              <a:rPr sz="1800" b="1" spc="315" baseline="-18518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baseline="-18518" dirty="0">
                <a:latin typeface="Tahoma"/>
                <a:cs typeface="Tahoma"/>
              </a:rPr>
              <a:t>1</a:t>
            </a:r>
            <a:r>
              <a:rPr sz="1800" b="1" spc="322" baseline="-18518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+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2x</a:t>
            </a:r>
            <a:r>
              <a:rPr sz="1800" b="1" baseline="-18518" dirty="0">
                <a:latin typeface="Tahoma"/>
                <a:cs typeface="Tahoma"/>
              </a:rPr>
              <a:t>2</a:t>
            </a:r>
            <a:r>
              <a:rPr sz="1800" b="1" spc="330" baseline="-18518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45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6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400" y="1333500"/>
            <a:ext cx="3983354" cy="123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LP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geometry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in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2D.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R="43180" algn="r">
              <a:lnSpc>
                <a:spcPct val="100000"/>
              </a:lnSpc>
            </a:pP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baseline="-18518" dirty="0">
                <a:latin typeface="Tahoma"/>
                <a:cs typeface="Tahoma"/>
              </a:rPr>
              <a:t>1</a:t>
            </a:r>
            <a:r>
              <a:rPr sz="1800" b="1" spc="315" baseline="-18518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40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1106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8754" algn="l"/>
              </a:tabLst>
            </a:pPr>
            <a:r>
              <a:rPr dirty="0"/>
              <a:t>Weighted</a:t>
            </a:r>
            <a:r>
              <a:rPr spc="370" dirty="0"/>
              <a:t> </a:t>
            </a:r>
            <a:r>
              <a:rPr dirty="0"/>
              <a:t>vertex</a:t>
            </a:r>
            <a:r>
              <a:rPr spc="375" dirty="0"/>
              <a:t> </a:t>
            </a:r>
            <a:r>
              <a:rPr spc="-10" dirty="0"/>
              <a:t>cover:</a:t>
            </a:r>
            <a:r>
              <a:rPr dirty="0"/>
              <a:t>	</a:t>
            </a:r>
            <a:r>
              <a:rPr spc="-345" dirty="0"/>
              <a:t>LP</a:t>
            </a:r>
            <a:r>
              <a:rPr spc="90" dirty="0"/>
              <a:t> </a:t>
            </a:r>
            <a:r>
              <a:rPr spc="45" dirty="0"/>
              <a:t>relaxation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3500"/>
            <a:ext cx="4723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Linear</a:t>
            </a:r>
            <a:r>
              <a:rPr sz="2400" spc="-1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programming</a:t>
            </a:r>
            <a:r>
              <a:rPr sz="2400" spc="-1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relaxation.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5077459"/>
            <a:ext cx="896493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581660" algn="l"/>
                <a:tab pos="2100580" algn="l"/>
                <a:tab pos="5538470" algn="l"/>
                <a:tab pos="589851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is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 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ILP</a:t>
            </a:r>
            <a:r>
              <a:rPr sz="2400" spc="-20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fewer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constraints.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6642100"/>
            <a:ext cx="818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7867" y="6525259"/>
            <a:ext cx="787654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22225">
              <a:lnSpc>
                <a:spcPct val="1319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600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correspond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cover. </a:t>
            </a:r>
            <a:r>
              <a:rPr sz="2400" dirty="0">
                <a:latin typeface="Lucida Sans Unicode"/>
                <a:cs typeface="Lucida Sans Unicode"/>
              </a:rPr>
              <a:t>(even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1)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109765" y="6273377"/>
            <a:ext cx="1958339" cy="864235"/>
            <a:chOff x="10109765" y="6273377"/>
            <a:chExt cx="1958339" cy="864235"/>
          </a:xfrm>
        </p:grpSpPr>
        <p:sp>
          <p:nvSpPr>
            <p:cNvPr id="9" name="object 9"/>
            <p:cNvSpPr/>
            <p:nvPr/>
          </p:nvSpPr>
          <p:spPr>
            <a:xfrm>
              <a:off x="10171474" y="6292427"/>
              <a:ext cx="1833245" cy="0"/>
            </a:xfrm>
            <a:custGeom>
              <a:avLst/>
              <a:gdLst/>
              <a:ahLst/>
              <a:cxnLst/>
              <a:rect l="l" t="t" r="r" b="b"/>
              <a:pathLst>
                <a:path w="1833245">
                  <a:moveTo>
                    <a:pt x="0" y="0"/>
                  </a:moveTo>
                  <a:lnTo>
                    <a:pt x="0" y="0"/>
                  </a:lnTo>
                  <a:lnTo>
                    <a:pt x="1781969" y="0"/>
                  </a:lnTo>
                  <a:lnTo>
                    <a:pt x="1832883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28815" y="6410515"/>
              <a:ext cx="835025" cy="708025"/>
            </a:xfrm>
            <a:custGeom>
              <a:avLst/>
              <a:gdLst/>
              <a:ahLst/>
              <a:cxnLst/>
              <a:rect l="l" t="t" r="r" b="b"/>
              <a:pathLst>
                <a:path w="835025" h="708025">
                  <a:moveTo>
                    <a:pt x="0" y="0"/>
                  </a:moveTo>
                  <a:lnTo>
                    <a:pt x="834549" y="707589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40307" y="6412368"/>
              <a:ext cx="808355" cy="704215"/>
            </a:xfrm>
            <a:custGeom>
              <a:avLst/>
              <a:gdLst/>
              <a:ahLst/>
              <a:cxnLst/>
              <a:rect l="l" t="t" r="r" b="b"/>
              <a:pathLst>
                <a:path w="808354" h="704215">
                  <a:moveTo>
                    <a:pt x="808316" y="0"/>
                  </a:moveTo>
                  <a:lnTo>
                    <a:pt x="0" y="703908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58700" y="5930900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½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9900" y="5943600"/>
            <a:ext cx="25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½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2000" y="7363459"/>
            <a:ext cx="10426700" cy="160020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1520"/>
              </a:spcBef>
            </a:pPr>
            <a:r>
              <a:rPr sz="2400" spc="-50" dirty="0">
                <a:latin typeface="Times New Roman"/>
                <a:cs typeface="Times New Roman"/>
              </a:rPr>
              <a:t>½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420"/>
              </a:spcBef>
              <a:tabLst>
                <a:tab pos="5759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50" dirty="0">
                <a:latin typeface="Lucida Sans Unicode"/>
                <a:cs typeface="Lucida Sans Unicode"/>
              </a:rPr>
              <a:t>How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help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low-</a:t>
            </a:r>
            <a:r>
              <a:rPr sz="2400" spc="-10" dirty="0">
                <a:latin typeface="Lucida Sans Unicode"/>
                <a:cs typeface="Lucida Sans Unicode"/>
              </a:rPr>
              <a:t>weight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cover?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920"/>
              </a:spcBef>
              <a:tabLst>
                <a:tab pos="5499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round</a:t>
            </a:r>
            <a:r>
              <a:rPr sz="24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fractional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spc="-37" baseline="19097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807540" y="6109299"/>
            <a:ext cx="2560955" cy="1310005"/>
            <a:chOff x="9807540" y="6109299"/>
            <a:chExt cx="2560955" cy="1310005"/>
          </a:xfrm>
        </p:grpSpPr>
        <p:sp>
          <p:nvSpPr>
            <p:cNvPr id="22" name="object 22"/>
            <p:cNvSpPr/>
            <p:nvPr/>
          </p:nvSpPr>
          <p:spPr>
            <a:xfrm>
              <a:off x="9812303" y="6114063"/>
              <a:ext cx="354965" cy="356870"/>
            </a:xfrm>
            <a:custGeom>
              <a:avLst/>
              <a:gdLst/>
              <a:ahLst/>
              <a:cxnLst/>
              <a:rect l="l" t="t" r="r" b="b"/>
              <a:pathLst>
                <a:path w="354965" h="356870">
                  <a:moveTo>
                    <a:pt x="177235" y="0"/>
                  </a:moveTo>
                  <a:lnTo>
                    <a:pt x="132274" y="5804"/>
                  </a:lnTo>
                  <a:lnTo>
                    <a:pt x="89703" y="23218"/>
                  </a:lnTo>
                  <a:lnTo>
                    <a:pt x="51910" y="52241"/>
                  </a:lnTo>
                  <a:lnTo>
                    <a:pt x="23071" y="90275"/>
                  </a:lnTo>
                  <a:lnTo>
                    <a:pt x="5767" y="133117"/>
                  </a:lnTo>
                  <a:lnTo>
                    <a:pt x="0" y="178364"/>
                  </a:lnTo>
                  <a:lnTo>
                    <a:pt x="5767" y="223610"/>
                  </a:lnTo>
                  <a:lnTo>
                    <a:pt x="23071" y="266453"/>
                  </a:lnTo>
                  <a:lnTo>
                    <a:pt x="51910" y="304486"/>
                  </a:lnTo>
                  <a:lnTo>
                    <a:pt x="89703" y="333509"/>
                  </a:lnTo>
                  <a:lnTo>
                    <a:pt x="132274" y="350923"/>
                  </a:lnTo>
                  <a:lnTo>
                    <a:pt x="177235" y="356728"/>
                  </a:lnTo>
                  <a:lnTo>
                    <a:pt x="222195" y="350923"/>
                  </a:lnTo>
                  <a:lnTo>
                    <a:pt x="264767" y="333509"/>
                  </a:lnTo>
                  <a:lnTo>
                    <a:pt x="302560" y="304486"/>
                  </a:lnTo>
                  <a:lnTo>
                    <a:pt x="331399" y="266453"/>
                  </a:lnTo>
                  <a:lnTo>
                    <a:pt x="348703" y="223610"/>
                  </a:lnTo>
                  <a:lnTo>
                    <a:pt x="354471" y="178364"/>
                  </a:lnTo>
                  <a:lnTo>
                    <a:pt x="348703" y="133117"/>
                  </a:lnTo>
                  <a:lnTo>
                    <a:pt x="331399" y="90275"/>
                  </a:lnTo>
                  <a:lnTo>
                    <a:pt x="302560" y="52241"/>
                  </a:lnTo>
                  <a:lnTo>
                    <a:pt x="264767" y="23218"/>
                  </a:lnTo>
                  <a:lnTo>
                    <a:pt x="222195" y="5804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812303" y="6114062"/>
              <a:ext cx="354965" cy="356870"/>
            </a:xfrm>
            <a:custGeom>
              <a:avLst/>
              <a:gdLst/>
              <a:ahLst/>
              <a:cxnLst/>
              <a:rect l="l" t="t" r="r" b="b"/>
              <a:pathLst>
                <a:path w="354965" h="356870">
                  <a:moveTo>
                    <a:pt x="302559" y="52241"/>
                  </a:moveTo>
                  <a:lnTo>
                    <a:pt x="331399" y="90275"/>
                  </a:lnTo>
                  <a:lnTo>
                    <a:pt x="348703" y="133117"/>
                  </a:lnTo>
                  <a:lnTo>
                    <a:pt x="354471" y="178364"/>
                  </a:lnTo>
                  <a:lnTo>
                    <a:pt x="348703" y="223611"/>
                  </a:lnTo>
                  <a:lnTo>
                    <a:pt x="331399" y="266453"/>
                  </a:lnTo>
                  <a:lnTo>
                    <a:pt x="302559" y="304487"/>
                  </a:lnTo>
                  <a:lnTo>
                    <a:pt x="264767" y="333510"/>
                  </a:lnTo>
                  <a:lnTo>
                    <a:pt x="222195" y="350924"/>
                  </a:lnTo>
                  <a:lnTo>
                    <a:pt x="177235" y="356728"/>
                  </a:lnTo>
                  <a:lnTo>
                    <a:pt x="132275" y="350924"/>
                  </a:lnTo>
                  <a:lnTo>
                    <a:pt x="89704" y="333510"/>
                  </a:lnTo>
                  <a:lnTo>
                    <a:pt x="51911" y="304487"/>
                  </a:lnTo>
                  <a:lnTo>
                    <a:pt x="23071" y="266453"/>
                  </a:lnTo>
                  <a:lnTo>
                    <a:pt x="5767" y="223611"/>
                  </a:lnTo>
                  <a:lnTo>
                    <a:pt x="0" y="178364"/>
                  </a:lnTo>
                  <a:lnTo>
                    <a:pt x="5767" y="133117"/>
                  </a:lnTo>
                  <a:lnTo>
                    <a:pt x="23071" y="90275"/>
                  </a:lnTo>
                  <a:lnTo>
                    <a:pt x="51911" y="52241"/>
                  </a:lnTo>
                  <a:lnTo>
                    <a:pt x="89704" y="23218"/>
                  </a:lnTo>
                  <a:lnTo>
                    <a:pt x="132275" y="5804"/>
                  </a:lnTo>
                  <a:lnTo>
                    <a:pt x="177235" y="0"/>
                  </a:lnTo>
                  <a:lnTo>
                    <a:pt x="222195" y="5804"/>
                  </a:lnTo>
                  <a:lnTo>
                    <a:pt x="264767" y="23218"/>
                  </a:lnTo>
                  <a:lnTo>
                    <a:pt x="302559" y="5224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009120" y="6114063"/>
              <a:ext cx="354965" cy="356870"/>
            </a:xfrm>
            <a:custGeom>
              <a:avLst/>
              <a:gdLst/>
              <a:ahLst/>
              <a:cxnLst/>
              <a:rect l="l" t="t" r="r" b="b"/>
              <a:pathLst>
                <a:path w="354965" h="356870">
                  <a:moveTo>
                    <a:pt x="177236" y="0"/>
                  </a:moveTo>
                  <a:lnTo>
                    <a:pt x="132275" y="5804"/>
                  </a:lnTo>
                  <a:lnTo>
                    <a:pt x="89704" y="23218"/>
                  </a:lnTo>
                  <a:lnTo>
                    <a:pt x="51911" y="52241"/>
                  </a:lnTo>
                  <a:lnTo>
                    <a:pt x="23071" y="90275"/>
                  </a:lnTo>
                  <a:lnTo>
                    <a:pt x="5767" y="133117"/>
                  </a:lnTo>
                  <a:lnTo>
                    <a:pt x="0" y="178364"/>
                  </a:lnTo>
                  <a:lnTo>
                    <a:pt x="5767" y="223610"/>
                  </a:lnTo>
                  <a:lnTo>
                    <a:pt x="23071" y="266453"/>
                  </a:lnTo>
                  <a:lnTo>
                    <a:pt x="51911" y="304486"/>
                  </a:lnTo>
                  <a:lnTo>
                    <a:pt x="89704" y="333509"/>
                  </a:lnTo>
                  <a:lnTo>
                    <a:pt x="132275" y="350923"/>
                  </a:lnTo>
                  <a:lnTo>
                    <a:pt x="177236" y="356728"/>
                  </a:lnTo>
                  <a:lnTo>
                    <a:pt x="222196" y="350923"/>
                  </a:lnTo>
                  <a:lnTo>
                    <a:pt x="264767" y="333509"/>
                  </a:lnTo>
                  <a:lnTo>
                    <a:pt x="302560" y="304486"/>
                  </a:lnTo>
                  <a:lnTo>
                    <a:pt x="331400" y="266453"/>
                  </a:lnTo>
                  <a:lnTo>
                    <a:pt x="348703" y="223610"/>
                  </a:lnTo>
                  <a:lnTo>
                    <a:pt x="354471" y="178364"/>
                  </a:lnTo>
                  <a:lnTo>
                    <a:pt x="348703" y="133117"/>
                  </a:lnTo>
                  <a:lnTo>
                    <a:pt x="331400" y="90275"/>
                  </a:lnTo>
                  <a:lnTo>
                    <a:pt x="302560" y="52241"/>
                  </a:lnTo>
                  <a:lnTo>
                    <a:pt x="264767" y="23218"/>
                  </a:lnTo>
                  <a:lnTo>
                    <a:pt x="222196" y="5804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009120" y="6114062"/>
              <a:ext cx="354965" cy="356870"/>
            </a:xfrm>
            <a:custGeom>
              <a:avLst/>
              <a:gdLst/>
              <a:ahLst/>
              <a:cxnLst/>
              <a:rect l="l" t="t" r="r" b="b"/>
              <a:pathLst>
                <a:path w="354965" h="356870">
                  <a:moveTo>
                    <a:pt x="302559" y="52241"/>
                  </a:moveTo>
                  <a:lnTo>
                    <a:pt x="331399" y="90275"/>
                  </a:lnTo>
                  <a:lnTo>
                    <a:pt x="348703" y="133117"/>
                  </a:lnTo>
                  <a:lnTo>
                    <a:pt x="354471" y="178364"/>
                  </a:lnTo>
                  <a:lnTo>
                    <a:pt x="348703" y="223611"/>
                  </a:lnTo>
                  <a:lnTo>
                    <a:pt x="331399" y="266453"/>
                  </a:lnTo>
                  <a:lnTo>
                    <a:pt x="302559" y="304487"/>
                  </a:lnTo>
                  <a:lnTo>
                    <a:pt x="264767" y="333510"/>
                  </a:lnTo>
                  <a:lnTo>
                    <a:pt x="222195" y="350924"/>
                  </a:lnTo>
                  <a:lnTo>
                    <a:pt x="177235" y="356728"/>
                  </a:lnTo>
                  <a:lnTo>
                    <a:pt x="132275" y="350924"/>
                  </a:lnTo>
                  <a:lnTo>
                    <a:pt x="89704" y="333510"/>
                  </a:lnTo>
                  <a:lnTo>
                    <a:pt x="51911" y="304487"/>
                  </a:lnTo>
                  <a:lnTo>
                    <a:pt x="23071" y="266453"/>
                  </a:lnTo>
                  <a:lnTo>
                    <a:pt x="5767" y="223611"/>
                  </a:lnTo>
                  <a:lnTo>
                    <a:pt x="0" y="178364"/>
                  </a:lnTo>
                  <a:lnTo>
                    <a:pt x="5767" y="133117"/>
                  </a:lnTo>
                  <a:lnTo>
                    <a:pt x="23071" y="90275"/>
                  </a:lnTo>
                  <a:lnTo>
                    <a:pt x="51911" y="52241"/>
                  </a:lnTo>
                  <a:lnTo>
                    <a:pt x="89704" y="23218"/>
                  </a:lnTo>
                  <a:lnTo>
                    <a:pt x="132275" y="5804"/>
                  </a:lnTo>
                  <a:lnTo>
                    <a:pt x="177235" y="0"/>
                  </a:lnTo>
                  <a:lnTo>
                    <a:pt x="222195" y="5804"/>
                  </a:lnTo>
                  <a:lnTo>
                    <a:pt x="264767" y="23218"/>
                  </a:lnTo>
                  <a:lnTo>
                    <a:pt x="302559" y="5224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925387" y="7057813"/>
              <a:ext cx="354965" cy="356870"/>
            </a:xfrm>
            <a:custGeom>
              <a:avLst/>
              <a:gdLst/>
              <a:ahLst/>
              <a:cxnLst/>
              <a:rect l="l" t="t" r="r" b="b"/>
              <a:pathLst>
                <a:path w="354965" h="356870">
                  <a:moveTo>
                    <a:pt x="177235" y="0"/>
                  </a:moveTo>
                  <a:lnTo>
                    <a:pt x="132274" y="5804"/>
                  </a:lnTo>
                  <a:lnTo>
                    <a:pt x="89703" y="23218"/>
                  </a:lnTo>
                  <a:lnTo>
                    <a:pt x="51910" y="52241"/>
                  </a:lnTo>
                  <a:lnTo>
                    <a:pt x="23071" y="90275"/>
                  </a:lnTo>
                  <a:lnTo>
                    <a:pt x="5767" y="133117"/>
                  </a:lnTo>
                  <a:lnTo>
                    <a:pt x="0" y="178364"/>
                  </a:lnTo>
                  <a:lnTo>
                    <a:pt x="5767" y="223610"/>
                  </a:lnTo>
                  <a:lnTo>
                    <a:pt x="23071" y="266453"/>
                  </a:lnTo>
                  <a:lnTo>
                    <a:pt x="51910" y="304486"/>
                  </a:lnTo>
                  <a:lnTo>
                    <a:pt x="89703" y="333509"/>
                  </a:lnTo>
                  <a:lnTo>
                    <a:pt x="132274" y="350923"/>
                  </a:lnTo>
                  <a:lnTo>
                    <a:pt x="177235" y="356728"/>
                  </a:lnTo>
                  <a:lnTo>
                    <a:pt x="222195" y="350923"/>
                  </a:lnTo>
                  <a:lnTo>
                    <a:pt x="264767" y="333509"/>
                  </a:lnTo>
                  <a:lnTo>
                    <a:pt x="302560" y="304486"/>
                  </a:lnTo>
                  <a:lnTo>
                    <a:pt x="331399" y="266453"/>
                  </a:lnTo>
                  <a:lnTo>
                    <a:pt x="348703" y="223610"/>
                  </a:lnTo>
                  <a:lnTo>
                    <a:pt x="354471" y="178364"/>
                  </a:lnTo>
                  <a:lnTo>
                    <a:pt x="348703" y="133117"/>
                  </a:lnTo>
                  <a:lnTo>
                    <a:pt x="331399" y="90275"/>
                  </a:lnTo>
                  <a:lnTo>
                    <a:pt x="302560" y="52241"/>
                  </a:lnTo>
                  <a:lnTo>
                    <a:pt x="264767" y="23218"/>
                  </a:lnTo>
                  <a:lnTo>
                    <a:pt x="222195" y="5804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925387" y="7057812"/>
              <a:ext cx="354965" cy="356870"/>
            </a:xfrm>
            <a:custGeom>
              <a:avLst/>
              <a:gdLst/>
              <a:ahLst/>
              <a:cxnLst/>
              <a:rect l="l" t="t" r="r" b="b"/>
              <a:pathLst>
                <a:path w="354965" h="356870">
                  <a:moveTo>
                    <a:pt x="302559" y="52241"/>
                  </a:moveTo>
                  <a:lnTo>
                    <a:pt x="331399" y="90275"/>
                  </a:lnTo>
                  <a:lnTo>
                    <a:pt x="348703" y="133117"/>
                  </a:lnTo>
                  <a:lnTo>
                    <a:pt x="354471" y="178364"/>
                  </a:lnTo>
                  <a:lnTo>
                    <a:pt x="348703" y="223611"/>
                  </a:lnTo>
                  <a:lnTo>
                    <a:pt x="331399" y="266453"/>
                  </a:lnTo>
                  <a:lnTo>
                    <a:pt x="302559" y="304487"/>
                  </a:lnTo>
                  <a:lnTo>
                    <a:pt x="264767" y="333510"/>
                  </a:lnTo>
                  <a:lnTo>
                    <a:pt x="222195" y="350924"/>
                  </a:lnTo>
                  <a:lnTo>
                    <a:pt x="177235" y="356728"/>
                  </a:lnTo>
                  <a:lnTo>
                    <a:pt x="132275" y="350924"/>
                  </a:lnTo>
                  <a:lnTo>
                    <a:pt x="89704" y="333510"/>
                  </a:lnTo>
                  <a:lnTo>
                    <a:pt x="51911" y="304487"/>
                  </a:lnTo>
                  <a:lnTo>
                    <a:pt x="23071" y="266453"/>
                  </a:lnTo>
                  <a:lnTo>
                    <a:pt x="5767" y="223611"/>
                  </a:lnTo>
                  <a:lnTo>
                    <a:pt x="0" y="178364"/>
                  </a:lnTo>
                  <a:lnTo>
                    <a:pt x="5767" y="133117"/>
                  </a:lnTo>
                  <a:lnTo>
                    <a:pt x="23071" y="90275"/>
                  </a:lnTo>
                  <a:lnTo>
                    <a:pt x="51911" y="52241"/>
                  </a:lnTo>
                  <a:lnTo>
                    <a:pt x="89704" y="23218"/>
                  </a:lnTo>
                  <a:lnTo>
                    <a:pt x="132275" y="5804"/>
                  </a:lnTo>
                  <a:lnTo>
                    <a:pt x="177235" y="0"/>
                  </a:lnTo>
                  <a:lnTo>
                    <a:pt x="222195" y="5804"/>
                  </a:lnTo>
                  <a:lnTo>
                    <a:pt x="264767" y="23218"/>
                  </a:lnTo>
                  <a:lnTo>
                    <a:pt x="302559" y="5224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7894E11-22A7-FB6C-EA81-EEC6D243E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4" y="1777472"/>
            <a:ext cx="8496935" cy="3183425"/>
          </a:xfrm>
          <a:prstGeom prst="rect">
            <a:avLst/>
          </a:prstGeom>
        </p:spPr>
      </p:pic>
      <p:pic>
        <p:nvPicPr>
          <p:cNvPr id="1026" name="Picture 2" descr="YARN | Yes, but at what cost? | The X-Files (1993) - S01E02 | Video gifs by  quotes | a88a4a10 | 紗">
            <a:extLst>
              <a:ext uri="{FF2B5EF4-FFF2-40B4-BE49-F238E27FC236}">
                <a16:creationId xmlns:a16="http://schemas.microsoft.com/office/drawing/2014/main" id="{34D1213C-3E81-B7DD-5949-56A1EBB6A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670" y="2340959"/>
            <a:ext cx="3327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600" y="342900"/>
            <a:ext cx="10498455" cy="5279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4072254" algn="l"/>
              </a:tabLst>
            </a:pPr>
            <a:r>
              <a:rPr sz="2800" dirty="0">
                <a:latin typeface="Arial MT"/>
                <a:cs typeface="Arial MT"/>
              </a:rPr>
              <a:t>Weighted</a:t>
            </a:r>
            <a:r>
              <a:rPr sz="2800" spc="3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vertex</a:t>
            </a:r>
            <a:r>
              <a:rPr sz="2800" spc="3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cover: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45" dirty="0">
                <a:latin typeface="Arial MT"/>
                <a:cs typeface="Arial MT"/>
              </a:rPr>
              <a:t>LP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rounding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spc="40" dirty="0"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800">
              <a:latin typeface="Arial MT"/>
              <a:cs typeface="Arial MT"/>
            </a:endParaRPr>
          </a:p>
          <a:p>
            <a:pPr marL="76200" marR="219075">
              <a:lnSpc>
                <a:spcPct val="131900"/>
              </a:lnSpc>
              <a:tabLst>
                <a:tab pos="1434465" algn="l"/>
                <a:tab pos="811212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Lemma.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494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V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300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½ }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twice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possible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weight.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ts val="2615"/>
              </a:lnSpc>
              <a:tabLst>
                <a:tab pos="6451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2400" spc="2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606060"/>
                </a:solidFill>
                <a:latin typeface="Times New Roman"/>
                <a:cs typeface="Times New Roman"/>
              </a:rPr>
              <a:t>S</a:t>
            </a:r>
            <a:r>
              <a:rPr sz="2400" i="1" spc="18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is</a:t>
            </a:r>
            <a:r>
              <a:rPr sz="2400" spc="2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a</a:t>
            </a:r>
            <a:r>
              <a:rPr sz="2400" spc="2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vertex</a:t>
            </a:r>
            <a:r>
              <a:rPr sz="2400" spc="2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cover</a:t>
            </a:r>
            <a:r>
              <a:rPr sz="2400" spc="2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spc="-1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210"/>
              </a:lnSpc>
              <a:tabLst>
                <a:tab pos="2632710" algn="l"/>
                <a:tab pos="2952750" algn="l"/>
                <a:tab pos="5623560" algn="l"/>
                <a:tab pos="6647180" algn="l"/>
                <a:tab pos="8087995" algn="l"/>
                <a:tab pos="8541385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Since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307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775" i="1" spc="-37" baseline="-18018" dirty="0">
                <a:latin typeface="Times New Roman"/>
                <a:cs typeface="Times New Roman"/>
              </a:rPr>
              <a:t>j</a:t>
            </a:r>
            <a:r>
              <a:rPr sz="2400" spc="-37" baseline="19097" dirty="0">
                <a:latin typeface="Times New Roman"/>
                <a:cs typeface="Times New Roman"/>
              </a:rPr>
              <a:t>*</a:t>
            </a:r>
            <a:r>
              <a:rPr sz="2400" baseline="19097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1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either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82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½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or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775" i="1" baseline="-18018" dirty="0">
                <a:latin typeface="Times New Roman"/>
                <a:cs typeface="Times New Roman"/>
              </a:rPr>
              <a:t>j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300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 </a:t>
            </a:r>
            <a:r>
              <a:rPr sz="2400" spc="-50" dirty="0">
                <a:latin typeface="Times New Roman"/>
                <a:cs typeface="Times New Roman"/>
              </a:rPr>
              <a:t>½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(or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both)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covered.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ts val="2615"/>
              </a:lnSpc>
              <a:tabLst>
                <a:tab pos="6451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</a:t>
            </a:r>
            <a:r>
              <a:rPr sz="24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i="1" dirty="0">
                <a:solidFill>
                  <a:srgbClr val="606060"/>
                </a:solidFill>
                <a:latin typeface="Times New Roman"/>
                <a:cs typeface="Times New Roman"/>
              </a:rPr>
              <a:t>S</a:t>
            </a:r>
            <a:r>
              <a:rPr sz="2400" i="1" spc="14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has</a:t>
            </a:r>
            <a:r>
              <a:rPr sz="24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desired</a:t>
            </a:r>
            <a:r>
              <a:rPr sz="24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weight</a:t>
            </a:r>
            <a:r>
              <a:rPr sz="24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606060"/>
                </a:solidFill>
                <a:latin typeface="Lucida Sans Unicode"/>
                <a:cs typeface="Lucida Sans Unicode"/>
              </a:rPr>
              <a:t>]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35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cover.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Then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100" y="7973059"/>
            <a:ext cx="994854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581660" algn="l"/>
                <a:tab pos="16192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rounding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65" dirty="0">
                <a:latin typeface="Lucida Sans Unicode"/>
                <a:cs typeface="Lucida Sans Unicode"/>
              </a:rPr>
              <a:t> 2-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Lemma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405" dirty="0">
                <a:latin typeface="Lucida Sans Unicode"/>
                <a:cs typeface="Lucida Sans Unicode"/>
              </a:rPr>
              <a:t>+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fact that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 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2535" y="6184012"/>
            <a:ext cx="21088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90370" algn="l"/>
                <a:tab pos="2025014" algn="l"/>
              </a:tabLst>
            </a:pPr>
            <a:r>
              <a:rPr sz="2000" i="1" spc="-50" dirty="0">
                <a:latin typeface="Times New Roman"/>
                <a:cs typeface="Times New Roman"/>
              </a:rPr>
              <a:t>i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i="1" spc="-50" dirty="0">
                <a:latin typeface="Times New Roman"/>
                <a:cs typeface="Times New Roman"/>
              </a:rPr>
              <a:t>i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i="1" spc="-50" dirty="0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4216" y="6442810"/>
            <a:ext cx="22364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96085" algn="l"/>
              </a:tabLst>
            </a:pPr>
            <a:r>
              <a:rPr sz="2000" i="1" dirty="0">
                <a:latin typeface="Times New Roman"/>
                <a:cs typeface="Times New Roman"/>
              </a:rPr>
              <a:t>i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S</a:t>
            </a:r>
            <a:r>
              <a:rPr sz="2000" spc="-25" dirty="0">
                <a:latin typeface="Times New Roman"/>
                <a:cs typeface="Times New Roman"/>
              </a:rPr>
              <a:t>*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i="1" dirty="0">
                <a:latin typeface="Times New Roman"/>
                <a:cs typeface="Times New Roman"/>
              </a:rPr>
              <a:t>i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21980" y="5978030"/>
            <a:ext cx="152400" cy="572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95"/>
              </a:spcBef>
            </a:pP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55"/>
              </a:lnSpc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2095" y="6184012"/>
            <a:ext cx="958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spc="-50" dirty="0"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1679" y="6442810"/>
            <a:ext cx="5524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dirty="0">
                <a:latin typeface="Times New Roman"/>
                <a:cs typeface="Times New Roman"/>
              </a:rPr>
              <a:t>i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3116" y="5962186"/>
            <a:ext cx="4773295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1103630" algn="l"/>
                <a:tab pos="1738630" algn="l"/>
                <a:tab pos="2518410" algn="l"/>
                <a:tab pos="3171825" algn="l"/>
                <a:tab pos="4112895" algn="l"/>
              </a:tabLst>
            </a:pPr>
            <a:r>
              <a:rPr sz="4500" baseline="-1851" dirty="0">
                <a:latin typeface="Symbol"/>
                <a:cs typeface="Symbol"/>
              </a:rPr>
              <a:t></a:t>
            </a:r>
            <a:r>
              <a:rPr sz="4500" spc="-7" baseline="-1851" dirty="0">
                <a:latin typeface="Times New Roman"/>
                <a:cs typeface="Times New Roman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w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Symbol"/>
                <a:cs typeface="Symbol"/>
              </a:rPr>
              <a:t>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4500" baseline="-1851" dirty="0">
                <a:latin typeface="Symbol"/>
                <a:cs typeface="Symbol"/>
              </a:rPr>
              <a:t></a:t>
            </a:r>
            <a:r>
              <a:rPr sz="4500" spc="-7" baseline="-1851" dirty="0">
                <a:latin typeface="Times New Roman"/>
                <a:cs typeface="Times New Roman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w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i="1" spc="-25" dirty="0">
                <a:latin typeface="Times New Roman"/>
                <a:cs typeface="Times New Roman"/>
              </a:rPr>
              <a:t>x</a:t>
            </a:r>
            <a:r>
              <a:rPr sz="3000" spc="-37" baseline="37500" dirty="0">
                <a:latin typeface="Times New Roman"/>
                <a:cs typeface="Times New Roman"/>
              </a:rPr>
              <a:t>*</a:t>
            </a:r>
            <a:r>
              <a:rPr sz="3000" baseline="375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Symbol"/>
                <a:cs typeface="Symbol"/>
              </a:rPr>
              <a:t>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4500" baseline="-1851" dirty="0">
                <a:latin typeface="Symbol"/>
                <a:cs typeface="Symbol"/>
              </a:rPr>
              <a:t></a:t>
            </a:r>
            <a:r>
              <a:rPr sz="4500" spc="-7" baseline="-1851" dirty="0">
                <a:latin typeface="Times New Roman"/>
                <a:cs typeface="Times New Roman"/>
              </a:rPr>
              <a:t> </a:t>
            </a:r>
            <a:r>
              <a:rPr sz="3000" i="1" spc="-50" dirty="0">
                <a:latin typeface="Times New Roman"/>
                <a:cs typeface="Times New Roman"/>
              </a:rPr>
              <a:t>w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10662" y="6591071"/>
            <a:ext cx="121920" cy="368935"/>
            <a:chOff x="4310662" y="6591071"/>
            <a:chExt cx="121920" cy="368935"/>
          </a:xfrm>
        </p:grpSpPr>
        <p:sp>
          <p:nvSpPr>
            <p:cNvPr id="11" name="object 11"/>
            <p:cNvSpPr/>
            <p:nvPr/>
          </p:nvSpPr>
          <p:spPr>
            <a:xfrm>
              <a:off x="4371622" y="6669811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12699"/>
                  </a:lnTo>
                  <a:lnTo>
                    <a:pt x="0" y="289788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0662" y="6591071"/>
              <a:ext cx="121920" cy="12191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543300" y="7086600"/>
            <a:ext cx="17030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LP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relaxation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32500" y="6992482"/>
            <a:ext cx="320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spc="-37" baseline="-18055" dirty="0">
                <a:solidFill>
                  <a:srgbClr val="8D3124"/>
                </a:solidFill>
                <a:latin typeface="Times New Roman"/>
                <a:cs typeface="Times New Roman"/>
              </a:rPr>
              <a:t>x</a:t>
            </a:r>
            <a:r>
              <a:rPr sz="1950" i="1" spc="-37" baseline="-34188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300" spc="-25" dirty="0">
                <a:solidFill>
                  <a:srgbClr val="8D3124"/>
                </a:solidFill>
                <a:latin typeface="Times New Roman"/>
                <a:cs typeface="Times New Roman"/>
              </a:rPr>
              <a:t>*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9350" y="7073900"/>
            <a:ext cx="482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8D3124"/>
                </a:solidFill>
                <a:latin typeface="Times New Roman"/>
                <a:cs typeface="Times New Roman"/>
              </a:rPr>
              <a:t>≥</a:t>
            </a:r>
            <a:r>
              <a:rPr sz="2000" spc="48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8D3124"/>
                </a:solidFill>
                <a:latin typeface="Times New Roman"/>
                <a:cs typeface="Times New Roman"/>
              </a:rPr>
              <a:t>½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90640" y="6591300"/>
            <a:ext cx="121920" cy="368935"/>
            <a:chOff x="6390640" y="6591300"/>
            <a:chExt cx="121920" cy="368935"/>
          </a:xfrm>
        </p:grpSpPr>
        <p:sp>
          <p:nvSpPr>
            <p:cNvPr id="17" name="object 17"/>
            <p:cNvSpPr/>
            <p:nvPr/>
          </p:nvSpPr>
          <p:spPr>
            <a:xfrm>
              <a:off x="6451600" y="6670039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12699"/>
                  </a:lnTo>
                  <a:lnTo>
                    <a:pt x="0" y="289788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0640" y="6591300"/>
              <a:ext cx="121919" cy="121919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280" dirty="0"/>
              <a:t> </a:t>
            </a:r>
            <a:r>
              <a:rPr dirty="0"/>
              <a:t>vertex</a:t>
            </a:r>
            <a:r>
              <a:rPr spc="280" dirty="0"/>
              <a:t> </a:t>
            </a:r>
            <a:r>
              <a:rPr dirty="0"/>
              <a:t>cover</a:t>
            </a:r>
            <a:r>
              <a:rPr spc="285" dirty="0"/>
              <a:t> </a:t>
            </a:r>
            <a:r>
              <a:rPr spc="50" dirty="0"/>
              <a:t>inapproximability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1125410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619250" algn="l"/>
                <a:tab pos="458660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[Dinur–Safra</a:t>
            </a:r>
            <a:r>
              <a:rPr sz="2400" spc="-15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2004]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b="1" dirty="0">
                <a:latin typeface="Tahoma"/>
                <a:cs typeface="Tahoma"/>
              </a:rPr>
              <a:t>P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ahoma"/>
                <a:cs typeface="Tahoma"/>
              </a:rPr>
              <a:t>NP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35" dirty="0">
                <a:latin typeface="Symbol"/>
                <a:cs typeface="Symbol"/>
              </a:rPr>
              <a:t></a:t>
            </a:r>
            <a:r>
              <a:rPr sz="2400" spc="-35" dirty="0">
                <a:latin typeface="Lucida Sans Unicode"/>
                <a:cs typeface="Lucida Sans Unicode"/>
              </a:rPr>
              <a:t>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W</a:t>
            </a:r>
            <a:r>
              <a:rPr sz="1900" spc="-30" dirty="0">
                <a:latin typeface="Lucida Sans Unicode"/>
                <a:cs typeface="Lucida Sans Unicode"/>
              </a:rPr>
              <a:t>EIGHTED</a:t>
            </a:r>
            <a:r>
              <a:rPr sz="2400" spc="-30" dirty="0">
                <a:latin typeface="Lucida Sans Unicode"/>
                <a:cs typeface="Lucida Sans Unicode"/>
              </a:rPr>
              <a:t>-</a:t>
            </a:r>
            <a:r>
              <a:rPr sz="2400" spc="-85" dirty="0">
                <a:latin typeface="Lucida Sans Unicode"/>
                <a:cs typeface="Lucida Sans Unicode"/>
              </a:rPr>
              <a:t>V</a:t>
            </a:r>
            <a:r>
              <a:rPr sz="1900" spc="-85" dirty="0">
                <a:latin typeface="Lucida Sans Unicode"/>
                <a:cs typeface="Lucida Sans Unicode"/>
              </a:rPr>
              <a:t>ERTEX</a:t>
            </a:r>
            <a:r>
              <a:rPr sz="2400" spc="-8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1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 </a:t>
            </a:r>
            <a:r>
              <a:rPr sz="2400" dirty="0">
                <a:latin typeface="Symbol"/>
                <a:cs typeface="Symbol"/>
              </a:rPr>
              <a:t></a:t>
            </a:r>
            <a:r>
              <a:rPr sz="2400" dirty="0">
                <a:latin typeface="Times New Roman"/>
                <a:cs typeface="Times New Roman"/>
              </a:rPr>
              <a:t> &lt; 1.3606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(even if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 are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).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8572500"/>
            <a:ext cx="3599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Open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research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3440" y="8572500"/>
            <a:ext cx="2148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Close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gap.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97100" y="2997200"/>
            <a:ext cx="8364855" cy="4025900"/>
          </a:xfrm>
          <a:custGeom>
            <a:avLst/>
            <a:gdLst/>
            <a:ahLst/>
            <a:cxnLst/>
            <a:rect l="l" t="t" r="r" b="b"/>
            <a:pathLst>
              <a:path w="8364855" h="4025900">
                <a:moveTo>
                  <a:pt x="8364623" y="0"/>
                </a:moveTo>
                <a:lnTo>
                  <a:pt x="0" y="0"/>
                </a:lnTo>
                <a:lnTo>
                  <a:pt x="0" y="4025898"/>
                </a:lnTo>
                <a:lnTo>
                  <a:pt x="8364623" y="4025898"/>
                </a:lnTo>
                <a:lnTo>
                  <a:pt x="83646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13071" y="3338801"/>
            <a:ext cx="7057390" cy="1565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0" dirty="0">
                <a:latin typeface="Calibri"/>
                <a:cs typeface="Calibri"/>
              </a:rPr>
              <a:t>On</a:t>
            </a:r>
            <a:r>
              <a:rPr sz="2300" spc="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Hardness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Approximating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Minimum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Vertex</a:t>
            </a:r>
            <a:r>
              <a:rPr sz="2300" spc="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Cover</a:t>
            </a:r>
            <a:endParaRPr sz="2300">
              <a:latin typeface="Calibri"/>
              <a:cs typeface="Calibri"/>
            </a:endParaRPr>
          </a:p>
          <a:p>
            <a:pPr marL="2936240" marR="2062480" indent="-814705">
              <a:lnSpc>
                <a:spcPct val="171300"/>
              </a:lnSpc>
              <a:spcBef>
                <a:spcPts val="2770"/>
              </a:spcBef>
              <a:tabLst>
                <a:tab pos="3778250" algn="l"/>
              </a:tabLst>
            </a:pPr>
            <a:r>
              <a:rPr sz="1600" spc="80" dirty="0">
                <a:latin typeface="Calibri"/>
                <a:cs typeface="Calibri"/>
              </a:rPr>
              <a:t>Irit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Dinur</a:t>
            </a:r>
            <a:r>
              <a:rPr sz="1575" spc="-15" baseline="31746" dirty="0">
                <a:latin typeface="Lucida Sans Unicode"/>
                <a:cs typeface="Lucida Sans Unicode"/>
              </a:rPr>
              <a:t>∗</a:t>
            </a:r>
            <a:r>
              <a:rPr sz="1575" baseline="31746" dirty="0">
                <a:latin typeface="Lucida Sans Unicode"/>
                <a:cs typeface="Lucida Sans Unicode"/>
              </a:rPr>
              <a:t>	</a:t>
            </a:r>
            <a:r>
              <a:rPr sz="1600" dirty="0">
                <a:latin typeface="Calibri"/>
                <a:cs typeface="Calibri"/>
              </a:rPr>
              <a:t>Samuel</a:t>
            </a:r>
            <a:r>
              <a:rPr sz="1600" spc="2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Safra</a:t>
            </a:r>
            <a:r>
              <a:rPr sz="1575" spc="-15" baseline="31746" dirty="0">
                <a:latin typeface="Lucida Sans Unicode"/>
                <a:cs typeface="Lucida Sans Unicode"/>
              </a:rPr>
              <a:t>† </a:t>
            </a:r>
            <a:r>
              <a:rPr sz="1600" dirty="0">
                <a:latin typeface="Calibri"/>
                <a:cs typeface="Calibri"/>
              </a:rPr>
              <a:t>May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26,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2004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942746" y="5439437"/>
            <a:ext cx="6798945" cy="123126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865"/>
              </a:spcBef>
            </a:pPr>
            <a:r>
              <a:rPr sz="1300" spc="165" dirty="0">
                <a:latin typeface="Calibri"/>
                <a:cs typeface="Calibri"/>
              </a:rPr>
              <a:t>Abstract</a:t>
            </a:r>
            <a:endParaRPr sz="1300">
              <a:latin typeface="Calibri"/>
              <a:cs typeface="Calibri"/>
            </a:endParaRPr>
          </a:p>
          <a:p>
            <a:pPr marR="5080" indent="255270" algn="just">
              <a:lnSpc>
                <a:spcPct val="103099"/>
              </a:lnSpc>
              <a:spcBef>
                <a:spcPts val="725"/>
              </a:spcBef>
            </a:pPr>
            <a:r>
              <a:rPr sz="1300" spc="10" dirty="0">
                <a:latin typeface="Calibri"/>
                <a:cs typeface="Calibri"/>
              </a:rPr>
              <a:t>We</a:t>
            </a:r>
            <a:r>
              <a:rPr sz="1300" spc="220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prove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the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65" dirty="0">
                <a:latin typeface="Calibri"/>
                <a:cs typeface="Calibri"/>
              </a:rPr>
              <a:t>Minimum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50" dirty="0">
                <a:latin typeface="Calibri"/>
                <a:cs typeface="Calibri"/>
              </a:rPr>
              <a:t>Vertex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55" dirty="0">
                <a:latin typeface="Calibri"/>
                <a:cs typeface="Calibri"/>
              </a:rPr>
              <a:t>Cover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problem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to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be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135" dirty="0">
                <a:latin typeface="Calibri"/>
                <a:cs typeface="Calibri"/>
              </a:rPr>
              <a:t>NP-</a:t>
            </a:r>
            <a:r>
              <a:rPr sz="1300" spc="55" dirty="0">
                <a:latin typeface="Calibri"/>
                <a:cs typeface="Calibri"/>
              </a:rPr>
              <a:t>hard</a:t>
            </a:r>
            <a:r>
              <a:rPr sz="1300" spc="225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to</a:t>
            </a:r>
            <a:r>
              <a:rPr sz="1300" spc="220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approximate</a:t>
            </a:r>
            <a:r>
              <a:rPr sz="1300" spc="235" dirty="0">
                <a:latin typeface="Calibri"/>
                <a:cs typeface="Calibri"/>
              </a:rPr>
              <a:t> </a:t>
            </a:r>
            <a:r>
              <a:rPr sz="1300" spc="10" dirty="0">
                <a:latin typeface="Calibri"/>
                <a:cs typeface="Calibri"/>
              </a:rPr>
              <a:t>to</a:t>
            </a:r>
            <a:r>
              <a:rPr sz="1300" spc="220" dirty="0">
                <a:latin typeface="Calibri"/>
                <a:cs typeface="Calibri"/>
              </a:rPr>
              <a:t> </a:t>
            </a:r>
            <a:r>
              <a:rPr sz="1300" spc="45" dirty="0">
                <a:latin typeface="Calibri"/>
                <a:cs typeface="Calibri"/>
              </a:rPr>
              <a:t>within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2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factor</a:t>
            </a:r>
            <a:r>
              <a:rPr sz="1300" spc="2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1.3606,</a:t>
            </a:r>
            <a:r>
              <a:rPr sz="1300" spc="229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extending</a:t>
            </a:r>
            <a:r>
              <a:rPr sz="1300" spc="2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previous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spc="245" dirty="0">
                <a:latin typeface="Calibri"/>
                <a:cs typeface="Calibri"/>
              </a:rPr>
              <a:t>PCP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hardness</a:t>
            </a:r>
            <a:r>
              <a:rPr sz="1300" spc="2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spc="45" dirty="0">
                <a:latin typeface="Calibri"/>
                <a:cs typeface="Calibri"/>
              </a:rPr>
              <a:t>approximation</a:t>
            </a:r>
            <a:r>
              <a:rPr sz="1300" spc="2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technique.</a:t>
            </a:r>
            <a:r>
              <a:rPr sz="1300" spc="475" dirty="0">
                <a:latin typeface="Calibri"/>
                <a:cs typeface="Calibri"/>
              </a:rPr>
              <a:t> </a:t>
            </a:r>
            <a:r>
              <a:rPr sz="1300" spc="65" dirty="0">
                <a:latin typeface="Calibri"/>
                <a:cs typeface="Calibri"/>
              </a:rPr>
              <a:t>To </a:t>
            </a:r>
            <a:r>
              <a:rPr sz="1300" spc="60" dirty="0">
                <a:latin typeface="Calibri"/>
                <a:cs typeface="Calibri"/>
              </a:rPr>
              <a:t>that</a:t>
            </a:r>
            <a:r>
              <a:rPr sz="1300" spc="2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end,</a:t>
            </a:r>
            <a:r>
              <a:rPr sz="1300" spc="3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one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needs</a:t>
            </a:r>
            <a:r>
              <a:rPr sz="1300" spc="2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develop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2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new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proof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framework,</a:t>
            </a:r>
            <a:r>
              <a:rPr sz="1300" spc="30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borrow</a:t>
            </a:r>
            <a:r>
              <a:rPr sz="1300" spc="2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extend</a:t>
            </a:r>
            <a:r>
              <a:rPr sz="1300" spc="2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ideas</a:t>
            </a:r>
            <a:r>
              <a:rPr sz="1300" spc="29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from </a:t>
            </a:r>
            <a:r>
              <a:rPr sz="1300" dirty="0">
                <a:latin typeface="Calibri"/>
                <a:cs typeface="Calibri"/>
              </a:rPr>
              <a:t>several</a:t>
            </a:r>
            <a:r>
              <a:rPr sz="1300" spc="30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fields.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96069" y="2662591"/>
            <a:ext cx="7535545" cy="5393690"/>
          </a:xfrm>
          <a:custGeom>
            <a:avLst/>
            <a:gdLst/>
            <a:ahLst/>
            <a:cxnLst/>
            <a:rect l="l" t="t" r="r" b="b"/>
            <a:pathLst>
              <a:path w="7535545" h="5393690">
                <a:moveTo>
                  <a:pt x="7535193" y="0"/>
                </a:moveTo>
                <a:lnTo>
                  <a:pt x="0" y="0"/>
                </a:lnTo>
                <a:lnTo>
                  <a:pt x="0" y="5393617"/>
                </a:lnTo>
                <a:lnTo>
                  <a:pt x="7535193" y="5393617"/>
                </a:lnTo>
                <a:lnTo>
                  <a:pt x="75351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Weighted</a:t>
            </a:r>
            <a:r>
              <a:rPr spc="280" dirty="0"/>
              <a:t> </a:t>
            </a:r>
            <a:r>
              <a:rPr dirty="0"/>
              <a:t>vertex</a:t>
            </a:r>
            <a:r>
              <a:rPr spc="280" dirty="0"/>
              <a:t> </a:t>
            </a:r>
            <a:r>
              <a:rPr dirty="0"/>
              <a:t>cover</a:t>
            </a:r>
            <a:r>
              <a:rPr spc="285" dirty="0"/>
              <a:t> </a:t>
            </a:r>
            <a:r>
              <a:rPr spc="50" dirty="0"/>
              <a:t>inapproximability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0100" y="1216660"/>
            <a:ext cx="11308080" cy="9906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1619250" algn="l"/>
                <a:tab pos="480377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[Kohot–Regev</a:t>
            </a:r>
            <a:r>
              <a:rPr sz="24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2008]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Unique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Games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Conjecture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true,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no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dirty="0">
                <a:latin typeface="Symbol"/>
                <a:cs typeface="Symbol"/>
              </a:rPr>
              <a:t>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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approximation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W</a:t>
            </a:r>
            <a:r>
              <a:rPr sz="1900" spc="-30" dirty="0">
                <a:latin typeface="Lucida Sans Unicode"/>
                <a:cs typeface="Lucida Sans Unicode"/>
              </a:rPr>
              <a:t>EIGHTED</a:t>
            </a:r>
            <a:r>
              <a:rPr sz="2400" spc="-30" dirty="0">
                <a:latin typeface="Lucida Sans Unicode"/>
                <a:cs typeface="Lucida Sans Unicode"/>
              </a:rPr>
              <a:t>-</a:t>
            </a:r>
            <a:r>
              <a:rPr sz="2400" spc="-85" dirty="0">
                <a:latin typeface="Lucida Sans Unicode"/>
                <a:cs typeface="Lucida Sans Unicode"/>
              </a:rPr>
              <a:t>V</a:t>
            </a:r>
            <a:r>
              <a:rPr sz="1900" spc="-85" dirty="0">
                <a:latin typeface="Lucida Sans Unicode"/>
                <a:cs typeface="Lucida Sans Unicode"/>
              </a:rPr>
              <a:t>ERTEX</a:t>
            </a:r>
            <a:r>
              <a:rPr sz="2400" spc="-8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114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8572500"/>
            <a:ext cx="9310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5404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Open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research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Prove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Unique Games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Conjecture.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3892" y="2949613"/>
            <a:ext cx="623342" cy="6889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5707" y="2949613"/>
            <a:ext cx="952591" cy="68406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393890" y="6100133"/>
            <a:ext cx="6294755" cy="5715"/>
          </a:xfrm>
          <a:custGeom>
            <a:avLst/>
            <a:gdLst/>
            <a:ahLst/>
            <a:cxnLst/>
            <a:rect l="l" t="t" r="r" b="b"/>
            <a:pathLst>
              <a:path w="6294755" h="5714">
                <a:moveTo>
                  <a:pt x="6294367" y="0"/>
                </a:moveTo>
                <a:lnTo>
                  <a:pt x="0" y="0"/>
                </a:lnTo>
                <a:lnTo>
                  <a:pt x="0" y="5588"/>
                </a:lnTo>
                <a:lnTo>
                  <a:pt x="6294367" y="5588"/>
                </a:lnTo>
                <a:lnTo>
                  <a:pt x="62943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96069" y="2662591"/>
            <a:ext cx="7535545" cy="539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50">
              <a:latin typeface="Times New Roman"/>
              <a:cs typeface="Times New Roman"/>
            </a:endParaRPr>
          </a:p>
          <a:p>
            <a:pPr marL="2144395">
              <a:lnSpc>
                <a:spcPct val="100000"/>
              </a:lnSpc>
              <a:spcBef>
                <a:spcPts val="5"/>
              </a:spcBef>
            </a:pPr>
            <a:r>
              <a:rPr sz="850" spc="-10" dirty="0">
                <a:latin typeface="Times New Roman"/>
                <a:cs typeface="Times New Roman"/>
              </a:rPr>
              <a:t>Journal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of</a:t>
            </a:r>
            <a:r>
              <a:rPr sz="850" spc="-10" dirty="0">
                <a:latin typeface="Times New Roman"/>
                <a:cs typeface="Times New Roman"/>
              </a:rPr>
              <a:t> Computer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and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System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Sciences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74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(2008)</a:t>
            </a:r>
            <a:r>
              <a:rPr sz="850" spc="-10" dirty="0">
                <a:latin typeface="Times New Roman"/>
                <a:cs typeface="Times New Roman"/>
              </a:rPr>
              <a:t> 335–349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850">
              <a:latin typeface="Times New Roman"/>
              <a:cs typeface="Times New Roman"/>
            </a:endParaRPr>
          </a:p>
          <a:p>
            <a:pPr marR="243840" algn="ctr">
              <a:lnSpc>
                <a:spcPct val="100000"/>
              </a:lnSpc>
              <a:spcBef>
                <a:spcPts val="5"/>
              </a:spcBef>
            </a:pPr>
            <a:r>
              <a:rPr sz="1800" spc="-35" dirty="0">
                <a:latin typeface="Times New Roman"/>
                <a:cs typeface="Times New Roman"/>
              </a:rPr>
              <a:t>Vertex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cover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might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hard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approximate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−</a:t>
            </a:r>
            <a:r>
              <a:rPr sz="1800" spc="-220" dirty="0">
                <a:latin typeface="Lucida Sans Unicode"/>
                <a:cs typeface="Lucida Sans Unicode"/>
              </a:rPr>
              <a:t> </a:t>
            </a:r>
            <a:r>
              <a:rPr sz="1800" i="1" spc="-50" dirty="0">
                <a:latin typeface="Arial"/>
                <a:cs typeface="Arial"/>
              </a:rPr>
              <a:t>ε</a:t>
            </a:r>
            <a:endParaRPr sz="1800">
              <a:latin typeface="Arial"/>
              <a:cs typeface="Arial"/>
            </a:endParaRPr>
          </a:p>
          <a:p>
            <a:pPr marR="287655" algn="ctr">
              <a:lnSpc>
                <a:spcPct val="100000"/>
              </a:lnSpc>
              <a:spcBef>
                <a:spcPts val="1530"/>
              </a:spcBef>
            </a:pPr>
            <a:r>
              <a:rPr sz="1350" dirty="0">
                <a:latin typeface="Times New Roman"/>
                <a:cs typeface="Times New Roman"/>
              </a:rPr>
              <a:t>Subhash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Khot</a:t>
            </a:r>
            <a:r>
              <a:rPr sz="1350" spc="-75" dirty="0">
                <a:latin typeface="Times New Roman"/>
                <a:cs typeface="Times New Roman"/>
              </a:rPr>
              <a:t> </a:t>
            </a:r>
            <a:r>
              <a:rPr sz="1275" baseline="32679" dirty="0">
                <a:latin typeface="Times New Roman"/>
                <a:cs typeface="Times New Roman"/>
              </a:rPr>
              <a:t>a</a:t>
            </a:r>
            <a:r>
              <a:rPr sz="1275" i="1" baseline="32679" dirty="0">
                <a:latin typeface="Arial"/>
                <a:cs typeface="Arial"/>
              </a:rPr>
              <a:t>,</a:t>
            </a:r>
            <a:r>
              <a:rPr sz="1275" baseline="32679" dirty="0">
                <a:latin typeface="Times New Roman"/>
                <a:cs typeface="Times New Roman"/>
              </a:rPr>
              <a:t>1</a:t>
            </a:r>
            <a:r>
              <a:rPr sz="1350" dirty="0">
                <a:latin typeface="Times New Roman"/>
                <a:cs typeface="Times New Roman"/>
              </a:rPr>
              <a:t>,</a:t>
            </a:r>
            <a:r>
              <a:rPr sz="1350" spc="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Oded</a:t>
            </a:r>
            <a:r>
              <a:rPr sz="1350" spc="50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Regev</a:t>
            </a:r>
            <a:r>
              <a:rPr sz="1350" spc="-75" dirty="0">
                <a:latin typeface="Times New Roman"/>
                <a:cs typeface="Times New Roman"/>
              </a:rPr>
              <a:t> </a:t>
            </a:r>
            <a:r>
              <a:rPr sz="1275" spc="-30" baseline="32679" dirty="0">
                <a:latin typeface="Times New Roman"/>
                <a:cs typeface="Times New Roman"/>
              </a:rPr>
              <a:t>b</a:t>
            </a:r>
            <a:r>
              <a:rPr sz="1275" i="1" spc="-30" baseline="32679" dirty="0">
                <a:latin typeface="Arial"/>
                <a:cs typeface="Arial"/>
              </a:rPr>
              <a:t>,</a:t>
            </a:r>
            <a:r>
              <a:rPr sz="1275" spc="-30" baseline="32679" dirty="0">
                <a:latin typeface="Lucida Sans Unicode"/>
                <a:cs typeface="Lucida Sans Unicode"/>
              </a:rPr>
              <a:t>∗</a:t>
            </a:r>
            <a:r>
              <a:rPr sz="1275" i="1" spc="-30" baseline="32679" dirty="0">
                <a:latin typeface="Arial"/>
                <a:cs typeface="Arial"/>
              </a:rPr>
              <a:t>,</a:t>
            </a:r>
            <a:r>
              <a:rPr sz="1275" spc="-30" baseline="32679" dirty="0">
                <a:latin typeface="Times New Roman"/>
                <a:cs typeface="Times New Roman"/>
              </a:rPr>
              <a:t>2</a:t>
            </a:r>
            <a:endParaRPr sz="1275" baseline="32679">
              <a:latin typeface="Times New Roman"/>
              <a:cs typeface="Times New Roman"/>
            </a:endParaRPr>
          </a:p>
          <a:p>
            <a:pPr marR="237490" algn="ctr">
              <a:lnSpc>
                <a:spcPct val="100000"/>
              </a:lnSpc>
              <a:spcBef>
                <a:spcPts val="1210"/>
              </a:spcBef>
            </a:pPr>
            <a:r>
              <a:rPr sz="1050" baseline="23809" dirty="0">
                <a:latin typeface="Times New Roman"/>
                <a:cs typeface="Times New Roman"/>
              </a:rPr>
              <a:t>a</a:t>
            </a:r>
            <a:r>
              <a:rPr sz="1050" spc="120" baseline="23809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Department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 </a:t>
            </a:r>
            <a:r>
              <a:rPr sz="850" i="1" spc="-10" dirty="0">
                <a:latin typeface="Times New Roman"/>
                <a:cs typeface="Times New Roman"/>
              </a:rPr>
              <a:t>Computer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Science,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Princeton University,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Princeton,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NJ 08544,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spc="-25" dirty="0">
                <a:latin typeface="Times New Roman"/>
                <a:cs typeface="Times New Roman"/>
              </a:rPr>
              <a:t>USA</a:t>
            </a:r>
            <a:endParaRPr sz="850">
              <a:latin typeface="Times New Roman"/>
              <a:cs typeface="Times New Roman"/>
            </a:endParaRPr>
          </a:p>
          <a:p>
            <a:pPr marR="237490" algn="ctr">
              <a:lnSpc>
                <a:spcPct val="100000"/>
              </a:lnSpc>
              <a:spcBef>
                <a:spcPts val="40"/>
              </a:spcBef>
            </a:pPr>
            <a:r>
              <a:rPr sz="1050" baseline="23809" dirty="0">
                <a:latin typeface="Times New Roman"/>
                <a:cs typeface="Times New Roman"/>
              </a:rPr>
              <a:t>b</a:t>
            </a:r>
            <a:r>
              <a:rPr sz="1050" spc="120" baseline="23809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Department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of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Computer</a:t>
            </a:r>
            <a:r>
              <a:rPr sz="850" i="1" dirty="0">
                <a:latin typeface="Times New Roman"/>
                <a:cs typeface="Times New Roman"/>
              </a:rPr>
              <a:t> Science,</a:t>
            </a:r>
            <a:r>
              <a:rPr sz="850" i="1" spc="-10" dirty="0">
                <a:latin typeface="Times New Roman"/>
                <a:cs typeface="Times New Roman"/>
              </a:rPr>
              <a:t> </a:t>
            </a:r>
            <a:r>
              <a:rPr sz="850" i="1" spc="-35" dirty="0">
                <a:latin typeface="Times New Roman"/>
                <a:cs typeface="Times New Roman"/>
              </a:rPr>
              <a:t>Tel-</a:t>
            </a:r>
            <a:r>
              <a:rPr sz="850" i="1" spc="-10" dirty="0">
                <a:latin typeface="Times New Roman"/>
                <a:cs typeface="Times New Roman"/>
              </a:rPr>
              <a:t>Aviv University,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spc="-35" dirty="0">
                <a:latin typeface="Times New Roman"/>
                <a:cs typeface="Times New Roman"/>
              </a:rPr>
              <a:t>Tel-</a:t>
            </a:r>
            <a:r>
              <a:rPr sz="850" i="1" spc="-10" dirty="0">
                <a:latin typeface="Times New Roman"/>
                <a:cs typeface="Times New Roman"/>
              </a:rPr>
              <a:t>Aviv </a:t>
            </a:r>
            <a:r>
              <a:rPr sz="850" i="1" dirty="0">
                <a:latin typeface="Times New Roman"/>
                <a:cs typeface="Times New Roman"/>
              </a:rPr>
              <a:t>69978,</a:t>
            </a:r>
            <a:r>
              <a:rPr sz="850" i="1" spc="-5" dirty="0">
                <a:latin typeface="Times New Roman"/>
                <a:cs typeface="Times New Roman"/>
              </a:rPr>
              <a:t> </a:t>
            </a:r>
            <a:r>
              <a:rPr sz="850" i="1" spc="-10" dirty="0">
                <a:latin typeface="Times New Roman"/>
                <a:cs typeface="Times New Roman"/>
              </a:rPr>
              <a:t>Israel</a:t>
            </a:r>
            <a:endParaRPr sz="850">
              <a:latin typeface="Times New Roman"/>
              <a:cs typeface="Times New Roman"/>
            </a:endParaRPr>
          </a:p>
          <a:p>
            <a:pPr marR="237490" algn="ctr">
              <a:lnSpc>
                <a:spcPct val="100000"/>
              </a:lnSpc>
              <a:spcBef>
                <a:spcPts val="484"/>
              </a:spcBef>
            </a:pPr>
            <a:r>
              <a:rPr sz="850" spc="-10" dirty="0">
                <a:latin typeface="Times New Roman"/>
                <a:cs typeface="Times New Roman"/>
              </a:rPr>
              <a:t>Received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28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May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2003;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received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in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revised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form</a:t>
            </a:r>
            <a:r>
              <a:rPr sz="850" spc="-1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25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April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spc="-20" dirty="0">
                <a:latin typeface="Times New Roman"/>
                <a:cs typeface="Times New Roman"/>
              </a:rPr>
              <a:t>2006</a:t>
            </a:r>
            <a:endParaRPr sz="850">
              <a:latin typeface="Times New Roman"/>
              <a:cs typeface="Times New Roman"/>
            </a:endParaRPr>
          </a:p>
          <a:p>
            <a:pPr marR="238125" algn="ctr">
              <a:lnSpc>
                <a:spcPct val="100000"/>
              </a:lnSpc>
              <a:spcBef>
                <a:spcPts val="480"/>
              </a:spcBef>
            </a:pPr>
            <a:r>
              <a:rPr sz="850" spc="-20" dirty="0">
                <a:latin typeface="Times New Roman"/>
                <a:cs typeface="Times New Roman"/>
              </a:rPr>
              <a:t>Available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online</a:t>
            </a:r>
            <a:r>
              <a:rPr sz="850" spc="-1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13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June</a:t>
            </a:r>
            <a:r>
              <a:rPr sz="850" spc="-10" dirty="0">
                <a:latin typeface="Times New Roman"/>
                <a:cs typeface="Times New Roman"/>
              </a:rPr>
              <a:t> </a:t>
            </a:r>
            <a:r>
              <a:rPr sz="850" spc="-20" dirty="0">
                <a:latin typeface="Times New Roman"/>
                <a:cs typeface="Times New Roman"/>
              </a:rPr>
              <a:t>2007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850">
              <a:latin typeface="Times New Roman"/>
              <a:cs typeface="Times New Roman"/>
            </a:endParaRPr>
          </a:p>
          <a:p>
            <a:pPr marL="497205">
              <a:lnSpc>
                <a:spcPct val="100000"/>
              </a:lnSpc>
            </a:pPr>
            <a:r>
              <a:rPr sz="950" b="1" spc="-10" dirty="0">
                <a:latin typeface="Times New Roman"/>
                <a:cs typeface="Times New Roman"/>
              </a:rPr>
              <a:t>Abstract</a:t>
            </a:r>
            <a:endParaRPr sz="950">
              <a:latin typeface="Times New Roman"/>
              <a:cs typeface="Times New Roman"/>
            </a:endParaRPr>
          </a:p>
          <a:p>
            <a:pPr marL="497205" marR="734060" indent="120650" algn="just">
              <a:lnSpc>
                <a:spcPct val="102299"/>
              </a:lnSpc>
              <a:spcBef>
                <a:spcPts val="585"/>
              </a:spcBef>
            </a:pPr>
            <a:r>
              <a:rPr sz="950" dirty="0">
                <a:latin typeface="Times New Roman"/>
                <a:cs typeface="Times New Roman"/>
              </a:rPr>
              <a:t>Based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on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conjecture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regarding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the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power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of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unique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2-prover-1-</a:t>
            </a:r>
            <a:r>
              <a:rPr sz="950" dirty="0">
                <a:latin typeface="Times New Roman"/>
                <a:cs typeface="Times New Roman"/>
              </a:rPr>
              <a:t>round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games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presented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in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[S.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Khot,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On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the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power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of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unique 2-</a:t>
            </a:r>
            <a:r>
              <a:rPr sz="950" dirty="0">
                <a:latin typeface="Times New Roman"/>
                <a:cs typeface="Times New Roman"/>
              </a:rPr>
              <a:t>Prover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1-</a:t>
            </a:r>
            <a:r>
              <a:rPr sz="950" dirty="0">
                <a:latin typeface="Times New Roman"/>
                <a:cs typeface="Times New Roman"/>
              </a:rPr>
              <a:t>Round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games,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in: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Proc.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34th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ACM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Symp.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on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Theory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of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Computing,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STOC,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May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2002,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767–775],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we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show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that </a:t>
            </a:r>
            <a:r>
              <a:rPr sz="950" dirty="0">
                <a:latin typeface="Times New Roman"/>
                <a:cs typeface="Times New Roman"/>
              </a:rPr>
              <a:t>vertex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cover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is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hard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to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approximate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within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any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constant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factor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better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than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2.</a:t>
            </a:r>
            <a:r>
              <a:rPr sz="950" spc="-20" dirty="0">
                <a:latin typeface="Times New Roman"/>
                <a:cs typeface="Times New Roman"/>
              </a:rPr>
              <a:t> We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actually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show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stronger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result,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namely,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based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on </a:t>
            </a:r>
            <a:r>
              <a:rPr sz="950" dirty="0">
                <a:latin typeface="Times New Roman"/>
                <a:cs typeface="Times New Roman"/>
              </a:rPr>
              <a:t>the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same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conjecture,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vertex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cover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on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Arial"/>
                <a:cs typeface="Arial"/>
              </a:rPr>
              <a:t>k</a:t>
            </a:r>
            <a:r>
              <a:rPr sz="950" spc="-10" dirty="0">
                <a:latin typeface="Times New Roman"/>
                <a:cs typeface="Times New Roman"/>
              </a:rPr>
              <a:t>-</a:t>
            </a:r>
            <a:r>
              <a:rPr sz="950" dirty="0">
                <a:latin typeface="Times New Roman"/>
                <a:cs typeface="Times New Roman"/>
              </a:rPr>
              <a:t>uniform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hypergraphs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is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hard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to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approximate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within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any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constant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factor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better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than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i="1" spc="-25" dirty="0">
                <a:latin typeface="Arial"/>
                <a:cs typeface="Arial"/>
              </a:rPr>
              <a:t>k</a:t>
            </a:r>
            <a:r>
              <a:rPr sz="950" spc="-25" dirty="0">
                <a:latin typeface="Times New Roman"/>
                <a:cs typeface="Times New Roman"/>
              </a:rPr>
              <a:t>.</a:t>
            </a:r>
            <a:endParaRPr sz="950">
              <a:latin typeface="Times New Roman"/>
              <a:cs typeface="Times New Roman"/>
            </a:endParaRPr>
          </a:p>
          <a:p>
            <a:pPr marL="497205" algn="just">
              <a:lnSpc>
                <a:spcPct val="100000"/>
              </a:lnSpc>
              <a:spcBef>
                <a:spcPts val="20"/>
              </a:spcBef>
            </a:pPr>
            <a:r>
              <a:rPr sz="850" dirty="0">
                <a:latin typeface="Symbol"/>
                <a:cs typeface="Symbol"/>
              </a:rPr>
              <a:t></a:t>
            </a:r>
            <a:r>
              <a:rPr sz="8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2007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Elsevier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Inc.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All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rights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reserved.</a:t>
            </a:r>
            <a:endParaRPr sz="950">
              <a:latin typeface="Times New Roman"/>
              <a:cs typeface="Times New Roman"/>
            </a:endParaRPr>
          </a:p>
          <a:p>
            <a:pPr marL="497205" algn="just">
              <a:lnSpc>
                <a:spcPct val="100000"/>
              </a:lnSpc>
              <a:spcBef>
                <a:spcPts val="855"/>
              </a:spcBef>
            </a:pPr>
            <a:r>
              <a:rPr sz="850" i="1" spc="-10" dirty="0">
                <a:latin typeface="Times New Roman"/>
                <a:cs typeface="Times New Roman"/>
              </a:rPr>
              <a:t>Keywords: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Hardness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of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approximation; </a:t>
            </a:r>
            <a:r>
              <a:rPr sz="850" spc="-25" dirty="0">
                <a:latin typeface="Times New Roman"/>
                <a:cs typeface="Times New Roman"/>
              </a:rPr>
              <a:t>Vertex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cover;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Unique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games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conjecture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93890" y="7535762"/>
            <a:ext cx="6294755" cy="5715"/>
          </a:xfrm>
          <a:custGeom>
            <a:avLst/>
            <a:gdLst/>
            <a:ahLst/>
            <a:cxnLst/>
            <a:rect l="l" t="t" r="r" b="b"/>
            <a:pathLst>
              <a:path w="6294755" h="5715">
                <a:moveTo>
                  <a:pt x="6294367" y="0"/>
                </a:moveTo>
                <a:lnTo>
                  <a:pt x="0" y="0"/>
                </a:lnTo>
                <a:lnTo>
                  <a:pt x="0" y="5588"/>
                </a:lnTo>
                <a:lnTo>
                  <a:pt x="6294367" y="5588"/>
                </a:lnTo>
                <a:lnTo>
                  <a:pt x="62943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0F2BE-B795-4414-01B1-3F0C5B1B8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98764"/>
            <a:ext cx="9668510" cy="430887"/>
          </a:xfrm>
        </p:spPr>
        <p:txBody>
          <a:bodyPr/>
          <a:lstStyle/>
          <a:p>
            <a:r>
              <a:rPr kumimoji="1" lang="en-US" altLang="zh-CN"/>
              <a:t>Linear</a:t>
            </a:r>
            <a:r>
              <a:rPr kumimoji="1" lang="zh-CN" altLang="en-US"/>
              <a:t> </a:t>
            </a:r>
            <a:r>
              <a:rPr kumimoji="1" lang="en-GB" altLang="zh-CN"/>
              <a:t>Programming Relaxation</a:t>
            </a:r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295158-5332-F096-5745-F3BE0BB58B5E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01601" y="550884"/>
            <a:ext cx="12903200" cy="921657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tlCol="0" anchor="ctr">
            <a:noAutofit/>
          </a:bodyPr>
          <a:lstStyle/>
          <a:p>
            <a:pPr algn="ctr"/>
            <a:r>
              <a:rPr kumimoji="1"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kumimoji="1"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en-GB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https://www.youtube.com/watch?v=RhHhy-8sz-4</a:t>
            </a: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温馨提示：此视频框在点击“上传手机课件”时会进行转换，用手机进行观看时则会变为可点击的视频。此视频框可被拖动移位和修改大小。</a:t>
            </a:r>
          </a:p>
        </p:txBody>
      </p:sp>
    </p:spTree>
    <p:extLst>
      <p:ext uri="{BB962C8B-B14F-4D97-AF65-F5344CB8AC3E}">
        <p14:creationId xmlns:p14="http://schemas.microsoft.com/office/powerpoint/2010/main" val="2474692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6712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700" algn="l"/>
                <a:tab pos="4297680" algn="l"/>
              </a:tabLst>
            </a:pPr>
            <a:r>
              <a:rPr sz="3600" b="1" cap="small" spc="-25" dirty="0">
                <a:latin typeface="Tahoma"/>
                <a:cs typeface="Tahoma"/>
              </a:rPr>
              <a:t>11.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50" dirty="0">
                <a:latin typeface="Tahoma"/>
                <a:cs typeface="Tahoma"/>
              </a:rPr>
              <a:t>Approximation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04" dirty="0">
                <a:latin typeface="Tahoma"/>
                <a:cs typeface="Tahoma"/>
              </a:rPr>
              <a:t>Algorithms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195" dirty="0"/>
              <a:t>load</a:t>
            </a:r>
            <a:r>
              <a:rPr sz="3000" spc="-170" dirty="0"/>
              <a:t> </a:t>
            </a:r>
            <a:r>
              <a:rPr sz="3000" spc="-95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5" dirty="0"/>
              <a:t>center</a:t>
            </a:r>
            <a:r>
              <a:rPr sz="3000" spc="-175" dirty="0"/>
              <a:t> </a:t>
            </a:r>
            <a:r>
              <a:rPr sz="3000" spc="-305" dirty="0"/>
              <a:t>selection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10" dirty="0"/>
              <a:t>pricing</a:t>
            </a:r>
            <a:r>
              <a:rPr sz="3000" spc="-160" dirty="0"/>
              <a:t> </a:t>
            </a:r>
            <a:r>
              <a:rPr sz="3000" spc="-390" dirty="0"/>
              <a:t>method:</a:t>
            </a:r>
            <a:r>
              <a:rPr sz="3000" spc="-155" dirty="0"/>
              <a:t> </a:t>
            </a:r>
            <a:r>
              <a:rPr sz="3000" spc="-295" dirty="0"/>
              <a:t>weighted</a:t>
            </a:r>
            <a:r>
              <a:rPr sz="3000" spc="-155" dirty="0"/>
              <a:t> </a:t>
            </a:r>
            <a:r>
              <a:rPr sz="3000" spc="-355" dirty="0"/>
              <a:t>vertex</a:t>
            </a:r>
            <a:r>
              <a:rPr sz="3000" spc="-155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440" dirty="0"/>
              <a:t>LP</a:t>
            </a:r>
            <a:r>
              <a:rPr sz="3000" spc="-170" dirty="0"/>
              <a:t> </a:t>
            </a:r>
            <a:r>
              <a:rPr sz="3000" spc="-280" dirty="0"/>
              <a:t>rounding:</a:t>
            </a:r>
            <a:r>
              <a:rPr sz="3000" spc="-170" dirty="0"/>
              <a:t> </a:t>
            </a:r>
            <a:r>
              <a:rPr sz="3000" spc="-295" dirty="0"/>
              <a:t>weighted</a:t>
            </a:r>
            <a:r>
              <a:rPr sz="3000" spc="-170" dirty="0"/>
              <a:t> </a:t>
            </a:r>
            <a:r>
              <a:rPr sz="3000" spc="-355" dirty="0"/>
              <a:t>vertex</a:t>
            </a:r>
            <a:r>
              <a:rPr sz="3000" spc="-170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29" dirty="0">
                <a:solidFill>
                  <a:srgbClr val="000000"/>
                </a:solidFill>
              </a:rPr>
              <a:t>generalized</a:t>
            </a:r>
            <a:r>
              <a:rPr sz="3000" spc="-130" dirty="0">
                <a:solidFill>
                  <a:srgbClr val="000000"/>
                </a:solidFill>
              </a:rPr>
              <a:t> </a:t>
            </a:r>
            <a:r>
              <a:rPr sz="3000" spc="-195" dirty="0">
                <a:solidFill>
                  <a:srgbClr val="000000"/>
                </a:solidFill>
              </a:rPr>
              <a:t>load</a:t>
            </a:r>
            <a:r>
              <a:rPr sz="3000" spc="-125" dirty="0">
                <a:solidFill>
                  <a:srgbClr val="000000"/>
                </a:solidFill>
              </a:rPr>
              <a:t> </a:t>
            </a:r>
            <a:r>
              <a:rPr sz="3000" spc="-90" dirty="0">
                <a:solidFill>
                  <a:srgbClr val="000000"/>
                </a:solidFill>
              </a:rPr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/>
              <a:t>knapsack</a:t>
            </a:r>
            <a:r>
              <a:rPr sz="3000" spc="-155" dirty="0"/>
              <a:t> </a:t>
            </a:r>
            <a:r>
              <a:rPr sz="3000" spc="-295" dirty="0"/>
              <a:t>problem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146300" y="6921500"/>
            <a:ext cx="145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70" dirty="0">
                <a:solidFill>
                  <a:srgbClr val="606060"/>
                </a:solidFill>
                <a:latin typeface="Tahoma"/>
                <a:cs typeface="Tahoma"/>
              </a:rPr>
              <a:t>11.7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-10" dirty="0"/>
              <a:t>balancing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36600" y="1333500"/>
            <a:ext cx="10940415" cy="4251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ts val="2615"/>
              </a:lnSpc>
              <a:spcBef>
                <a:spcPts val="100"/>
              </a:spcBef>
              <a:tabLst>
                <a:tab pos="11366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Input.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Lucida Sans Unicode"/>
                <a:cs typeface="Lucida Sans Unicode"/>
              </a:rPr>
              <a:t>;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945"/>
              </a:lnSpc>
              <a:tabLst>
                <a:tab pos="10526395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contiguously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authorized</a:t>
            </a:r>
            <a:r>
              <a:rPr sz="24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</a:t>
            </a:r>
            <a:r>
              <a:rPr sz="24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baseline="-19097" dirty="0">
                <a:latin typeface="Times New Roman"/>
                <a:cs typeface="Times New Roman"/>
              </a:rPr>
              <a:t>j</a:t>
            </a:r>
            <a:r>
              <a:rPr sz="2400" i="1" spc="127" baseline="-19097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Symbol"/>
                <a:cs typeface="Symbol"/>
              </a:rPr>
              <a:t>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80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775" i="1" spc="-37" baseline="-18018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210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76200" marR="2682875">
              <a:lnSpc>
                <a:spcPct val="131900"/>
              </a:lnSpc>
              <a:spcBef>
                <a:spcPts val="3510"/>
              </a:spcBef>
              <a:tabLst>
                <a:tab pos="874394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48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9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Σ</a:t>
            </a:r>
            <a:r>
              <a:rPr sz="2400" i="1" baseline="-19097" dirty="0">
                <a:latin typeface="Times New Roman"/>
                <a:cs typeface="Times New Roman"/>
              </a:rPr>
              <a:t>j</a:t>
            </a:r>
            <a:r>
              <a:rPr sz="2400" i="1" spc="-7" baseline="-19097" dirty="0">
                <a:latin typeface="Times New Roman"/>
                <a:cs typeface="Times New Roman"/>
              </a:rPr>
              <a:t> </a:t>
            </a:r>
            <a:r>
              <a:rPr sz="2400" baseline="-20833" dirty="0">
                <a:latin typeface="Symbol"/>
                <a:cs typeface="Symbol"/>
              </a:rPr>
              <a:t></a:t>
            </a:r>
            <a:r>
              <a:rPr sz="2400" spc="-7" baseline="-20833" dirty="0">
                <a:latin typeface="Times New Roman"/>
                <a:cs typeface="Times New Roman"/>
              </a:rPr>
              <a:t> </a:t>
            </a:r>
            <a:r>
              <a:rPr sz="2400" i="1" baseline="-19097" dirty="0">
                <a:latin typeface="Times New Roman"/>
                <a:cs typeface="Times New Roman"/>
              </a:rPr>
              <a:t>J</a:t>
            </a:r>
            <a:r>
              <a:rPr sz="2400" i="1" baseline="-36458" dirty="0">
                <a:latin typeface="Times New Roman"/>
                <a:cs typeface="Times New Roman"/>
              </a:rPr>
              <a:t>i</a:t>
            </a:r>
            <a:r>
              <a:rPr sz="2400" i="1" spc="292" baseline="-36458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19097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makespan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maximum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84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i="1" spc="-37" baseline="-19097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6525259"/>
            <a:ext cx="1094930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431419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Generalized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load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balancing.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Assign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authorized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to </a:t>
            </a:r>
            <a:r>
              <a:rPr sz="2400" dirty="0">
                <a:latin typeface="Lucida Sans Unicode"/>
                <a:cs typeface="Lucida Sans Unicode"/>
              </a:rPr>
              <a:t>minimize</a:t>
            </a:r>
            <a:r>
              <a:rPr sz="2400" spc="-114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makespan.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11026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integer</a:t>
            </a:r>
            <a:r>
              <a:rPr spc="215" dirty="0"/>
              <a:t> </a:t>
            </a:r>
            <a:r>
              <a:rPr dirty="0"/>
              <a:t>linear</a:t>
            </a:r>
            <a:r>
              <a:rPr spc="215" dirty="0"/>
              <a:t> </a:t>
            </a:r>
            <a:r>
              <a:rPr spc="60" dirty="0"/>
              <a:t>program</a:t>
            </a:r>
            <a:r>
              <a:rPr spc="220" dirty="0"/>
              <a:t> </a:t>
            </a:r>
            <a:r>
              <a:rPr spc="60" dirty="0"/>
              <a:t>and</a:t>
            </a:r>
            <a:r>
              <a:rPr spc="215" dirty="0"/>
              <a:t> </a:t>
            </a:r>
            <a:r>
              <a:rPr spc="45" dirty="0"/>
              <a:t>relaxation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9300" y="1333500"/>
            <a:ext cx="9150350" cy="473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259905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ILP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formulation.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254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spends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2023110">
              <a:lnSpc>
                <a:spcPct val="100000"/>
              </a:lnSpc>
              <a:tabLst>
                <a:tab pos="2730500" algn="l"/>
                <a:tab pos="3744595" algn="l"/>
              </a:tabLst>
            </a:pPr>
            <a:r>
              <a:rPr sz="2550" spc="35" dirty="0">
                <a:latin typeface="Times New Roman"/>
                <a:cs typeface="Times New Roman"/>
              </a:rPr>
              <a:t>(</a:t>
            </a:r>
            <a:r>
              <a:rPr sz="2550" i="1" spc="35" dirty="0">
                <a:latin typeface="Times New Roman"/>
                <a:cs typeface="Times New Roman"/>
              </a:rPr>
              <a:t>IP</a:t>
            </a:r>
            <a:r>
              <a:rPr sz="2550" spc="35" dirty="0">
                <a:latin typeface="Times New Roman"/>
                <a:cs typeface="Times New Roman"/>
              </a:rPr>
              <a:t>)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min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L</a:t>
            </a:r>
            <a:endParaRPr sz="2550">
              <a:latin typeface="Times New Roman"/>
              <a:cs typeface="Times New Roman"/>
            </a:endParaRPr>
          </a:p>
          <a:p>
            <a:pPr marL="3850640" marR="4773295" indent="-854075">
              <a:lnSpc>
                <a:spcPct val="105600"/>
              </a:lnSpc>
              <a:spcBef>
                <a:spcPts val="610"/>
              </a:spcBef>
              <a:tabLst>
                <a:tab pos="3751579" algn="l"/>
              </a:tabLst>
            </a:pPr>
            <a:r>
              <a:rPr sz="2550" dirty="0">
                <a:latin typeface="Times New Roman"/>
                <a:cs typeface="Times New Roman"/>
              </a:rPr>
              <a:t>s. </a:t>
            </a:r>
            <a:r>
              <a:rPr sz="2550" spc="-25" dirty="0">
                <a:latin typeface="Times New Roman"/>
                <a:cs typeface="Times New Roman"/>
              </a:rPr>
              <a:t>t.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3825" baseline="-2178" dirty="0">
                <a:latin typeface="Symbol"/>
                <a:cs typeface="Symbol"/>
              </a:rPr>
              <a:t></a:t>
            </a:r>
            <a:r>
              <a:rPr sz="3825" spc="-172" baseline="-2178" dirty="0">
                <a:latin typeface="Times New Roman"/>
                <a:cs typeface="Times New Roman"/>
              </a:rPr>
              <a:t> </a:t>
            </a:r>
            <a:r>
              <a:rPr sz="2550" i="1" spc="50" dirty="0">
                <a:latin typeface="Times New Roman"/>
                <a:cs typeface="Times New Roman"/>
              </a:rPr>
              <a:t>x</a:t>
            </a:r>
            <a:r>
              <a:rPr sz="2550" i="1" spc="75" baseline="-21241" dirty="0">
                <a:latin typeface="Times New Roman"/>
                <a:cs typeface="Times New Roman"/>
              </a:rPr>
              <a:t>i</a:t>
            </a:r>
            <a:r>
              <a:rPr sz="2550" i="1" spc="-179" baseline="-21241" dirty="0">
                <a:latin typeface="Times New Roman"/>
                <a:cs typeface="Times New Roman"/>
              </a:rPr>
              <a:t> </a:t>
            </a:r>
            <a:r>
              <a:rPr sz="2550" i="1" spc="-75" baseline="-21241" dirty="0">
                <a:latin typeface="Times New Roman"/>
                <a:cs typeface="Times New Roman"/>
              </a:rPr>
              <a:t>j </a:t>
            </a: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  <a:p>
            <a:pPr marL="3830320" marR="4789170" indent="-95250">
              <a:lnSpc>
                <a:spcPct val="78800"/>
              </a:lnSpc>
              <a:spcBef>
                <a:spcPts val="1435"/>
              </a:spcBef>
            </a:pPr>
            <a:r>
              <a:rPr sz="3825" baseline="11982" dirty="0">
                <a:latin typeface="Symbol"/>
                <a:cs typeface="Symbol"/>
              </a:rPr>
              <a:t></a:t>
            </a:r>
            <a:r>
              <a:rPr sz="3825" spc="-172" baseline="11982" dirty="0">
                <a:latin typeface="Times New Roman"/>
                <a:cs typeface="Times New Roman"/>
              </a:rPr>
              <a:t> </a:t>
            </a:r>
            <a:r>
              <a:rPr sz="3825" i="1" spc="75" baseline="14161" dirty="0">
                <a:latin typeface="Times New Roman"/>
                <a:cs typeface="Times New Roman"/>
              </a:rPr>
              <a:t>x</a:t>
            </a:r>
            <a:r>
              <a:rPr sz="1700" i="1" spc="50" dirty="0">
                <a:latin typeface="Times New Roman"/>
                <a:cs typeface="Times New Roman"/>
              </a:rPr>
              <a:t>i</a:t>
            </a:r>
            <a:r>
              <a:rPr sz="1700" i="1" spc="-120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j j</a:t>
            </a:r>
            <a:endParaRPr sz="1700">
              <a:latin typeface="Times New Roman"/>
              <a:cs typeface="Times New Roman"/>
            </a:endParaRPr>
          </a:p>
          <a:p>
            <a:pPr marL="3753485">
              <a:lnSpc>
                <a:spcPct val="100000"/>
              </a:lnSpc>
              <a:spcBef>
                <a:spcPts val="434"/>
              </a:spcBef>
            </a:pPr>
            <a:r>
              <a:rPr sz="3825" i="1" spc="75" baseline="14161" dirty="0">
                <a:latin typeface="Times New Roman"/>
                <a:cs typeface="Times New Roman"/>
              </a:rPr>
              <a:t>x</a:t>
            </a:r>
            <a:r>
              <a:rPr sz="1700" i="1" spc="50" dirty="0">
                <a:latin typeface="Times New Roman"/>
                <a:cs typeface="Times New Roman"/>
              </a:rPr>
              <a:t>i</a:t>
            </a:r>
            <a:r>
              <a:rPr sz="1700" i="1" spc="-114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  <a:p>
            <a:pPr marL="3753485">
              <a:lnSpc>
                <a:spcPct val="100000"/>
              </a:lnSpc>
              <a:spcBef>
                <a:spcPts val="780"/>
              </a:spcBef>
            </a:pPr>
            <a:r>
              <a:rPr sz="3825" i="1" spc="75" baseline="14161" dirty="0">
                <a:latin typeface="Times New Roman"/>
                <a:cs typeface="Times New Roman"/>
              </a:rPr>
              <a:t>x</a:t>
            </a:r>
            <a:r>
              <a:rPr sz="1700" i="1" spc="50" dirty="0">
                <a:latin typeface="Times New Roman"/>
                <a:cs typeface="Times New Roman"/>
              </a:rPr>
              <a:t>i</a:t>
            </a:r>
            <a:r>
              <a:rPr sz="1700" i="1" spc="-114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7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LP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relaxation.</a:t>
            </a:r>
            <a:endParaRPr sz="240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22532" y="2907574"/>
          <a:ext cx="4807585" cy="219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31750">
                        <a:lnSpc>
                          <a:spcPts val="2430"/>
                        </a:lnSpc>
                      </a:pPr>
                      <a:r>
                        <a:rPr sz="2550" spc="-50" dirty="0">
                          <a:latin typeface="Symbol"/>
                          <a:cs typeface="Symbol"/>
                        </a:rPr>
                        <a:t></a:t>
                      </a:r>
                      <a:endParaRPr sz="25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ts val="2430"/>
                        </a:lnSpc>
                      </a:pP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550" i="1" spc="-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spc="-75" baseline="-21241" dirty="0">
                          <a:latin typeface="Times New Roman"/>
                          <a:cs typeface="Times New Roman"/>
                        </a:rPr>
                        <a:t>j</a:t>
                      </a:r>
                      <a:endParaRPr sz="2550" baseline="-21241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430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2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Symbol"/>
                          <a:cs typeface="Symbol"/>
                        </a:rPr>
                        <a:t></a:t>
                      </a:r>
                      <a:r>
                        <a:rPr sz="2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550" spc="-50" dirty="0">
                          <a:latin typeface="Symbol"/>
                          <a:cs typeface="Symbol"/>
                        </a:rPr>
                        <a:t></a:t>
                      </a:r>
                      <a:endParaRPr sz="2550">
                        <a:latin typeface="Symbol"/>
                        <a:cs typeface="Symbol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550" i="1" spc="-50" dirty="0">
                          <a:latin typeface="Times New Roman"/>
                          <a:cs typeface="Times New Roman"/>
                        </a:rPr>
                        <a:t>L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2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Symbol"/>
                          <a:cs typeface="Symbol"/>
                        </a:rPr>
                        <a:t></a:t>
                      </a:r>
                      <a:r>
                        <a:rPr sz="2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550" spc="-50" dirty="0">
                          <a:latin typeface="Symbol"/>
                          <a:cs typeface="Symbol"/>
                        </a:rPr>
                        <a:t></a:t>
                      </a:r>
                      <a:endParaRPr sz="2550">
                        <a:latin typeface="Symbol"/>
                        <a:cs typeface="Symbol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60"/>
                        </a:spcBef>
                        <a:tabLst>
                          <a:tab pos="679450" algn="l"/>
                        </a:tabLst>
                      </a:pPr>
                      <a:r>
                        <a:rPr sz="2550" spc="-25" dirty="0">
                          <a:latin typeface="Times New Roman"/>
                          <a:cs typeface="Times New Roman"/>
                        </a:rPr>
                        <a:t>{0,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550" i="1" spc="-3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spc="-15" baseline="-21241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2550" i="1" spc="-202" baseline="-2124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spc="-60" dirty="0">
                          <a:latin typeface="Times New Roman"/>
                          <a:cs typeface="Times New Roman"/>
                        </a:rPr>
                        <a:t>}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2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Symbol"/>
                          <a:cs typeface="Symbol"/>
                        </a:rPr>
                        <a:t></a:t>
                      </a:r>
                      <a:r>
                        <a:rPr sz="2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255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Symbol"/>
                          <a:cs typeface="Symbol"/>
                        </a:rPr>
                        <a:t></a:t>
                      </a:r>
                      <a:r>
                        <a:rPr sz="2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550" i="1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spc="-75" baseline="-21241" dirty="0">
                          <a:latin typeface="Times New Roman"/>
                          <a:cs typeface="Times New Roman"/>
                        </a:rPr>
                        <a:t>j</a:t>
                      </a:r>
                      <a:endParaRPr sz="2550" baseline="-21241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31750">
                        <a:lnSpc>
                          <a:spcPts val="2855"/>
                        </a:lnSpc>
                      </a:pPr>
                      <a:r>
                        <a:rPr sz="2550" spc="-50" dirty="0">
                          <a:latin typeface="Symbol"/>
                          <a:cs typeface="Symbol"/>
                        </a:rPr>
                        <a:t></a:t>
                      </a:r>
                      <a:endParaRPr sz="255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855"/>
                        </a:lnSpc>
                      </a:pPr>
                      <a:r>
                        <a:rPr sz="255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855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2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Symbol"/>
                          <a:cs typeface="Symbol"/>
                        </a:rPr>
                        <a:t></a:t>
                      </a:r>
                      <a:r>
                        <a:rPr sz="2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255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550" i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Symbol"/>
                          <a:cs typeface="Symbol"/>
                        </a:rPr>
                        <a:t></a:t>
                      </a:r>
                      <a:r>
                        <a:rPr sz="2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550" i="1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i="1" spc="-75" baseline="-21241" dirty="0">
                          <a:latin typeface="Times New Roman"/>
                          <a:cs typeface="Times New Roman"/>
                        </a:rPr>
                        <a:t>j</a:t>
                      </a:r>
                      <a:endParaRPr sz="2550" baseline="-21241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404035" y="6814105"/>
            <a:ext cx="2621915" cy="1104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28320" algn="l"/>
                <a:tab pos="1064260" algn="l"/>
              </a:tabLst>
            </a:pPr>
            <a:r>
              <a:rPr sz="2550" spc="-5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10" dirty="0">
                <a:latin typeface="Times New Roman"/>
                <a:cs typeface="Times New Roman"/>
              </a:rPr>
              <a:t>t</a:t>
            </a:r>
            <a:r>
              <a:rPr sz="2550" i="1" spc="-320" dirty="0">
                <a:latin typeface="Times New Roman"/>
                <a:cs typeface="Times New Roman"/>
              </a:rPr>
              <a:t> </a:t>
            </a:r>
            <a:r>
              <a:rPr sz="2550" i="1" spc="-75" baseline="-21241" dirty="0">
                <a:latin typeface="Times New Roman"/>
                <a:cs typeface="Times New Roman"/>
              </a:rPr>
              <a:t>j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-1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all</a:t>
            </a:r>
            <a:r>
              <a:rPr sz="2550" spc="-2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j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</a:t>
            </a:r>
            <a:r>
              <a:rPr sz="2550" spc="15" dirty="0">
                <a:latin typeface="Times New Roman"/>
                <a:cs typeface="Times New Roman"/>
              </a:rPr>
              <a:t> </a:t>
            </a:r>
            <a:r>
              <a:rPr sz="2550" i="1" spc="-50" dirty="0">
                <a:latin typeface="Times New Roman"/>
                <a:cs typeface="Times New Roman"/>
              </a:rPr>
              <a:t>J</a:t>
            </a:r>
            <a:endParaRPr sz="25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360"/>
              </a:spcBef>
              <a:tabLst>
                <a:tab pos="546100" algn="l"/>
              </a:tabLst>
            </a:pPr>
            <a:r>
              <a:rPr sz="2550" spc="-50" dirty="0">
                <a:latin typeface="Symbol"/>
                <a:cs typeface="Symbol"/>
              </a:rPr>
              <a:t>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L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55968" y="7502631"/>
            <a:ext cx="1645285" cy="415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-1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all</a:t>
            </a:r>
            <a:r>
              <a:rPr sz="2550" spc="-2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i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</a:t>
            </a:r>
            <a:r>
              <a:rPr sz="2550" spc="15" dirty="0">
                <a:latin typeface="Times New Roman"/>
                <a:cs typeface="Times New Roman"/>
              </a:rPr>
              <a:t> </a:t>
            </a:r>
            <a:r>
              <a:rPr sz="2550" i="1" spc="-50" dirty="0">
                <a:latin typeface="Times New Roman"/>
                <a:cs typeface="Times New Roman"/>
              </a:rPr>
              <a:t>M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35710" y="6228972"/>
            <a:ext cx="2433955" cy="290195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75"/>
              </a:spcBef>
              <a:tabLst>
                <a:tab pos="819785" algn="l"/>
                <a:tab pos="1758950" algn="l"/>
              </a:tabLst>
            </a:pPr>
            <a:r>
              <a:rPr sz="2550" spc="45" dirty="0">
                <a:latin typeface="Times New Roman"/>
                <a:cs typeface="Times New Roman"/>
              </a:rPr>
              <a:t>(</a:t>
            </a:r>
            <a:r>
              <a:rPr sz="2550" i="1" spc="45" dirty="0">
                <a:latin typeface="Times New Roman"/>
                <a:cs typeface="Times New Roman"/>
              </a:rPr>
              <a:t>LP</a:t>
            </a:r>
            <a:r>
              <a:rPr sz="2550" spc="45" dirty="0">
                <a:latin typeface="Times New Roman"/>
                <a:cs typeface="Times New Roman"/>
              </a:rPr>
              <a:t>)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min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L</a:t>
            </a:r>
            <a:endParaRPr sz="2550">
              <a:latin typeface="Times New Roman"/>
              <a:cs typeface="Times New Roman"/>
            </a:endParaRPr>
          </a:p>
          <a:p>
            <a:pPr marL="1864995" marR="43180" indent="-854075">
              <a:lnSpc>
                <a:spcPct val="105600"/>
              </a:lnSpc>
              <a:spcBef>
                <a:spcPts val="610"/>
              </a:spcBef>
              <a:tabLst>
                <a:tab pos="1765935" algn="l"/>
              </a:tabLst>
            </a:pPr>
            <a:r>
              <a:rPr sz="2550" dirty="0">
                <a:latin typeface="Times New Roman"/>
                <a:cs typeface="Times New Roman"/>
              </a:rPr>
              <a:t>s. </a:t>
            </a:r>
            <a:r>
              <a:rPr sz="2550" spc="-25" dirty="0">
                <a:latin typeface="Times New Roman"/>
                <a:cs typeface="Times New Roman"/>
              </a:rPr>
              <a:t>t.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3825" baseline="-2178" dirty="0">
                <a:latin typeface="Symbol"/>
                <a:cs typeface="Symbol"/>
              </a:rPr>
              <a:t></a:t>
            </a:r>
            <a:r>
              <a:rPr sz="3825" spc="-172" baseline="-2178" dirty="0">
                <a:latin typeface="Times New Roman"/>
                <a:cs typeface="Times New Roman"/>
              </a:rPr>
              <a:t> </a:t>
            </a:r>
            <a:r>
              <a:rPr sz="2550" i="1" spc="50" dirty="0">
                <a:latin typeface="Times New Roman"/>
                <a:cs typeface="Times New Roman"/>
              </a:rPr>
              <a:t>x</a:t>
            </a:r>
            <a:r>
              <a:rPr sz="2550" i="1" spc="75" baseline="-21241" dirty="0">
                <a:latin typeface="Times New Roman"/>
                <a:cs typeface="Times New Roman"/>
              </a:rPr>
              <a:t>i</a:t>
            </a:r>
            <a:r>
              <a:rPr sz="2550" i="1" spc="-179" baseline="-21241" dirty="0">
                <a:latin typeface="Times New Roman"/>
                <a:cs typeface="Times New Roman"/>
              </a:rPr>
              <a:t> </a:t>
            </a:r>
            <a:r>
              <a:rPr sz="2550" i="1" spc="-75" baseline="-21241" dirty="0">
                <a:latin typeface="Times New Roman"/>
                <a:cs typeface="Times New Roman"/>
              </a:rPr>
              <a:t>j </a:t>
            </a: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  <a:p>
            <a:pPr marL="1844675" marR="58419" indent="-95250">
              <a:lnSpc>
                <a:spcPct val="78800"/>
              </a:lnSpc>
              <a:spcBef>
                <a:spcPts val="1435"/>
              </a:spcBef>
            </a:pPr>
            <a:r>
              <a:rPr sz="3825" baseline="11982" dirty="0">
                <a:latin typeface="Symbol"/>
                <a:cs typeface="Symbol"/>
              </a:rPr>
              <a:t></a:t>
            </a:r>
            <a:r>
              <a:rPr sz="3825" spc="-172" baseline="11982" dirty="0">
                <a:latin typeface="Times New Roman"/>
                <a:cs typeface="Times New Roman"/>
              </a:rPr>
              <a:t> </a:t>
            </a:r>
            <a:r>
              <a:rPr sz="3825" i="1" spc="75" baseline="14161" dirty="0">
                <a:latin typeface="Times New Roman"/>
                <a:cs typeface="Times New Roman"/>
              </a:rPr>
              <a:t>x</a:t>
            </a:r>
            <a:r>
              <a:rPr sz="1700" i="1" spc="50" dirty="0">
                <a:latin typeface="Times New Roman"/>
                <a:cs typeface="Times New Roman"/>
              </a:rPr>
              <a:t>i</a:t>
            </a:r>
            <a:r>
              <a:rPr sz="1700" i="1" spc="-120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j j</a:t>
            </a:r>
            <a:endParaRPr sz="1700">
              <a:latin typeface="Times New Roman"/>
              <a:cs typeface="Times New Roman"/>
            </a:endParaRPr>
          </a:p>
          <a:p>
            <a:pPr marL="1767839">
              <a:lnSpc>
                <a:spcPct val="100000"/>
              </a:lnSpc>
              <a:spcBef>
                <a:spcPts val="434"/>
              </a:spcBef>
            </a:pPr>
            <a:r>
              <a:rPr sz="3825" i="1" spc="75" baseline="14161" dirty="0">
                <a:latin typeface="Times New Roman"/>
                <a:cs typeface="Times New Roman"/>
              </a:rPr>
              <a:t>x</a:t>
            </a:r>
            <a:r>
              <a:rPr sz="1700" i="1" spc="50" dirty="0">
                <a:latin typeface="Times New Roman"/>
                <a:cs typeface="Times New Roman"/>
              </a:rPr>
              <a:t>i</a:t>
            </a:r>
            <a:r>
              <a:rPr sz="1700" i="1" spc="-114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  <a:p>
            <a:pPr marL="1767839">
              <a:lnSpc>
                <a:spcPct val="100000"/>
              </a:lnSpc>
              <a:spcBef>
                <a:spcPts val="780"/>
              </a:spcBef>
            </a:pPr>
            <a:r>
              <a:rPr sz="3825" i="1" spc="75" baseline="14161" dirty="0">
                <a:latin typeface="Times New Roman"/>
                <a:cs typeface="Times New Roman"/>
              </a:rPr>
              <a:t>x</a:t>
            </a:r>
            <a:r>
              <a:rPr sz="1700" i="1" spc="50" dirty="0">
                <a:latin typeface="Times New Roman"/>
                <a:cs typeface="Times New Roman"/>
              </a:rPr>
              <a:t>i</a:t>
            </a:r>
            <a:r>
              <a:rPr sz="1700" i="1" spc="-114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6735" y="8048484"/>
            <a:ext cx="4109085" cy="10007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75"/>
              </a:spcBef>
              <a:tabLst>
                <a:tab pos="524510" algn="l"/>
                <a:tab pos="1051560" algn="l"/>
              </a:tabLst>
            </a:pPr>
            <a:r>
              <a:rPr sz="2550" spc="-50" dirty="0">
                <a:latin typeface="Symbol"/>
                <a:cs typeface="Symbol"/>
              </a:rPr>
              <a:t>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Times New Roman"/>
                <a:cs typeface="Times New Roman"/>
              </a:rPr>
              <a:t>0</a:t>
            </a:r>
            <a:r>
              <a:rPr sz="2550" dirty="0">
                <a:latin typeface="Times New Roman"/>
                <a:cs typeface="Times New Roman"/>
              </a:rPr>
              <a:t>	for</a:t>
            </a:r>
            <a:r>
              <a:rPr sz="2550" spc="-1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all</a:t>
            </a:r>
            <a:r>
              <a:rPr sz="2550" spc="-2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j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</a:t>
            </a:r>
            <a:r>
              <a:rPr sz="2550" spc="20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J</a:t>
            </a:r>
            <a:r>
              <a:rPr sz="2550" i="1" spc="-1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-20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i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</a:t>
            </a:r>
            <a:r>
              <a:rPr sz="2550" spc="1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M</a:t>
            </a:r>
            <a:r>
              <a:rPr sz="2550" i="1" spc="-215" dirty="0">
                <a:latin typeface="Times New Roman"/>
                <a:cs typeface="Times New Roman"/>
              </a:rPr>
              <a:t> </a:t>
            </a:r>
            <a:r>
              <a:rPr sz="2550" i="1" spc="-75" baseline="-21241" dirty="0">
                <a:latin typeface="Times New Roman"/>
                <a:cs typeface="Times New Roman"/>
              </a:rPr>
              <a:t>j</a:t>
            </a:r>
            <a:endParaRPr sz="2550" baseline="-2124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80"/>
              </a:spcBef>
              <a:tabLst>
                <a:tab pos="524510" algn="l"/>
                <a:tab pos="1051560" algn="l"/>
              </a:tabLst>
            </a:pPr>
            <a:r>
              <a:rPr sz="2550" spc="-5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Times New Roman"/>
                <a:cs typeface="Times New Roman"/>
              </a:rPr>
              <a:t>0</a:t>
            </a:r>
            <a:r>
              <a:rPr sz="2550" dirty="0">
                <a:latin typeface="Times New Roman"/>
                <a:cs typeface="Times New Roman"/>
              </a:rPr>
              <a:t>	for</a:t>
            </a:r>
            <a:r>
              <a:rPr sz="2550" spc="-1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all</a:t>
            </a:r>
            <a:r>
              <a:rPr sz="2550" spc="-2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j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</a:t>
            </a:r>
            <a:r>
              <a:rPr sz="2550" spc="20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J</a:t>
            </a:r>
            <a:r>
              <a:rPr sz="2550" i="1" spc="-1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-20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i</a:t>
            </a:r>
            <a:r>
              <a:rPr sz="2550" i="1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</a:t>
            </a:r>
            <a:r>
              <a:rPr sz="2550" spc="1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M</a:t>
            </a:r>
            <a:r>
              <a:rPr sz="2550" i="1" spc="-215" dirty="0">
                <a:latin typeface="Times New Roman"/>
                <a:cs typeface="Times New Roman"/>
              </a:rPr>
              <a:t> </a:t>
            </a:r>
            <a:r>
              <a:rPr sz="2550" i="1" spc="-75" baseline="-21241" dirty="0">
                <a:latin typeface="Times New Roman"/>
                <a:cs typeface="Times New Roman"/>
              </a:rPr>
              <a:t>j</a:t>
            </a:r>
            <a:endParaRPr sz="2550" baseline="-2124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70821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55" dirty="0"/>
              <a:t>lower</a:t>
            </a:r>
            <a:r>
              <a:rPr spc="100" dirty="0"/>
              <a:t> </a:t>
            </a:r>
            <a:r>
              <a:rPr spc="-10" dirty="0"/>
              <a:t>bounds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9300" y="1216660"/>
            <a:ext cx="11456670" cy="24384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19"/>
              </a:spcBef>
              <a:tabLst>
                <a:tab pos="1711325" algn="l"/>
                <a:tab pos="5654040" algn="l"/>
                <a:tab pos="605028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makespan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latin typeface="Times New Roman"/>
                <a:cs typeface="Times New Roman"/>
              </a:rPr>
              <a:t>*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max</a:t>
            </a:r>
            <a:r>
              <a:rPr sz="2400" i="1" baseline="-19097" dirty="0">
                <a:latin typeface="Times New Roman"/>
                <a:cs typeface="Times New Roman"/>
              </a:rPr>
              <a:t>j</a:t>
            </a:r>
            <a:r>
              <a:rPr sz="2400" i="1" spc="270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19097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919"/>
              </a:spcBef>
              <a:tabLst>
                <a:tab pos="632460" algn="l"/>
                <a:tab pos="960501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time-</a:t>
            </a:r>
            <a:r>
              <a:rPr sz="2400" spc="-45" dirty="0">
                <a:latin typeface="Lucida Sans Unicode"/>
                <a:cs typeface="Lucida Sans Unicode"/>
              </a:rPr>
              <a:t>consuming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job.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 marR="17780">
              <a:lnSpc>
                <a:spcPct val="131900"/>
              </a:lnSpc>
              <a:tabLst>
                <a:tab pos="632460" algn="l"/>
                <a:tab pos="1711325" algn="l"/>
                <a:tab pos="7691755" algn="l"/>
                <a:tab pos="10447020" algn="l"/>
                <a:tab pos="1116520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dirty="0">
                <a:latin typeface="Lucida Sans Unicode"/>
                <a:cs typeface="Lucida Sans Unicode"/>
              </a:rPr>
              <a:t>.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makespan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fewer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constraints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ILP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formulation.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8498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structure</a:t>
            </a:r>
            <a:r>
              <a:rPr spc="-90" dirty="0"/>
              <a:t> </a:t>
            </a:r>
            <a:r>
              <a:rPr spc="80" dirty="0"/>
              <a:t>of</a:t>
            </a:r>
            <a:r>
              <a:rPr dirty="0"/>
              <a:t> </a:t>
            </a:r>
            <a:r>
              <a:rPr spc="-345" dirty="0"/>
              <a:t>LP</a:t>
            </a:r>
            <a:r>
              <a:rPr spc="8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216660"/>
            <a:ext cx="1039622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900"/>
              </a:lnSpc>
              <a:spcBef>
                <a:spcPts val="100"/>
              </a:spcBef>
              <a:tabLst>
                <a:tab pos="1685925" algn="l"/>
                <a:tab pos="5254625" algn="l"/>
                <a:tab pos="56229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3.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LP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Let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edge </a:t>
            </a:r>
            <a:r>
              <a:rPr sz="2400" dirty="0">
                <a:latin typeface="Lucida Sans Unicode"/>
                <a:cs typeface="Lucida Sans Unicode"/>
              </a:rPr>
              <a:t>between machine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 job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307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Then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acyclic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2781300"/>
            <a:ext cx="2047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16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(deferred)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9100" y="7835900"/>
            <a:ext cx="1356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G(x)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acyclic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8900" y="2692400"/>
            <a:ext cx="4997450" cy="523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152400">
              <a:lnSpc>
                <a:spcPct val="1042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can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transform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x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into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another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LP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solution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where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G(x)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acyclic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if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LP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solver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doesn’t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return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such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an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x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61754" y="2283368"/>
            <a:ext cx="276225" cy="393700"/>
            <a:chOff x="7661754" y="2283368"/>
            <a:chExt cx="276225" cy="393700"/>
          </a:xfrm>
        </p:grpSpPr>
        <p:sp>
          <p:nvSpPr>
            <p:cNvPr id="9" name="object 9"/>
            <p:cNvSpPr/>
            <p:nvPr/>
          </p:nvSpPr>
          <p:spPr>
            <a:xfrm>
              <a:off x="7706528" y="2348139"/>
              <a:ext cx="218440" cy="316230"/>
            </a:xfrm>
            <a:custGeom>
              <a:avLst/>
              <a:gdLst/>
              <a:ahLst/>
              <a:cxnLst/>
              <a:rect l="l" t="t" r="r" b="b"/>
              <a:pathLst>
                <a:path w="218440" h="316230">
                  <a:moveTo>
                    <a:pt x="0" y="0"/>
                  </a:moveTo>
                  <a:lnTo>
                    <a:pt x="7221" y="10446"/>
                  </a:lnTo>
                  <a:lnTo>
                    <a:pt x="218270" y="315755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61754" y="2283368"/>
              <a:ext cx="120014" cy="135255"/>
            </a:xfrm>
            <a:custGeom>
              <a:avLst/>
              <a:gdLst/>
              <a:ahLst/>
              <a:cxnLst/>
              <a:rect l="l" t="t" r="r" b="b"/>
              <a:pathLst>
                <a:path w="120015" h="135255">
                  <a:moveTo>
                    <a:pt x="0" y="0"/>
                  </a:moveTo>
                  <a:lnTo>
                    <a:pt x="19182" y="134954"/>
                  </a:lnTo>
                  <a:lnTo>
                    <a:pt x="51995" y="75218"/>
                  </a:lnTo>
                  <a:lnTo>
                    <a:pt x="119472" y="65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205037" y="4757737"/>
            <a:ext cx="2778125" cy="2786380"/>
            <a:chOff x="2205037" y="4757737"/>
            <a:chExt cx="2778125" cy="2786380"/>
          </a:xfrm>
        </p:grpSpPr>
        <p:sp>
          <p:nvSpPr>
            <p:cNvPr id="12" name="object 12"/>
            <p:cNvSpPr/>
            <p:nvPr/>
          </p:nvSpPr>
          <p:spPr>
            <a:xfrm>
              <a:off x="3403600" y="4762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55900" y="547511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64000" y="547511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35383" y="5097462"/>
              <a:ext cx="379095" cy="417195"/>
            </a:xfrm>
            <a:custGeom>
              <a:avLst/>
              <a:gdLst/>
              <a:ahLst/>
              <a:cxnLst/>
              <a:rect l="l" t="t" r="r" b="b"/>
              <a:pathLst>
                <a:path w="379095" h="417195">
                  <a:moveTo>
                    <a:pt x="378926" y="0"/>
                  </a:moveTo>
                  <a:lnTo>
                    <a:pt x="0" y="4169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26116" y="5097462"/>
              <a:ext cx="387985" cy="418465"/>
            </a:xfrm>
            <a:custGeom>
              <a:avLst/>
              <a:gdLst/>
              <a:ahLst/>
              <a:cxnLst/>
              <a:rect l="l" t="t" r="r" b="b"/>
              <a:pathLst>
                <a:path w="387985" h="418464">
                  <a:moveTo>
                    <a:pt x="0" y="0"/>
                  </a:moveTo>
                  <a:lnTo>
                    <a:pt x="387386" y="41801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09800" y="720908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02000" y="720908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61512" y="6621462"/>
              <a:ext cx="359410" cy="606425"/>
            </a:xfrm>
            <a:custGeom>
              <a:avLst/>
              <a:gdLst/>
              <a:ahLst/>
              <a:cxnLst/>
              <a:rect l="l" t="t" r="r" b="b"/>
              <a:pathLst>
                <a:path w="359410" h="606425">
                  <a:moveTo>
                    <a:pt x="358941" y="0"/>
                  </a:moveTo>
                  <a:lnTo>
                    <a:pt x="0" y="60639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21545" y="6621462"/>
              <a:ext cx="359410" cy="606425"/>
            </a:xfrm>
            <a:custGeom>
              <a:avLst/>
              <a:gdLst/>
              <a:ahLst/>
              <a:cxnLst/>
              <a:rect l="l" t="t" r="r" b="b"/>
              <a:pathLst>
                <a:path w="359410" h="606425">
                  <a:moveTo>
                    <a:pt x="0" y="0"/>
                  </a:moveTo>
                  <a:lnTo>
                    <a:pt x="358941" y="60639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21000" y="5810073"/>
              <a:ext cx="0" cy="471805"/>
            </a:xfrm>
            <a:custGeom>
              <a:avLst/>
              <a:gdLst/>
              <a:ahLst/>
              <a:cxnLst/>
              <a:rect l="l" t="t" r="r" b="b"/>
              <a:pathLst>
                <a:path h="471804">
                  <a:moveTo>
                    <a:pt x="0" y="0"/>
                  </a:moveTo>
                  <a:lnTo>
                    <a:pt x="0" y="47166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55900" y="720908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21000" y="6621462"/>
              <a:ext cx="0" cy="582930"/>
            </a:xfrm>
            <a:custGeom>
              <a:avLst/>
              <a:gdLst/>
              <a:ahLst/>
              <a:cxnLst/>
              <a:rect l="l" t="t" r="r" b="b"/>
              <a:pathLst>
                <a:path h="582929">
                  <a:moveTo>
                    <a:pt x="0" y="0"/>
                  </a:moveTo>
                  <a:lnTo>
                    <a:pt x="0" y="58285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64000" y="7157154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29100" y="6568687"/>
              <a:ext cx="0" cy="584200"/>
            </a:xfrm>
            <a:custGeom>
              <a:avLst/>
              <a:gdLst/>
              <a:ahLst/>
              <a:cxnLst/>
              <a:rect l="l" t="t" r="r" b="b"/>
              <a:pathLst>
                <a:path h="584200">
                  <a:moveTo>
                    <a:pt x="0" y="0"/>
                  </a:moveTo>
                  <a:lnTo>
                    <a:pt x="0" y="58370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29100" y="5810073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888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48200" y="7157154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36562" y="6568687"/>
              <a:ext cx="386080" cy="610235"/>
            </a:xfrm>
            <a:custGeom>
              <a:avLst/>
              <a:gdLst/>
              <a:ahLst/>
              <a:cxnLst/>
              <a:rect l="l" t="t" r="r" b="b"/>
              <a:pathLst>
                <a:path w="386079" h="610234">
                  <a:moveTo>
                    <a:pt x="0" y="0"/>
                  </a:moveTo>
                  <a:lnTo>
                    <a:pt x="385828" y="60986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55900" y="6286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64000" y="623372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093200" y="7835900"/>
            <a:ext cx="1223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G(x)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cyclic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110867" y="4757737"/>
            <a:ext cx="2943225" cy="2786380"/>
            <a:chOff x="8110867" y="4757737"/>
            <a:chExt cx="2943225" cy="2786380"/>
          </a:xfrm>
        </p:grpSpPr>
        <p:sp>
          <p:nvSpPr>
            <p:cNvPr id="33" name="object 33"/>
            <p:cNvSpPr/>
            <p:nvPr/>
          </p:nvSpPr>
          <p:spPr>
            <a:xfrm>
              <a:off x="9474200" y="4762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26499" y="547511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105983" y="5097462"/>
              <a:ext cx="379095" cy="417195"/>
            </a:xfrm>
            <a:custGeom>
              <a:avLst/>
              <a:gdLst/>
              <a:ahLst/>
              <a:cxnLst/>
              <a:rect l="l" t="t" r="r" b="b"/>
              <a:pathLst>
                <a:path w="379095" h="417195">
                  <a:moveTo>
                    <a:pt x="378926" y="0"/>
                  </a:moveTo>
                  <a:lnTo>
                    <a:pt x="0" y="4169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793689" y="5097462"/>
              <a:ext cx="379095" cy="417195"/>
            </a:xfrm>
            <a:custGeom>
              <a:avLst/>
              <a:gdLst/>
              <a:ahLst/>
              <a:cxnLst/>
              <a:rect l="l" t="t" r="r" b="b"/>
              <a:pathLst>
                <a:path w="379095" h="417195">
                  <a:moveTo>
                    <a:pt x="0" y="0"/>
                  </a:moveTo>
                  <a:lnTo>
                    <a:pt x="378926" y="4169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80399" y="720908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72600" y="720908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32112" y="6621462"/>
              <a:ext cx="359410" cy="606425"/>
            </a:xfrm>
            <a:custGeom>
              <a:avLst/>
              <a:gdLst/>
              <a:ahLst/>
              <a:cxnLst/>
              <a:rect l="l" t="t" r="r" b="b"/>
              <a:pathLst>
                <a:path w="359409" h="606425">
                  <a:moveTo>
                    <a:pt x="358941" y="0"/>
                  </a:moveTo>
                  <a:lnTo>
                    <a:pt x="0" y="60639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92145" y="6621462"/>
              <a:ext cx="359410" cy="606425"/>
            </a:xfrm>
            <a:custGeom>
              <a:avLst/>
              <a:gdLst/>
              <a:ahLst/>
              <a:cxnLst/>
              <a:rect l="l" t="t" r="r" b="b"/>
              <a:pathLst>
                <a:path w="359409" h="606425">
                  <a:moveTo>
                    <a:pt x="0" y="0"/>
                  </a:moveTo>
                  <a:lnTo>
                    <a:pt x="358941" y="60639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991600" y="5810073"/>
              <a:ext cx="0" cy="471805"/>
            </a:xfrm>
            <a:custGeom>
              <a:avLst/>
              <a:gdLst/>
              <a:ahLst/>
              <a:cxnLst/>
              <a:rect l="l" t="t" r="r" b="b"/>
              <a:pathLst>
                <a:path h="471804">
                  <a:moveTo>
                    <a:pt x="0" y="0"/>
                  </a:moveTo>
                  <a:lnTo>
                    <a:pt x="0" y="47166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826499" y="720908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991600" y="6621462"/>
              <a:ext cx="0" cy="582930"/>
            </a:xfrm>
            <a:custGeom>
              <a:avLst/>
              <a:gdLst/>
              <a:ahLst/>
              <a:cxnLst/>
              <a:rect l="l" t="t" r="r" b="b"/>
              <a:pathLst>
                <a:path h="582929">
                  <a:moveTo>
                    <a:pt x="0" y="0"/>
                  </a:moveTo>
                  <a:lnTo>
                    <a:pt x="0" y="58285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121900" y="7157154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287000" y="6568687"/>
              <a:ext cx="0" cy="584200"/>
            </a:xfrm>
            <a:custGeom>
              <a:avLst/>
              <a:gdLst/>
              <a:ahLst/>
              <a:cxnLst/>
              <a:rect l="l" t="t" r="r" b="b"/>
              <a:pathLst>
                <a:path h="584200">
                  <a:moveTo>
                    <a:pt x="0" y="0"/>
                  </a:moveTo>
                  <a:lnTo>
                    <a:pt x="0" y="58370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287000" y="5810073"/>
              <a:ext cx="0" cy="419100"/>
            </a:xfrm>
            <a:custGeom>
              <a:avLst/>
              <a:gdLst/>
              <a:ahLst/>
              <a:cxnLst/>
              <a:rect l="l" t="t" r="r" b="b"/>
              <a:pathLst>
                <a:path h="419100">
                  <a:moveTo>
                    <a:pt x="0" y="0"/>
                  </a:moveTo>
                  <a:lnTo>
                    <a:pt x="0" y="41888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718800" y="7157154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396797" y="6568687"/>
              <a:ext cx="394970" cy="610870"/>
            </a:xfrm>
            <a:custGeom>
              <a:avLst/>
              <a:gdLst/>
              <a:ahLst/>
              <a:cxnLst/>
              <a:rect l="l" t="t" r="r" b="b"/>
              <a:pathLst>
                <a:path w="394970" h="610870">
                  <a:moveTo>
                    <a:pt x="0" y="0"/>
                  </a:moveTo>
                  <a:lnTo>
                    <a:pt x="394793" y="610762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23567" y="4974807"/>
              <a:ext cx="1346200" cy="2248535"/>
            </a:xfrm>
            <a:custGeom>
              <a:avLst/>
              <a:gdLst/>
              <a:ahLst/>
              <a:cxnLst/>
              <a:rect l="l" t="t" r="r" b="b"/>
              <a:pathLst>
                <a:path w="1346200" h="2248534">
                  <a:moveTo>
                    <a:pt x="243915" y="2248303"/>
                  </a:moveTo>
                  <a:lnTo>
                    <a:pt x="220140" y="2198547"/>
                  </a:lnTo>
                  <a:lnTo>
                    <a:pt x="197584" y="2149283"/>
                  </a:lnTo>
                  <a:lnTo>
                    <a:pt x="176247" y="2100508"/>
                  </a:lnTo>
                  <a:lnTo>
                    <a:pt x="156129" y="2052225"/>
                  </a:lnTo>
                  <a:lnTo>
                    <a:pt x="137230" y="2004433"/>
                  </a:lnTo>
                  <a:lnTo>
                    <a:pt x="119549" y="1957131"/>
                  </a:lnTo>
                  <a:lnTo>
                    <a:pt x="103087" y="1910321"/>
                  </a:lnTo>
                  <a:lnTo>
                    <a:pt x="87844" y="1864001"/>
                  </a:lnTo>
                  <a:lnTo>
                    <a:pt x="73820" y="1818172"/>
                  </a:lnTo>
                  <a:lnTo>
                    <a:pt x="61015" y="1772834"/>
                  </a:lnTo>
                  <a:lnTo>
                    <a:pt x="49429" y="1727987"/>
                  </a:lnTo>
                  <a:lnTo>
                    <a:pt x="39061" y="1683631"/>
                  </a:lnTo>
                  <a:lnTo>
                    <a:pt x="29913" y="1639766"/>
                  </a:lnTo>
                  <a:lnTo>
                    <a:pt x="21983" y="1596391"/>
                  </a:lnTo>
                  <a:lnTo>
                    <a:pt x="15272" y="1553508"/>
                  </a:lnTo>
                  <a:lnTo>
                    <a:pt x="9780" y="1511115"/>
                  </a:lnTo>
                  <a:lnTo>
                    <a:pt x="5506" y="1469214"/>
                  </a:lnTo>
                  <a:lnTo>
                    <a:pt x="2452" y="1427803"/>
                  </a:lnTo>
                  <a:lnTo>
                    <a:pt x="616" y="1386883"/>
                  </a:lnTo>
                  <a:lnTo>
                    <a:pt x="0" y="1346454"/>
                  </a:lnTo>
                  <a:lnTo>
                    <a:pt x="602" y="1306515"/>
                  </a:lnTo>
                  <a:lnTo>
                    <a:pt x="2423" y="1267068"/>
                  </a:lnTo>
                  <a:lnTo>
                    <a:pt x="5462" y="1228112"/>
                  </a:lnTo>
                  <a:lnTo>
                    <a:pt x="9721" y="1189646"/>
                  </a:lnTo>
                  <a:lnTo>
                    <a:pt x="15198" y="1151671"/>
                  </a:lnTo>
                  <a:lnTo>
                    <a:pt x="29810" y="1077194"/>
                  </a:lnTo>
                  <a:lnTo>
                    <a:pt x="49297" y="1004681"/>
                  </a:lnTo>
                  <a:lnTo>
                    <a:pt x="73659" y="934131"/>
                  </a:lnTo>
                  <a:lnTo>
                    <a:pt x="102897" y="865545"/>
                  </a:lnTo>
                  <a:lnTo>
                    <a:pt x="137010" y="798923"/>
                  </a:lnTo>
                  <a:lnTo>
                    <a:pt x="175998" y="734263"/>
                  </a:lnTo>
                  <a:lnTo>
                    <a:pt x="197320" y="702670"/>
                  </a:lnTo>
                  <a:lnTo>
                    <a:pt x="219862" y="671568"/>
                  </a:lnTo>
                  <a:lnTo>
                    <a:pt x="243622" y="640956"/>
                  </a:lnTo>
                  <a:lnTo>
                    <a:pt x="268601" y="610836"/>
                  </a:lnTo>
                  <a:lnTo>
                    <a:pt x="294799" y="581206"/>
                  </a:lnTo>
                  <a:lnTo>
                    <a:pt x="322215" y="552067"/>
                  </a:lnTo>
                  <a:lnTo>
                    <a:pt x="350851" y="523419"/>
                  </a:lnTo>
                  <a:lnTo>
                    <a:pt x="380705" y="495262"/>
                  </a:lnTo>
                  <a:lnTo>
                    <a:pt x="411779" y="467596"/>
                  </a:lnTo>
                  <a:lnTo>
                    <a:pt x="444071" y="440421"/>
                  </a:lnTo>
                  <a:lnTo>
                    <a:pt x="477582" y="413736"/>
                  </a:lnTo>
                  <a:lnTo>
                    <a:pt x="512311" y="387543"/>
                  </a:lnTo>
                  <a:lnTo>
                    <a:pt x="548260" y="361840"/>
                  </a:lnTo>
                  <a:lnTo>
                    <a:pt x="585427" y="336628"/>
                  </a:lnTo>
                  <a:lnTo>
                    <a:pt x="623814" y="311907"/>
                  </a:lnTo>
                  <a:lnTo>
                    <a:pt x="663419" y="287677"/>
                  </a:lnTo>
                  <a:lnTo>
                    <a:pt x="704243" y="263938"/>
                  </a:lnTo>
                  <a:lnTo>
                    <a:pt x="746286" y="240690"/>
                  </a:lnTo>
                  <a:lnTo>
                    <a:pt x="789547" y="217932"/>
                  </a:lnTo>
                  <a:lnTo>
                    <a:pt x="834028" y="195666"/>
                  </a:lnTo>
                  <a:lnTo>
                    <a:pt x="879727" y="173890"/>
                  </a:lnTo>
                  <a:lnTo>
                    <a:pt x="926645" y="152606"/>
                  </a:lnTo>
                  <a:lnTo>
                    <a:pt x="974782" y="131812"/>
                  </a:lnTo>
                  <a:lnTo>
                    <a:pt x="1024138" y="111509"/>
                  </a:lnTo>
                  <a:lnTo>
                    <a:pt x="1074713" y="91697"/>
                  </a:lnTo>
                  <a:lnTo>
                    <a:pt x="1126507" y="72376"/>
                  </a:lnTo>
                  <a:lnTo>
                    <a:pt x="1179519" y="53545"/>
                  </a:lnTo>
                  <a:lnTo>
                    <a:pt x="1233750" y="35206"/>
                  </a:lnTo>
                  <a:lnTo>
                    <a:pt x="1289200" y="17357"/>
                  </a:lnTo>
                  <a:lnTo>
                    <a:pt x="1345869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161462" y="5730473"/>
              <a:ext cx="981710" cy="615315"/>
            </a:xfrm>
            <a:custGeom>
              <a:avLst/>
              <a:gdLst/>
              <a:ahLst/>
              <a:cxnLst/>
              <a:rect l="l" t="t" r="r" b="b"/>
              <a:pathLst>
                <a:path w="981709" h="615314">
                  <a:moveTo>
                    <a:pt x="981431" y="0"/>
                  </a:moveTo>
                  <a:lnTo>
                    <a:pt x="0" y="61473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121900" y="547511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826499" y="6286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121900" y="6233725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023100" y="5859843"/>
            <a:ext cx="2857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37" baseline="12152" dirty="0">
                <a:latin typeface="Tahoma"/>
                <a:cs typeface="Tahoma"/>
              </a:rPr>
              <a:t>x</a:t>
            </a:r>
            <a:r>
              <a:rPr sz="1050" b="1" spc="-25" dirty="0">
                <a:latin typeface="Tahoma"/>
                <a:cs typeface="Tahoma"/>
              </a:rPr>
              <a:t>ij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24693" y="5816600"/>
            <a:ext cx="3886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&gt; </a:t>
            </a:r>
            <a:r>
              <a:rPr sz="1600" b="1" spc="-50" dirty="0">
                <a:latin typeface="Tahoma"/>
                <a:cs typeface="Tahoma"/>
              </a:rPr>
              <a:t>0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804465" y="8121226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81843" y="48356"/>
                </a:moveTo>
                <a:lnTo>
                  <a:pt x="308708" y="83561"/>
                </a:lnTo>
                <a:lnTo>
                  <a:pt x="324827" y="123218"/>
                </a:lnTo>
                <a:lnTo>
                  <a:pt x="330199" y="165099"/>
                </a:lnTo>
                <a:lnTo>
                  <a:pt x="324827" y="206981"/>
                </a:lnTo>
                <a:lnTo>
                  <a:pt x="308708" y="246638"/>
                </a:lnTo>
                <a:lnTo>
                  <a:pt x="281843" y="281843"/>
                </a:lnTo>
                <a:lnTo>
                  <a:pt x="246638" y="308708"/>
                </a:lnTo>
                <a:lnTo>
                  <a:pt x="206981" y="324827"/>
                </a:lnTo>
                <a:lnTo>
                  <a:pt x="165099" y="330199"/>
                </a:lnTo>
                <a:lnTo>
                  <a:pt x="123218" y="324827"/>
                </a:lnTo>
                <a:lnTo>
                  <a:pt x="83561" y="308708"/>
                </a:lnTo>
                <a:lnTo>
                  <a:pt x="48356" y="281843"/>
                </a:lnTo>
                <a:lnTo>
                  <a:pt x="21491" y="246638"/>
                </a:lnTo>
                <a:lnTo>
                  <a:pt x="5372" y="206981"/>
                </a:lnTo>
                <a:lnTo>
                  <a:pt x="0" y="165099"/>
                </a:lnTo>
                <a:lnTo>
                  <a:pt x="5372" y="123218"/>
                </a:lnTo>
                <a:lnTo>
                  <a:pt x="21491" y="83561"/>
                </a:lnTo>
                <a:lnTo>
                  <a:pt x="48356" y="48356"/>
                </a:lnTo>
                <a:lnTo>
                  <a:pt x="83561" y="21491"/>
                </a:lnTo>
                <a:lnTo>
                  <a:pt x="123218" y="5372"/>
                </a:lnTo>
                <a:lnTo>
                  <a:pt x="165099" y="0"/>
                </a:lnTo>
                <a:lnTo>
                  <a:pt x="206981" y="5372"/>
                </a:lnTo>
                <a:lnTo>
                  <a:pt x="246638" y="21491"/>
                </a:lnTo>
                <a:lnTo>
                  <a:pt x="281843" y="483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788659" y="871502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0"/>
                </a:moveTo>
                <a:lnTo>
                  <a:pt x="330200" y="0"/>
                </a:lnTo>
                <a:lnTo>
                  <a:pt x="330200" y="330200"/>
                </a:lnTo>
                <a:lnTo>
                  <a:pt x="0" y="330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299200" y="8102600"/>
            <a:ext cx="96075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Lucida Sans Unicode"/>
                <a:cs typeface="Lucida Sans Unicode"/>
              </a:rPr>
              <a:t>job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1800" spc="-10" dirty="0">
                <a:latin typeface="Lucida Sans Unicode"/>
                <a:cs typeface="Lucida Sans Unicode"/>
              </a:rPr>
              <a:t>machine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345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-10" dirty="0"/>
              <a:t>rounding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6600" y="1216660"/>
            <a:ext cx="11440795" cy="38862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19"/>
              </a:spcBef>
              <a:tabLst>
                <a:tab pos="2970530" algn="l"/>
                <a:tab pos="90938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Rounded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where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forest.</a:t>
            </a:r>
            <a:r>
              <a:rPr sz="2400" dirty="0">
                <a:latin typeface="Lucida Sans Unicode"/>
                <a:cs typeface="Lucida Sans Unicode"/>
              </a:rPr>
              <a:t>	Root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forest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G</a:t>
            </a:r>
            <a:r>
              <a:rPr sz="2400" spc="-20" dirty="0">
                <a:latin typeface="Times New Roman"/>
                <a:cs typeface="Times New Roman"/>
              </a:rPr>
              <a:t>(</a:t>
            </a:r>
            <a:r>
              <a:rPr sz="2400" i="1" spc="-20" dirty="0">
                <a:latin typeface="Times New Roman"/>
                <a:cs typeface="Times New Roman"/>
              </a:rPr>
              <a:t>x</a:t>
            </a:r>
            <a:r>
              <a:rPr sz="2400" spc="-2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76200">
              <a:lnSpc>
                <a:spcPts val="2615"/>
              </a:lnSpc>
              <a:spcBef>
                <a:spcPts val="919"/>
              </a:spcBef>
            </a:pP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arbitrary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10" dirty="0">
                <a:latin typeface="Lucida Sans Unicode"/>
                <a:cs typeface="Lucida Sans Unicode"/>
              </a:rPr>
              <a:t> node</a:t>
            </a:r>
            <a:r>
              <a:rPr sz="2400" spc="-17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r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node,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parent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children.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17240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4.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Rounded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authorized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machines.</a:t>
            </a:r>
            <a:endParaRPr sz="2400">
              <a:latin typeface="Lucida Sans Unicode"/>
              <a:cs typeface="Lucida Sans Unicode"/>
            </a:endParaRPr>
          </a:p>
          <a:p>
            <a:pPr marL="76200" marR="170815">
              <a:lnSpc>
                <a:spcPct val="131900"/>
              </a:lnSpc>
              <a:tabLst>
                <a:tab pos="645160" algn="l"/>
                <a:tab pos="6104255" algn="l"/>
                <a:tab pos="7223759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270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assign </a:t>
            </a:r>
            <a:r>
              <a:rPr sz="2400" dirty="0">
                <a:latin typeface="Lucida Sans Unicode"/>
                <a:cs typeface="Lucida Sans Unicode"/>
              </a:rPr>
              <a:t>positive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authorized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machines.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0300" y="5308600"/>
            <a:ext cx="5199661" cy="40775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804465" y="8121226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81843" y="48356"/>
                </a:moveTo>
                <a:lnTo>
                  <a:pt x="308708" y="83561"/>
                </a:lnTo>
                <a:lnTo>
                  <a:pt x="324827" y="123218"/>
                </a:lnTo>
                <a:lnTo>
                  <a:pt x="330199" y="165099"/>
                </a:lnTo>
                <a:lnTo>
                  <a:pt x="324827" y="206981"/>
                </a:lnTo>
                <a:lnTo>
                  <a:pt x="308708" y="246638"/>
                </a:lnTo>
                <a:lnTo>
                  <a:pt x="281843" y="281843"/>
                </a:lnTo>
                <a:lnTo>
                  <a:pt x="246638" y="308708"/>
                </a:lnTo>
                <a:lnTo>
                  <a:pt x="206981" y="324827"/>
                </a:lnTo>
                <a:lnTo>
                  <a:pt x="165099" y="330199"/>
                </a:lnTo>
                <a:lnTo>
                  <a:pt x="123218" y="324827"/>
                </a:lnTo>
                <a:lnTo>
                  <a:pt x="83561" y="308708"/>
                </a:lnTo>
                <a:lnTo>
                  <a:pt x="48356" y="281843"/>
                </a:lnTo>
                <a:lnTo>
                  <a:pt x="21491" y="246638"/>
                </a:lnTo>
                <a:lnTo>
                  <a:pt x="5372" y="206981"/>
                </a:lnTo>
                <a:lnTo>
                  <a:pt x="0" y="165099"/>
                </a:lnTo>
                <a:lnTo>
                  <a:pt x="5372" y="123218"/>
                </a:lnTo>
                <a:lnTo>
                  <a:pt x="21491" y="83561"/>
                </a:lnTo>
                <a:lnTo>
                  <a:pt x="48356" y="48356"/>
                </a:lnTo>
                <a:lnTo>
                  <a:pt x="83561" y="21491"/>
                </a:lnTo>
                <a:lnTo>
                  <a:pt x="123218" y="5372"/>
                </a:lnTo>
                <a:lnTo>
                  <a:pt x="165099" y="0"/>
                </a:lnTo>
                <a:lnTo>
                  <a:pt x="206981" y="5372"/>
                </a:lnTo>
                <a:lnTo>
                  <a:pt x="246638" y="21491"/>
                </a:lnTo>
                <a:lnTo>
                  <a:pt x="281843" y="483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88659" y="871502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0"/>
                </a:moveTo>
                <a:lnTo>
                  <a:pt x="330200" y="0"/>
                </a:lnTo>
                <a:lnTo>
                  <a:pt x="330200" y="330200"/>
                </a:lnTo>
                <a:lnTo>
                  <a:pt x="0" y="330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99200" y="8102600"/>
            <a:ext cx="96075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Lucida Sans Unicode"/>
                <a:cs typeface="Lucida Sans Unicode"/>
              </a:rPr>
              <a:t>job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1800" spc="-10" dirty="0">
                <a:latin typeface="Lucida Sans Unicode"/>
                <a:cs typeface="Lucida Sans Unicode"/>
              </a:rPr>
              <a:t>machine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187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0399395" cy="340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43535">
              <a:lnSpc>
                <a:spcPct val="131900"/>
              </a:lnSpc>
              <a:spcBef>
                <a:spcPts val="100"/>
              </a:spcBef>
              <a:tabLst>
                <a:tab pos="16986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5.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parent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270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19097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679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Since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leaf,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284" baseline="-19097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=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≠ </a:t>
            </a:r>
            <a:r>
              <a:rPr sz="2400" i="1" spc="-10" dirty="0">
                <a:latin typeface="Times New Roman"/>
                <a:cs typeface="Times New Roman"/>
              </a:rPr>
              <a:t>parent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5822950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LP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constraint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guarantees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Σ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277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277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400" i="1" spc="-37" baseline="-19097" dirty="0">
                <a:latin typeface="Times New Roman"/>
                <a:cs typeface="Times New Roman"/>
              </a:rPr>
              <a:t>j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6986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6.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10" dirty="0">
                <a:latin typeface="Lucida Sans Unicode"/>
                <a:cs typeface="Lucida Sans Unicode"/>
              </a:rPr>
              <a:t>non-</a:t>
            </a:r>
            <a:r>
              <a:rPr sz="2400" spc="-45" dirty="0">
                <a:latin typeface="Lucida Sans Unicode"/>
                <a:cs typeface="Lucida Sans Unicode"/>
              </a:rPr>
              <a:t>leaf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machine.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919"/>
              </a:spcBef>
              <a:tabLst>
                <a:tab pos="619760" algn="l"/>
                <a:tab pos="1021905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possible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10" dirty="0">
                <a:latin typeface="Lucida Sans Unicode"/>
                <a:cs typeface="Lucida Sans Unicode"/>
              </a:rPr>
              <a:t>non-</a:t>
            </a:r>
            <a:r>
              <a:rPr sz="2400" spc="-45" dirty="0">
                <a:latin typeface="Lucida Sans Unicode"/>
                <a:cs typeface="Lucida Sans Unicode"/>
              </a:rPr>
              <a:t>leaf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parent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0300" y="5308600"/>
            <a:ext cx="5199661" cy="40775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804465" y="8121226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81843" y="48356"/>
                </a:moveTo>
                <a:lnTo>
                  <a:pt x="308708" y="83561"/>
                </a:lnTo>
                <a:lnTo>
                  <a:pt x="324827" y="123218"/>
                </a:lnTo>
                <a:lnTo>
                  <a:pt x="330199" y="165099"/>
                </a:lnTo>
                <a:lnTo>
                  <a:pt x="324827" y="206981"/>
                </a:lnTo>
                <a:lnTo>
                  <a:pt x="308708" y="246638"/>
                </a:lnTo>
                <a:lnTo>
                  <a:pt x="281843" y="281843"/>
                </a:lnTo>
                <a:lnTo>
                  <a:pt x="246638" y="308708"/>
                </a:lnTo>
                <a:lnTo>
                  <a:pt x="206981" y="324827"/>
                </a:lnTo>
                <a:lnTo>
                  <a:pt x="165099" y="330199"/>
                </a:lnTo>
                <a:lnTo>
                  <a:pt x="123218" y="324827"/>
                </a:lnTo>
                <a:lnTo>
                  <a:pt x="83561" y="308708"/>
                </a:lnTo>
                <a:lnTo>
                  <a:pt x="48356" y="281843"/>
                </a:lnTo>
                <a:lnTo>
                  <a:pt x="21491" y="246638"/>
                </a:lnTo>
                <a:lnTo>
                  <a:pt x="5372" y="206981"/>
                </a:lnTo>
                <a:lnTo>
                  <a:pt x="0" y="165099"/>
                </a:lnTo>
                <a:lnTo>
                  <a:pt x="5372" y="123218"/>
                </a:lnTo>
                <a:lnTo>
                  <a:pt x="21491" y="83561"/>
                </a:lnTo>
                <a:lnTo>
                  <a:pt x="48356" y="48356"/>
                </a:lnTo>
                <a:lnTo>
                  <a:pt x="83561" y="21491"/>
                </a:lnTo>
                <a:lnTo>
                  <a:pt x="123218" y="5372"/>
                </a:lnTo>
                <a:lnTo>
                  <a:pt x="165099" y="0"/>
                </a:lnTo>
                <a:lnTo>
                  <a:pt x="206981" y="5372"/>
                </a:lnTo>
                <a:lnTo>
                  <a:pt x="246638" y="21491"/>
                </a:lnTo>
                <a:lnTo>
                  <a:pt x="281843" y="4835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88659" y="871502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0"/>
                </a:moveTo>
                <a:lnTo>
                  <a:pt x="330200" y="0"/>
                </a:lnTo>
                <a:lnTo>
                  <a:pt x="330200" y="330200"/>
                </a:lnTo>
                <a:lnTo>
                  <a:pt x="0" y="330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99200" y="8102600"/>
            <a:ext cx="96075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Lucida Sans Unicode"/>
                <a:cs typeface="Lucida Sans Unicode"/>
              </a:rPr>
              <a:t>job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1800" spc="-10" dirty="0">
                <a:latin typeface="Lucida Sans Unicode"/>
                <a:cs typeface="Lucida Sans Unicode"/>
              </a:rPr>
              <a:t>machine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6187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216660"/>
            <a:ext cx="9299575" cy="199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781175">
              <a:lnSpc>
                <a:spcPct val="131900"/>
              </a:lnSpc>
              <a:spcBef>
                <a:spcPts val="100"/>
              </a:spcBef>
              <a:tabLst>
                <a:tab pos="16446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Rounded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40" dirty="0">
                <a:latin typeface="Lucida Sans Unicode"/>
                <a:cs typeface="Lucida Sans Unicode"/>
              </a:rPr>
              <a:t>approximation.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679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spc="-55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assigned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spc="50" dirty="0">
                <a:latin typeface="Lucida Sans Unicode"/>
                <a:cs typeface="Lucida Sans Unicode"/>
              </a:rPr>
              <a:t>By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</a:t>
            </a:r>
            <a:r>
              <a:rPr sz="1900" dirty="0">
                <a:latin typeface="Lucida Sans Unicode"/>
                <a:cs typeface="Lucida Sans Unicode"/>
              </a:rPr>
              <a:t>EMMA</a:t>
            </a:r>
            <a:r>
              <a:rPr sz="1900" spc="1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6</a:t>
            </a:r>
            <a:r>
              <a:rPr sz="2400" spc="-5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baseline="-19097" dirty="0">
                <a:latin typeface="Times New Roman"/>
                <a:cs typeface="Times New Roman"/>
              </a:rPr>
              <a:t>i</a:t>
            </a:r>
            <a:r>
              <a:rPr sz="2400" i="1" spc="532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components: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7000" y="3721100"/>
            <a:ext cx="124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4500" y="3746500"/>
            <a:ext cx="1649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leaf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nodes: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7000" y="6616700"/>
            <a:ext cx="124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65" dirty="0">
                <a:latin typeface="Lucida Sans Unicode"/>
                <a:cs typeface="Lucida Sans Unicode"/>
              </a:rPr>
              <a:t>-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4500" y="6642100"/>
            <a:ext cx="1079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Sans Unicode"/>
                <a:cs typeface="Lucida Sans Unicode"/>
              </a:rPr>
              <a:t>parent: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9000" y="7907019"/>
            <a:ext cx="5650865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227830" algn="l"/>
                <a:tab pos="4547870" algn="l"/>
                <a:tab pos="5457825" algn="l"/>
              </a:tabLst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Thus,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overall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load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i="1" spc="-37" baseline="-19097" dirty="0">
                <a:latin typeface="Times New Roman"/>
                <a:cs typeface="Times New Roman"/>
              </a:rPr>
              <a:t>i</a:t>
            </a:r>
            <a:r>
              <a:rPr sz="2400" i="1" baseline="-19097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2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0394" y="4601084"/>
            <a:ext cx="1371600" cy="94361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350"/>
              </a:spcBef>
              <a:tabLst>
                <a:tab pos="1155065" algn="l"/>
              </a:tabLst>
            </a:pPr>
            <a:r>
              <a:rPr sz="3825" baseline="-2178" dirty="0">
                <a:latin typeface="Symbol"/>
                <a:cs typeface="Symbol"/>
              </a:rPr>
              <a:t></a:t>
            </a:r>
            <a:r>
              <a:rPr sz="3825" spc="142" baseline="-2178" dirty="0">
                <a:latin typeface="Times New Roman"/>
                <a:cs typeface="Times New Roman"/>
              </a:rPr>
              <a:t> </a:t>
            </a:r>
            <a:r>
              <a:rPr sz="2550" i="1" spc="-10" dirty="0">
                <a:latin typeface="Times New Roman"/>
                <a:cs typeface="Times New Roman"/>
              </a:rPr>
              <a:t>t</a:t>
            </a:r>
            <a:r>
              <a:rPr sz="2550" i="1" spc="-340" dirty="0">
                <a:latin typeface="Times New Roman"/>
                <a:cs typeface="Times New Roman"/>
              </a:rPr>
              <a:t> </a:t>
            </a:r>
            <a:r>
              <a:rPr sz="2550" i="1" spc="-75" baseline="-21241" dirty="0">
                <a:latin typeface="Times New Roman"/>
                <a:cs typeface="Times New Roman"/>
              </a:rPr>
              <a:t>j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  <a:p>
            <a:pPr marL="194945">
              <a:lnSpc>
                <a:spcPts val="1870"/>
              </a:lnSpc>
              <a:spcBef>
                <a:spcPts val="170"/>
              </a:spcBef>
            </a:pPr>
            <a:r>
              <a:rPr sz="1700" i="1" dirty="0">
                <a:latin typeface="Times New Roman"/>
                <a:cs typeface="Times New Roman"/>
              </a:rPr>
              <a:t>j</a:t>
            </a:r>
            <a:r>
              <a:rPr sz="1700" i="1" spc="3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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J</a:t>
            </a:r>
            <a:r>
              <a:rPr sz="1700" i="1" spc="-2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(</a:t>
            </a:r>
            <a:r>
              <a:rPr sz="1700" i="1" spc="-25" dirty="0">
                <a:latin typeface="Times New Roman"/>
                <a:cs typeface="Times New Roman"/>
              </a:rPr>
              <a:t>i</a:t>
            </a:r>
            <a:r>
              <a:rPr sz="1700" spc="-25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  <a:p>
            <a:pPr marL="50800">
              <a:lnSpc>
                <a:spcPts val="1870"/>
              </a:lnSpc>
            </a:pPr>
            <a:r>
              <a:rPr sz="1700" i="1" dirty="0">
                <a:latin typeface="Times New Roman"/>
                <a:cs typeface="Times New Roman"/>
              </a:rPr>
              <a:t>j</a:t>
            </a:r>
            <a:r>
              <a:rPr sz="1700" i="1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 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leaf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6122" y="4713371"/>
            <a:ext cx="1014730" cy="831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0045">
              <a:lnSpc>
                <a:spcPts val="2825"/>
              </a:lnSpc>
              <a:spcBef>
                <a:spcPts val="105"/>
              </a:spcBef>
            </a:pPr>
            <a:r>
              <a:rPr sz="3825" baseline="11982" dirty="0">
                <a:latin typeface="Symbol"/>
                <a:cs typeface="Symbol"/>
              </a:rPr>
              <a:t></a:t>
            </a:r>
            <a:r>
              <a:rPr sz="3825" spc="457" baseline="11982" dirty="0">
                <a:latin typeface="Times New Roman"/>
                <a:cs typeface="Times New Roman"/>
              </a:rPr>
              <a:t> </a:t>
            </a:r>
            <a:r>
              <a:rPr sz="3825" i="1" spc="-37" baseline="14161" dirty="0">
                <a:latin typeface="Times New Roman"/>
                <a:cs typeface="Times New Roman"/>
              </a:rPr>
              <a:t>x</a:t>
            </a:r>
            <a:r>
              <a:rPr sz="1700" i="1" spc="-25" dirty="0">
                <a:latin typeface="Times New Roman"/>
                <a:cs typeface="Times New Roman"/>
              </a:rPr>
              <a:t>ij</a:t>
            </a:r>
            <a:endParaRPr sz="1700">
              <a:latin typeface="Times New Roman"/>
              <a:cs typeface="Times New Roman"/>
            </a:endParaRPr>
          </a:p>
          <a:p>
            <a:pPr marL="182245">
              <a:lnSpc>
                <a:spcPts val="1635"/>
              </a:lnSpc>
            </a:pPr>
            <a:r>
              <a:rPr sz="1700" i="1" dirty="0">
                <a:latin typeface="Times New Roman"/>
                <a:cs typeface="Times New Roman"/>
              </a:rPr>
              <a:t>j</a:t>
            </a:r>
            <a:r>
              <a:rPr sz="1700" i="1" spc="3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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J</a:t>
            </a:r>
            <a:r>
              <a:rPr sz="1700" i="1" spc="-26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(</a:t>
            </a:r>
            <a:r>
              <a:rPr sz="1700" i="1" spc="-25" dirty="0">
                <a:latin typeface="Times New Roman"/>
                <a:cs typeface="Times New Roman"/>
              </a:rPr>
              <a:t>i</a:t>
            </a:r>
            <a:r>
              <a:rPr sz="1700" spc="-25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  <a:p>
            <a:pPr marL="38100">
              <a:lnSpc>
                <a:spcPts val="1870"/>
              </a:lnSpc>
            </a:pPr>
            <a:r>
              <a:rPr sz="1700" i="1" dirty="0">
                <a:latin typeface="Times New Roman"/>
                <a:cs typeface="Times New Roman"/>
              </a:rPr>
              <a:t>j</a:t>
            </a:r>
            <a:r>
              <a:rPr sz="1700" i="1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 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leaf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97051" y="4632199"/>
            <a:ext cx="20383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50" dirty="0">
                <a:latin typeface="Symbol"/>
                <a:cs typeface="Symbol"/>
              </a:rPr>
              <a:t>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60175" y="4713371"/>
            <a:ext cx="828040" cy="614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2720">
              <a:lnSpc>
                <a:spcPts val="2825"/>
              </a:lnSpc>
              <a:spcBef>
                <a:spcPts val="105"/>
              </a:spcBef>
            </a:pPr>
            <a:r>
              <a:rPr sz="3825" baseline="11982" dirty="0">
                <a:latin typeface="Symbol"/>
                <a:cs typeface="Symbol"/>
              </a:rPr>
              <a:t></a:t>
            </a:r>
            <a:r>
              <a:rPr sz="3825" spc="457" baseline="11982" dirty="0">
                <a:latin typeface="Times New Roman"/>
                <a:cs typeface="Times New Roman"/>
              </a:rPr>
              <a:t> </a:t>
            </a:r>
            <a:r>
              <a:rPr sz="3825" i="1" spc="-37" baseline="14161" dirty="0">
                <a:latin typeface="Times New Roman"/>
                <a:cs typeface="Times New Roman"/>
              </a:rPr>
              <a:t>x</a:t>
            </a:r>
            <a:r>
              <a:rPr sz="1700" i="1" spc="-25" dirty="0">
                <a:latin typeface="Times New Roman"/>
                <a:cs typeface="Times New Roman"/>
              </a:rPr>
              <a:t>ij</a:t>
            </a:r>
            <a:endParaRPr sz="1700">
              <a:latin typeface="Times New Roman"/>
              <a:cs typeface="Times New Roman"/>
            </a:endParaRPr>
          </a:p>
          <a:p>
            <a:pPr marL="38100">
              <a:lnSpc>
                <a:spcPts val="1805"/>
              </a:lnSpc>
            </a:pPr>
            <a:r>
              <a:rPr sz="1700" i="1" dirty="0">
                <a:latin typeface="Times New Roman"/>
                <a:cs typeface="Times New Roman"/>
              </a:rPr>
              <a:t>j</a:t>
            </a:r>
            <a:r>
              <a:rPr sz="1700" i="1" spc="3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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J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86300" y="3949700"/>
            <a:ext cx="93154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Lemma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5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1888" y="6704693"/>
            <a:ext cx="94996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825" i="1" spc="-15" baseline="14161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parent(</a:t>
            </a:r>
            <a:r>
              <a:rPr sz="1700" i="1" spc="-10" dirty="0">
                <a:latin typeface="Times New Roman"/>
                <a:cs typeface="Times New Roman"/>
              </a:rPr>
              <a:t>i</a:t>
            </a:r>
            <a:r>
              <a:rPr sz="1700" spc="-1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0822" y="6623639"/>
            <a:ext cx="81788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8305" algn="l"/>
              </a:tabLst>
            </a:pPr>
            <a:r>
              <a:rPr sz="2550" spc="-50" dirty="0">
                <a:latin typeface="Symbol"/>
                <a:cs typeface="Symbol"/>
              </a:rPr>
              <a:t>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dirty="0">
                <a:latin typeface="Times New Roman"/>
                <a:cs typeface="Times New Roman"/>
              </a:rPr>
              <a:t>L</a:t>
            </a:r>
            <a:r>
              <a:rPr sz="2550" i="1" spc="-21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*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91854" y="4343167"/>
            <a:ext cx="121920" cy="394335"/>
            <a:chOff x="5091854" y="4343167"/>
            <a:chExt cx="121920" cy="394335"/>
          </a:xfrm>
        </p:grpSpPr>
        <p:sp>
          <p:nvSpPr>
            <p:cNvPr id="18" name="object 18"/>
            <p:cNvSpPr/>
            <p:nvPr/>
          </p:nvSpPr>
          <p:spPr>
            <a:xfrm>
              <a:off x="5152814" y="4343167"/>
              <a:ext cx="0" cy="315595"/>
            </a:xfrm>
            <a:custGeom>
              <a:avLst/>
              <a:gdLst/>
              <a:ahLst/>
              <a:cxnLst/>
              <a:rect l="l" t="t" r="r" b="b"/>
              <a:pathLst>
                <a:path h="315595">
                  <a:moveTo>
                    <a:pt x="0" y="315192"/>
                  </a:moveTo>
                  <a:lnTo>
                    <a:pt x="0" y="302492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1854" y="4615179"/>
              <a:ext cx="121919" cy="12192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692161" y="4254308"/>
            <a:ext cx="121920" cy="421005"/>
            <a:chOff x="8692161" y="4254308"/>
            <a:chExt cx="121920" cy="421005"/>
          </a:xfrm>
        </p:grpSpPr>
        <p:sp>
          <p:nvSpPr>
            <p:cNvPr id="21" name="object 21"/>
            <p:cNvSpPr/>
            <p:nvPr/>
          </p:nvSpPr>
          <p:spPr>
            <a:xfrm>
              <a:off x="8753121" y="4254308"/>
              <a:ext cx="0" cy="342265"/>
            </a:xfrm>
            <a:custGeom>
              <a:avLst/>
              <a:gdLst/>
              <a:ahLst/>
              <a:cxnLst/>
              <a:rect l="l" t="t" r="r" b="b"/>
              <a:pathLst>
                <a:path h="342264">
                  <a:moveTo>
                    <a:pt x="0" y="342244"/>
                  </a:moveTo>
                  <a:lnTo>
                    <a:pt x="0" y="329544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2161" y="4553372"/>
              <a:ext cx="121920" cy="12192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848600" y="3797300"/>
            <a:ext cx="3288029" cy="125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LP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	Lemma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(LP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relaxation)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36830">
              <a:lnSpc>
                <a:spcPct val="100000"/>
              </a:lnSpc>
              <a:tabLst>
                <a:tab pos="433070" algn="l"/>
                <a:tab pos="821055" algn="l"/>
                <a:tab pos="1217930" algn="l"/>
              </a:tabLst>
            </a:pPr>
            <a:r>
              <a:rPr sz="2550" spc="-50" dirty="0">
                <a:latin typeface="Symbol"/>
                <a:cs typeface="Symbol"/>
              </a:rPr>
              <a:t>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L</a:t>
            </a:r>
            <a:r>
              <a:rPr sz="2550" i="1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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dirty="0">
                <a:latin typeface="Times New Roman"/>
                <a:cs typeface="Times New Roman"/>
              </a:rPr>
              <a:t>L</a:t>
            </a:r>
            <a:r>
              <a:rPr sz="2550" i="1" spc="-215" dirty="0">
                <a:latin typeface="Times New Roman"/>
                <a:cs typeface="Times New Roman"/>
              </a:rPr>
              <a:t> </a:t>
            </a:r>
            <a:r>
              <a:rPr sz="2550" spc="-60" dirty="0">
                <a:latin typeface="Times New Roman"/>
                <a:cs typeface="Times New Roman"/>
              </a:rPr>
              <a:t>*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895166" y="4263669"/>
            <a:ext cx="121920" cy="417830"/>
            <a:chOff x="7895166" y="4263669"/>
            <a:chExt cx="121920" cy="417830"/>
          </a:xfrm>
        </p:grpSpPr>
        <p:sp>
          <p:nvSpPr>
            <p:cNvPr id="25" name="object 25"/>
            <p:cNvSpPr/>
            <p:nvPr/>
          </p:nvSpPr>
          <p:spPr>
            <a:xfrm>
              <a:off x="7956126" y="4263669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89">
                  <a:moveTo>
                    <a:pt x="0" y="338810"/>
                  </a:moveTo>
                  <a:lnTo>
                    <a:pt x="0" y="32611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5166" y="4559300"/>
              <a:ext cx="121920" cy="12192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064000" y="5880100"/>
            <a:ext cx="93154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Lemma</a:t>
            </a:r>
            <a:r>
              <a:rPr sz="1600" spc="-6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08781" y="6248400"/>
            <a:ext cx="121920" cy="434340"/>
            <a:chOff x="4508781" y="6248400"/>
            <a:chExt cx="121920" cy="434340"/>
          </a:xfrm>
        </p:grpSpPr>
        <p:sp>
          <p:nvSpPr>
            <p:cNvPr id="29" name="object 29"/>
            <p:cNvSpPr/>
            <p:nvPr/>
          </p:nvSpPr>
          <p:spPr>
            <a:xfrm>
              <a:off x="4569741" y="6248400"/>
              <a:ext cx="0" cy="355600"/>
            </a:xfrm>
            <a:custGeom>
              <a:avLst/>
              <a:gdLst/>
              <a:ahLst/>
              <a:cxnLst/>
              <a:rect l="l" t="t" r="r" b="b"/>
              <a:pathLst>
                <a:path h="355600">
                  <a:moveTo>
                    <a:pt x="0" y="355600"/>
                  </a:moveTo>
                  <a:lnTo>
                    <a:pt x="0" y="34290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8781" y="6560820"/>
              <a:ext cx="121920" cy="12191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20000" y="5638800"/>
            <a:ext cx="19126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optimal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value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LP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301566" y="5128859"/>
            <a:ext cx="121920" cy="444500"/>
            <a:chOff x="8301566" y="5128859"/>
            <a:chExt cx="121920" cy="444500"/>
          </a:xfrm>
        </p:grpSpPr>
        <p:sp>
          <p:nvSpPr>
            <p:cNvPr id="33" name="object 33"/>
            <p:cNvSpPr/>
            <p:nvPr/>
          </p:nvSpPr>
          <p:spPr>
            <a:xfrm>
              <a:off x="8362526" y="5207599"/>
              <a:ext cx="0" cy="365760"/>
            </a:xfrm>
            <a:custGeom>
              <a:avLst/>
              <a:gdLst/>
              <a:ahLst/>
              <a:cxnLst/>
              <a:rect l="l" t="t" r="r" b="b"/>
              <a:pathLst>
                <a:path h="365760">
                  <a:moveTo>
                    <a:pt x="0" y="0"/>
                  </a:moveTo>
                  <a:lnTo>
                    <a:pt x="0" y="12700"/>
                  </a:lnTo>
                  <a:lnTo>
                    <a:pt x="0" y="365725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1566" y="5128859"/>
              <a:ext cx="121920" cy="121920"/>
            </a:xfrm>
            <a:prstGeom prst="rect">
              <a:avLst/>
            </a:prstGeom>
          </p:spPr>
        </p:pic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75184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</a:t>
            </a:r>
            <a:r>
              <a:rPr spc="70" dirty="0"/>
              <a:t>flow</a:t>
            </a:r>
            <a:r>
              <a:rPr spc="85" dirty="0"/>
              <a:t> </a:t>
            </a:r>
            <a:r>
              <a:rPr spc="-10" dirty="0"/>
              <a:t>formulation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3500"/>
            <a:ext cx="3492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Flow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formulation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of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i="1" spc="-25" dirty="0">
                <a:solidFill>
                  <a:srgbClr val="0048AA"/>
                </a:solidFill>
                <a:latin typeface="Times New Roman"/>
                <a:cs typeface="Times New Roman"/>
              </a:rPr>
              <a:t>LP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7973059"/>
            <a:ext cx="985964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210058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Observation.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Solution to feasible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flow problem with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in </a:t>
            </a:r>
            <a:r>
              <a:rPr sz="2400" spc="-225" dirty="0">
                <a:latin typeface="Lucida Sans Unicode"/>
                <a:cs typeface="Lucida Sans Unicode"/>
              </a:rPr>
              <a:t>1-</a:t>
            </a:r>
            <a:r>
              <a:rPr sz="2400" spc="-195" dirty="0">
                <a:latin typeface="Lucida Sans Unicode"/>
                <a:cs typeface="Lucida Sans Unicode"/>
              </a:rPr>
              <a:t>to-</a:t>
            </a:r>
            <a:r>
              <a:rPr sz="2400" spc="-235" dirty="0">
                <a:latin typeface="Lucida Sans Unicode"/>
                <a:cs typeface="Lucida Sans Unicode"/>
              </a:rPr>
              <a:t>1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correspondence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8300" y="2013938"/>
            <a:ext cx="6108700" cy="526062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61400" y="2514600"/>
            <a:ext cx="230504" cy="304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0"/>
              </a:lnSpc>
            </a:pPr>
            <a:r>
              <a:rPr sz="2400" spc="-50" dirty="0">
                <a:latin typeface="Symbol"/>
                <a:cs typeface="Symbol"/>
              </a:rPr>
              <a:t>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074773" y="2510980"/>
            <a:ext cx="2416810" cy="1017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88950" algn="l"/>
                <a:tab pos="981075" algn="l"/>
              </a:tabLst>
            </a:pPr>
            <a:r>
              <a:rPr sz="2350" spc="-50" dirty="0">
                <a:latin typeface="Symbol"/>
                <a:cs typeface="Symbol"/>
              </a:rPr>
              <a:t>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i="1" dirty="0">
                <a:latin typeface="Times New Roman"/>
                <a:cs typeface="Times New Roman"/>
              </a:rPr>
              <a:t>t</a:t>
            </a:r>
            <a:r>
              <a:rPr sz="2350" i="1" spc="-305" dirty="0">
                <a:latin typeface="Times New Roman"/>
                <a:cs typeface="Times New Roman"/>
              </a:rPr>
              <a:t> </a:t>
            </a:r>
            <a:r>
              <a:rPr sz="2325" i="1" spc="-75" baseline="-21505" dirty="0">
                <a:latin typeface="Times New Roman"/>
                <a:cs typeface="Times New Roman"/>
              </a:rPr>
              <a:t>j</a:t>
            </a:r>
            <a:r>
              <a:rPr sz="2325" i="1" baseline="-21505" dirty="0">
                <a:latin typeface="Times New Roman"/>
                <a:cs typeface="Times New Roman"/>
              </a:rPr>
              <a:t>	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all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j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50" dirty="0">
                <a:latin typeface="Times New Roman"/>
                <a:cs typeface="Times New Roman"/>
              </a:rPr>
              <a:t>J</a:t>
            </a:r>
            <a:endParaRPr sz="23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165"/>
              </a:spcBef>
              <a:tabLst>
                <a:tab pos="505459" algn="l"/>
              </a:tabLst>
            </a:pPr>
            <a:r>
              <a:rPr sz="2350" spc="-50" dirty="0">
                <a:latin typeface="Symbol"/>
                <a:cs typeface="Symbol"/>
              </a:rPr>
              <a:t>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i="1" spc="-50" dirty="0">
                <a:latin typeface="Times New Roman"/>
                <a:cs typeface="Times New Roman"/>
              </a:rPr>
              <a:t>L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3668" y="3144087"/>
            <a:ext cx="151257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all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i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50" dirty="0">
                <a:latin typeface="Times New Roman"/>
                <a:cs typeface="Times New Roman"/>
              </a:rPr>
              <a:t>M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8047" y="2585707"/>
            <a:ext cx="657225" cy="20574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43510" marR="30480" indent="-91440">
              <a:lnSpc>
                <a:spcPct val="79300"/>
              </a:lnSpc>
              <a:spcBef>
                <a:spcPts val="685"/>
              </a:spcBef>
            </a:pPr>
            <a:r>
              <a:rPr sz="3525" baseline="11820" dirty="0">
                <a:latin typeface="Symbol"/>
                <a:cs typeface="Symbol"/>
              </a:rPr>
              <a:t></a:t>
            </a:r>
            <a:r>
              <a:rPr sz="3525" spc="-187" baseline="11820" dirty="0">
                <a:latin typeface="Times New Roman"/>
                <a:cs typeface="Times New Roman"/>
              </a:rPr>
              <a:t> </a:t>
            </a:r>
            <a:r>
              <a:rPr sz="3525" i="1" spc="89" baseline="14184" dirty="0">
                <a:latin typeface="Times New Roman"/>
                <a:cs typeface="Times New Roman"/>
              </a:rPr>
              <a:t>x</a:t>
            </a:r>
            <a:r>
              <a:rPr sz="1550" i="1" spc="60" dirty="0">
                <a:latin typeface="Times New Roman"/>
                <a:cs typeface="Times New Roman"/>
              </a:rPr>
              <a:t>i</a:t>
            </a:r>
            <a:r>
              <a:rPr sz="1550" i="1" spc="-110" dirty="0">
                <a:latin typeface="Times New Roman"/>
                <a:cs typeface="Times New Roman"/>
              </a:rPr>
              <a:t> </a:t>
            </a:r>
            <a:r>
              <a:rPr sz="1550" i="1" spc="-50" dirty="0">
                <a:latin typeface="Times New Roman"/>
                <a:cs typeface="Times New Roman"/>
              </a:rPr>
              <a:t>j i</a:t>
            </a:r>
            <a:endParaRPr sz="1550">
              <a:latin typeface="Times New Roman"/>
              <a:cs typeface="Times New Roman"/>
            </a:endParaRPr>
          </a:p>
          <a:p>
            <a:pPr marL="124460" marR="44450" indent="-86995">
              <a:lnSpc>
                <a:spcPct val="79300"/>
              </a:lnSpc>
              <a:spcBef>
                <a:spcPts val="1310"/>
              </a:spcBef>
            </a:pPr>
            <a:r>
              <a:rPr sz="3525" baseline="11820" dirty="0">
                <a:latin typeface="Symbol"/>
                <a:cs typeface="Symbol"/>
              </a:rPr>
              <a:t></a:t>
            </a:r>
            <a:r>
              <a:rPr sz="3525" spc="-187" baseline="11820" dirty="0">
                <a:latin typeface="Times New Roman"/>
                <a:cs typeface="Times New Roman"/>
              </a:rPr>
              <a:t> </a:t>
            </a:r>
            <a:r>
              <a:rPr sz="3525" i="1" spc="89" baseline="14184" dirty="0">
                <a:latin typeface="Times New Roman"/>
                <a:cs typeface="Times New Roman"/>
              </a:rPr>
              <a:t>x</a:t>
            </a:r>
            <a:r>
              <a:rPr sz="1550" i="1" spc="60" dirty="0">
                <a:latin typeface="Times New Roman"/>
                <a:cs typeface="Times New Roman"/>
              </a:rPr>
              <a:t>i</a:t>
            </a:r>
            <a:r>
              <a:rPr sz="1550" i="1" spc="-110" dirty="0">
                <a:latin typeface="Times New Roman"/>
                <a:cs typeface="Times New Roman"/>
              </a:rPr>
              <a:t> </a:t>
            </a:r>
            <a:r>
              <a:rPr sz="1550" i="1" spc="-50" dirty="0">
                <a:latin typeface="Times New Roman"/>
                <a:cs typeface="Times New Roman"/>
              </a:rPr>
              <a:t>j j</a:t>
            </a:r>
            <a:endParaRPr sz="155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  <a:spcBef>
                <a:spcPts val="395"/>
              </a:spcBef>
            </a:pPr>
            <a:r>
              <a:rPr sz="3525" i="1" spc="89" baseline="14184" dirty="0">
                <a:latin typeface="Times New Roman"/>
                <a:cs typeface="Times New Roman"/>
              </a:rPr>
              <a:t>x</a:t>
            </a:r>
            <a:r>
              <a:rPr sz="1550" i="1" spc="60" dirty="0">
                <a:latin typeface="Times New Roman"/>
                <a:cs typeface="Times New Roman"/>
              </a:rPr>
              <a:t>i</a:t>
            </a:r>
            <a:r>
              <a:rPr sz="1550" i="1" spc="-110" dirty="0">
                <a:latin typeface="Times New Roman"/>
                <a:cs typeface="Times New Roman"/>
              </a:rPr>
              <a:t> </a:t>
            </a:r>
            <a:r>
              <a:rPr sz="1550" i="1" spc="-50" dirty="0">
                <a:latin typeface="Times New Roman"/>
                <a:cs typeface="Times New Roman"/>
              </a:rPr>
              <a:t>j</a:t>
            </a:r>
            <a:endParaRPr sz="155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  <a:spcBef>
                <a:spcPts val="710"/>
              </a:spcBef>
            </a:pPr>
            <a:r>
              <a:rPr sz="3525" i="1" spc="89" baseline="14184" dirty="0">
                <a:latin typeface="Times New Roman"/>
                <a:cs typeface="Times New Roman"/>
              </a:rPr>
              <a:t>x</a:t>
            </a:r>
            <a:r>
              <a:rPr sz="1550" i="1" spc="60" dirty="0">
                <a:latin typeface="Times New Roman"/>
                <a:cs typeface="Times New Roman"/>
              </a:rPr>
              <a:t>i</a:t>
            </a:r>
            <a:r>
              <a:rPr sz="1550" i="1" spc="-110" dirty="0">
                <a:latin typeface="Times New Roman"/>
                <a:cs typeface="Times New Roman"/>
              </a:rPr>
              <a:t> </a:t>
            </a:r>
            <a:r>
              <a:rPr sz="1550" i="1" spc="-50" dirty="0">
                <a:latin typeface="Times New Roman"/>
                <a:cs typeface="Times New Roman"/>
              </a:rPr>
              <a:t>j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7473" y="3646006"/>
            <a:ext cx="3780790" cy="9226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10"/>
              </a:spcBef>
              <a:tabLst>
                <a:tab pos="484505" algn="l"/>
                <a:tab pos="968375" algn="l"/>
              </a:tabLst>
            </a:pPr>
            <a:r>
              <a:rPr sz="2350" spc="-50" dirty="0">
                <a:latin typeface="Symbol"/>
                <a:cs typeface="Symbol"/>
              </a:rPr>
              <a:t>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0</a:t>
            </a:r>
            <a:r>
              <a:rPr sz="2350" dirty="0">
                <a:latin typeface="Times New Roman"/>
                <a:cs typeface="Times New Roman"/>
              </a:rPr>
              <a:t>	for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all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j</a:t>
            </a:r>
            <a:r>
              <a:rPr sz="2350" i="1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J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i</a:t>
            </a:r>
            <a:r>
              <a:rPr sz="2350" i="1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M</a:t>
            </a:r>
            <a:r>
              <a:rPr sz="2350" i="1" spc="-200" dirty="0">
                <a:latin typeface="Times New Roman"/>
                <a:cs typeface="Times New Roman"/>
              </a:rPr>
              <a:t> </a:t>
            </a:r>
            <a:r>
              <a:rPr sz="2325" i="1" spc="-75" baseline="-21505" dirty="0">
                <a:latin typeface="Times New Roman"/>
                <a:cs typeface="Times New Roman"/>
              </a:rPr>
              <a:t>j</a:t>
            </a:r>
            <a:endParaRPr sz="2325" baseline="-21505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  <a:tabLst>
                <a:tab pos="484505" algn="l"/>
                <a:tab pos="968375" algn="l"/>
              </a:tabLst>
            </a:pPr>
            <a:r>
              <a:rPr sz="2350" spc="-50" dirty="0">
                <a:latin typeface="Symbol"/>
                <a:cs typeface="Symbol"/>
              </a:rPr>
              <a:t>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50" dirty="0">
                <a:latin typeface="Times New Roman"/>
                <a:cs typeface="Times New Roman"/>
              </a:rPr>
              <a:t>0</a:t>
            </a:r>
            <a:r>
              <a:rPr sz="2350" dirty="0">
                <a:latin typeface="Times New Roman"/>
                <a:cs typeface="Times New Roman"/>
              </a:rPr>
              <a:t>	for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all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j</a:t>
            </a:r>
            <a:r>
              <a:rPr sz="2350" i="1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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J</a:t>
            </a:r>
            <a:r>
              <a:rPr sz="2350" i="1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i</a:t>
            </a:r>
            <a:r>
              <a:rPr sz="2350" i="1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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i="1" spc="-25" dirty="0">
                <a:latin typeface="Times New Roman"/>
                <a:cs typeface="Times New Roman"/>
              </a:rPr>
              <a:t>M</a:t>
            </a:r>
            <a:r>
              <a:rPr sz="2350" i="1" spc="-200" dirty="0">
                <a:latin typeface="Times New Roman"/>
                <a:cs typeface="Times New Roman"/>
              </a:rPr>
              <a:t> </a:t>
            </a:r>
            <a:r>
              <a:rPr sz="2325" i="1" spc="-75" baseline="-21505" dirty="0">
                <a:latin typeface="Times New Roman"/>
                <a:cs typeface="Times New Roman"/>
              </a:rPr>
              <a:t>j</a:t>
            </a:r>
            <a:endParaRPr sz="2325" baseline="-2150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80391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90770" algn="l"/>
              </a:tabLst>
            </a:pPr>
            <a:r>
              <a:rPr spc="55" dirty="0"/>
              <a:t>Generalized</a:t>
            </a:r>
            <a:r>
              <a:rPr spc="100" dirty="0"/>
              <a:t> </a:t>
            </a:r>
            <a:r>
              <a:rPr spc="95" dirty="0"/>
              <a:t>load</a:t>
            </a:r>
            <a:r>
              <a:rPr spc="105" dirty="0"/>
              <a:t> </a:t>
            </a:r>
            <a:r>
              <a:rPr spc="40" dirty="0"/>
              <a:t>balancing:</a:t>
            </a:r>
            <a:r>
              <a:rPr dirty="0"/>
              <a:t>	structure</a:t>
            </a:r>
            <a:r>
              <a:rPr spc="-50" dirty="0"/>
              <a:t> </a:t>
            </a:r>
            <a:r>
              <a:rPr spc="80" dirty="0"/>
              <a:t>of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1439525" cy="243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  <a:tabLst>
                <a:tab pos="1698625" algn="l"/>
                <a:tab pos="4835525" algn="l"/>
                <a:tab pos="57918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Lemma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3.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LP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Let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edge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284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We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another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solution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459" dirty="0">
                <a:latin typeface="Times New Roman"/>
                <a:cs typeface="Times New Roman"/>
              </a:rPr>
              <a:t>(</a:t>
            </a:r>
            <a:r>
              <a:rPr sz="2400" i="1" spc="-459" dirty="0">
                <a:latin typeface="Times New Roman"/>
                <a:cs typeface="Times New Roman"/>
              </a:rPr>
              <a:t>x</a:t>
            </a:r>
            <a:r>
              <a:rPr sz="2400" spc="-459" dirty="0">
                <a:latin typeface="Symbol"/>
                <a:cs typeface="Symbol"/>
              </a:rPr>
              <a:t>ʹ</a:t>
            </a:r>
            <a:r>
              <a:rPr sz="2400" spc="-459" dirty="0">
                <a:latin typeface="Times New Roman"/>
                <a:cs typeface="Times New Roman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that </a:t>
            </a:r>
            <a:r>
              <a:rPr sz="2400" i="1" spc="-375" dirty="0">
                <a:latin typeface="Times New Roman"/>
                <a:cs typeface="Times New Roman"/>
              </a:rPr>
              <a:t>G</a:t>
            </a:r>
            <a:r>
              <a:rPr sz="2400" spc="-375" dirty="0">
                <a:latin typeface="Times New Roman"/>
                <a:cs typeface="Times New Roman"/>
              </a:rPr>
              <a:t>(</a:t>
            </a:r>
            <a:r>
              <a:rPr sz="2400" i="1" spc="-375" dirty="0">
                <a:latin typeface="Times New Roman"/>
                <a:cs typeface="Times New Roman"/>
              </a:rPr>
              <a:t>x</a:t>
            </a:r>
            <a:r>
              <a:rPr sz="2400" spc="-375" dirty="0">
                <a:latin typeface="Symbol"/>
                <a:cs typeface="Symbol"/>
              </a:rPr>
              <a:t>ʹ</a:t>
            </a:r>
            <a:r>
              <a:rPr sz="2400" spc="-375" dirty="0">
                <a:latin typeface="Times New Roman"/>
                <a:cs typeface="Times New Roman"/>
              </a:rPr>
              <a:t>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acyclic.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6197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 cycle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i="1" spc="-10" dirty="0">
                <a:latin typeface="Times New Roman"/>
                <a:cs typeface="Times New Roman"/>
              </a:rPr>
              <a:t>x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563620"/>
            <a:ext cx="537210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Augment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flow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along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cycle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C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49157" y="6167437"/>
            <a:ext cx="2214880" cy="2494280"/>
            <a:chOff x="2149157" y="6167437"/>
            <a:chExt cx="2214880" cy="2494280"/>
          </a:xfrm>
        </p:grpSpPr>
        <p:sp>
          <p:nvSpPr>
            <p:cNvPr id="7" name="object 7"/>
            <p:cNvSpPr/>
            <p:nvPr/>
          </p:nvSpPr>
          <p:spPr>
            <a:xfrm>
              <a:off x="2469780" y="6425881"/>
              <a:ext cx="1847214" cy="963294"/>
            </a:xfrm>
            <a:custGeom>
              <a:avLst/>
              <a:gdLst/>
              <a:ahLst/>
              <a:cxnLst/>
              <a:rect l="l" t="t" r="r" b="b"/>
              <a:pathLst>
                <a:path w="1847214" h="963295">
                  <a:moveTo>
                    <a:pt x="0" y="963099"/>
                  </a:moveTo>
                  <a:lnTo>
                    <a:pt x="1846842" y="0"/>
                  </a:lnTo>
                </a:path>
              </a:pathLst>
            </a:custGeom>
            <a:ln w="762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53920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23218" y="5372"/>
                  </a:lnTo>
                  <a:lnTo>
                    <a:pt x="83561" y="21491"/>
                  </a:lnTo>
                  <a:lnTo>
                    <a:pt x="48356" y="48356"/>
                  </a:lnTo>
                  <a:lnTo>
                    <a:pt x="21491" y="83561"/>
                  </a:lnTo>
                  <a:lnTo>
                    <a:pt x="5372" y="123218"/>
                  </a:lnTo>
                  <a:lnTo>
                    <a:pt x="0" y="165100"/>
                  </a:lnTo>
                  <a:lnTo>
                    <a:pt x="5372" y="206981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1" y="308708"/>
                  </a:lnTo>
                  <a:lnTo>
                    <a:pt x="123218" y="324827"/>
                  </a:lnTo>
                  <a:lnTo>
                    <a:pt x="165099" y="330200"/>
                  </a:lnTo>
                  <a:lnTo>
                    <a:pt x="206981" y="324827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1"/>
                  </a:lnTo>
                  <a:lnTo>
                    <a:pt x="330200" y="165100"/>
                  </a:lnTo>
                  <a:lnTo>
                    <a:pt x="324827" y="123218"/>
                  </a:lnTo>
                  <a:lnTo>
                    <a:pt x="308708" y="83561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1" y="5372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53920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69055" y="7547598"/>
              <a:ext cx="1847850" cy="985519"/>
            </a:xfrm>
            <a:custGeom>
              <a:avLst/>
              <a:gdLst/>
              <a:ahLst/>
              <a:cxnLst/>
              <a:rect l="l" t="t" r="r" b="b"/>
              <a:pathLst>
                <a:path w="1847850" h="985520">
                  <a:moveTo>
                    <a:pt x="0" y="0"/>
                  </a:moveTo>
                  <a:lnTo>
                    <a:pt x="1847569" y="985129"/>
                  </a:lnTo>
                </a:path>
              </a:pathLst>
            </a:custGeom>
            <a:ln w="762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8882" y="8623300"/>
              <a:ext cx="1828164" cy="0"/>
            </a:xfrm>
            <a:custGeom>
              <a:avLst/>
              <a:gdLst/>
              <a:ahLst/>
              <a:cxnLst/>
              <a:rect l="l" t="t" r="r" b="b"/>
              <a:pathLst>
                <a:path w="1828164">
                  <a:moveTo>
                    <a:pt x="0" y="0"/>
                  </a:moveTo>
                  <a:lnTo>
                    <a:pt x="209161" y="0"/>
                  </a:lnTo>
                </a:path>
                <a:path w="1828164">
                  <a:moveTo>
                    <a:pt x="415510" y="0"/>
                  </a:moveTo>
                  <a:lnTo>
                    <a:pt x="1827742" y="0"/>
                  </a:lnTo>
                </a:path>
              </a:pathLst>
            </a:custGeom>
            <a:ln w="762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88882" y="6337300"/>
              <a:ext cx="1828164" cy="0"/>
            </a:xfrm>
            <a:custGeom>
              <a:avLst/>
              <a:gdLst/>
              <a:ahLst/>
              <a:cxnLst/>
              <a:rect l="l" t="t" r="r" b="b"/>
              <a:pathLst>
                <a:path w="1828164">
                  <a:moveTo>
                    <a:pt x="0" y="0"/>
                  </a:moveTo>
                  <a:lnTo>
                    <a:pt x="216217" y="0"/>
                  </a:lnTo>
                </a:path>
                <a:path w="1828164">
                  <a:moveTo>
                    <a:pt x="422566" y="0"/>
                  </a:moveTo>
                  <a:lnTo>
                    <a:pt x="1827742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6031" y="6507162"/>
              <a:ext cx="1889760" cy="1993264"/>
            </a:xfrm>
            <a:custGeom>
              <a:avLst/>
              <a:gdLst/>
              <a:ahLst/>
              <a:cxnLst/>
              <a:rect l="l" t="t" r="r" b="b"/>
              <a:pathLst>
                <a:path w="1889760" h="1993265">
                  <a:moveTo>
                    <a:pt x="0" y="1992727"/>
                  </a:moveTo>
                  <a:lnTo>
                    <a:pt x="1889400" y="0"/>
                  </a:lnTo>
                </a:path>
              </a:pathLst>
            </a:custGeom>
            <a:ln w="762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05100" y="6224981"/>
              <a:ext cx="271145" cy="1014094"/>
            </a:xfrm>
            <a:custGeom>
              <a:avLst/>
              <a:gdLst/>
              <a:ahLst/>
              <a:cxnLst/>
              <a:rect l="l" t="t" r="r" b="b"/>
              <a:pathLst>
                <a:path w="271144" h="1014095">
                  <a:moveTo>
                    <a:pt x="206336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206336" y="190500"/>
                  </a:lnTo>
                  <a:lnTo>
                    <a:pt x="206336" y="0"/>
                  </a:lnTo>
                  <a:close/>
                </a:path>
                <a:path w="271144" h="1014095">
                  <a:moveTo>
                    <a:pt x="270548" y="823518"/>
                  </a:moveTo>
                  <a:lnTo>
                    <a:pt x="0" y="823518"/>
                  </a:lnTo>
                  <a:lnTo>
                    <a:pt x="0" y="1014018"/>
                  </a:lnTo>
                  <a:lnTo>
                    <a:pt x="270548" y="1014018"/>
                  </a:lnTo>
                  <a:lnTo>
                    <a:pt x="270548" y="823518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643649" y="6469354"/>
            <a:ext cx="1330325" cy="2016760"/>
            <a:chOff x="4643649" y="6469354"/>
            <a:chExt cx="1330325" cy="2016760"/>
          </a:xfrm>
        </p:grpSpPr>
        <p:sp>
          <p:nvSpPr>
            <p:cNvPr id="16" name="object 16"/>
            <p:cNvSpPr/>
            <p:nvPr/>
          </p:nvSpPr>
          <p:spPr>
            <a:xfrm>
              <a:off x="5638799" y="729488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23218" y="5372"/>
                  </a:lnTo>
                  <a:lnTo>
                    <a:pt x="83561" y="21491"/>
                  </a:lnTo>
                  <a:lnTo>
                    <a:pt x="48356" y="48356"/>
                  </a:lnTo>
                  <a:lnTo>
                    <a:pt x="21491" y="83562"/>
                  </a:lnTo>
                  <a:lnTo>
                    <a:pt x="5372" y="123218"/>
                  </a:lnTo>
                  <a:lnTo>
                    <a:pt x="0" y="165100"/>
                  </a:lnTo>
                  <a:lnTo>
                    <a:pt x="5372" y="206982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1" y="308708"/>
                  </a:lnTo>
                  <a:lnTo>
                    <a:pt x="123218" y="324827"/>
                  </a:lnTo>
                  <a:lnTo>
                    <a:pt x="165100" y="330200"/>
                  </a:lnTo>
                  <a:lnTo>
                    <a:pt x="206981" y="324827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2"/>
                  </a:lnTo>
                  <a:lnTo>
                    <a:pt x="330200" y="165100"/>
                  </a:lnTo>
                  <a:lnTo>
                    <a:pt x="324827" y="123218"/>
                  </a:lnTo>
                  <a:lnTo>
                    <a:pt x="308708" y="83562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1" y="5372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38799" y="729488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56349" y="6482054"/>
              <a:ext cx="1018540" cy="868044"/>
            </a:xfrm>
            <a:custGeom>
              <a:avLst/>
              <a:gdLst/>
              <a:ahLst/>
              <a:cxnLst/>
              <a:rect l="l" t="t" r="r" b="b"/>
              <a:pathLst>
                <a:path w="1018539" h="868045">
                  <a:moveTo>
                    <a:pt x="1018114" y="867622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56349" y="7572545"/>
              <a:ext cx="1020444" cy="901065"/>
            </a:xfrm>
            <a:custGeom>
              <a:avLst/>
              <a:gdLst/>
              <a:ahLst/>
              <a:cxnLst/>
              <a:rect l="l" t="t" r="r" b="b"/>
              <a:pathLst>
                <a:path w="1020445" h="901065">
                  <a:moveTo>
                    <a:pt x="1020075" y="0"/>
                  </a:moveTo>
                  <a:lnTo>
                    <a:pt x="0" y="90076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07750" y="6764303"/>
              <a:ext cx="206375" cy="190500"/>
            </a:xfrm>
            <a:custGeom>
              <a:avLst/>
              <a:gdLst/>
              <a:ahLst/>
              <a:cxnLst/>
              <a:rect l="l" t="t" r="r" b="b"/>
              <a:pathLst>
                <a:path w="206375" h="190500">
                  <a:moveTo>
                    <a:pt x="206349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206349" y="190500"/>
                  </a:lnTo>
                  <a:lnTo>
                    <a:pt x="206349" y="0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39900" y="62357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39900" y="74168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39900" y="84963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55900" y="69850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98043" y="8493759"/>
            <a:ext cx="206375" cy="190500"/>
          </a:xfrm>
          <a:custGeom>
            <a:avLst/>
            <a:gdLst/>
            <a:ahLst/>
            <a:cxnLst/>
            <a:rect l="l" t="t" r="r" b="b"/>
            <a:pathLst>
              <a:path w="206375" h="190500">
                <a:moveTo>
                  <a:pt x="206349" y="0"/>
                </a:moveTo>
                <a:lnTo>
                  <a:pt x="0" y="0"/>
                </a:lnTo>
                <a:lnTo>
                  <a:pt x="0" y="190500"/>
                </a:lnTo>
                <a:lnTo>
                  <a:pt x="206349" y="190500"/>
                </a:lnTo>
                <a:lnTo>
                  <a:pt x="206349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755900" y="84201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05100" y="8013700"/>
            <a:ext cx="206375" cy="190500"/>
          </a:xfrm>
          <a:custGeom>
            <a:avLst/>
            <a:gdLst/>
            <a:ahLst/>
            <a:cxnLst/>
            <a:rect l="l" t="t" r="r" b="b"/>
            <a:pathLst>
              <a:path w="206375" h="190500">
                <a:moveTo>
                  <a:pt x="206349" y="0"/>
                </a:moveTo>
                <a:lnTo>
                  <a:pt x="0" y="0"/>
                </a:lnTo>
                <a:lnTo>
                  <a:pt x="0" y="190500"/>
                </a:lnTo>
                <a:lnTo>
                  <a:pt x="206349" y="190500"/>
                </a:lnTo>
                <a:lnTo>
                  <a:pt x="206349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755900" y="79502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05100" y="7534203"/>
            <a:ext cx="206375" cy="190500"/>
          </a:xfrm>
          <a:custGeom>
            <a:avLst/>
            <a:gdLst/>
            <a:ahLst/>
            <a:cxnLst/>
            <a:rect l="l" t="t" r="r" b="b"/>
            <a:pathLst>
              <a:path w="206375" h="190500">
                <a:moveTo>
                  <a:pt x="206349" y="0"/>
                </a:moveTo>
                <a:lnTo>
                  <a:pt x="0" y="0"/>
                </a:lnTo>
                <a:lnTo>
                  <a:pt x="0" y="190499"/>
                </a:lnTo>
                <a:lnTo>
                  <a:pt x="206349" y="190499"/>
                </a:lnTo>
                <a:lnTo>
                  <a:pt x="206349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755900" y="74676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54600" y="66929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6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19040" y="7933831"/>
            <a:ext cx="206375" cy="190500"/>
          </a:xfrm>
          <a:custGeom>
            <a:avLst/>
            <a:gdLst/>
            <a:ahLst/>
            <a:cxnLst/>
            <a:rect l="l" t="t" r="r" b="b"/>
            <a:pathLst>
              <a:path w="206375" h="190500">
                <a:moveTo>
                  <a:pt x="206349" y="0"/>
                </a:moveTo>
                <a:lnTo>
                  <a:pt x="0" y="0"/>
                </a:lnTo>
                <a:lnTo>
                  <a:pt x="0" y="190500"/>
                </a:lnTo>
                <a:lnTo>
                  <a:pt x="206349" y="190500"/>
                </a:lnTo>
                <a:lnTo>
                  <a:pt x="206349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067300" y="78613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5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36900" y="8940800"/>
            <a:ext cx="500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Tahoma"/>
                <a:cs typeface="Tahoma"/>
              </a:rPr>
              <a:t>G(x)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168784" y="6167437"/>
            <a:ext cx="339725" cy="339725"/>
            <a:chOff x="10168784" y="6167437"/>
            <a:chExt cx="339725" cy="339725"/>
          </a:xfrm>
        </p:grpSpPr>
        <p:sp>
          <p:nvSpPr>
            <p:cNvPr id="36" name="object 36"/>
            <p:cNvSpPr/>
            <p:nvPr/>
          </p:nvSpPr>
          <p:spPr>
            <a:xfrm>
              <a:off x="10173547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330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330200" y="33020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173547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0168784" y="8453437"/>
            <a:ext cx="339725" cy="339725"/>
            <a:chOff x="10168784" y="8453437"/>
            <a:chExt cx="339725" cy="339725"/>
          </a:xfrm>
        </p:grpSpPr>
        <p:sp>
          <p:nvSpPr>
            <p:cNvPr id="39" name="object 39"/>
            <p:cNvSpPr/>
            <p:nvPr/>
          </p:nvSpPr>
          <p:spPr>
            <a:xfrm>
              <a:off x="10173547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330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330200" y="33020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173547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001317" y="6167437"/>
            <a:ext cx="2180590" cy="2625725"/>
            <a:chOff x="8001317" y="6167437"/>
            <a:chExt cx="2180590" cy="2625725"/>
          </a:xfrm>
        </p:grpSpPr>
        <p:sp>
          <p:nvSpPr>
            <p:cNvPr id="42" name="object 42"/>
            <p:cNvSpPr/>
            <p:nvPr/>
          </p:nvSpPr>
          <p:spPr>
            <a:xfrm>
              <a:off x="8006080" y="7302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23218" y="5372"/>
                  </a:lnTo>
                  <a:lnTo>
                    <a:pt x="83562" y="21491"/>
                  </a:lnTo>
                  <a:lnTo>
                    <a:pt x="48356" y="48356"/>
                  </a:lnTo>
                  <a:lnTo>
                    <a:pt x="21491" y="83561"/>
                  </a:lnTo>
                  <a:lnTo>
                    <a:pt x="5372" y="123218"/>
                  </a:lnTo>
                  <a:lnTo>
                    <a:pt x="0" y="165099"/>
                  </a:lnTo>
                  <a:lnTo>
                    <a:pt x="5372" y="206981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2" y="308708"/>
                  </a:lnTo>
                  <a:lnTo>
                    <a:pt x="123218" y="324827"/>
                  </a:lnTo>
                  <a:lnTo>
                    <a:pt x="165100" y="330200"/>
                  </a:lnTo>
                  <a:lnTo>
                    <a:pt x="206982" y="324827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1"/>
                  </a:lnTo>
                  <a:lnTo>
                    <a:pt x="330200" y="165100"/>
                  </a:lnTo>
                  <a:lnTo>
                    <a:pt x="324827" y="123218"/>
                  </a:lnTo>
                  <a:lnTo>
                    <a:pt x="308708" y="83561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2" y="5372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06080" y="7302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321942" y="6425881"/>
              <a:ext cx="1847214" cy="963294"/>
            </a:xfrm>
            <a:custGeom>
              <a:avLst/>
              <a:gdLst/>
              <a:ahLst/>
              <a:cxnLst/>
              <a:rect l="l" t="t" r="r" b="b"/>
              <a:pathLst>
                <a:path w="1847215" h="963295">
                  <a:moveTo>
                    <a:pt x="0" y="963099"/>
                  </a:moveTo>
                  <a:lnTo>
                    <a:pt x="184684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06080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23218" y="5372"/>
                  </a:lnTo>
                  <a:lnTo>
                    <a:pt x="83562" y="21491"/>
                  </a:lnTo>
                  <a:lnTo>
                    <a:pt x="48356" y="48356"/>
                  </a:lnTo>
                  <a:lnTo>
                    <a:pt x="21491" y="83561"/>
                  </a:lnTo>
                  <a:lnTo>
                    <a:pt x="5372" y="123218"/>
                  </a:lnTo>
                  <a:lnTo>
                    <a:pt x="0" y="165100"/>
                  </a:lnTo>
                  <a:lnTo>
                    <a:pt x="5372" y="206981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2" y="308708"/>
                  </a:lnTo>
                  <a:lnTo>
                    <a:pt x="123218" y="324827"/>
                  </a:lnTo>
                  <a:lnTo>
                    <a:pt x="165100" y="330200"/>
                  </a:lnTo>
                  <a:lnTo>
                    <a:pt x="206982" y="324827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1"/>
                  </a:lnTo>
                  <a:lnTo>
                    <a:pt x="330200" y="165100"/>
                  </a:lnTo>
                  <a:lnTo>
                    <a:pt x="324827" y="123218"/>
                  </a:lnTo>
                  <a:lnTo>
                    <a:pt x="308708" y="83561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2" y="5372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006080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06080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23218" y="5372"/>
                  </a:lnTo>
                  <a:lnTo>
                    <a:pt x="83562" y="21491"/>
                  </a:lnTo>
                  <a:lnTo>
                    <a:pt x="48356" y="48356"/>
                  </a:lnTo>
                  <a:lnTo>
                    <a:pt x="21491" y="83561"/>
                  </a:lnTo>
                  <a:lnTo>
                    <a:pt x="5372" y="123218"/>
                  </a:lnTo>
                  <a:lnTo>
                    <a:pt x="0" y="165099"/>
                  </a:lnTo>
                  <a:lnTo>
                    <a:pt x="5372" y="206981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2" y="308708"/>
                  </a:lnTo>
                  <a:lnTo>
                    <a:pt x="123218" y="324826"/>
                  </a:lnTo>
                  <a:lnTo>
                    <a:pt x="165100" y="330199"/>
                  </a:lnTo>
                  <a:lnTo>
                    <a:pt x="206982" y="324826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1"/>
                  </a:lnTo>
                  <a:lnTo>
                    <a:pt x="330200" y="165099"/>
                  </a:lnTo>
                  <a:lnTo>
                    <a:pt x="324827" y="123218"/>
                  </a:lnTo>
                  <a:lnTo>
                    <a:pt x="308708" y="83561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2" y="5372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06080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21215" y="7547598"/>
              <a:ext cx="1847850" cy="985519"/>
            </a:xfrm>
            <a:custGeom>
              <a:avLst/>
              <a:gdLst/>
              <a:ahLst/>
              <a:cxnLst/>
              <a:rect l="l" t="t" r="r" b="b"/>
              <a:pathLst>
                <a:path w="1847850" h="985520">
                  <a:moveTo>
                    <a:pt x="0" y="0"/>
                  </a:moveTo>
                  <a:lnTo>
                    <a:pt x="1847569" y="98512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41042" y="6337300"/>
              <a:ext cx="1828164" cy="2286000"/>
            </a:xfrm>
            <a:custGeom>
              <a:avLst/>
              <a:gdLst/>
              <a:ahLst/>
              <a:cxnLst/>
              <a:rect l="l" t="t" r="r" b="b"/>
              <a:pathLst>
                <a:path w="1828165" h="2286000">
                  <a:moveTo>
                    <a:pt x="0" y="2286000"/>
                  </a:moveTo>
                  <a:lnTo>
                    <a:pt x="209161" y="2286000"/>
                  </a:lnTo>
                </a:path>
                <a:path w="1828165" h="2286000">
                  <a:moveTo>
                    <a:pt x="415510" y="2286000"/>
                  </a:moveTo>
                  <a:lnTo>
                    <a:pt x="1827742" y="2286000"/>
                  </a:lnTo>
                </a:path>
                <a:path w="1828165" h="2286000">
                  <a:moveTo>
                    <a:pt x="0" y="0"/>
                  </a:moveTo>
                  <a:lnTo>
                    <a:pt x="218757" y="0"/>
                  </a:lnTo>
                </a:path>
                <a:path w="1828165" h="2286000">
                  <a:moveTo>
                    <a:pt x="425106" y="0"/>
                  </a:moveTo>
                  <a:lnTo>
                    <a:pt x="1827742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10495809" y="6469076"/>
            <a:ext cx="1332865" cy="2017395"/>
            <a:chOff x="10495809" y="6469076"/>
            <a:chExt cx="1332865" cy="2017395"/>
          </a:xfrm>
        </p:grpSpPr>
        <p:sp>
          <p:nvSpPr>
            <p:cNvPr id="52" name="object 52"/>
            <p:cNvSpPr/>
            <p:nvPr/>
          </p:nvSpPr>
          <p:spPr>
            <a:xfrm>
              <a:off x="11493500" y="729488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099" y="0"/>
                  </a:moveTo>
                  <a:lnTo>
                    <a:pt x="123218" y="5372"/>
                  </a:lnTo>
                  <a:lnTo>
                    <a:pt x="83561" y="21491"/>
                  </a:lnTo>
                  <a:lnTo>
                    <a:pt x="48356" y="48356"/>
                  </a:lnTo>
                  <a:lnTo>
                    <a:pt x="21491" y="83562"/>
                  </a:lnTo>
                  <a:lnTo>
                    <a:pt x="5372" y="123218"/>
                  </a:lnTo>
                  <a:lnTo>
                    <a:pt x="0" y="165100"/>
                  </a:lnTo>
                  <a:lnTo>
                    <a:pt x="5372" y="206982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1" y="308708"/>
                  </a:lnTo>
                  <a:lnTo>
                    <a:pt x="123218" y="324827"/>
                  </a:lnTo>
                  <a:lnTo>
                    <a:pt x="165099" y="330200"/>
                  </a:lnTo>
                  <a:lnTo>
                    <a:pt x="206981" y="324827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2"/>
                  </a:lnTo>
                  <a:lnTo>
                    <a:pt x="330199" y="165100"/>
                  </a:lnTo>
                  <a:lnTo>
                    <a:pt x="324827" y="123218"/>
                  </a:lnTo>
                  <a:lnTo>
                    <a:pt x="308708" y="83562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1" y="5372"/>
                  </a:lnTo>
                  <a:lnTo>
                    <a:pt x="165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493500" y="729488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508509" y="6481776"/>
              <a:ext cx="1021080" cy="868044"/>
            </a:xfrm>
            <a:custGeom>
              <a:avLst/>
              <a:gdLst/>
              <a:ahLst/>
              <a:cxnLst/>
              <a:rect l="l" t="t" r="r" b="b"/>
              <a:pathLst>
                <a:path w="1021079" h="868045">
                  <a:moveTo>
                    <a:pt x="1020549" y="868024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508509" y="7572423"/>
              <a:ext cx="1022985" cy="901700"/>
            </a:xfrm>
            <a:custGeom>
              <a:avLst/>
              <a:gdLst/>
              <a:ahLst/>
              <a:cxnLst/>
              <a:rect l="l" t="t" r="r" b="b"/>
              <a:pathLst>
                <a:path w="1022984" h="901700">
                  <a:moveTo>
                    <a:pt x="1022507" y="0"/>
                  </a:moveTo>
                  <a:lnTo>
                    <a:pt x="0" y="90117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859911" y="6662703"/>
              <a:ext cx="206375" cy="190500"/>
            </a:xfrm>
            <a:custGeom>
              <a:avLst/>
              <a:gdLst/>
              <a:ahLst/>
              <a:cxnLst/>
              <a:rect l="l" t="t" r="r" b="b"/>
              <a:pathLst>
                <a:path w="206375" h="190500">
                  <a:moveTo>
                    <a:pt x="206349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206349" y="190500"/>
                  </a:lnTo>
                  <a:lnTo>
                    <a:pt x="206349" y="0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569200" y="62103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569200" y="73914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69200" y="84709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003F83"/>
                </a:solidFill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755900" y="6159500"/>
            <a:ext cx="60090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6765" algn="l"/>
              </a:tabLst>
            </a:pPr>
            <a:r>
              <a:rPr sz="1600" spc="-50" dirty="0">
                <a:latin typeface="Lucida Sans Unicode"/>
                <a:cs typeface="Lucida Sans Unicode"/>
              </a:rPr>
              <a:t>3</a:t>
            </a:r>
            <a:r>
              <a:rPr sz="1600" dirty="0">
                <a:latin typeface="Lucida Sans Unicode"/>
                <a:cs typeface="Lucida Sans Unicode"/>
              </a:rPr>
              <a:t>	</a:t>
            </a:r>
            <a:r>
              <a:rPr sz="1600" spc="-50" dirty="0"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559800" y="7048500"/>
            <a:ext cx="271145" cy="190500"/>
          </a:xfrm>
          <a:custGeom>
            <a:avLst/>
            <a:gdLst/>
            <a:ahLst/>
            <a:cxnLst/>
            <a:rect l="l" t="t" r="r" b="b"/>
            <a:pathLst>
              <a:path w="271145" h="190500">
                <a:moveTo>
                  <a:pt x="270560" y="0"/>
                </a:moveTo>
                <a:lnTo>
                  <a:pt x="0" y="0"/>
                </a:lnTo>
                <a:lnTo>
                  <a:pt x="0" y="190500"/>
                </a:lnTo>
                <a:lnTo>
                  <a:pt x="270560" y="190500"/>
                </a:lnTo>
                <a:lnTo>
                  <a:pt x="27056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8610600" y="69850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3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550203" y="8493759"/>
            <a:ext cx="206375" cy="190500"/>
          </a:xfrm>
          <a:custGeom>
            <a:avLst/>
            <a:gdLst/>
            <a:ahLst/>
            <a:cxnLst/>
            <a:rect l="l" t="t" r="r" b="b"/>
            <a:pathLst>
              <a:path w="206375" h="190500">
                <a:moveTo>
                  <a:pt x="206349" y="0"/>
                </a:moveTo>
                <a:lnTo>
                  <a:pt x="0" y="0"/>
                </a:lnTo>
                <a:lnTo>
                  <a:pt x="0" y="190500"/>
                </a:lnTo>
                <a:lnTo>
                  <a:pt x="206349" y="190500"/>
                </a:lnTo>
                <a:lnTo>
                  <a:pt x="206349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8597900" y="84201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4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559800" y="7610403"/>
            <a:ext cx="206375" cy="190500"/>
          </a:xfrm>
          <a:custGeom>
            <a:avLst/>
            <a:gdLst/>
            <a:ahLst/>
            <a:cxnLst/>
            <a:rect l="l" t="t" r="r" b="b"/>
            <a:pathLst>
              <a:path w="206375" h="190500">
                <a:moveTo>
                  <a:pt x="206349" y="0"/>
                </a:moveTo>
                <a:lnTo>
                  <a:pt x="0" y="0"/>
                </a:lnTo>
                <a:lnTo>
                  <a:pt x="0" y="190499"/>
                </a:lnTo>
                <a:lnTo>
                  <a:pt x="206349" y="190499"/>
                </a:lnTo>
                <a:lnTo>
                  <a:pt x="206349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610600" y="75438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1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909300" y="65913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6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871200" y="7933831"/>
            <a:ext cx="206375" cy="190500"/>
          </a:xfrm>
          <a:custGeom>
            <a:avLst/>
            <a:gdLst/>
            <a:ahLst/>
            <a:cxnLst/>
            <a:rect l="l" t="t" r="r" b="b"/>
            <a:pathLst>
              <a:path w="206375" h="190500">
                <a:moveTo>
                  <a:pt x="206349" y="0"/>
                </a:moveTo>
                <a:lnTo>
                  <a:pt x="0" y="0"/>
                </a:lnTo>
                <a:lnTo>
                  <a:pt x="0" y="190500"/>
                </a:lnTo>
                <a:lnTo>
                  <a:pt x="206349" y="190500"/>
                </a:lnTo>
                <a:lnTo>
                  <a:pt x="206349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0922000" y="7861300"/>
            <a:ext cx="1543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Lucida Sans Unicode"/>
                <a:cs typeface="Lucida Sans Unicode"/>
              </a:rPr>
              <a:t>5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978900" y="8940800"/>
            <a:ext cx="580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" dirty="0">
                <a:latin typeface="Tahoma"/>
                <a:cs typeface="Tahoma"/>
              </a:rPr>
              <a:t>G(x′)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89000" y="4046220"/>
            <a:ext cx="9344025" cy="2141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4210"/>
              </a:lnSpc>
              <a:spcBef>
                <a:spcPts val="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removed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added).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4210"/>
              </a:lnSpc>
              <a:tabLst>
                <a:tab pos="4750435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Repeat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until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spc="-375" dirty="0">
                <a:latin typeface="Times New Roman"/>
                <a:cs typeface="Times New Roman"/>
              </a:rPr>
              <a:t>G</a:t>
            </a:r>
            <a:r>
              <a:rPr sz="2400" spc="-375" dirty="0">
                <a:latin typeface="Times New Roman"/>
                <a:cs typeface="Times New Roman"/>
              </a:rPr>
              <a:t>(</a:t>
            </a:r>
            <a:r>
              <a:rPr sz="2400" i="1" spc="-375" dirty="0">
                <a:latin typeface="Times New Roman"/>
                <a:cs typeface="Times New Roman"/>
              </a:rPr>
              <a:t>x</a:t>
            </a:r>
            <a:r>
              <a:rPr sz="2400" spc="-375" dirty="0">
                <a:latin typeface="Symbol"/>
                <a:cs typeface="Symbol"/>
              </a:rPr>
              <a:t>ʹ</a:t>
            </a:r>
            <a:r>
              <a:rPr sz="2400" spc="-375" dirty="0">
                <a:latin typeface="Times New Roman"/>
                <a:cs typeface="Times New Roman"/>
              </a:rPr>
              <a:t>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acyclic.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 marL="4762500" marR="3145155" algn="ctr">
              <a:lnSpc>
                <a:spcPct val="119800"/>
              </a:lnSpc>
              <a:spcBef>
                <a:spcPts val="3650"/>
              </a:spcBef>
            </a:pPr>
            <a:r>
              <a:rPr sz="1600" b="1" dirty="0">
                <a:solidFill>
                  <a:srgbClr val="8D3124"/>
                </a:solidFill>
                <a:latin typeface="Tahoma"/>
                <a:cs typeface="Tahoma"/>
              </a:rPr>
              <a:t>augment</a:t>
            </a:r>
            <a:r>
              <a:rPr sz="1600" b="1" spc="95" dirty="0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8D3124"/>
                </a:solidFill>
                <a:latin typeface="Tahoma"/>
                <a:cs typeface="Tahoma"/>
              </a:rPr>
              <a:t>flow </a:t>
            </a:r>
            <a:r>
              <a:rPr sz="1600" b="1" dirty="0">
                <a:solidFill>
                  <a:srgbClr val="8D3124"/>
                </a:solidFill>
                <a:latin typeface="Tahoma"/>
                <a:cs typeface="Tahoma"/>
              </a:rPr>
              <a:t>along</a:t>
            </a:r>
            <a:r>
              <a:rPr sz="1600" b="1" spc="100" dirty="0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8D3124"/>
                </a:solidFill>
                <a:latin typeface="Tahoma"/>
                <a:cs typeface="Tahoma"/>
              </a:rPr>
              <a:t>cycle</a:t>
            </a:r>
            <a:r>
              <a:rPr sz="1600" b="1" spc="100" dirty="0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sz="1600" b="1" spc="20" dirty="0">
                <a:solidFill>
                  <a:srgbClr val="8D3124"/>
                </a:solidFill>
                <a:latin typeface="Tahoma"/>
                <a:cs typeface="Tahoma"/>
              </a:rPr>
              <a:t>C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048500" y="3797300"/>
            <a:ext cx="29533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flow</a:t>
            </a:r>
            <a:r>
              <a:rPr sz="1600" spc="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conservation</a:t>
            </a:r>
            <a:r>
              <a:rPr sz="1600" spc="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maintained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350000" y="3906520"/>
            <a:ext cx="498475" cy="121920"/>
            <a:chOff x="6350000" y="3906520"/>
            <a:chExt cx="498475" cy="121920"/>
          </a:xfrm>
        </p:grpSpPr>
        <p:sp>
          <p:nvSpPr>
            <p:cNvPr id="74" name="object 74"/>
            <p:cNvSpPr/>
            <p:nvPr/>
          </p:nvSpPr>
          <p:spPr>
            <a:xfrm>
              <a:off x="6428739" y="3967480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4">
                  <a:moveTo>
                    <a:pt x="0" y="0"/>
                  </a:moveTo>
                  <a:lnTo>
                    <a:pt x="12700" y="0"/>
                  </a:lnTo>
                  <a:lnTo>
                    <a:pt x="419382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350000" y="390652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20" y="0"/>
                  </a:moveTo>
                  <a:lnTo>
                    <a:pt x="0" y="60959"/>
                  </a:lnTo>
                  <a:lnTo>
                    <a:pt x="121920" y="121919"/>
                  </a:lnTo>
                  <a:lnTo>
                    <a:pt x="91439" y="60959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4316624" y="6167437"/>
            <a:ext cx="339725" cy="339725"/>
            <a:chOff x="4316624" y="6167437"/>
            <a:chExt cx="339725" cy="339725"/>
          </a:xfrm>
        </p:grpSpPr>
        <p:sp>
          <p:nvSpPr>
            <p:cNvPr id="77" name="object 77"/>
            <p:cNvSpPr/>
            <p:nvPr/>
          </p:nvSpPr>
          <p:spPr>
            <a:xfrm>
              <a:off x="4321387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330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330200" y="33020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321387" y="6172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2149157" y="7297737"/>
            <a:ext cx="339725" cy="1495425"/>
            <a:chOff x="2149157" y="7297737"/>
            <a:chExt cx="339725" cy="1495425"/>
          </a:xfrm>
        </p:grpSpPr>
        <p:sp>
          <p:nvSpPr>
            <p:cNvPr id="80" name="object 80"/>
            <p:cNvSpPr/>
            <p:nvPr/>
          </p:nvSpPr>
          <p:spPr>
            <a:xfrm>
              <a:off x="2153920" y="7302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23218" y="5372"/>
                  </a:lnTo>
                  <a:lnTo>
                    <a:pt x="83561" y="21491"/>
                  </a:lnTo>
                  <a:lnTo>
                    <a:pt x="48356" y="48356"/>
                  </a:lnTo>
                  <a:lnTo>
                    <a:pt x="21491" y="83561"/>
                  </a:lnTo>
                  <a:lnTo>
                    <a:pt x="5372" y="123218"/>
                  </a:lnTo>
                  <a:lnTo>
                    <a:pt x="0" y="165099"/>
                  </a:lnTo>
                  <a:lnTo>
                    <a:pt x="5372" y="206981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1" y="308708"/>
                  </a:lnTo>
                  <a:lnTo>
                    <a:pt x="123218" y="324827"/>
                  </a:lnTo>
                  <a:lnTo>
                    <a:pt x="165099" y="330200"/>
                  </a:lnTo>
                  <a:lnTo>
                    <a:pt x="206981" y="324827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1"/>
                  </a:lnTo>
                  <a:lnTo>
                    <a:pt x="330200" y="165100"/>
                  </a:lnTo>
                  <a:lnTo>
                    <a:pt x="324827" y="123218"/>
                  </a:lnTo>
                  <a:lnTo>
                    <a:pt x="308708" y="83561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1" y="5372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53920" y="73025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153920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5100" y="0"/>
                  </a:moveTo>
                  <a:lnTo>
                    <a:pt x="123218" y="5372"/>
                  </a:lnTo>
                  <a:lnTo>
                    <a:pt x="83561" y="21491"/>
                  </a:lnTo>
                  <a:lnTo>
                    <a:pt x="48356" y="48356"/>
                  </a:lnTo>
                  <a:lnTo>
                    <a:pt x="21491" y="83561"/>
                  </a:lnTo>
                  <a:lnTo>
                    <a:pt x="5372" y="123218"/>
                  </a:lnTo>
                  <a:lnTo>
                    <a:pt x="0" y="165099"/>
                  </a:lnTo>
                  <a:lnTo>
                    <a:pt x="5372" y="206981"/>
                  </a:lnTo>
                  <a:lnTo>
                    <a:pt x="21491" y="246638"/>
                  </a:lnTo>
                  <a:lnTo>
                    <a:pt x="48356" y="281843"/>
                  </a:lnTo>
                  <a:lnTo>
                    <a:pt x="83561" y="308708"/>
                  </a:lnTo>
                  <a:lnTo>
                    <a:pt x="123218" y="324826"/>
                  </a:lnTo>
                  <a:lnTo>
                    <a:pt x="165099" y="330199"/>
                  </a:lnTo>
                  <a:lnTo>
                    <a:pt x="206981" y="324826"/>
                  </a:lnTo>
                  <a:lnTo>
                    <a:pt x="246638" y="308708"/>
                  </a:lnTo>
                  <a:lnTo>
                    <a:pt x="281843" y="281843"/>
                  </a:lnTo>
                  <a:lnTo>
                    <a:pt x="308708" y="246638"/>
                  </a:lnTo>
                  <a:lnTo>
                    <a:pt x="324827" y="206981"/>
                  </a:lnTo>
                  <a:lnTo>
                    <a:pt x="330200" y="165099"/>
                  </a:lnTo>
                  <a:lnTo>
                    <a:pt x="324827" y="123218"/>
                  </a:lnTo>
                  <a:lnTo>
                    <a:pt x="308708" y="83561"/>
                  </a:lnTo>
                  <a:lnTo>
                    <a:pt x="281843" y="48356"/>
                  </a:lnTo>
                  <a:lnTo>
                    <a:pt x="246638" y="21491"/>
                  </a:lnTo>
                  <a:lnTo>
                    <a:pt x="206981" y="5372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153920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281843" y="48356"/>
                  </a:moveTo>
                  <a:lnTo>
                    <a:pt x="308708" y="83561"/>
                  </a:lnTo>
                  <a:lnTo>
                    <a:pt x="324827" y="123218"/>
                  </a:lnTo>
                  <a:lnTo>
                    <a:pt x="330199" y="165099"/>
                  </a:lnTo>
                  <a:lnTo>
                    <a:pt x="324827" y="206981"/>
                  </a:lnTo>
                  <a:lnTo>
                    <a:pt x="308708" y="246638"/>
                  </a:lnTo>
                  <a:lnTo>
                    <a:pt x="281843" y="281843"/>
                  </a:lnTo>
                  <a:lnTo>
                    <a:pt x="246638" y="308708"/>
                  </a:lnTo>
                  <a:lnTo>
                    <a:pt x="206981" y="324827"/>
                  </a:lnTo>
                  <a:lnTo>
                    <a:pt x="165099" y="330199"/>
                  </a:lnTo>
                  <a:lnTo>
                    <a:pt x="123218" y="324827"/>
                  </a:lnTo>
                  <a:lnTo>
                    <a:pt x="83561" y="308708"/>
                  </a:lnTo>
                  <a:lnTo>
                    <a:pt x="48356" y="281843"/>
                  </a:lnTo>
                  <a:lnTo>
                    <a:pt x="21491" y="246638"/>
                  </a:lnTo>
                  <a:lnTo>
                    <a:pt x="5372" y="206981"/>
                  </a:lnTo>
                  <a:lnTo>
                    <a:pt x="0" y="165099"/>
                  </a:lnTo>
                  <a:lnTo>
                    <a:pt x="5372" y="123218"/>
                  </a:lnTo>
                  <a:lnTo>
                    <a:pt x="21491" y="83561"/>
                  </a:lnTo>
                  <a:lnTo>
                    <a:pt x="48356" y="48356"/>
                  </a:lnTo>
                  <a:lnTo>
                    <a:pt x="83561" y="21491"/>
                  </a:lnTo>
                  <a:lnTo>
                    <a:pt x="123218" y="5372"/>
                  </a:lnTo>
                  <a:lnTo>
                    <a:pt x="165099" y="0"/>
                  </a:lnTo>
                  <a:lnTo>
                    <a:pt x="206981" y="5372"/>
                  </a:lnTo>
                  <a:lnTo>
                    <a:pt x="246638" y="21491"/>
                  </a:lnTo>
                  <a:lnTo>
                    <a:pt x="281843" y="4835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4316624" y="8453437"/>
            <a:ext cx="339725" cy="339725"/>
            <a:chOff x="4316624" y="8453437"/>
            <a:chExt cx="339725" cy="339725"/>
          </a:xfrm>
        </p:grpSpPr>
        <p:sp>
          <p:nvSpPr>
            <p:cNvPr id="85" name="object 85"/>
            <p:cNvSpPr/>
            <p:nvPr/>
          </p:nvSpPr>
          <p:spPr>
            <a:xfrm>
              <a:off x="4321387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3302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330200" y="33020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321387" y="8458200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0" y="0"/>
                  </a:moveTo>
                  <a:lnTo>
                    <a:pt x="330200" y="0"/>
                  </a:lnTo>
                  <a:lnTo>
                    <a:pt x="3302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Conclusions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16660"/>
            <a:ext cx="11376660" cy="243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94155">
              <a:lnSpc>
                <a:spcPct val="131900"/>
              </a:lnSpc>
              <a:spcBef>
                <a:spcPts val="100"/>
              </a:spcBef>
              <a:tabLst>
                <a:tab pos="228092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Running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bottleneck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operation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our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45" dirty="0">
                <a:latin typeface="Lucida Sans Unicode"/>
                <a:cs typeface="Lucida Sans Unicode"/>
              </a:rPr>
              <a:t>approximation </a:t>
            </a:r>
            <a:r>
              <a:rPr sz="2400" spc="-25" dirty="0">
                <a:latin typeface="Lucida Sans Unicode"/>
                <a:cs typeface="Lucida Sans Unicode"/>
              </a:rPr>
              <a:t>is </a:t>
            </a:r>
            <a:r>
              <a:rPr sz="2400" dirty="0">
                <a:latin typeface="Lucida Sans Unicode"/>
                <a:cs typeface="Lucida Sans Unicode"/>
              </a:rPr>
              <a:t>solving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i="1" spc="-1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variables.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5080">
              <a:lnSpc>
                <a:spcPct val="131900"/>
              </a:lnSpc>
              <a:spcBef>
                <a:spcPts val="5"/>
              </a:spcBef>
              <a:tabLst>
                <a:tab pos="1419860" algn="l"/>
                <a:tab pos="569150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LP</a:t>
            </a:r>
            <a:r>
              <a:rPr sz="2400" i="1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flow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techniques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m</a:t>
            </a:r>
            <a:r>
              <a:rPr sz="2400" i="1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nodes: 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Lucida Sans Unicode"/>
                <a:cs typeface="Lucida Sans Unicode"/>
              </a:rPr>
              <a:t>, find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feasible flow if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 </a:t>
            </a:r>
            <a:r>
              <a:rPr sz="2400" spc="-10" dirty="0">
                <a:latin typeface="Lucida Sans Unicode"/>
                <a:cs typeface="Lucida Sans Unicode"/>
              </a:rPr>
              <a:t>exists.</a:t>
            </a:r>
            <a:r>
              <a:rPr sz="2400" dirty="0">
                <a:latin typeface="Lucida Sans Unicode"/>
                <a:cs typeface="Lucida Sans Unicode"/>
              </a:rPr>
              <a:t>	Binary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L</a:t>
            </a:r>
            <a:r>
              <a:rPr sz="2400" spc="-25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4711700"/>
            <a:ext cx="10963275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1926589" algn="l"/>
                <a:tab pos="63017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Extensions: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unrelated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parallel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machines.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[Lenstra–Shmoys</a:t>
            </a:r>
            <a:r>
              <a:rPr sz="2300" dirty="0">
                <a:solidFill>
                  <a:srgbClr val="606060"/>
                </a:solidFill>
                <a:latin typeface="Lucida Sans Unicode"/>
                <a:cs typeface="Lucida Sans Unicode"/>
              </a:rPr>
              <a:t>–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Tardos</a:t>
            </a:r>
            <a:r>
              <a:rPr sz="2400" spc="-9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1990]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127" baseline="-8658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Job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j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baseline="-19097" dirty="0">
                <a:latin typeface="Times New Roman"/>
                <a:cs typeface="Times New Roman"/>
              </a:rPr>
              <a:t>ij</a:t>
            </a:r>
            <a:r>
              <a:rPr sz="2400" i="1" spc="509" baseline="-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processed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machine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spc="-65" dirty="0">
                <a:latin typeface="Lucida Sans Unicode"/>
                <a:cs typeface="Lucida Sans Unicode"/>
              </a:rPr>
              <a:t>2-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via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LP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rounding.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b="1" dirty="0">
                <a:latin typeface="Tahoma"/>
                <a:cs typeface="Tahoma"/>
              </a:rPr>
              <a:t>P</a:t>
            </a:r>
            <a:r>
              <a:rPr sz="2400" b="1" spc="15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ahoma"/>
                <a:cs typeface="Tahoma"/>
              </a:rPr>
              <a:t>NP</a:t>
            </a:r>
            <a:r>
              <a:rPr sz="2400" spc="-20" dirty="0">
                <a:latin typeface="Lucida Sans Unicode"/>
                <a:cs typeface="Lucida Sans Unicode"/>
              </a:rPr>
              <a:t>,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35" dirty="0">
                <a:latin typeface="Symbol"/>
                <a:cs typeface="Symbol"/>
              </a:rPr>
              <a:t></a:t>
            </a:r>
            <a:r>
              <a:rPr sz="2400" spc="-35" dirty="0">
                <a:latin typeface="Lucida Sans Unicode"/>
                <a:cs typeface="Lucida Sans Unicode"/>
              </a:rPr>
              <a:t>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</a:t>
            </a:r>
            <a:r>
              <a:rPr sz="2400" spc="-20" dirty="0">
                <a:latin typeface="Times New Roman"/>
                <a:cs typeface="Times New Roman"/>
              </a:rPr>
              <a:t> &lt; 3/2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7800" y="7008282"/>
            <a:ext cx="5016500" cy="240241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2900"/>
            <a:ext cx="6712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8700" algn="l"/>
                <a:tab pos="4297680" algn="l"/>
              </a:tabLst>
            </a:pPr>
            <a:r>
              <a:rPr sz="3600" b="1" cap="small" spc="-25" dirty="0">
                <a:latin typeface="Tahoma"/>
                <a:cs typeface="Tahoma"/>
              </a:rPr>
              <a:t>11.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50" dirty="0">
                <a:latin typeface="Tahoma"/>
                <a:cs typeface="Tahoma"/>
              </a:rPr>
              <a:t>Approximation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04" dirty="0">
                <a:latin typeface="Tahoma"/>
                <a:cs typeface="Tahoma"/>
              </a:rPr>
              <a:t>Algorithms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195" dirty="0"/>
              <a:t>load</a:t>
            </a:r>
            <a:r>
              <a:rPr sz="3000" spc="-170" dirty="0"/>
              <a:t> </a:t>
            </a:r>
            <a:r>
              <a:rPr sz="3000" spc="-95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35" dirty="0"/>
              <a:t>center</a:t>
            </a:r>
            <a:r>
              <a:rPr sz="3000" spc="-175" dirty="0"/>
              <a:t> </a:t>
            </a:r>
            <a:r>
              <a:rPr sz="3000" spc="-305" dirty="0"/>
              <a:t>selection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10" dirty="0"/>
              <a:t>pricing</a:t>
            </a:r>
            <a:r>
              <a:rPr sz="3000" spc="-160" dirty="0"/>
              <a:t> </a:t>
            </a:r>
            <a:r>
              <a:rPr sz="3000" spc="-390" dirty="0"/>
              <a:t>method:</a:t>
            </a:r>
            <a:r>
              <a:rPr sz="3000" spc="-155" dirty="0"/>
              <a:t> </a:t>
            </a:r>
            <a:r>
              <a:rPr sz="3000" spc="-295" dirty="0"/>
              <a:t>weighted</a:t>
            </a:r>
            <a:r>
              <a:rPr sz="3000" spc="-155" dirty="0"/>
              <a:t> </a:t>
            </a:r>
            <a:r>
              <a:rPr sz="3000" spc="-355" dirty="0"/>
              <a:t>vertex</a:t>
            </a:r>
            <a:r>
              <a:rPr sz="3000" spc="-155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440" dirty="0"/>
              <a:t>LP</a:t>
            </a:r>
            <a:r>
              <a:rPr sz="3000" spc="-170" dirty="0"/>
              <a:t> </a:t>
            </a:r>
            <a:r>
              <a:rPr sz="3000" spc="-280" dirty="0"/>
              <a:t>rounding:</a:t>
            </a:r>
            <a:r>
              <a:rPr sz="3000" spc="-170" dirty="0"/>
              <a:t> </a:t>
            </a:r>
            <a:r>
              <a:rPr sz="3000" spc="-295" dirty="0"/>
              <a:t>weighted</a:t>
            </a:r>
            <a:r>
              <a:rPr sz="3000" spc="-170" dirty="0"/>
              <a:t> </a:t>
            </a:r>
            <a:r>
              <a:rPr sz="3000" spc="-355" dirty="0"/>
              <a:t>vertex</a:t>
            </a:r>
            <a:r>
              <a:rPr sz="3000" spc="-170" dirty="0"/>
              <a:t> </a:t>
            </a:r>
            <a:r>
              <a:rPr sz="3000" spc="-310" dirty="0"/>
              <a:t>cover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29" dirty="0"/>
              <a:t>generalized</a:t>
            </a:r>
            <a:r>
              <a:rPr sz="3000" spc="-130" dirty="0"/>
              <a:t> </a:t>
            </a:r>
            <a:r>
              <a:rPr sz="3000" spc="-195" dirty="0"/>
              <a:t>load</a:t>
            </a:r>
            <a:r>
              <a:rPr sz="3000" spc="-125" dirty="0"/>
              <a:t> </a:t>
            </a:r>
            <a:r>
              <a:rPr sz="3000" spc="-90" dirty="0"/>
              <a:t>balancing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5" dirty="0">
                <a:solidFill>
                  <a:srgbClr val="000000"/>
                </a:solidFill>
              </a:rPr>
              <a:t>knapsack</a:t>
            </a:r>
            <a:r>
              <a:rPr sz="3000" spc="-155" dirty="0">
                <a:solidFill>
                  <a:srgbClr val="000000"/>
                </a:solidFill>
              </a:rPr>
              <a:t> </a:t>
            </a:r>
            <a:r>
              <a:rPr sz="3000" spc="-295" dirty="0">
                <a:solidFill>
                  <a:srgbClr val="000000"/>
                </a:solidFill>
              </a:rPr>
              <a:t>problem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146300" y="6921500"/>
            <a:ext cx="145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70" dirty="0">
                <a:solidFill>
                  <a:srgbClr val="606060"/>
                </a:solidFill>
                <a:latin typeface="Tahoma"/>
                <a:cs typeface="Tahoma"/>
              </a:rPr>
              <a:t>11.8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Polynomial-</a:t>
            </a:r>
            <a:r>
              <a:rPr dirty="0"/>
              <a:t>time</a:t>
            </a:r>
            <a:r>
              <a:rPr spc="100" dirty="0"/>
              <a:t> </a:t>
            </a:r>
            <a:r>
              <a:rPr spc="55" dirty="0"/>
              <a:t>approximation</a:t>
            </a:r>
            <a:r>
              <a:rPr spc="105" dirty="0"/>
              <a:t> </a:t>
            </a:r>
            <a:r>
              <a:rPr spc="-30" dirty="0"/>
              <a:t>scheme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333500"/>
            <a:ext cx="9347200" cy="280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  <a:tabLst>
                <a:tab pos="107569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PTAS.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(1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ε)</a:t>
            </a:r>
            <a:r>
              <a:rPr sz="2400" spc="-10" dirty="0">
                <a:latin typeface="Lucida Sans Unicode"/>
                <a:cs typeface="Lucida Sans Unicode"/>
              </a:rPr>
              <a:t>-</a:t>
            </a:r>
            <a:r>
              <a:rPr sz="2400" spc="-45" dirty="0">
                <a:latin typeface="Lucida Sans Unicode"/>
                <a:cs typeface="Lucida Sans Unicode"/>
              </a:rPr>
              <a:t>approximation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constant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  <a:tabLst>
                <a:tab pos="3185795" algn="l"/>
              </a:tabLst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Load </a:t>
            </a:r>
            <a:r>
              <a:rPr sz="2400" spc="-10" dirty="0">
                <a:latin typeface="Lucida Sans Unicode"/>
                <a:cs typeface="Lucida Sans Unicode"/>
              </a:rPr>
              <a:t>balancing.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[Hochbaum–Shmoys</a:t>
            </a:r>
            <a:r>
              <a:rPr sz="24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1987]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2978150" algn="l"/>
              </a:tabLst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Euclidean </a:t>
            </a:r>
            <a:r>
              <a:rPr sz="2400" spc="-20" dirty="0">
                <a:latin typeface="Lucida Sans Unicode"/>
                <a:cs typeface="Lucida Sans Unicode"/>
              </a:rPr>
              <a:t>TSP.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[Arora,</a:t>
            </a:r>
            <a:r>
              <a:rPr sz="2400" spc="-4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606060"/>
                </a:solidFill>
                <a:latin typeface="Lucida Sans Unicode"/>
                <a:cs typeface="Lucida Sans Unicode"/>
              </a:rPr>
              <a:t>Mitchell</a:t>
            </a:r>
            <a:r>
              <a:rPr sz="2400" spc="-4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1996]</a:t>
            </a:r>
            <a:endParaRPr sz="2400">
              <a:latin typeface="Lucida Sans Unicode"/>
              <a:cs typeface="Lucida Sans Unicode"/>
            </a:endParaRPr>
          </a:p>
          <a:p>
            <a:pPr marL="50800" marR="17780">
              <a:lnSpc>
                <a:spcPct val="131900"/>
              </a:lnSpc>
              <a:spcBef>
                <a:spcPts val="3510"/>
              </a:spcBef>
              <a:tabLst>
                <a:tab pos="231902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Consequence.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PTAS produces arbitrarily high quality </a:t>
            </a:r>
            <a:r>
              <a:rPr sz="2400" spc="-10" dirty="0">
                <a:latin typeface="Lucida Sans Unicode"/>
                <a:cs typeface="Lucida Sans Unicode"/>
              </a:rPr>
              <a:t>solution, </a:t>
            </a:r>
            <a:r>
              <a:rPr sz="2400" dirty="0">
                <a:latin typeface="Lucida Sans Unicode"/>
                <a:cs typeface="Lucida Sans Unicode"/>
              </a:rPr>
              <a:t>but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trades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accuracy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5194300"/>
            <a:ext cx="10019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407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This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section.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PTAS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via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rounding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scaling.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333500"/>
            <a:ext cx="668147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Knapsack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problem.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objects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knapsack.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  <a:tabLst>
                <a:tab pos="639445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775" i="1" spc="727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775" i="1" spc="727" baseline="-18018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400" y="2598420"/>
            <a:ext cx="8046720" cy="2455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0">
              <a:lnSpc>
                <a:spcPts val="4210"/>
              </a:lnSpc>
              <a:spcBef>
                <a:spcPts val="90"/>
              </a:spcBef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lang="en-GB" sz="2400" i="1" spc="-25" dirty="0">
                <a:latin typeface="Times New Roman"/>
                <a:cs typeface="Times New Roman"/>
              </a:rPr>
              <a:t> (</a:t>
            </a:r>
            <a:r>
              <a:rPr lang="en-GB" altLang="zh-CN" sz="2400"/>
              <a:t>the weights must be integers)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52400">
              <a:lnSpc>
                <a:spcPts val="4210"/>
              </a:lnSpc>
              <a:tabLst>
                <a:tab pos="1587500" algn="l"/>
              </a:tabLst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Goal:</a:t>
            </a:r>
            <a:r>
              <a:rPr sz="2400" dirty="0">
                <a:latin typeface="Lucida Sans Unicode"/>
                <a:cs typeface="Lucida Sans Unicode"/>
              </a:rPr>
              <a:t>	fill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maximize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total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value.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tabLst>
                <a:tab pos="6661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Ex: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40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0700" y="2362200"/>
            <a:ext cx="2857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50" dirty="0">
                <a:solidFill>
                  <a:srgbClr val="8D3124"/>
                </a:solidFill>
                <a:latin typeface="Lucida Sans Unicode"/>
                <a:cs typeface="Lucida Sans Unicode"/>
              </a:rPr>
              <a:t>we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assume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r>
              <a:rPr sz="1800" i="1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r>
              <a:rPr sz="1800" i="1" spc="217" baseline="-6944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≤</a:t>
            </a:r>
            <a:r>
              <a:rPr sz="1800" i="1" spc="-1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W</a:t>
            </a:r>
            <a:r>
              <a:rPr sz="1800" i="1" spc="5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each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spc="-50" dirty="0">
                <a:solidFill>
                  <a:srgbClr val="8D3124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53496" y="2481298"/>
            <a:ext cx="436880" cy="121920"/>
            <a:chOff x="7653496" y="2481298"/>
            <a:chExt cx="436880" cy="121920"/>
          </a:xfrm>
        </p:grpSpPr>
        <p:sp>
          <p:nvSpPr>
            <p:cNvPr id="8" name="object 8"/>
            <p:cNvSpPr/>
            <p:nvPr/>
          </p:nvSpPr>
          <p:spPr>
            <a:xfrm>
              <a:off x="7732236" y="2542258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12699" y="0"/>
                  </a:lnTo>
                  <a:lnTo>
                    <a:pt x="357663" y="0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53496" y="248129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121919" y="0"/>
                  </a:moveTo>
                  <a:lnTo>
                    <a:pt x="0" y="60960"/>
                  </a:lnTo>
                  <a:lnTo>
                    <a:pt x="121919" y="121920"/>
                  </a:lnTo>
                  <a:lnTo>
                    <a:pt x="91439" y="60960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816600" y="8763000"/>
            <a:ext cx="2741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original</a:t>
            </a:r>
            <a:r>
              <a:rPr sz="1600" b="1" spc="10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instance</a:t>
            </a:r>
            <a:r>
              <a:rPr sz="1600" b="1" spc="105" dirty="0">
                <a:latin typeface="Tahoma"/>
                <a:cs typeface="Tahoma"/>
              </a:rPr>
              <a:t> </a:t>
            </a:r>
            <a:r>
              <a:rPr sz="1600" b="1" spc="-190" dirty="0">
                <a:latin typeface="Tahoma"/>
                <a:cs typeface="Tahoma"/>
              </a:rPr>
              <a:t>(W</a:t>
            </a:r>
            <a:r>
              <a:rPr sz="1600" b="1" spc="10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10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11)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435600" y="5257800"/>
          <a:ext cx="3687445" cy="3305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18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value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3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18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4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28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Knapsack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spc="-125" dirty="0"/>
              <a:t>NP-</a:t>
            </a:r>
            <a:r>
              <a:rPr spc="-10" dirty="0"/>
              <a:t>complete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23900" y="1216660"/>
            <a:ext cx="11393170" cy="730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81280">
              <a:lnSpc>
                <a:spcPct val="131900"/>
              </a:lnSpc>
              <a:spcBef>
                <a:spcPts val="100"/>
              </a:spcBef>
              <a:tabLst>
                <a:tab pos="1687830" algn="l"/>
                <a:tab pos="517461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K</a:t>
            </a:r>
            <a:r>
              <a:rPr sz="19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NAPSACK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 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61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 0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61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 0,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 limit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Lucida Sans Unicode"/>
                <a:cs typeface="Lucida Sans Unicode"/>
              </a:rPr>
              <a:t>, and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target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10" dirty="0">
                <a:latin typeface="Lucida Sans Unicode"/>
                <a:cs typeface="Lucida Sans Unicode"/>
              </a:rPr>
              <a:t> that:</a:t>
            </a:r>
            <a:endParaRPr sz="2400">
              <a:latin typeface="Lucida Sans Unicode"/>
              <a:cs typeface="Lucida Sans Unicode"/>
            </a:endParaRPr>
          </a:p>
          <a:p>
            <a:pPr marR="4341495" algn="r">
              <a:lnSpc>
                <a:spcPct val="100000"/>
              </a:lnSpc>
              <a:spcBef>
                <a:spcPts val="2290"/>
              </a:spcBef>
              <a:tabLst>
                <a:tab pos="1009015" algn="l"/>
                <a:tab pos="1468120" algn="l"/>
              </a:tabLst>
            </a:pPr>
            <a:r>
              <a:rPr sz="4650" baseline="-4480" dirty="0">
                <a:latin typeface="Symbol"/>
                <a:cs typeface="Symbol"/>
              </a:rPr>
              <a:t></a:t>
            </a:r>
            <a:r>
              <a:rPr sz="4650" spc="284" baseline="-4480" dirty="0">
                <a:latin typeface="Times New Roman"/>
                <a:cs typeface="Times New Roman"/>
              </a:rPr>
              <a:t> </a:t>
            </a:r>
            <a:r>
              <a:rPr sz="2550" i="1" spc="-25" dirty="0">
                <a:latin typeface="Times New Roman"/>
                <a:cs typeface="Times New Roman"/>
              </a:rPr>
              <a:t>w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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W</a:t>
            </a:r>
            <a:endParaRPr sz="2550">
              <a:latin typeface="Times New Roman"/>
              <a:cs typeface="Times New Roman"/>
            </a:endParaRPr>
          </a:p>
          <a:p>
            <a:pPr marL="5229225">
              <a:lnSpc>
                <a:spcPts val="1930"/>
              </a:lnSpc>
              <a:spcBef>
                <a:spcPts val="350"/>
              </a:spcBef>
            </a:pPr>
            <a:r>
              <a:rPr sz="1700" i="1" spc="45" dirty="0">
                <a:latin typeface="Times New Roman"/>
                <a:cs typeface="Times New Roman"/>
              </a:rPr>
              <a:t>i</a:t>
            </a:r>
            <a:r>
              <a:rPr sz="1700" spc="45" dirty="0">
                <a:latin typeface="Symbol"/>
                <a:cs typeface="Symbol"/>
              </a:rPr>
              <a:t></a:t>
            </a:r>
            <a:r>
              <a:rPr sz="1700" i="1" spc="45" dirty="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  <a:p>
            <a:pPr marL="5269865">
              <a:lnSpc>
                <a:spcPts val="3610"/>
              </a:lnSpc>
              <a:tabLst>
                <a:tab pos="6312535" algn="l"/>
                <a:tab pos="6781165" algn="l"/>
              </a:tabLst>
            </a:pPr>
            <a:r>
              <a:rPr sz="4650" baseline="-4480" dirty="0">
                <a:latin typeface="Symbol"/>
                <a:cs typeface="Symbol"/>
              </a:rPr>
              <a:t></a:t>
            </a:r>
            <a:r>
              <a:rPr sz="4650" spc="390" baseline="-4480" dirty="0">
                <a:latin typeface="Times New Roman"/>
                <a:cs typeface="Times New Roman"/>
              </a:rPr>
              <a:t> </a:t>
            </a:r>
            <a:r>
              <a:rPr sz="2550" i="1" spc="-25" dirty="0">
                <a:latin typeface="Times New Roman"/>
                <a:cs typeface="Times New Roman"/>
              </a:rPr>
              <a:t>v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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V</a:t>
            </a:r>
            <a:endParaRPr sz="2550">
              <a:latin typeface="Times New Roman"/>
              <a:cs typeface="Times New Roman"/>
            </a:endParaRPr>
          </a:p>
          <a:p>
            <a:pPr marL="5229225">
              <a:lnSpc>
                <a:spcPct val="100000"/>
              </a:lnSpc>
              <a:spcBef>
                <a:spcPts val="345"/>
              </a:spcBef>
            </a:pPr>
            <a:r>
              <a:rPr sz="1700" i="1" spc="45" dirty="0">
                <a:latin typeface="Times New Roman"/>
                <a:cs typeface="Times New Roman"/>
              </a:rPr>
              <a:t>i</a:t>
            </a:r>
            <a:r>
              <a:rPr sz="1700" spc="45" dirty="0">
                <a:latin typeface="Symbol"/>
                <a:cs typeface="Symbol"/>
              </a:rPr>
              <a:t></a:t>
            </a:r>
            <a:r>
              <a:rPr sz="1700" i="1" spc="45" dirty="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835"/>
              </a:spcBef>
              <a:tabLst>
                <a:tab pos="1911350" algn="l"/>
              </a:tabLst>
            </a:pP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S</a:t>
            </a:r>
            <a:r>
              <a:rPr sz="19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UBSET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-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UM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baseline="-6944" dirty="0">
                <a:latin typeface="Times New Roman"/>
                <a:cs typeface="Times New Roman"/>
              </a:rPr>
              <a:t>i</a:t>
            </a:r>
            <a:r>
              <a:rPr sz="2400" i="1" spc="57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0,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919"/>
              </a:spcBef>
            </a:pPr>
            <a:r>
              <a:rPr sz="2400" dirty="0">
                <a:latin typeface="Symbol"/>
                <a:cs typeface="Symbol"/>
              </a:rPr>
              <a:t>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 elements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sum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exactly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  <a:tabLst>
                <a:tab pos="1695450" algn="l"/>
                <a:tab pos="384937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45" dirty="0">
                <a:latin typeface="Lucida Sans Unicode"/>
                <a:cs typeface="Lucida Sans Unicode"/>
              </a:rPr>
              <a:t>S</a:t>
            </a:r>
            <a:r>
              <a:rPr sz="1900" spc="-45" dirty="0">
                <a:latin typeface="Lucida Sans Unicode"/>
                <a:cs typeface="Lucida Sans Unicode"/>
              </a:rPr>
              <a:t>UBSET</a:t>
            </a:r>
            <a:r>
              <a:rPr sz="2400" spc="-4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S</a:t>
            </a:r>
            <a:r>
              <a:rPr sz="1900" spc="-10" dirty="0">
                <a:latin typeface="Lucida Sans Unicode"/>
                <a:cs typeface="Lucida Sans Unicode"/>
              </a:rPr>
              <a:t>UM</a:t>
            </a:r>
            <a:r>
              <a:rPr sz="19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75" baseline="-6944" dirty="0">
                <a:latin typeface="Times New Roman"/>
                <a:cs typeface="Times New Roman"/>
              </a:rPr>
              <a:t>P</a:t>
            </a:r>
            <a:r>
              <a:rPr sz="2400" baseline="-6944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Lucida Sans Unicode"/>
                <a:cs typeface="Lucida Sans Unicode"/>
              </a:rPr>
              <a:t>K</a:t>
            </a:r>
            <a:r>
              <a:rPr sz="1900" spc="-10" dirty="0">
                <a:latin typeface="Lucida Sans Unicode"/>
                <a:cs typeface="Lucida Sans Unicode"/>
              </a:rPr>
              <a:t>NAPSACK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  <a:spcBef>
                <a:spcPts val="919"/>
              </a:spcBef>
              <a:tabLst>
                <a:tab pos="6578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baseline="-6944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 …,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baseline="-6944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45" dirty="0">
                <a:latin typeface="Lucida Sans Unicode"/>
                <a:cs typeface="Lucida Sans Unicode"/>
              </a:rPr>
              <a:t>S</a:t>
            </a:r>
            <a:r>
              <a:rPr sz="1900" spc="-45" dirty="0">
                <a:latin typeface="Lucida Sans Unicode"/>
                <a:cs typeface="Lucida Sans Unicode"/>
              </a:rPr>
              <a:t>UBSET</a:t>
            </a:r>
            <a:r>
              <a:rPr sz="2400" spc="-45" dirty="0">
                <a:latin typeface="Lucida Sans Unicode"/>
                <a:cs typeface="Lucida Sans Unicode"/>
              </a:rPr>
              <a:t>-</a:t>
            </a:r>
            <a:r>
              <a:rPr sz="2400" spc="-30" dirty="0">
                <a:latin typeface="Lucida Sans Unicode"/>
                <a:cs typeface="Lucida Sans Unicode"/>
              </a:rPr>
              <a:t>S</a:t>
            </a:r>
            <a:r>
              <a:rPr sz="1900" spc="-30" dirty="0">
                <a:latin typeface="Lucida Sans Unicode"/>
                <a:cs typeface="Lucida Sans Unicode"/>
              </a:rPr>
              <a:t>UM</a:t>
            </a:r>
            <a:r>
              <a:rPr sz="2400" spc="-30" dirty="0">
                <a:latin typeface="Lucida Sans Unicode"/>
                <a:cs typeface="Lucida Sans Unicode"/>
              </a:rPr>
              <a:t>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create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</a:t>
            </a:r>
            <a:r>
              <a:rPr sz="1900" dirty="0">
                <a:latin typeface="Lucida Sans Unicode"/>
                <a:cs typeface="Lucida Sans Unicode"/>
              </a:rPr>
              <a:t>NAPSACK</a:t>
            </a:r>
            <a:r>
              <a:rPr sz="1900" spc="1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instance: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R="4337050" algn="r">
              <a:lnSpc>
                <a:spcPct val="100000"/>
              </a:lnSpc>
              <a:tabLst>
                <a:tab pos="2023110" algn="l"/>
                <a:tab pos="2923540" algn="l"/>
                <a:tab pos="3382645" algn="l"/>
              </a:tabLst>
            </a:pPr>
            <a:r>
              <a:rPr sz="2550" i="1" dirty="0">
                <a:latin typeface="Times New Roman"/>
                <a:cs typeface="Times New Roman"/>
              </a:rPr>
              <a:t>v</a:t>
            </a:r>
            <a:r>
              <a:rPr sz="2550" i="1" baseline="-21241" dirty="0">
                <a:latin typeface="Times New Roman"/>
                <a:cs typeface="Times New Roman"/>
              </a:rPr>
              <a:t>i</a:t>
            </a:r>
            <a:r>
              <a:rPr sz="2550" i="1" spc="375" baseline="-21241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</a:t>
            </a:r>
            <a:r>
              <a:rPr sz="2550" spc="-9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w</a:t>
            </a:r>
            <a:r>
              <a:rPr sz="2550" i="1" baseline="-21241" dirty="0">
                <a:latin typeface="Times New Roman"/>
                <a:cs typeface="Times New Roman"/>
              </a:rPr>
              <a:t>i</a:t>
            </a:r>
            <a:r>
              <a:rPr sz="2550" i="1" spc="382" baseline="-21241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</a:t>
            </a:r>
            <a:r>
              <a:rPr sz="2550" spc="-100" dirty="0">
                <a:latin typeface="Times New Roman"/>
                <a:cs typeface="Times New Roman"/>
              </a:rPr>
              <a:t> </a:t>
            </a:r>
            <a:r>
              <a:rPr sz="2550" i="1" spc="-25" dirty="0">
                <a:latin typeface="Times New Roman"/>
                <a:cs typeface="Times New Roman"/>
              </a:rPr>
              <a:t>u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3825" baseline="-2178" dirty="0">
                <a:latin typeface="Symbol"/>
                <a:cs typeface="Symbol"/>
              </a:rPr>
              <a:t></a:t>
            </a:r>
            <a:r>
              <a:rPr sz="3825" spc="457" baseline="-2178" dirty="0">
                <a:latin typeface="Times New Roman"/>
                <a:cs typeface="Times New Roman"/>
              </a:rPr>
              <a:t> </a:t>
            </a:r>
            <a:r>
              <a:rPr sz="2550" i="1" spc="-25" dirty="0">
                <a:latin typeface="Times New Roman"/>
                <a:cs typeface="Times New Roman"/>
              </a:rPr>
              <a:t>u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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U</a:t>
            </a:r>
            <a:endParaRPr sz="2550">
              <a:latin typeface="Times New Roman"/>
              <a:cs typeface="Times New Roman"/>
            </a:endParaRPr>
          </a:p>
          <a:p>
            <a:pPr marR="336550" algn="ctr">
              <a:lnSpc>
                <a:spcPct val="100000"/>
              </a:lnSpc>
              <a:spcBef>
                <a:spcPts val="165"/>
              </a:spcBef>
            </a:pPr>
            <a:r>
              <a:rPr sz="1700" i="1" spc="-25" dirty="0">
                <a:latin typeface="Times New Roman"/>
                <a:cs typeface="Times New Roman"/>
              </a:rPr>
              <a:t>i</a:t>
            </a:r>
            <a:r>
              <a:rPr sz="1700" spc="-25" dirty="0">
                <a:latin typeface="Symbol"/>
                <a:cs typeface="Symbol"/>
              </a:rPr>
              <a:t></a:t>
            </a:r>
            <a:r>
              <a:rPr sz="1700" i="1" spc="-25" dirty="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  <a:p>
            <a:pPr marL="3412490">
              <a:lnSpc>
                <a:spcPct val="100000"/>
              </a:lnSpc>
              <a:spcBef>
                <a:spcPts val="145"/>
              </a:spcBef>
              <a:tabLst>
                <a:tab pos="5415280" algn="l"/>
                <a:tab pos="6354445" algn="l"/>
                <a:tab pos="6813550" algn="l"/>
              </a:tabLst>
            </a:pPr>
            <a:r>
              <a:rPr sz="2550" i="1" dirty="0">
                <a:latin typeface="Times New Roman"/>
                <a:cs typeface="Times New Roman"/>
              </a:rPr>
              <a:t>V</a:t>
            </a:r>
            <a:r>
              <a:rPr sz="2550" i="1" spc="1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</a:t>
            </a:r>
            <a:r>
              <a:rPr sz="2550" spc="-13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W</a:t>
            </a:r>
            <a:r>
              <a:rPr sz="2550" i="1" spc="2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</a:t>
            </a:r>
            <a:r>
              <a:rPr sz="2550" spc="-275" dirty="0">
                <a:latin typeface="Times New Roman"/>
                <a:cs typeface="Times New Roman"/>
              </a:rPr>
              <a:t> </a:t>
            </a:r>
            <a:r>
              <a:rPr sz="2550" i="1" spc="-50" dirty="0">
                <a:latin typeface="Times New Roman"/>
                <a:cs typeface="Times New Roman"/>
              </a:rPr>
              <a:t>U</a:t>
            </a:r>
            <a:r>
              <a:rPr sz="2550" i="1" dirty="0">
                <a:latin typeface="Times New Roman"/>
                <a:cs typeface="Times New Roman"/>
              </a:rPr>
              <a:t>	</a:t>
            </a:r>
            <a:r>
              <a:rPr sz="3825" baseline="-2178" dirty="0">
                <a:latin typeface="Symbol"/>
                <a:cs typeface="Symbol"/>
              </a:rPr>
              <a:t></a:t>
            </a:r>
            <a:r>
              <a:rPr sz="3825" spc="457" baseline="-2178" dirty="0">
                <a:latin typeface="Times New Roman"/>
                <a:cs typeface="Times New Roman"/>
              </a:rPr>
              <a:t> </a:t>
            </a:r>
            <a:r>
              <a:rPr sz="2550" i="1" spc="-25" dirty="0">
                <a:latin typeface="Times New Roman"/>
                <a:cs typeface="Times New Roman"/>
              </a:rPr>
              <a:t>u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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50" dirty="0">
                <a:latin typeface="Times New Roman"/>
                <a:cs typeface="Times New Roman"/>
              </a:rPr>
              <a:t>U</a:t>
            </a:r>
            <a:endParaRPr sz="2550">
              <a:latin typeface="Times New Roman"/>
              <a:cs typeface="Times New Roman"/>
            </a:endParaRPr>
          </a:p>
          <a:p>
            <a:pPr marR="336550" algn="ctr">
              <a:lnSpc>
                <a:spcPct val="100000"/>
              </a:lnSpc>
              <a:spcBef>
                <a:spcPts val="170"/>
              </a:spcBef>
            </a:pPr>
            <a:r>
              <a:rPr sz="1700" i="1" spc="-25" dirty="0">
                <a:latin typeface="Times New Roman"/>
                <a:cs typeface="Times New Roman"/>
              </a:rPr>
              <a:t>i</a:t>
            </a:r>
            <a:r>
              <a:rPr sz="1700" spc="-25" dirty="0">
                <a:latin typeface="Symbol"/>
                <a:cs typeface="Symbol"/>
              </a:rPr>
              <a:t></a:t>
            </a:r>
            <a:r>
              <a:rPr sz="1700" i="1" spc="-25" dirty="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342900"/>
            <a:ext cx="72224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sz="2800" dirty="0">
                <a:latin typeface="Arial MT"/>
                <a:cs typeface="Arial MT"/>
              </a:rPr>
              <a:t>Knapsack</a:t>
            </a:r>
            <a:r>
              <a:rPr sz="2800" spc="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problem:</a:t>
            </a:r>
            <a:r>
              <a:rPr sz="2800" dirty="0">
                <a:latin typeface="Arial MT"/>
                <a:cs typeface="Arial MT"/>
              </a:rPr>
              <a:t>	dynamic</a:t>
            </a:r>
            <a:r>
              <a:rPr sz="2800" spc="4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programming</a:t>
            </a:r>
            <a:r>
              <a:rPr sz="2800" spc="40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0100" y="1333500"/>
            <a:ext cx="631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8980" y="1333500"/>
            <a:ext cx="9282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 value subset of items </a:t>
            </a:r>
            <a:r>
              <a:rPr sz="2400" dirty="0">
                <a:latin typeface="Times New Roman"/>
                <a:cs typeface="Times New Roman"/>
              </a:rPr>
              <a:t>1,...,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weight </a:t>
            </a:r>
            <a:r>
              <a:rPr sz="2400" dirty="0">
                <a:latin typeface="Lucida Sans Unicode"/>
                <a:cs typeface="Lucida Sans Unicode"/>
              </a:rPr>
              <a:t>limit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2298700"/>
            <a:ext cx="9544685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  <a:tabLst>
                <a:tab pos="13328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35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10" dirty="0">
                <a:latin typeface="Times New Roman"/>
                <a:cs typeface="Times New Roman"/>
              </a:rPr>
              <a:t> …,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–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  <a:tabLst>
                <a:tab pos="13328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New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=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2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–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775" i="1" spc="-37" baseline="-18018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10" dirty="0">
                <a:latin typeface="Times New Roman"/>
                <a:cs typeface="Times New Roman"/>
              </a:rPr>
              <a:t> …,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–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limit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– 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775" i="1" spc="-37" baseline="-18018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00" y="7607300"/>
            <a:ext cx="8622030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16446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Computes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input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size.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input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integers.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16" name="图片 15" descr="图片包含 文本&#10;&#10;AI 生成的内容可能不正确。">
            <a:extLst>
              <a:ext uri="{FF2B5EF4-FFF2-40B4-BE49-F238E27FC236}">
                <a16:creationId xmlns:a16="http://schemas.microsoft.com/office/drawing/2014/main" id="{C72464BE-DC62-047A-5684-5C9A5398C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1" y="5111555"/>
            <a:ext cx="10492787" cy="231521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7327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dynamic</a:t>
            </a:r>
            <a:r>
              <a:rPr spc="405" dirty="0"/>
              <a:t> </a:t>
            </a:r>
            <a:r>
              <a:rPr dirty="0"/>
              <a:t>programming</a:t>
            </a:r>
            <a:r>
              <a:rPr spc="405" dirty="0"/>
              <a:t> </a:t>
            </a:r>
            <a:r>
              <a:rPr spc="-25" dirty="0"/>
              <a:t>II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36600" y="1216660"/>
            <a:ext cx="11453495" cy="622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43180">
              <a:lnSpc>
                <a:spcPct val="131900"/>
              </a:lnSpc>
              <a:spcBef>
                <a:spcPts val="100"/>
              </a:spcBef>
              <a:tabLst>
                <a:tab pos="874394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knapsack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obtain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solution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1,...,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76200" marR="1586230">
              <a:lnSpc>
                <a:spcPct val="263900"/>
              </a:lnSpc>
              <a:tabLst>
                <a:tab pos="1061720" algn="l"/>
                <a:tab pos="1358265" algn="l"/>
                <a:tab pos="9188450" algn="l"/>
                <a:tab pos="950849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largest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W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09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 best of </a:t>
            </a:r>
            <a:r>
              <a:rPr sz="2400" dirty="0">
                <a:latin typeface="Times New Roman"/>
                <a:cs typeface="Times New Roman"/>
              </a:rPr>
              <a:t>1, …,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9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–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 achieves value </a:t>
            </a:r>
            <a:r>
              <a:rPr sz="2400" spc="80" dirty="0">
                <a:latin typeface="Times New Roman"/>
                <a:cs typeface="Times New Roman"/>
              </a:rPr>
              <a:t>≥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ts val="2615"/>
              </a:lnSpc>
              <a:tabLst>
                <a:tab pos="13582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Case</a:t>
            </a:r>
            <a:r>
              <a:rPr sz="2400" spc="-6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3945"/>
              </a:lnSpc>
              <a:tabLst>
                <a:tab pos="752094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Consumes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weight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need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achieve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v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775" i="1" spc="-37" baseline="-18018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203200">
              <a:lnSpc>
                <a:spcPts val="4210"/>
              </a:lnSpc>
              <a:tabLst>
                <a:tab pos="8212455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OPT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selects best of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achieves value </a:t>
            </a:r>
            <a:r>
              <a:rPr sz="2400" spc="-50" dirty="0">
                <a:latin typeface="Times New Roman"/>
                <a:cs typeface="Times New Roman"/>
              </a:rPr>
              <a:t>≥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v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775" i="1" spc="-37" baseline="-18018" dirty="0">
                <a:latin typeface="Times New Roman"/>
                <a:cs typeface="Times New Roman"/>
              </a:rPr>
              <a:t>i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2268220">
              <a:lnSpc>
                <a:spcPct val="100000"/>
              </a:lnSpc>
            </a:pPr>
            <a:r>
              <a:rPr sz="2350" spc="-740" dirty="0">
                <a:latin typeface="Lucida Sans Unicode"/>
                <a:cs typeface="Lucida Sans Unicode"/>
              </a:rPr>
              <a:t>,</a:t>
            </a:r>
            <a:endParaRPr sz="2350">
              <a:latin typeface="Lucida Sans Unicode"/>
              <a:cs typeface="Lucida Sans Unicode"/>
            </a:endParaRPr>
          </a:p>
        </p:txBody>
      </p:sp>
      <p:pic>
        <p:nvPicPr>
          <p:cNvPr id="15" name="图片 14" descr="图片包含 文本&#10;&#10;AI 生成的内容可能不正确。">
            <a:extLst>
              <a:ext uri="{FF2B5EF4-FFF2-40B4-BE49-F238E27FC236}">
                <a16:creationId xmlns:a16="http://schemas.microsoft.com/office/drawing/2014/main" id="{68872006-F90E-A121-42D9-79F0DF6B8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99" y="6553199"/>
            <a:ext cx="11246441" cy="220982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2900"/>
            <a:ext cx="7327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dynamic</a:t>
            </a:r>
            <a:r>
              <a:rPr spc="405" dirty="0"/>
              <a:t> </a:t>
            </a:r>
            <a:r>
              <a:rPr dirty="0"/>
              <a:t>programming</a:t>
            </a:r>
            <a:r>
              <a:rPr spc="405" dirty="0"/>
              <a:t> </a:t>
            </a:r>
            <a:r>
              <a:rPr spc="-25" dirty="0"/>
              <a:t>II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1139170" cy="436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  <a:tabLst>
                <a:tab pos="16573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Dynamic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programming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II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value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19097" dirty="0">
                <a:latin typeface="Times New Roman"/>
                <a:cs typeface="Times New Roman"/>
              </a:rPr>
              <a:t>2</a:t>
            </a:r>
            <a:r>
              <a:rPr sz="2400" spc="292" baseline="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baseline="-6944" dirty="0">
                <a:latin typeface="Times New Roman"/>
                <a:cs typeface="Times New Roman"/>
              </a:rPr>
              <a:t>max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where</a:t>
            </a:r>
            <a:r>
              <a:rPr sz="2400" spc="-16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baseline="-6944" dirty="0">
                <a:latin typeface="Times New Roman"/>
                <a:cs typeface="Times New Roman"/>
              </a:rPr>
              <a:t>max</a:t>
            </a:r>
            <a:r>
              <a:rPr sz="2400" spc="525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maximum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10" dirty="0">
                <a:latin typeface="Lucida Sans Unicode"/>
                <a:cs typeface="Lucida Sans Unicode"/>
              </a:rPr>
              <a:t> value.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  <a:spcBef>
                <a:spcPts val="919"/>
              </a:spcBef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  <a:tabLst>
                <a:tab pos="4146550" algn="l"/>
              </a:tabLst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0" dirty="0">
                <a:latin typeface="Times New Roman"/>
                <a:cs typeface="Times New Roman"/>
              </a:rPr>
              <a:t> v</a:t>
            </a:r>
            <a:r>
              <a:rPr sz="2400" spc="-15" baseline="-6944" dirty="0">
                <a:latin typeface="Times New Roman"/>
                <a:cs typeface="Times New Roman"/>
              </a:rPr>
              <a:t>max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subproblem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≤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400" spc="-25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12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takes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(1)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per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subproblem.</a:t>
            </a:r>
            <a:r>
              <a:rPr sz="2400" spc="-50" dirty="0">
                <a:latin typeface="Lucida Sans Unicode"/>
                <a:cs typeface="Lucida Sans Unicode"/>
              </a:rPr>
              <a:t> ▪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74752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1.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input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size!</a:t>
            </a: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919"/>
              </a:spcBef>
              <a:tabLst>
                <a:tab pos="174752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2.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integers.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polynomial-time</a:t>
            </a:r>
            <a:r>
              <a:rPr spc="180" dirty="0"/>
              <a:t> </a:t>
            </a:r>
            <a:r>
              <a:rPr spc="55" dirty="0"/>
              <a:t>approximation</a:t>
            </a:r>
            <a:r>
              <a:rPr spc="185" dirty="0"/>
              <a:t> </a:t>
            </a:r>
            <a:r>
              <a:rPr spc="-30" dirty="0"/>
              <a:t>scheme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74700" y="1333500"/>
            <a:ext cx="10845800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Intuition</a:t>
            </a:r>
            <a:r>
              <a:rPr sz="24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for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approximation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Round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up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smaller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range.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Run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dynamic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programming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II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rounded/scaled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instance.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Return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optimal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items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rounded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instance.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1100" y="8140700"/>
            <a:ext cx="27419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original</a:t>
            </a:r>
            <a:r>
              <a:rPr sz="1600" b="1" spc="10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instance</a:t>
            </a:r>
            <a:r>
              <a:rPr sz="1600" b="1" spc="105" dirty="0">
                <a:latin typeface="Tahoma"/>
                <a:cs typeface="Tahoma"/>
              </a:rPr>
              <a:t> </a:t>
            </a:r>
            <a:r>
              <a:rPr sz="1600" b="1" spc="-190" dirty="0">
                <a:latin typeface="Tahoma"/>
                <a:cs typeface="Tahoma"/>
              </a:rPr>
              <a:t>(W</a:t>
            </a:r>
            <a:r>
              <a:rPr sz="1600" b="1" spc="10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10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11)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70100" y="4635500"/>
          <a:ext cx="3687445" cy="3305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18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value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934221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5956342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3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17810013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4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21217800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27343199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315200" y="8140700"/>
            <a:ext cx="28117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rounded</a:t>
            </a:r>
            <a:r>
              <a:rPr sz="1600" b="1" spc="9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instance</a:t>
            </a:r>
            <a:r>
              <a:rPr sz="1600" b="1" spc="95" dirty="0">
                <a:latin typeface="Tahoma"/>
                <a:cs typeface="Tahoma"/>
              </a:rPr>
              <a:t> </a:t>
            </a:r>
            <a:r>
              <a:rPr sz="1600" b="1" spc="-190" dirty="0">
                <a:latin typeface="Tahoma"/>
                <a:cs typeface="Tahoma"/>
              </a:rPr>
              <a:t>(W</a:t>
            </a:r>
            <a:r>
              <a:rPr sz="1600" b="1" spc="10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9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11)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94500" y="4635500"/>
          <a:ext cx="3687445" cy="3305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18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value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solidFill>
                            <a:srgbClr val="8D3124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1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solidFill>
                            <a:srgbClr val="8D3124"/>
                          </a:solidFill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3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25" dirty="0">
                          <a:solidFill>
                            <a:srgbClr val="8D3124"/>
                          </a:solidFill>
                          <a:latin typeface="Lucida Sans Unicode"/>
                          <a:cs typeface="Lucida Sans Unicode"/>
                        </a:rPr>
                        <a:t>18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4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25" dirty="0">
                          <a:solidFill>
                            <a:srgbClr val="8D3124"/>
                          </a:solidFill>
                          <a:latin typeface="Lucida Sans Unicode"/>
                          <a:cs typeface="Lucida Sans Unicode"/>
                        </a:rPr>
                        <a:t>22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6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5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25" dirty="0">
                          <a:solidFill>
                            <a:srgbClr val="8D3124"/>
                          </a:solidFill>
                          <a:latin typeface="Lucida Sans Unicode"/>
                          <a:cs typeface="Lucida Sans Unicode"/>
                        </a:rPr>
                        <a:t>28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7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342900"/>
            <a:ext cx="96685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sz="2800" dirty="0">
                <a:latin typeface="Arial MT"/>
                <a:cs typeface="Arial MT"/>
              </a:rPr>
              <a:t>Knapsack</a:t>
            </a:r>
            <a:r>
              <a:rPr sz="2800" spc="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problem:</a:t>
            </a:r>
            <a:r>
              <a:rPr sz="2800" dirty="0">
                <a:latin typeface="Arial MT"/>
                <a:cs typeface="Arial MT"/>
              </a:rPr>
              <a:t>	polynomial-time</a:t>
            </a:r>
            <a:r>
              <a:rPr sz="2800" spc="180" dirty="0">
                <a:latin typeface="Arial MT"/>
                <a:cs typeface="Arial MT"/>
              </a:rPr>
              <a:t> </a:t>
            </a:r>
            <a:r>
              <a:rPr sz="2800" spc="55" dirty="0">
                <a:latin typeface="Arial MT"/>
                <a:cs typeface="Arial MT"/>
              </a:rPr>
              <a:t>approximation</a:t>
            </a:r>
            <a:r>
              <a:rPr sz="2800" spc="18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scheme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pic>
        <p:nvPicPr>
          <p:cNvPr id="29" name="图片 2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3DB64DCF-C89D-E030-84B8-9652E73E9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1224280"/>
            <a:ext cx="12328859" cy="63957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polynomial-time</a:t>
            </a:r>
            <a:r>
              <a:rPr spc="180" dirty="0"/>
              <a:t> </a:t>
            </a:r>
            <a:r>
              <a:rPr spc="55" dirty="0"/>
              <a:t>approximation</a:t>
            </a:r>
            <a:r>
              <a:rPr spc="185" dirty="0"/>
              <a:t> </a:t>
            </a:r>
            <a:r>
              <a:rPr spc="-30" dirty="0"/>
              <a:t>scheme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pic>
        <p:nvPicPr>
          <p:cNvPr id="77" name="图片 76" descr="图片包含 表格&#10;&#10;AI 生成的内容可能不正确。">
            <a:extLst>
              <a:ext uri="{FF2B5EF4-FFF2-40B4-BE49-F238E27FC236}">
                <a16:creationId xmlns:a16="http://schemas.microsoft.com/office/drawing/2014/main" id="{5BD473B0-BC39-A237-CD4D-BEAD33924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1211378"/>
            <a:ext cx="11606066" cy="792753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8515" algn="l"/>
              </a:tabLst>
            </a:pPr>
            <a:r>
              <a:rPr dirty="0"/>
              <a:t>Knapsack</a:t>
            </a:r>
            <a:r>
              <a:rPr spc="75" dirty="0"/>
              <a:t> </a:t>
            </a:r>
            <a:r>
              <a:rPr spc="-10" dirty="0"/>
              <a:t>problem:</a:t>
            </a:r>
            <a:r>
              <a:rPr dirty="0"/>
              <a:t>	polynomial-time</a:t>
            </a:r>
            <a:r>
              <a:rPr spc="180" dirty="0"/>
              <a:t> </a:t>
            </a:r>
            <a:r>
              <a:rPr spc="55" dirty="0"/>
              <a:t>approximation</a:t>
            </a:r>
            <a:r>
              <a:rPr spc="185" dirty="0"/>
              <a:t> </a:t>
            </a:r>
            <a:r>
              <a:rPr spc="-30" dirty="0"/>
              <a:t>scheme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16660"/>
            <a:ext cx="11407775" cy="247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1900"/>
              </a:lnSpc>
              <a:spcBef>
                <a:spcPts val="100"/>
              </a:spcBef>
              <a:tabLst>
                <a:tab pos="3691254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ε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rounding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feasible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solution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value</a:t>
            </a:r>
            <a:r>
              <a:rPr sz="2400" spc="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within</a:t>
            </a:r>
            <a:r>
              <a:rPr sz="2400" spc="9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(1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ε)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factor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optimum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baseline="17361" dirty="0">
                <a:latin typeface="Times New Roman"/>
                <a:cs typeface="Times New Roman"/>
              </a:rPr>
              <a:t>3</a:t>
            </a:r>
            <a:r>
              <a:rPr sz="2400" spc="284" baseline="1736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ε)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355"/>
              </a:lnSpc>
            </a:pPr>
            <a:r>
              <a:rPr sz="5775" spc="-12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We</a:t>
            </a:r>
            <a:r>
              <a:rPr sz="2400" spc="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already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proved</a:t>
            </a:r>
            <a:r>
              <a:rPr sz="2400" spc="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accuracy</a:t>
            </a:r>
            <a:r>
              <a:rPr sz="2400" spc="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bound.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100" y="3627120"/>
            <a:ext cx="513080" cy="610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850" spc="-50" dirty="0">
                <a:latin typeface="Microsoft JhengHei UI"/>
                <a:cs typeface="Microsoft JhengHei UI"/>
              </a:rPr>
              <a:t>・</a:t>
            </a:r>
            <a:endParaRPr sz="3850">
              <a:latin typeface="Microsoft JhengHei UI"/>
              <a:cs typeface="Microsoft JhengHei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4300" y="3722115"/>
            <a:ext cx="635635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459095" algn="l"/>
              </a:tabLst>
            </a:pPr>
            <a:r>
              <a:rPr sz="2400" dirty="0">
                <a:latin typeface="Lucida Sans Unicode"/>
                <a:cs typeface="Lucida Sans Unicode"/>
              </a:rPr>
              <a:t>Dynamic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II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running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is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3900" i="1" baseline="3205" dirty="0">
                <a:latin typeface="Times New Roman"/>
                <a:cs typeface="Times New Roman"/>
              </a:rPr>
              <a:t>O</a:t>
            </a:r>
            <a:r>
              <a:rPr sz="3900" baseline="3205" dirty="0">
                <a:latin typeface="Times New Roman"/>
                <a:cs typeface="Times New Roman"/>
              </a:rPr>
              <a:t>(</a:t>
            </a:r>
            <a:r>
              <a:rPr sz="3900" i="1" baseline="3205" dirty="0">
                <a:latin typeface="Times New Roman"/>
                <a:cs typeface="Times New Roman"/>
              </a:rPr>
              <a:t>n</a:t>
            </a:r>
            <a:r>
              <a:rPr sz="2550" baseline="44117" dirty="0">
                <a:latin typeface="Times New Roman"/>
                <a:cs typeface="Times New Roman"/>
              </a:rPr>
              <a:t>2</a:t>
            </a:r>
            <a:r>
              <a:rPr sz="2550" spc="367" baseline="44117" dirty="0">
                <a:latin typeface="Times New Roman"/>
                <a:cs typeface="Times New Roman"/>
              </a:rPr>
              <a:t> </a:t>
            </a:r>
            <a:r>
              <a:rPr sz="3900" i="1" spc="-1305" baseline="3205" dirty="0">
                <a:latin typeface="Times New Roman"/>
                <a:cs typeface="Times New Roman"/>
              </a:rPr>
              <a:t>v</a:t>
            </a:r>
            <a:r>
              <a:rPr sz="3900" spc="-52" baseline="3205" dirty="0">
                <a:latin typeface="Times New Roman"/>
                <a:cs typeface="Times New Roman"/>
              </a:rPr>
              <a:t>ˆ</a:t>
            </a:r>
            <a:endParaRPr sz="3900" baseline="320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5189" y="3893311"/>
            <a:ext cx="3981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-25" dirty="0">
                <a:latin typeface="Times New Roman"/>
                <a:cs typeface="Times New Roman"/>
              </a:rPr>
              <a:t>max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90937" y="3722115"/>
            <a:ext cx="1360170" cy="11759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7515" algn="l"/>
              </a:tabLst>
            </a:pPr>
            <a:r>
              <a:rPr sz="3900" spc="104" baseline="3205" dirty="0">
                <a:latin typeface="Times New Roman"/>
                <a:cs typeface="Times New Roman"/>
              </a:rPr>
              <a:t>)</a:t>
            </a:r>
            <a:r>
              <a:rPr sz="2400" spc="70" dirty="0">
                <a:latin typeface="Lucida Sans Unicode"/>
                <a:cs typeface="Lucida Sans Unicode"/>
              </a:rPr>
              <a:t>,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Lucida Sans Unicode"/>
                <a:cs typeface="Lucida Sans Unicode"/>
              </a:rPr>
              <a:t>where</a:t>
            </a:r>
            <a:endParaRPr lang="en-GB" sz="2400" spc="-1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7515" algn="l"/>
              </a:tabLst>
            </a:pPr>
            <a:endParaRPr lang="en-GB" sz="2400" spc="-1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7515" algn="l"/>
              </a:tabLst>
            </a:pP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2BC26F8-91ED-10AE-0B96-E3FAF7AE1440}"/>
                  </a:ext>
                </a:extLst>
              </p:cNvPr>
              <p:cNvSpPr txBox="1"/>
              <p:nvPr/>
            </p:nvSpPr>
            <p:spPr>
              <a:xfrm>
                <a:off x="3495214" y="4566683"/>
                <a:ext cx="4774962" cy="1148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lang="en-GB" altLang="zh-CN" sz="3600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GB" altLang="zh-CN" sz="36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GB" altLang="zh-CN" sz="3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altLang="zh-CN" sz="3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36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altLang="zh-CN" sz="3600" b="1" i="1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den>
                          </m:f>
                        </m:e>
                      </m:d>
                      <m:r>
                        <a:rPr lang="en-GB" altLang="zh-CN" sz="36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GB" altLang="zh-CN" sz="3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GB" altLang="zh-CN" sz="3600" b="1" i="1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2BC26F8-91ED-10AE-0B96-E3FAF7AE1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214" y="4566683"/>
                <a:ext cx="4774962" cy="1148007"/>
              </a:xfrm>
              <a:prstGeom prst="rect">
                <a:avLst/>
              </a:prstGeom>
              <a:blipFill>
                <a:blip r:embed="rId2"/>
                <a:stretch>
                  <a:fillRect l="-265" r="-4244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FCC0A36-9E41-D504-8B23-5C494A7893DC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-5080" y="591458"/>
            <a:ext cx="12826999" cy="91621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tlCol="0" anchor="ctr">
            <a:noAutofit/>
          </a:bodyPr>
          <a:lstStyle/>
          <a:p>
            <a:pPr algn="ctr"/>
            <a:r>
              <a:rPr kumimoji="1"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kumimoji="1"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en-GB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https://www.youtube.com/watch?v=GyDTT3PxFP4</a:t>
            </a: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520894-D575-9C1F-7816-4C189E8C85E3}"/>
              </a:ext>
            </a:extLst>
          </p:cNvPr>
          <p:cNvSpPr txBox="1"/>
          <p:nvPr/>
        </p:nvSpPr>
        <p:spPr>
          <a:xfrm>
            <a:off x="406400" y="30480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Knapsack</a:t>
            </a:r>
            <a:r>
              <a:rPr kumimoji="1" lang="zh-CN" altLang="en-US"/>
              <a:t> </a:t>
            </a:r>
            <a:r>
              <a:rPr kumimoji="1" lang="en-US" altLang="zh-CN"/>
              <a:t>Problem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0475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ytbvideo/id/RhHhy-8sz-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ytbvideo/id/GyDTT3PxFP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1728</TotalTime>
  <Words>6416</Words>
  <Application>Microsoft Macintosh PowerPoint</Application>
  <PresentationFormat>自定义</PresentationFormat>
  <Paragraphs>930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8" baseType="lpstr">
      <vt:lpstr>Microsoft Yahei</vt:lpstr>
      <vt:lpstr>Arial MT</vt:lpstr>
      <vt:lpstr>Microsoft JhengHei UI</vt:lpstr>
      <vt:lpstr>Arial</vt:lpstr>
      <vt:lpstr>Calibri</vt:lpstr>
      <vt:lpstr>Cambria Math</vt:lpstr>
      <vt:lpstr>Franklin Gothic Medium</vt:lpstr>
      <vt:lpstr>Lucida Sans Unicode</vt:lpstr>
      <vt:lpstr>Symbol</vt:lpstr>
      <vt:lpstr>Tahoma</vt:lpstr>
      <vt:lpstr>Times New Roman</vt:lpstr>
      <vt:lpstr>Verdana</vt:lpstr>
      <vt:lpstr>Office Theme</vt:lpstr>
      <vt:lpstr>11. Approximation Algorithms</vt:lpstr>
      <vt:lpstr>Coping with NP-completeness</vt:lpstr>
      <vt:lpstr>11. Approximation Algorithms</vt:lpstr>
      <vt:lpstr>Load balancing</vt:lpstr>
      <vt:lpstr>Load balancing on 2 machines is NP-hard</vt:lpstr>
      <vt:lpstr>Load balancing: list scheduling</vt:lpstr>
      <vt:lpstr>Load balancing: list scheduling analysis</vt:lpstr>
      <vt:lpstr>Load balancing: list scheduling analysis</vt:lpstr>
      <vt:lpstr>Load balancing: list scheduling analysis</vt:lpstr>
      <vt:lpstr>Load balancing: list scheduling analysis</vt:lpstr>
      <vt:lpstr>Load balancing: list scheduling analysis</vt:lpstr>
      <vt:lpstr>Load balancing: LPT rule</vt:lpstr>
      <vt:lpstr>Load balancing: LPT rule</vt:lpstr>
      <vt:lpstr>Load balancing: LPT rule</vt:lpstr>
      <vt:lpstr>Believe it or not</vt:lpstr>
      <vt:lpstr>11. Approximation Algorithms</vt:lpstr>
      <vt:lpstr>Center selection problem</vt:lpstr>
      <vt:lpstr>Center selection problem</vt:lpstr>
      <vt:lpstr>Center selection example</vt:lpstr>
      <vt:lpstr>Greedy algorithm: a false start</vt:lpstr>
      <vt:lpstr>Center selection: greedy algorithm</vt:lpstr>
      <vt:lpstr>Center selection: analysis of greedy algorithm</vt:lpstr>
      <vt:lpstr>Center selection</vt:lpstr>
      <vt:lpstr>Dominating set reduces to center selection</vt:lpstr>
      <vt:lpstr>11. Approximation Algorithms</vt:lpstr>
      <vt:lpstr>Weighted vertex cover</vt:lpstr>
      <vt:lpstr>Pricing method</vt:lpstr>
      <vt:lpstr>Pricing method</vt:lpstr>
      <vt:lpstr>Pricing method example</vt:lpstr>
      <vt:lpstr>PowerPoint 演示文稿</vt:lpstr>
      <vt:lpstr>11. Approximation Algorithms</vt:lpstr>
      <vt:lpstr>Weighted vertex cover</vt:lpstr>
      <vt:lpstr>Weighted vertex cover: ILP formulation</vt:lpstr>
      <vt:lpstr>Weighted vertex cover: ILP formulation</vt:lpstr>
      <vt:lpstr>Integer linear programming</vt:lpstr>
      <vt:lpstr>Linear programming</vt:lpstr>
      <vt:lpstr>LP feasible region</vt:lpstr>
      <vt:lpstr>Weighted vertex cover: LP relaxation</vt:lpstr>
      <vt:lpstr>PowerPoint 演示文稿</vt:lpstr>
      <vt:lpstr>Weighted vertex cover inapproximability</vt:lpstr>
      <vt:lpstr>Weighted vertex cover inapproximability</vt:lpstr>
      <vt:lpstr>Linear Programming Relaxation</vt:lpstr>
      <vt:lpstr>11. Approximation Algorithms</vt:lpstr>
      <vt:lpstr>Generalized load balancing</vt:lpstr>
      <vt:lpstr>Generalized load balancing: integer linear program and relaxation</vt:lpstr>
      <vt:lpstr>Generalized load balancing: lower bounds</vt:lpstr>
      <vt:lpstr>Generalized load balancing: structure of LP solution</vt:lpstr>
      <vt:lpstr>Generalized load balancing: rounding</vt:lpstr>
      <vt:lpstr>Generalized load balancing: analysis</vt:lpstr>
      <vt:lpstr>Generalized load balancing: analysis</vt:lpstr>
      <vt:lpstr>Generalized load balancing: flow formulation</vt:lpstr>
      <vt:lpstr>Generalized load balancing: structure of solution</vt:lpstr>
      <vt:lpstr>Conclusions</vt:lpstr>
      <vt:lpstr>11. Approximation Algorithms</vt:lpstr>
      <vt:lpstr>Polynomial-time approximation scheme</vt:lpstr>
      <vt:lpstr>Knapsack problem</vt:lpstr>
      <vt:lpstr>Knapsack is NP-complete</vt:lpstr>
      <vt:lpstr>PowerPoint 演示文稿</vt:lpstr>
      <vt:lpstr>Knapsack problem: dynamic programming II</vt:lpstr>
      <vt:lpstr>Knapsack problem: dynamic programming II</vt:lpstr>
      <vt:lpstr>Knapsack problem: polynomial-time approximation scheme</vt:lpstr>
      <vt:lpstr>PowerPoint 演示文稿</vt:lpstr>
      <vt:lpstr>Knapsack problem: polynomial-time approximation scheme</vt:lpstr>
      <vt:lpstr>Knapsack problem: polynomial-time approximation scheme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11ApproximationAlgorithms</dc:title>
  <cp:lastModifiedBy>Fan B</cp:lastModifiedBy>
  <cp:revision>2</cp:revision>
  <dcterms:created xsi:type="dcterms:W3CDTF">2025-11-26T02:47:29Z</dcterms:created>
  <dcterms:modified xsi:type="dcterms:W3CDTF">2025-12-08T09:29:29Z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2020-02-26T00:00:00Z</vt:filetime>
  </property>
  <property fmtid="{D5CDD505-2E9C-101B-9397-08002B2CF9AE}" pid="3" name="Creator">
    <vt:lpwstr>Keynote</vt:lpwstr>
  </property>
  <property fmtid="{D5CDD505-2E9C-101B-9397-08002B2CF9AE}" pid="4" name="LastSaved">
    <vt:filetime>2025-11-26T00:00:00Z</vt:filetime>
  </property>
  <property fmtid="{D5CDD505-2E9C-101B-9397-08002B2CF9AE}" pid="5" name="Producer">
    <vt:lpwstr>macOS Version 10.15.3 (Build 19D76) Quartz PDFContext</vt:lpwstr>
  </property>
</Properties>
</file>
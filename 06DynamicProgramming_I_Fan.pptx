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3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670F60-D38A-DC42-8569-EA68CEDFEF43}" v="32" dt="2025-11-11T10:20:34.75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2"/>
    <p:restoredTop sz="94673"/>
  </p:normalViewPr>
  <p:slideViewPr>
    <p:cSldViewPr>
      <p:cViewPr varScale="1">
        <p:scale>
          <a:sx n="113" d="100"/>
          <a:sy n="113" d="100"/>
        </p:scale>
        <p:origin x="1280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 B" userId="db9ed596-3ff8-44ed-9ddf-677f7b64b4c6" providerId="ADAL" clId="{EB6FE681-8D19-5C4E-AAB3-6401E0652CD5}"/>
    <pc:docChg chg="undo custSel addSld modSld">
      <pc:chgData name="Fan B" userId="db9ed596-3ff8-44ed-9ddf-677f7b64b4c6" providerId="ADAL" clId="{EB6FE681-8D19-5C4E-AAB3-6401E0652CD5}" dt="2025-11-11T10:20:34.754" v="52" actId="14100"/>
      <pc:docMkLst>
        <pc:docMk/>
      </pc:docMkLst>
      <pc:sldChg chg="modSp mod">
        <pc:chgData name="Fan B" userId="db9ed596-3ff8-44ed-9ddf-677f7b64b4c6" providerId="ADAL" clId="{EB6FE681-8D19-5C4E-AAB3-6401E0652CD5}" dt="2025-11-04T07:17:06.123" v="0" actId="14100"/>
        <pc:sldMkLst>
          <pc:docMk/>
          <pc:sldMk cId="0" sldId="256"/>
        </pc:sldMkLst>
        <pc:spChg chg="mod">
          <ac:chgData name="Fan B" userId="db9ed596-3ff8-44ed-9ddf-677f7b64b4c6" providerId="ADAL" clId="{EB6FE681-8D19-5C4E-AAB3-6401E0652CD5}" dt="2025-11-04T07:17:06.123" v="0" actId="14100"/>
          <ac:spMkLst>
            <pc:docMk/>
            <pc:sldMk cId="0" sldId="256"/>
            <ac:spMk id="9" creationId="{00000000-0000-0000-0000-000000000000}"/>
          </ac:spMkLst>
        </pc:spChg>
      </pc:sldChg>
      <pc:sldChg chg="addSp modSp mod">
        <pc:chgData name="Fan B" userId="db9ed596-3ff8-44ed-9ddf-677f7b64b4c6" providerId="ADAL" clId="{EB6FE681-8D19-5C4E-AAB3-6401E0652CD5}" dt="2025-11-04T07:33:45.387" v="7" actId="1076"/>
        <pc:sldMkLst>
          <pc:docMk/>
          <pc:sldMk cId="0" sldId="257"/>
        </pc:sldMkLst>
        <pc:spChg chg="mod">
          <ac:chgData name="Fan B" userId="db9ed596-3ff8-44ed-9ddf-677f7b64b4c6" providerId="ADAL" clId="{EB6FE681-8D19-5C4E-AAB3-6401E0652CD5}" dt="2025-11-04T07:33:24.867" v="4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1-04T07:33:24.867" v="4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1-04T07:33:45.387" v="7" actId="1076"/>
          <ac:spMkLst>
            <pc:docMk/>
            <pc:sldMk cId="0" sldId="257"/>
            <ac:spMk id="5" creationId="{00000000-0000-0000-0000-000000000000}"/>
          </ac:spMkLst>
        </pc:spChg>
        <pc:grpChg chg="mod">
          <ac:chgData name="Fan B" userId="db9ed596-3ff8-44ed-9ddf-677f7b64b4c6" providerId="ADAL" clId="{EB6FE681-8D19-5C4E-AAB3-6401E0652CD5}" dt="2025-11-04T07:33:42.997" v="6" actId="1076"/>
          <ac:grpSpMkLst>
            <pc:docMk/>
            <pc:sldMk cId="0" sldId="257"/>
            <ac:grpSpMk id="6" creationId="{00000000-0000-0000-0000-000000000000}"/>
          </ac:grpSpMkLst>
        </pc:grpChg>
        <pc:picChg chg="add mod">
          <ac:chgData name="Fan B" userId="db9ed596-3ff8-44ed-9ddf-677f7b64b4c6" providerId="ADAL" clId="{EB6FE681-8D19-5C4E-AAB3-6401E0652CD5}" dt="2025-11-04T07:33:29.832" v="5" actId="14100"/>
          <ac:picMkLst>
            <pc:docMk/>
            <pc:sldMk cId="0" sldId="257"/>
            <ac:picMk id="1026" creationId="{25C1AE41-D53F-02CB-0A0B-725E6066E055}"/>
          </ac:picMkLst>
        </pc:picChg>
      </pc:sldChg>
      <pc:sldChg chg="modSp mod">
        <pc:chgData name="Fan B" userId="db9ed596-3ff8-44ed-9ddf-677f7b64b4c6" providerId="ADAL" clId="{EB6FE681-8D19-5C4E-AAB3-6401E0652CD5}" dt="2025-11-04T07:46:43.650" v="8" actId="14100"/>
        <pc:sldMkLst>
          <pc:docMk/>
          <pc:sldMk cId="0" sldId="260"/>
        </pc:sldMkLst>
        <pc:spChg chg="mod">
          <ac:chgData name="Fan B" userId="db9ed596-3ff8-44ed-9ddf-677f7b64b4c6" providerId="ADAL" clId="{EB6FE681-8D19-5C4E-AAB3-6401E0652CD5}" dt="2025-11-04T07:46:43.650" v="8" actId="14100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Fan B" userId="db9ed596-3ff8-44ed-9ddf-677f7b64b4c6" providerId="ADAL" clId="{EB6FE681-8D19-5C4E-AAB3-6401E0652CD5}" dt="2025-11-04T07:53:25.520" v="9" actId="1076"/>
        <pc:sldMkLst>
          <pc:docMk/>
          <pc:sldMk cId="0" sldId="264"/>
        </pc:sldMkLst>
        <pc:spChg chg="mod">
          <ac:chgData name="Fan B" userId="db9ed596-3ff8-44ed-9ddf-677f7b64b4c6" providerId="ADAL" clId="{EB6FE681-8D19-5C4E-AAB3-6401E0652CD5}" dt="2025-11-04T07:53:25.520" v="9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1-04T07:53:25.520" v="9" actId="1076"/>
          <ac:spMkLst>
            <pc:docMk/>
            <pc:sldMk cId="0" sldId="264"/>
            <ac:spMk id="7" creationId="{00000000-0000-0000-0000-000000000000}"/>
          </ac:spMkLst>
        </pc:spChg>
      </pc:sldChg>
      <pc:sldChg chg="addSp modSp mod">
        <pc:chgData name="Fan B" userId="db9ed596-3ff8-44ed-9ddf-677f7b64b4c6" providerId="ADAL" clId="{EB6FE681-8D19-5C4E-AAB3-6401E0652CD5}" dt="2025-11-04T08:52:48.396" v="22" actId="1076"/>
        <pc:sldMkLst>
          <pc:docMk/>
          <pc:sldMk cId="0" sldId="270"/>
        </pc:sldMkLst>
        <pc:spChg chg="mod">
          <ac:chgData name="Fan B" userId="db9ed596-3ff8-44ed-9ddf-677f7b64b4c6" providerId="ADAL" clId="{EB6FE681-8D19-5C4E-AAB3-6401E0652CD5}" dt="2025-11-04T08:47:03.452" v="18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1-04T08:47:03.452" v="18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1-04T08:47:03.452" v="18" actId="1076"/>
          <ac:spMkLst>
            <pc:docMk/>
            <pc:sldMk cId="0" sldId="270"/>
            <ac:spMk id="9" creationId="{00000000-0000-0000-0000-000000000000}"/>
          </ac:spMkLst>
        </pc:spChg>
        <pc:spChg chg="add mod">
          <ac:chgData name="Fan B" userId="db9ed596-3ff8-44ed-9ddf-677f7b64b4c6" providerId="ADAL" clId="{EB6FE681-8D19-5C4E-AAB3-6401E0652CD5}" dt="2025-11-04T08:52:48.396" v="22" actId="1076"/>
          <ac:spMkLst>
            <pc:docMk/>
            <pc:sldMk cId="0" sldId="270"/>
            <ac:spMk id="11" creationId="{6A0349D3-B61C-E8EB-E90A-E63F505323F5}"/>
          </ac:spMkLst>
        </pc:spChg>
        <pc:grpChg chg="mod">
          <ac:chgData name="Fan B" userId="db9ed596-3ff8-44ed-9ddf-677f7b64b4c6" providerId="ADAL" clId="{EB6FE681-8D19-5C4E-AAB3-6401E0652CD5}" dt="2025-11-04T08:47:03.452" v="18" actId="1076"/>
          <ac:grpSpMkLst>
            <pc:docMk/>
            <pc:sldMk cId="0" sldId="270"/>
            <ac:grpSpMk id="5" creationId="{00000000-0000-0000-0000-000000000000}"/>
          </ac:grpSpMkLst>
        </pc:grpChg>
        <pc:picChg chg="add mod">
          <ac:chgData name="Fan B" userId="db9ed596-3ff8-44ed-9ddf-677f7b64b4c6" providerId="ADAL" clId="{EB6FE681-8D19-5C4E-AAB3-6401E0652CD5}" dt="2025-11-04T08:46:56.995" v="17" actId="1076"/>
          <ac:picMkLst>
            <pc:docMk/>
            <pc:sldMk cId="0" sldId="270"/>
            <ac:picMk id="2050" creationId="{F6E285A4-E2BE-33C5-DE45-56C5EA7FC42F}"/>
          </ac:picMkLst>
        </pc:picChg>
      </pc:sldChg>
      <pc:sldChg chg="modSp mod modShow">
        <pc:chgData name="Fan B" userId="db9ed596-3ff8-44ed-9ddf-677f7b64b4c6" providerId="ADAL" clId="{EB6FE681-8D19-5C4E-AAB3-6401E0652CD5}" dt="2025-11-04T08:58:46.570" v="25" actId="729"/>
        <pc:sldMkLst>
          <pc:docMk/>
          <pc:sldMk cId="0" sldId="271"/>
        </pc:sldMkLst>
        <pc:spChg chg="mod">
          <ac:chgData name="Fan B" userId="db9ed596-3ff8-44ed-9ddf-677f7b64b4c6" providerId="ADAL" clId="{EB6FE681-8D19-5C4E-AAB3-6401E0652CD5}" dt="2025-11-04T08:47:42.280" v="19" actId="14100"/>
          <ac:spMkLst>
            <pc:docMk/>
            <pc:sldMk cId="0" sldId="271"/>
            <ac:spMk id="7" creationId="{00000000-0000-0000-0000-000000000000}"/>
          </ac:spMkLst>
        </pc:spChg>
      </pc:sldChg>
      <pc:sldChg chg="modSp mod modShow">
        <pc:chgData name="Fan B" userId="db9ed596-3ff8-44ed-9ddf-677f7b64b4c6" providerId="ADAL" clId="{EB6FE681-8D19-5C4E-AAB3-6401E0652CD5}" dt="2025-11-04T08:58:46.570" v="25" actId="729"/>
        <pc:sldMkLst>
          <pc:docMk/>
          <pc:sldMk cId="0" sldId="272"/>
        </pc:sldMkLst>
        <pc:spChg chg="mod">
          <ac:chgData name="Fan B" userId="db9ed596-3ff8-44ed-9ddf-677f7b64b4c6" providerId="ADAL" clId="{EB6FE681-8D19-5C4E-AAB3-6401E0652CD5}" dt="2025-11-04T08:57:07.655" v="24" actId="14100"/>
          <ac:spMkLst>
            <pc:docMk/>
            <pc:sldMk cId="0" sldId="272"/>
            <ac:spMk id="4" creationId="{00000000-0000-0000-0000-000000000000}"/>
          </ac:spMkLst>
        </pc:spChg>
      </pc:sldChg>
      <pc:sldChg chg="mod modShow">
        <pc:chgData name="Fan B" userId="db9ed596-3ff8-44ed-9ddf-677f7b64b4c6" providerId="ADAL" clId="{EB6FE681-8D19-5C4E-AAB3-6401E0652CD5}" dt="2025-11-04T08:58:46.570" v="25" actId="729"/>
        <pc:sldMkLst>
          <pc:docMk/>
          <pc:sldMk cId="0" sldId="273"/>
        </pc:sldMkLst>
      </pc:sldChg>
      <pc:sldChg chg="mod modShow">
        <pc:chgData name="Fan B" userId="db9ed596-3ff8-44ed-9ddf-677f7b64b4c6" providerId="ADAL" clId="{EB6FE681-8D19-5C4E-AAB3-6401E0652CD5}" dt="2025-11-04T08:58:46.570" v="25" actId="729"/>
        <pc:sldMkLst>
          <pc:docMk/>
          <pc:sldMk cId="0" sldId="274"/>
        </pc:sldMkLst>
      </pc:sldChg>
      <pc:sldChg chg="mod modShow">
        <pc:chgData name="Fan B" userId="db9ed596-3ff8-44ed-9ddf-677f7b64b4c6" providerId="ADAL" clId="{EB6FE681-8D19-5C4E-AAB3-6401E0652CD5}" dt="2025-11-04T08:58:46.570" v="25" actId="729"/>
        <pc:sldMkLst>
          <pc:docMk/>
          <pc:sldMk cId="0" sldId="275"/>
        </pc:sldMkLst>
      </pc:sldChg>
      <pc:sldChg chg="mod modShow">
        <pc:chgData name="Fan B" userId="db9ed596-3ff8-44ed-9ddf-677f7b64b4c6" providerId="ADAL" clId="{EB6FE681-8D19-5C4E-AAB3-6401E0652CD5}" dt="2025-11-04T08:58:46.570" v="25" actId="729"/>
        <pc:sldMkLst>
          <pc:docMk/>
          <pc:sldMk cId="0" sldId="276"/>
        </pc:sldMkLst>
      </pc:sldChg>
      <pc:sldChg chg="mod modShow">
        <pc:chgData name="Fan B" userId="db9ed596-3ff8-44ed-9ddf-677f7b64b4c6" providerId="ADAL" clId="{EB6FE681-8D19-5C4E-AAB3-6401E0652CD5}" dt="2025-11-04T08:58:46.570" v="25" actId="729"/>
        <pc:sldMkLst>
          <pc:docMk/>
          <pc:sldMk cId="0" sldId="277"/>
        </pc:sldMkLst>
      </pc:sldChg>
      <pc:sldChg chg="modSp mod">
        <pc:chgData name="Fan B" userId="db9ed596-3ff8-44ed-9ddf-677f7b64b4c6" providerId="ADAL" clId="{EB6FE681-8D19-5C4E-AAB3-6401E0652CD5}" dt="2025-11-04T08:58:50.329" v="26" actId="14100"/>
        <pc:sldMkLst>
          <pc:docMk/>
          <pc:sldMk cId="0" sldId="278"/>
        </pc:sldMkLst>
        <pc:spChg chg="mod">
          <ac:chgData name="Fan B" userId="db9ed596-3ff8-44ed-9ddf-677f7b64b4c6" providerId="ADAL" clId="{EB6FE681-8D19-5C4E-AAB3-6401E0652CD5}" dt="2025-11-04T08:58:50.329" v="26" actId="14100"/>
          <ac:spMkLst>
            <pc:docMk/>
            <pc:sldMk cId="0" sldId="278"/>
            <ac:spMk id="7" creationId="{00000000-0000-0000-0000-000000000000}"/>
          </ac:spMkLst>
        </pc:spChg>
      </pc:sldChg>
      <pc:sldChg chg="modSp mod modShow">
        <pc:chgData name="Fan B" userId="db9ed596-3ff8-44ed-9ddf-677f7b64b4c6" providerId="ADAL" clId="{EB6FE681-8D19-5C4E-AAB3-6401E0652CD5}" dt="2025-11-10T06:00:38.288" v="28" actId="729"/>
        <pc:sldMkLst>
          <pc:docMk/>
          <pc:sldMk cId="0" sldId="285"/>
        </pc:sldMkLst>
        <pc:spChg chg="mod">
          <ac:chgData name="Fan B" userId="db9ed596-3ff8-44ed-9ddf-677f7b64b4c6" providerId="ADAL" clId="{EB6FE681-8D19-5C4E-AAB3-6401E0652CD5}" dt="2025-11-04T09:19:58.001" v="27" actId="14100"/>
          <ac:spMkLst>
            <pc:docMk/>
            <pc:sldMk cId="0" sldId="285"/>
            <ac:spMk id="7" creationId="{00000000-0000-0000-0000-000000000000}"/>
          </ac:spMkLst>
        </pc:spChg>
      </pc:sldChg>
      <pc:sldChg chg="mod modShow">
        <pc:chgData name="Fan B" userId="db9ed596-3ff8-44ed-9ddf-677f7b64b4c6" providerId="ADAL" clId="{EB6FE681-8D19-5C4E-AAB3-6401E0652CD5}" dt="2025-11-10T06:00:38.288" v="28" actId="729"/>
        <pc:sldMkLst>
          <pc:docMk/>
          <pc:sldMk cId="0" sldId="286"/>
        </pc:sldMkLst>
      </pc:sldChg>
      <pc:sldChg chg="mod modShow">
        <pc:chgData name="Fan B" userId="db9ed596-3ff8-44ed-9ddf-677f7b64b4c6" providerId="ADAL" clId="{EB6FE681-8D19-5C4E-AAB3-6401E0652CD5}" dt="2025-11-10T06:00:38.288" v="28" actId="729"/>
        <pc:sldMkLst>
          <pc:docMk/>
          <pc:sldMk cId="0" sldId="287"/>
        </pc:sldMkLst>
      </pc:sldChg>
      <pc:sldChg chg="mod modShow">
        <pc:chgData name="Fan B" userId="db9ed596-3ff8-44ed-9ddf-677f7b64b4c6" providerId="ADAL" clId="{EB6FE681-8D19-5C4E-AAB3-6401E0652CD5}" dt="2025-11-10T06:00:38.288" v="28" actId="729"/>
        <pc:sldMkLst>
          <pc:docMk/>
          <pc:sldMk cId="0" sldId="288"/>
        </pc:sldMkLst>
      </pc:sldChg>
      <pc:sldChg chg="mod modShow">
        <pc:chgData name="Fan B" userId="db9ed596-3ff8-44ed-9ddf-677f7b64b4c6" providerId="ADAL" clId="{EB6FE681-8D19-5C4E-AAB3-6401E0652CD5}" dt="2025-11-10T06:00:38.288" v="28" actId="729"/>
        <pc:sldMkLst>
          <pc:docMk/>
          <pc:sldMk cId="0" sldId="289"/>
        </pc:sldMkLst>
      </pc:sldChg>
      <pc:sldChg chg="mod modShow">
        <pc:chgData name="Fan B" userId="db9ed596-3ff8-44ed-9ddf-677f7b64b4c6" providerId="ADAL" clId="{EB6FE681-8D19-5C4E-AAB3-6401E0652CD5}" dt="2025-11-10T06:00:38.288" v="28" actId="729"/>
        <pc:sldMkLst>
          <pc:docMk/>
          <pc:sldMk cId="0" sldId="290"/>
        </pc:sldMkLst>
      </pc:sldChg>
      <pc:sldChg chg="mod modShow">
        <pc:chgData name="Fan B" userId="db9ed596-3ff8-44ed-9ddf-677f7b64b4c6" providerId="ADAL" clId="{EB6FE681-8D19-5C4E-AAB3-6401E0652CD5}" dt="2025-11-10T06:00:38.288" v="28" actId="729"/>
        <pc:sldMkLst>
          <pc:docMk/>
          <pc:sldMk cId="0" sldId="291"/>
        </pc:sldMkLst>
      </pc:sldChg>
      <pc:sldChg chg="mod modShow">
        <pc:chgData name="Fan B" userId="db9ed596-3ff8-44ed-9ddf-677f7b64b4c6" providerId="ADAL" clId="{EB6FE681-8D19-5C4E-AAB3-6401E0652CD5}" dt="2025-11-10T06:00:38.288" v="28" actId="729"/>
        <pc:sldMkLst>
          <pc:docMk/>
          <pc:sldMk cId="0" sldId="292"/>
        </pc:sldMkLst>
      </pc:sldChg>
      <pc:sldChg chg="addSp modSp new mod">
        <pc:chgData name="Fan B" userId="db9ed596-3ff8-44ed-9ddf-677f7b64b4c6" providerId="ADAL" clId="{EB6FE681-8D19-5C4E-AAB3-6401E0652CD5}" dt="2025-11-11T10:20:34.754" v="52" actId="14100"/>
        <pc:sldMkLst>
          <pc:docMk/>
          <pc:sldMk cId="3979515003" sldId="293"/>
        </pc:sldMkLst>
        <pc:spChg chg="add mod">
          <ac:chgData name="Fan B" userId="db9ed596-3ff8-44ed-9ddf-677f7b64b4c6" providerId="ADAL" clId="{EB6FE681-8D19-5C4E-AAB3-6401E0652CD5}" dt="2025-11-11T10:20:34.754" v="52" actId="14100"/>
          <ac:spMkLst>
            <pc:docMk/>
            <pc:sldMk cId="3979515003" sldId="293"/>
            <ac:spMk id="2" creationId="{15D14CAD-3921-A7EE-0767-0AE79D6646D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7573" y="220725"/>
            <a:ext cx="9763760" cy="7324725"/>
          </a:xfrm>
          <a:custGeom>
            <a:avLst/>
            <a:gdLst/>
            <a:ahLst/>
            <a:cxnLst/>
            <a:rect l="l" t="t" r="r" b="b"/>
            <a:pathLst>
              <a:path w="9763760" h="7324725">
                <a:moveTo>
                  <a:pt x="9763252" y="0"/>
                </a:moveTo>
                <a:lnTo>
                  <a:pt x="0" y="0"/>
                </a:lnTo>
                <a:lnTo>
                  <a:pt x="0" y="7324725"/>
                </a:lnTo>
                <a:lnTo>
                  <a:pt x="9763252" y="7324725"/>
                </a:lnTo>
                <a:lnTo>
                  <a:pt x="9763252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7573" y="220725"/>
            <a:ext cx="9763760" cy="7324725"/>
          </a:xfrm>
          <a:custGeom>
            <a:avLst/>
            <a:gdLst/>
            <a:ahLst/>
            <a:cxnLst/>
            <a:rect l="l" t="t" r="r" b="b"/>
            <a:pathLst>
              <a:path w="9763760" h="7324725">
                <a:moveTo>
                  <a:pt x="9763252" y="0"/>
                </a:moveTo>
                <a:lnTo>
                  <a:pt x="0" y="0"/>
                </a:lnTo>
                <a:lnTo>
                  <a:pt x="0" y="7324725"/>
                </a:lnTo>
                <a:lnTo>
                  <a:pt x="9763252" y="7324725"/>
                </a:lnTo>
                <a:lnTo>
                  <a:pt x="9763252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5267" y="475073"/>
            <a:ext cx="5125085" cy="34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7613" y="2481090"/>
            <a:ext cx="4330065" cy="2804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421831" y="7234878"/>
            <a:ext cx="234315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s.princeton.edu/~wayne/kleinberg-tardo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573" y="220725"/>
            <a:ext cx="9763760" cy="7324725"/>
          </a:xfrm>
          <a:custGeom>
            <a:avLst/>
            <a:gdLst/>
            <a:ahLst/>
            <a:cxnLst/>
            <a:rect l="l" t="t" r="r" b="b"/>
            <a:pathLst>
              <a:path w="9763760" h="7324725">
                <a:moveTo>
                  <a:pt x="9763252" y="0"/>
                </a:moveTo>
                <a:lnTo>
                  <a:pt x="0" y="0"/>
                </a:lnTo>
                <a:lnTo>
                  <a:pt x="0" y="7324725"/>
                </a:lnTo>
                <a:lnTo>
                  <a:pt x="9763252" y="7324725"/>
                </a:lnTo>
                <a:lnTo>
                  <a:pt x="9763252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40936" y="1527350"/>
            <a:ext cx="3337560" cy="3832225"/>
            <a:chOff x="640936" y="1527350"/>
            <a:chExt cx="3337560" cy="3832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6" y="1527350"/>
              <a:ext cx="3337527" cy="38320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38300"/>
              <a:ext cx="558800" cy="6096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00179" y="5573185"/>
            <a:ext cx="3634104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344805" indent="457834">
              <a:lnSpc>
                <a:spcPct val="131100"/>
              </a:lnSpc>
              <a:spcBef>
                <a:spcPts val="100"/>
              </a:spcBef>
            </a:pPr>
            <a:r>
              <a:rPr sz="1050" b="1" dirty="0">
                <a:solidFill>
                  <a:srgbClr val="FFFFFF"/>
                </a:solidFill>
                <a:latin typeface="Trebuchet MS"/>
                <a:cs typeface="Trebuchet MS"/>
              </a:rPr>
              <a:t>Lecture</a:t>
            </a:r>
            <a:r>
              <a:rPr sz="105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70" dirty="0">
                <a:solidFill>
                  <a:srgbClr val="FFFFFF"/>
                </a:solidFill>
                <a:latin typeface="Trebuchet MS"/>
                <a:cs typeface="Trebuchet MS"/>
              </a:rPr>
              <a:t>slides</a:t>
            </a:r>
            <a:r>
              <a:rPr sz="105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6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sz="105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50" dirty="0">
                <a:solidFill>
                  <a:srgbClr val="FFFFFF"/>
                </a:solidFill>
                <a:latin typeface="Trebuchet MS"/>
                <a:cs typeface="Trebuchet MS"/>
              </a:rPr>
              <a:t>Kevin</a:t>
            </a:r>
            <a:r>
              <a:rPr sz="105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FFFFFF"/>
                </a:solidFill>
                <a:latin typeface="Trebuchet MS"/>
                <a:cs typeface="Trebuchet MS"/>
              </a:rPr>
              <a:t>Wayne </a:t>
            </a:r>
            <a:r>
              <a:rPr sz="1050" b="1" spc="65" dirty="0">
                <a:solidFill>
                  <a:srgbClr val="FFFFFF"/>
                </a:solidFill>
                <a:latin typeface="Trebuchet MS"/>
                <a:cs typeface="Trebuchet MS"/>
              </a:rPr>
              <a:t>Copyright</a:t>
            </a:r>
            <a:r>
              <a:rPr sz="105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125" dirty="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sz="1050" b="1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75" dirty="0">
                <a:solidFill>
                  <a:srgbClr val="FFFFFF"/>
                </a:solidFill>
                <a:latin typeface="Trebuchet MS"/>
                <a:cs typeface="Trebuchet MS"/>
              </a:rPr>
              <a:t>2005</a:t>
            </a:r>
            <a:r>
              <a:rPr sz="1050" b="1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80" dirty="0">
                <a:solidFill>
                  <a:srgbClr val="FFFFFF"/>
                </a:solidFill>
                <a:latin typeface="Trebuchet MS"/>
                <a:cs typeface="Trebuchet MS"/>
              </a:rPr>
              <a:t>Pearson-Addison</a:t>
            </a:r>
            <a:r>
              <a:rPr sz="105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Trebuchet MS"/>
                <a:cs typeface="Trebuchet MS"/>
              </a:rPr>
              <a:t>Wesley</a:t>
            </a:r>
            <a:endParaRPr sz="1050">
              <a:latin typeface="Trebuchet MS"/>
              <a:cs typeface="Trebuchet MS"/>
            </a:endParaRPr>
          </a:p>
          <a:p>
            <a:pPr marL="709930">
              <a:lnSpc>
                <a:spcPct val="100000"/>
              </a:lnSpc>
              <a:spcBef>
                <a:spcPts val="390"/>
              </a:spcBef>
            </a:pPr>
            <a:r>
              <a:rPr sz="1050" b="1" spc="65" dirty="0">
                <a:solidFill>
                  <a:srgbClr val="FFFFFF"/>
                </a:solidFill>
                <a:latin typeface="Trebuchet MS"/>
                <a:cs typeface="Trebuchet MS"/>
              </a:rPr>
              <a:t>Copyright</a:t>
            </a:r>
            <a:r>
              <a:rPr sz="105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125" dirty="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sz="105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75" dirty="0">
                <a:solidFill>
                  <a:srgbClr val="FFFFFF"/>
                </a:solidFill>
                <a:latin typeface="Trebuchet MS"/>
                <a:cs typeface="Trebuchet MS"/>
              </a:rPr>
              <a:t>2013</a:t>
            </a:r>
            <a:r>
              <a:rPr sz="105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50" dirty="0">
                <a:solidFill>
                  <a:srgbClr val="FFFFFF"/>
                </a:solidFill>
                <a:latin typeface="Trebuchet MS"/>
                <a:cs typeface="Trebuchet MS"/>
              </a:rPr>
              <a:t>Kevin</a:t>
            </a:r>
            <a:r>
              <a:rPr sz="105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FFFFFF"/>
                </a:solidFill>
                <a:latin typeface="Trebuchet MS"/>
                <a:cs typeface="Trebuchet MS"/>
              </a:rPr>
              <a:t>Wayne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800" b="1" spc="145" dirty="0">
                <a:solidFill>
                  <a:srgbClr val="FFFFFF"/>
                </a:solidFill>
                <a:latin typeface="Trebuchet MS"/>
                <a:cs typeface="Trebuchet MS"/>
                <a:hlinkClick r:id="rId4"/>
              </a:rPr>
              <a:t>http://www.cs.princeton.edu/~wayne/kleinberg-</a:t>
            </a:r>
            <a:r>
              <a:rPr sz="800" b="1" spc="135" dirty="0">
                <a:solidFill>
                  <a:srgbClr val="FFFFFF"/>
                </a:solidFill>
                <a:latin typeface="Trebuchet MS"/>
                <a:cs typeface="Trebuchet MS"/>
                <a:hlinkClick r:id="rId4"/>
              </a:rPr>
              <a:t>tardos 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87059" y="1985146"/>
            <a:ext cx="4893945" cy="0"/>
          </a:xfrm>
          <a:custGeom>
            <a:avLst/>
            <a:gdLst/>
            <a:ahLst/>
            <a:cxnLst/>
            <a:rect l="l" t="t" r="r" b="b"/>
            <a:pathLst>
              <a:path w="4893945">
                <a:moveTo>
                  <a:pt x="0" y="0"/>
                </a:moveTo>
                <a:lnTo>
                  <a:pt x="4893381" y="0"/>
                </a:lnTo>
              </a:path>
            </a:pathLst>
          </a:custGeom>
          <a:ln w="143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229088" y="7189404"/>
            <a:ext cx="212915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Last</a:t>
            </a:r>
            <a:r>
              <a:rPr sz="9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updated</a:t>
            </a:r>
            <a:r>
              <a:rPr sz="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sz="9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Sep</a:t>
            </a:r>
            <a:r>
              <a:rPr sz="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8,</a:t>
            </a:r>
            <a:r>
              <a:rPr sz="9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2013</a:t>
            </a:r>
            <a:r>
              <a:rPr sz="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6:33</a:t>
            </a:r>
            <a:r>
              <a:rPr sz="9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AM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4904923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solidFill>
                  <a:srgbClr val="FFFFFF"/>
                </a:solidFill>
                <a:latin typeface="Tahoma"/>
                <a:cs typeface="Tahoma"/>
              </a:rPr>
              <a:t>6.</a:t>
            </a:r>
            <a:r>
              <a:rPr sz="2700" b="1" cap="small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700" b="1" cap="small" spc="-60" dirty="0">
                <a:solidFill>
                  <a:srgbClr val="FFFFFF"/>
                </a:solidFill>
                <a:latin typeface="Tahoma"/>
                <a:cs typeface="Tahoma"/>
              </a:rPr>
              <a:t>Dynamic</a:t>
            </a:r>
            <a:r>
              <a:rPr sz="2700" b="1" cap="small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00" b="1" cap="small" spc="-50" dirty="0">
                <a:solidFill>
                  <a:srgbClr val="FFFFFF"/>
                </a:solidFill>
                <a:latin typeface="Tahoma"/>
                <a:cs typeface="Tahoma"/>
              </a:rPr>
              <a:t>Programming</a:t>
            </a:r>
            <a:r>
              <a:rPr sz="2700" b="1" cap="small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00" b="1" cap="small" spc="-94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12541" y="2115505"/>
            <a:ext cx="3691254" cy="193293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04" dirty="0">
                <a:solidFill>
                  <a:srgbClr val="FFFFFF"/>
                </a:solidFill>
                <a:latin typeface="Verdana"/>
                <a:cs typeface="Verdana"/>
              </a:rPr>
              <a:t>weighted</a:t>
            </a:r>
            <a:r>
              <a:rPr sz="2250" i="1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FFFFFF"/>
                </a:solidFill>
                <a:latin typeface="Verdana"/>
                <a:cs typeface="Verdana"/>
              </a:rPr>
              <a:t>interval</a:t>
            </a:r>
            <a:r>
              <a:rPr sz="2250" i="1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FFFFFF"/>
                </a:solidFill>
                <a:latin typeface="Verdana"/>
                <a:cs typeface="Verdana"/>
              </a:rPr>
              <a:t>scheduling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80" dirty="0">
                <a:solidFill>
                  <a:srgbClr val="FFFFFF"/>
                </a:solidFill>
                <a:latin typeface="Verdana"/>
                <a:cs typeface="Verdana"/>
              </a:rPr>
              <a:t>segmented</a:t>
            </a:r>
            <a:r>
              <a:rPr sz="2250" i="1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235" dirty="0">
                <a:solidFill>
                  <a:srgbClr val="FFFFFF"/>
                </a:solidFill>
                <a:latin typeface="Verdana"/>
                <a:cs typeface="Verdana"/>
              </a:rPr>
              <a:t>least</a:t>
            </a:r>
            <a:r>
              <a:rPr sz="2250" i="1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70" dirty="0">
                <a:solidFill>
                  <a:srgbClr val="FFFFFF"/>
                </a:solidFill>
                <a:latin typeface="Verdana"/>
                <a:cs typeface="Verdana"/>
              </a:rPr>
              <a:t>squares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20" dirty="0">
                <a:solidFill>
                  <a:srgbClr val="FFFFFF"/>
                </a:solidFill>
                <a:latin typeface="Verdana"/>
                <a:cs typeface="Verdana"/>
              </a:rPr>
              <a:t>knapsack</a:t>
            </a:r>
            <a:r>
              <a:rPr sz="2250" i="1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70" dirty="0">
                <a:solidFill>
                  <a:srgbClr val="FFFFFF"/>
                </a:solidFill>
                <a:latin typeface="Verdana"/>
                <a:cs typeface="Verdana"/>
              </a:rPr>
              <a:t>problem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0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85" dirty="0">
                <a:solidFill>
                  <a:srgbClr val="FFFFFF"/>
                </a:solidFill>
                <a:latin typeface="Verdana"/>
                <a:cs typeface="Verdana"/>
              </a:rPr>
              <a:t>RNA</a:t>
            </a:r>
            <a:r>
              <a:rPr sz="225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200" dirty="0">
                <a:solidFill>
                  <a:srgbClr val="FFFFFF"/>
                </a:solidFill>
                <a:latin typeface="Verdana"/>
                <a:cs typeface="Verdana"/>
              </a:rPr>
              <a:t>secondary</a:t>
            </a:r>
            <a:r>
              <a:rPr sz="225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275" dirty="0">
                <a:solidFill>
                  <a:srgbClr val="FFFFFF"/>
                </a:solidFill>
                <a:latin typeface="Verdana"/>
                <a:cs typeface="Verdana"/>
              </a:rPr>
              <a:t>structure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838" y="823970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Algorithmic</a:t>
            </a:r>
            <a:r>
              <a:rPr spc="-30" dirty="0"/>
              <a:t>  </a:t>
            </a:r>
            <a:r>
              <a:rPr spc="-10" dirty="0"/>
              <a:t>paradigms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990594"/>
            <a:ext cx="8124190" cy="3287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 marR="879475" indent="-44450">
              <a:lnSpc>
                <a:spcPct val="132100"/>
              </a:lnSpc>
              <a:spcBef>
                <a:spcPts val="100"/>
              </a:spcBef>
              <a:tabLst>
                <a:tab pos="98996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Greedy.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Build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up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solution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incrementally,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myopically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optimizing </a:t>
            </a:r>
            <a:r>
              <a:rPr sz="1800" dirty="0">
                <a:latin typeface="Lucida Sans Unicode"/>
                <a:cs typeface="Lucida Sans Unicode"/>
              </a:rPr>
              <a:t>some local </a:t>
            </a:r>
            <a:r>
              <a:rPr sz="1800" spc="-10" dirty="0">
                <a:latin typeface="Lucida Sans Unicode"/>
                <a:cs typeface="Lucida Sans Unicode"/>
              </a:rPr>
              <a:t>criterion.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6515" marR="14604" indent="-44450">
              <a:lnSpc>
                <a:spcPct val="132100"/>
              </a:lnSpc>
              <a:tabLst>
                <a:tab pos="2376805" algn="l"/>
              </a:tabLst>
            </a:pPr>
            <a:r>
              <a:rPr sz="1800" spc="-55" dirty="0">
                <a:solidFill>
                  <a:srgbClr val="0048AA"/>
                </a:solidFill>
                <a:latin typeface="Lucida Sans Unicode"/>
                <a:cs typeface="Lucida Sans Unicode"/>
              </a:rPr>
              <a:t>Divide-</a:t>
            </a:r>
            <a:r>
              <a:rPr sz="1800" spc="-60" dirty="0">
                <a:solidFill>
                  <a:srgbClr val="0048AA"/>
                </a:solidFill>
                <a:latin typeface="Lucida Sans Unicode"/>
                <a:cs typeface="Lucida Sans Unicode"/>
              </a:rPr>
              <a:t>and-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conquer.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Break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up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problem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into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independent</a:t>
            </a:r>
            <a:r>
              <a:rPr sz="18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subproblems, </a:t>
            </a:r>
            <a:r>
              <a:rPr sz="1800" dirty="0">
                <a:latin typeface="Lucida Sans Unicode"/>
                <a:cs typeface="Lucida Sans Unicode"/>
              </a:rPr>
              <a:t>solve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each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subproblem, and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combine solution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 subproblems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 </a:t>
            </a:r>
            <a:r>
              <a:rPr sz="1800" spc="-20" dirty="0">
                <a:latin typeface="Lucida Sans Unicode"/>
                <a:cs typeface="Lucida Sans Unicode"/>
              </a:rPr>
              <a:t>form </a:t>
            </a:r>
            <a:r>
              <a:rPr sz="1800" dirty="0">
                <a:latin typeface="Lucida Sans Unicode"/>
                <a:cs typeface="Lucida Sans Unicode"/>
              </a:rPr>
              <a:t>solution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original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problem.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6515" marR="5080">
              <a:lnSpc>
                <a:spcPct val="132100"/>
              </a:lnSpc>
              <a:tabLst>
                <a:tab pos="282829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Dynamic</a:t>
            </a:r>
            <a:r>
              <a:rPr sz="1800" spc="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programming.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Break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up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problem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into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series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overlapping </a:t>
            </a:r>
            <a:r>
              <a:rPr sz="1800" dirty="0">
                <a:latin typeface="Lucida Sans Unicode"/>
                <a:cs typeface="Lucida Sans Unicode"/>
              </a:rPr>
              <a:t>subproblems,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build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up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solutions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larger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larger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subproblems.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8800" y="4942622"/>
            <a:ext cx="2557780" cy="6553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fancy</a:t>
            </a:r>
            <a:r>
              <a:rPr sz="1200" spc="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name</a:t>
            </a:r>
            <a:r>
              <a:rPr sz="1200" spc="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for</a:t>
            </a:r>
            <a:endParaRPr sz="1200">
              <a:latin typeface="Lucida Sans Unicode"/>
              <a:cs typeface="Lucida Sans Unicode"/>
            </a:endParaRPr>
          </a:p>
          <a:p>
            <a:pPr marL="12700" marR="5080" algn="ctr">
              <a:lnSpc>
                <a:spcPct val="114700"/>
              </a:lnSpc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caching</a:t>
            </a:r>
            <a:r>
              <a:rPr sz="1200" spc="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away</a:t>
            </a:r>
            <a:r>
              <a:rPr sz="1200" spc="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intermediate</a:t>
            </a:r>
            <a:r>
              <a:rPr sz="1200" spc="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results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in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a table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for later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reuse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10244" y="3656641"/>
            <a:ext cx="634365" cy="1242695"/>
            <a:chOff x="2217190" y="4064299"/>
            <a:chExt cx="634365" cy="1242695"/>
          </a:xfrm>
        </p:grpSpPr>
        <p:sp>
          <p:nvSpPr>
            <p:cNvPr id="7" name="object 7"/>
            <p:cNvSpPr/>
            <p:nvPr/>
          </p:nvSpPr>
          <p:spPr>
            <a:xfrm>
              <a:off x="2243895" y="4117057"/>
              <a:ext cx="597535" cy="1180465"/>
            </a:xfrm>
            <a:custGeom>
              <a:avLst/>
              <a:gdLst/>
              <a:ahLst/>
              <a:cxnLst/>
              <a:rect l="l" t="t" r="r" b="b"/>
              <a:pathLst>
                <a:path w="597535" h="1180464">
                  <a:moveTo>
                    <a:pt x="0" y="0"/>
                  </a:moveTo>
                  <a:lnTo>
                    <a:pt x="4307" y="8510"/>
                  </a:lnTo>
                  <a:lnTo>
                    <a:pt x="597510" y="1180398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7190" y="4064299"/>
              <a:ext cx="82550" cy="102870"/>
            </a:xfrm>
            <a:custGeom>
              <a:avLst/>
              <a:gdLst/>
              <a:ahLst/>
              <a:cxnLst/>
              <a:rect l="l" t="t" r="r" b="b"/>
              <a:pathLst>
                <a:path w="82550" h="102870">
                  <a:moveTo>
                    <a:pt x="0" y="0"/>
                  </a:moveTo>
                  <a:lnTo>
                    <a:pt x="504" y="102364"/>
                  </a:lnTo>
                  <a:lnTo>
                    <a:pt x="31012" y="61267"/>
                  </a:lnTo>
                  <a:lnTo>
                    <a:pt x="82194" y="610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pic>
        <p:nvPicPr>
          <p:cNvPr id="1026" name="Picture 2" descr="Fibonacci Sequence - Definition, Formula, List, Examples, &amp; Diagrams">
            <a:extLst>
              <a:ext uri="{FF2B5EF4-FFF2-40B4-BE49-F238E27FC236}">
                <a16:creationId xmlns:a16="http://schemas.microsoft.com/office/drawing/2014/main" id="{25C1AE41-D53F-02CB-0A0B-725E6066E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983" y="4167168"/>
            <a:ext cx="3947333" cy="360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305" dirty="0"/>
              <a:t> </a:t>
            </a:r>
            <a:r>
              <a:rPr dirty="0"/>
              <a:t>programming</a:t>
            </a:r>
            <a:r>
              <a:rPr spc="305" dirty="0"/>
              <a:t> </a:t>
            </a:r>
            <a:r>
              <a:rPr spc="-10" dirty="0"/>
              <a:t>history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167" y="1218991"/>
            <a:ext cx="8606790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Bellman. </a:t>
            </a:r>
            <a:r>
              <a:rPr sz="1800" dirty="0">
                <a:latin typeface="Lucida Sans Unicode"/>
                <a:cs typeface="Lucida Sans Unicode"/>
              </a:rPr>
              <a:t>Pioneered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systematic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study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dynamic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programming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1950s.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ts val="1980"/>
              </a:lnSpc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Etymology.</a:t>
            </a:r>
            <a:endParaRPr sz="1800">
              <a:latin typeface="Lucida Sans Unicode"/>
              <a:cs typeface="Lucida Sans Unicode"/>
            </a:endParaRPr>
          </a:p>
          <a:p>
            <a:pPr marL="146050">
              <a:lnSpc>
                <a:spcPts val="2960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Dynamic programming</a:t>
            </a:r>
            <a:r>
              <a:rPr sz="1800" spc="-95" dirty="0">
                <a:latin typeface="Lucida Sans Unicode"/>
                <a:cs typeface="Lucida Sans Unicode"/>
              </a:rPr>
              <a:t> = </a:t>
            </a:r>
            <a:r>
              <a:rPr sz="1800" dirty="0">
                <a:latin typeface="Lucida Sans Unicode"/>
                <a:cs typeface="Lucida Sans Unicode"/>
              </a:rPr>
              <a:t>planning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over </a:t>
            </a:r>
            <a:r>
              <a:rPr sz="1800" spc="-10" dirty="0">
                <a:latin typeface="Lucida Sans Unicode"/>
                <a:cs typeface="Lucida Sans Unicode"/>
              </a:rPr>
              <a:t>time.</a:t>
            </a:r>
            <a:endParaRPr sz="1800">
              <a:latin typeface="Lucida Sans Unicode"/>
              <a:cs typeface="Lucida Sans Unicode"/>
            </a:endParaRPr>
          </a:p>
          <a:p>
            <a:pPr marL="146050">
              <a:lnSpc>
                <a:spcPts val="285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Secretary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Defense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was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hostile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mathematical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research.</a:t>
            </a:r>
            <a:endParaRPr sz="1800">
              <a:latin typeface="Lucida Sans Unicode"/>
              <a:cs typeface="Lucida Sans Unicode"/>
            </a:endParaRPr>
          </a:p>
          <a:p>
            <a:pPr marL="146050">
              <a:lnSpc>
                <a:spcPts val="313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Bellman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sought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impressive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name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avoid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confrontation.</a:t>
            </a:r>
            <a:endParaRPr sz="18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8932" y="3883392"/>
            <a:ext cx="5894116" cy="319406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305" dirty="0"/>
              <a:t> </a:t>
            </a:r>
            <a:r>
              <a:rPr dirty="0"/>
              <a:t>programming</a:t>
            </a:r>
            <a:r>
              <a:rPr spc="30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567467" y="1218991"/>
            <a:ext cx="7918450" cy="576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>
              <a:lnSpc>
                <a:spcPts val="1980"/>
              </a:lnSpc>
              <a:spcBef>
                <a:spcPts val="100"/>
              </a:spcBef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Areas.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2960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spc="-10" dirty="0">
                <a:latin typeface="Lucida Sans Unicode"/>
                <a:cs typeface="Lucida Sans Unicode"/>
              </a:rPr>
              <a:t>Bioinformatics.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285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Control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theory.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285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Information </a:t>
            </a:r>
            <a:r>
              <a:rPr sz="1800" spc="-10" dirty="0">
                <a:latin typeface="Lucida Sans Unicode"/>
                <a:cs typeface="Lucida Sans Unicode"/>
              </a:rPr>
              <a:t>theory.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285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Operations </a:t>
            </a:r>
            <a:r>
              <a:rPr sz="1800" spc="-10" dirty="0">
                <a:latin typeface="Lucida Sans Unicode"/>
                <a:cs typeface="Lucida Sans Unicode"/>
              </a:rPr>
              <a:t>research.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2855"/>
              </a:lnSpc>
              <a:tabLst>
                <a:tab pos="2863850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Computer </a:t>
            </a:r>
            <a:r>
              <a:rPr sz="1800" spc="-10" dirty="0">
                <a:latin typeface="Lucida Sans Unicode"/>
                <a:cs typeface="Lucida Sans Unicode"/>
              </a:rPr>
              <a:t>science:</a:t>
            </a:r>
            <a:r>
              <a:rPr sz="1800" dirty="0">
                <a:latin typeface="Lucida Sans Unicode"/>
                <a:cs typeface="Lucida Sans Unicode"/>
              </a:rPr>
              <a:t>	theory,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graphics,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AI,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compilers,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systems,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….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313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spc="-25" dirty="0">
                <a:latin typeface="Lucida Sans Unicode"/>
                <a:cs typeface="Lucida Sans Unicode"/>
              </a:rPr>
              <a:t>...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90500">
              <a:lnSpc>
                <a:spcPts val="1980"/>
              </a:lnSpc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Some famous</a:t>
            </a:r>
            <a:r>
              <a:rPr sz="1800" spc="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dynamic</a:t>
            </a:r>
            <a:r>
              <a:rPr sz="1800" spc="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programming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algorithms.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2960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Unix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diff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comparing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two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files.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285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Viterbi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hidden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Markov </a:t>
            </a:r>
            <a:r>
              <a:rPr sz="1800" spc="-10" dirty="0">
                <a:latin typeface="Lucida Sans Unicode"/>
                <a:cs typeface="Lucida Sans Unicode"/>
              </a:rPr>
              <a:t>models.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285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De Boor for evaluating spline </a:t>
            </a:r>
            <a:r>
              <a:rPr sz="1800" spc="-10" dirty="0">
                <a:latin typeface="Lucida Sans Unicode"/>
                <a:cs typeface="Lucida Sans Unicode"/>
              </a:rPr>
              <a:t>curves.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285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spc="-60" dirty="0">
                <a:latin typeface="Lucida Sans Unicode"/>
                <a:cs typeface="Lucida Sans Unicode"/>
              </a:rPr>
              <a:t>Smith-</a:t>
            </a:r>
            <a:r>
              <a:rPr sz="1800" spc="-10" dirty="0">
                <a:latin typeface="Lucida Sans Unicode"/>
                <a:cs typeface="Lucida Sans Unicode"/>
              </a:rPr>
              <a:t>Waterman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genetic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sequence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alignment.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285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spc="-55" dirty="0">
                <a:latin typeface="Lucida Sans Unicode"/>
                <a:cs typeface="Lucida Sans Unicode"/>
              </a:rPr>
              <a:t>Bellman-</a:t>
            </a:r>
            <a:r>
              <a:rPr sz="1800" spc="-20" dirty="0">
                <a:latin typeface="Lucida Sans Unicode"/>
                <a:cs typeface="Lucida Sans Unicode"/>
              </a:rPr>
              <a:t>Ford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shortest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path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routing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networks.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285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spc="-80" dirty="0">
                <a:latin typeface="Lucida Sans Unicode"/>
                <a:cs typeface="Lucida Sans Unicode"/>
              </a:rPr>
              <a:t>Cocke-Kasami-</a:t>
            </a:r>
            <a:r>
              <a:rPr sz="1800" spc="-10" dirty="0">
                <a:latin typeface="Lucida Sans Unicode"/>
                <a:cs typeface="Lucida Sans Unicode"/>
              </a:rPr>
              <a:t>Younger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parsing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spc="-55" dirty="0">
                <a:latin typeface="Lucida Sans Unicode"/>
                <a:cs typeface="Lucida Sans Unicode"/>
              </a:rPr>
              <a:t>context-</a:t>
            </a:r>
            <a:r>
              <a:rPr sz="1800" dirty="0">
                <a:latin typeface="Lucida Sans Unicode"/>
                <a:cs typeface="Lucida Sans Unicode"/>
              </a:rPr>
              <a:t>free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grammars.</a:t>
            </a:r>
            <a:endParaRPr sz="1800">
              <a:latin typeface="Lucida Sans Unicode"/>
              <a:cs typeface="Lucida Sans Unicode"/>
            </a:endParaRPr>
          </a:p>
          <a:p>
            <a:pPr marL="285750">
              <a:lnSpc>
                <a:spcPts val="313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spc="-25" dirty="0">
                <a:latin typeface="Lucida Sans Unicode"/>
                <a:cs typeface="Lucida Sans Unicode"/>
              </a:rPr>
              <a:t>...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936" y="1527350"/>
            <a:ext cx="3337560" cy="3832225"/>
            <a:chOff x="640936" y="1527350"/>
            <a:chExt cx="3337560" cy="3832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6" y="1527350"/>
              <a:ext cx="3337527" cy="38320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8"/>
              <a:ext cx="552411" cy="60610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>
                <a:moveTo>
                  <a:pt x="0" y="0"/>
                </a:moveTo>
                <a:lnTo>
                  <a:pt x="4892688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63399" y="5444059"/>
            <a:ext cx="15036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85" dirty="0">
                <a:latin typeface="Trebuchet MS"/>
                <a:cs typeface="Trebuchet MS"/>
              </a:rPr>
              <a:t>S</a:t>
            </a:r>
            <a:r>
              <a:rPr sz="1200" b="1" spc="85" dirty="0">
                <a:latin typeface="Trebuchet MS"/>
                <a:cs typeface="Trebuchet MS"/>
              </a:rPr>
              <a:t>ECTION</a:t>
            </a:r>
            <a:r>
              <a:rPr sz="1200" b="1" spc="80" dirty="0">
                <a:latin typeface="Trebuchet MS"/>
                <a:cs typeface="Trebuchet MS"/>
              </a:rPr>
              <a:t> </a:t>
            </a:r>
            <a:r>
              <a:rPr sz="1500" b="1" spc="60" dirty="0">
                <a:latin typeface="Trebuchet MS"/>
                <a:cs typeface="Trebuchet MS"/>
              </a:rPr>
              <a:t>6.1-</a:t>
            </a:r>
            <a:r>
              <a:rPr sz="1500" b="1" spc="40" dirty="0">
                <a:latin typeface="Trebuchet MS"/>
                <a:cs typeface="Trebuchet MS"/>
              </a:rPr>
              <a:t>6.2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4867861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latin typeface="Tahoma"/>
                <a:cs typeface="Tahoma"/>
              </a:rPr>
              <a:t>6.</a:t>
            </a:r>
            <a:r>
              <a:rPr sz="2700" b="1" cap="small" dirty="0">
                <a:latin typeface="Tahoma"/>
                <a:cs typeface="Tahoma"/>
              </a:rPr>
              <a:t>	</a:t>
            </a:r>
            <a:r>
              <a:rPr sz="2700" b="1" cap="small" spc="-60" dirty="0">
                <a:latin typeface="Tahoma"/>
                <a:cs typeface="Tahoma"/>
              </a:rPr>
              <a:t>Dynamic</a:t>
            </a:r>
            <a:r>
              <a:rPr sz="2700" b="1" cap="small" spc="-10" dirty="0">
                <a:latin typeface="Tahoma"/>
                <a:cs typeface="Tahoma"/>
              </a:rPr>
              <a:t> </a:t>
            </a:r>
            <a:r>
              <a:rPr sz="2700" b="1" cap="small" spc="-50" dirty="0">
                <a:latin typeface="Tahoma"/>
                <a:cs typeface="Tahoma"/>
              </a:rPr>
              <a:t>Programming</a:t>
            </a:r>
            <a:r>
              <a:rPr sz="2700" b="1" cap="small" spc="-10" dirty="0">
                <a:latin typeface="Tahoma"/>
                <a:cs typeface="Tahoma"/>
              </a:rPr>
              <a:t> </a:t>
            </a:r>
            <a:r>
              <a:rPr sz="2700" b="1" cap="small" spc="-940" dirty="0">
                <a:latin typeface="Tahoma"/>
                <a:cs typeface="Tahoma"/>
              </a:rPr>
              <a:t>I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541" y="2115505"/>
            <a:ext cx="3691254" cy="193293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04" dirty="0">
                <a:latin typeface="Verdana"/>
                <a:cs typeface="Verdana"/>
              </a:rPr>
              <a:t>weighted</a:t>
            </a:r>
            <a:r>
              <a:rPr sz="2250" i="1" spc="-145" dirty="0">
                <a:latin typeface="Verdana"/>
                <a:cs typeface="Verdana"/>
              </a:rPr>
              <a:t> </a:t>
            </a:r>
            <a:r>
              <a:rPr sz="2250" i="1" spc="-190" dirty="0">
                <a:latin typeface="Verdana"/>
                <a:cs typeface="Verdana"/>
              </a:rPr>
              <a:t>interval</a:t>
            </a:r>
            <a:r>
              <a:rPr sz="2250" i="1" spc="-135" dirty="0">
                <a:latin typeface="Verdana"/>
                <a:cs typeface="Verdana"/>
              </a:rPr>
              <a:t> </a:t>
            </a:r>
            <a:r>
              <a:rPr sz="2250" i="1" spc="-190" dirty="0">
                <a:latin typeface="Verdana"/>
                <a:cs typeface="Verdana"/>
              </a:rPr>
              <a:t>scheduling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80" dirty="0">
                <a:solidFill>
                  <a:srgbClr val="D5D5D5"/>
                </a:solidFill>
                <a:latin typeface="Verdana"/>
                <a:cs typeface="Verdana"/>
              </a:rPr>
              <a:t>segmented</a:t>
            </a:r>
            <a:r>
              <a:rPr sz="2250" i="1" spc="-10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35" dirty="0">
                <a:solidFill>
                  <a:srgbClr val="D5D5D5"/>
                </a:solidFill>
                <a:latin typeface="Verdana"/>
                <a:cs typeface="Verdana"/>
              </a:rPr>
              <a:t>least</a:t>
            </a:r>
            <a:r>
              <a:rPr sz="2250" i="1" spc="-10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70" dirty="0">
                <a:solidFill>
                  <a:srgbClr val="D5D5D5"/>
                </a:solidFill>
                <a:latin typeface="Verdana"/>
                <a:cs typeface="Verdana"/>
              </a:rPr>
              <a:t>squares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20" dirty="0">
                <a:solidFill>
                  <a:srgbClr val="D5D5D5"/>
                </a:solidFill>
                <a:latin typeface="Verdana"/>
                <a:cs typeface="Verdana"/>
              </a:rPr>
              <a:t>knapsack</a:t>
            </a:r>
            <a:r>
              <a:rPr sz="2250" i="1" spc="-6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70" dirty="0">
                <a:solidFill>
                  <a:srgbClr val="D5D5D5"/>
                </a:solidFill>
                <a:latin typeface="Verdana"/>
                <a:cs typeface="Verdana"/>
              </a:rPr>
              <a:t>problem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0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85" dirty="0">
                <a:solidFill>
                  <a:srgbClr val="D5D5D5"/>
                </a:solidFill>
                <a:latin typeface="Verdana"/>
                <a:cs typeface="Verdana"/>
              </a:rPr>
              <a:t>RNA</a:t>
            </a:r>
            <a:r>
              <a:rPr sz="2250" i="1" spc="-12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00" dirty="0">
                <a:solidFill>
                  <a:srgbClr val="D5D5D5"/>
                </a:solidFill>
                <a:latin typeface="Verdana"/>
                <a:cs typeface="Verdana"/>
              </a:rPr>
              <a:t>secondary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75" dirty="0">
                <a:solidFill>
                  <a:srgbClr val="D5D5D5"/>
                </a:solidFill>
                <a:latin typeface="Verdana"/>
                <a:cs typeface="Verdana"/>
              </a:rPr>
              <a:t>structure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Weighted</a:t>
            </a:r>
            <a:r>
              <a:rPr spc="390" dirty="0"/>
              <a:t> </a:t>
            </a:r>
            <a:r>
              <a:rPr dirty="0"/>
              <a:t>interval</a:t>
            </a:r>
            <a:r>
              <a:rPr spc="390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167" y="1218991"/>
            <a:ext cx="7799705" cy="1415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1980"/>
              </a:lnSpc>
              <a:spcBef>
                <a:spcPts val="100"/>
              </a:spcBef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Weighted</a:t>
            </a:r>
            <a:r>
              <a:rPr sz="18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interval</a:t>
            </a:r>
            <a:r>
              <a:rPr sz="18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scheduling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problem.</a:t>
            </a:r>
            <a:endParaRPr sz="1800">
              <a:latin typeface="Lucida Sans Unicode"/>
              <a:cs typeface="Lucida Sans Unicode"/>
            </a:endParaRPr>
          </a:p>
          <a:p>
            <a:pPr marL="146050">
              <a:lnSpc>
                <a:spcPts val="2960"/>
              </a:lnSpc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Job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starts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at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i="1" baseline="-6944" dirty="0">
                <a:latin typeface="Times New Roman"/>
                <a:cs typeface="Times New Roman"/>
              </a:rPr>
              <a:t>j</a:t>
            </a:r>
            <a:r>
              <a:rPr sz="1800" spc="5" dirty="0">
                <a:latin typeface="Lucida Sans Unicode"/>
                <a:cs typeface="Lucida Sans Unicode"/>
              </a:rPr>
              <a:t>, </a:t>
            </a:r>
            <a:r>
              <a:rPr sz="1800" dirty="0">
                <a:latin typeface="Lucida Sans Unicode"/>
                <a:cs typeface="Lucida Sans Unicode"/>
              </a:rPr>
              <a:t>finishes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at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baseline="-6944" dirty="0">
                <a:latin typeface="Times New Roman"/>
                <a:cs typeface="Times New Roman"/>
              </a:rPr>
              <a:t>j</a:t>
            </a:r>
            <a:r>
              <a:rPr sz="1800" spc="5" dirty="0">
                <a:latin typeface="Lucida Sans Unicode"/>
                <a:cs typeface="Lucida Sans Unicode"/>
              </a:rPr>
              <a:t>,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weight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value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v</a:t>
            </a:r>
            <a:r>
              <a:rPr sz="1800" i="1" spc="-37" baseline="-6944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46050">
              <a:lnSpc>
                <a:spcPts val="285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Two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jobs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compatible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they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don't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overlap.</a:t>
            </a:r>
            <a:endParaRPr sz="1800">
              <a:latin typeface="Lucida Sans Unicode"/>
              <a:cs typeface="Lucida Sans Unicode"/>
            </a:endParaRPr>
          </a:p>
          <a:p>
            <a:pPr marL="146050">
              <a:lnSpc>
                <a:spcPts val="3135"/>
              </a:lnSpc>
              <a:tabLst>
                <a:tab pos="1227455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spc="-10" dirty="0">
                <a:latin typeface="Lucida Sans Unicode"/>
                <a:cs typeface="Lucida Sans Unicode"/>
              </a:rPr>
              <a:t>Goal:</a:t>
            </a:r>
            <a:r>
              <a:rPr sz="1800" dirty="0">
                <a:latin typeface="Lucida Sans Unicode"/>
                <a:cs typeface="Lucida Sans Unicode"/>
              </a:rPr>
              <a:t>	find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maximum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weight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subset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mutually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compatible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jobs.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81827" y="6855595"/>
            <a:ext cx="3746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Trebuchet MS"/>
                <a:cs typeface="Trebuchet MS"/>
              </a:rPr>
              <a:t>time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48933" y="4752051"/>
            <a:ext cx="0" cy="151765"/>
          </a:xfrm>
          <a:custGeom>
            <a:avLst/>
            <a:gdLst/>
            <a:ahLst/>
            <a:cxnLst/>
            <a:rect l="l" t="t" r="r" b="b"/>
            <a:pathLst>
              <a:path h="151764">
                <a:moveTo>
                  <a:pt x="0" y="0"/>
                </a:moveTo>
                <a:lnTo>
                  <a:pt x="0" y="151538"/>
                </a:lnTo>
              </a:path>
            </a:pathLst>
          </a:custGeom>
          <a:ln w="884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93993" y="6085592"/>
            <a:ext cx="0" cy="144145"/>
          </a:xfrm>
          <a:custGeom>
            <a:avLst/>
            <a:gdLst/>
            <a:ahLst/>
            <a:cxnLst/>
            <a:rect l="l" t="t" r="r" b="b"/>
            <a:pathLst>
              <a:path h="144145">
                <a:moveTo>
                  <a:pt x="0" y="0"/>
                </a:moveTo>
                <a:lnTo>
                  <a:pt x="0" y="143696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93993" y="5639029"/>
            <a:ext cx="0" cy="151765"/>
          </a:xfrm>
          <a:custGeom>
            <a:avLst/>
            <a:gdLst/>
            <a:ahLst/>
            <a:cxnLst/>
            <a:rect l="l" t="t" r="r" b="b"/>
            <a:pathLst>
              <a:path h="151764">
                <a:moveTo>
                  <a:pt x="0" y="0"/>
                </a:moveTo>
                <a:lnTo>
                  <a:pt x="0" y="151538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93993" y="5198614"/>
            <a:ext cx="0" cy="144145"/>
          </a:xfrm>
          <a:custGeom>
            <a:avLst/>
            <a:gdLst/>
            <a:ahLst/>
            <a:cxnLst/>
            <a:rect l="l" t="t" r="r" b="b"/>
            <a:pathLst>
              <a:path h="144145">
                <a:moveTo>
                  <a:pt x="0" y="0"/>
                </a:moveTo>
                <a:lnTo>
                  <a:pt x="0" y="143696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93993" y="3564778"/>
            <a:ext cx="0" cy="1339215"/>
          </a:xfrm>
          <a:custGeom>
            <a:avLst/>
            <a:gdLst/>
            <a:ahLst/>
            <a:cxnLst/>
            <a:rect l="l" t="t" r="r" b="b"/>
            <a:pathLst>
              <a:path h="1339214">
                <a:moveTo>
                  <a:pt x="0" y="0"/>
                </a:moveTo>
                <a:lnTo>
                  <a:pt x="0" y="1338812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78973" y="5639029"/>
            <a:ext cx="0" cy="151765"/>
          </a:xfrm>
          <a:custGeom>
            <a:avLst/>
            <a:gdLst/>
            <a:ahLst/>
            <a:cxnLst/>
            <a:rect l="l" t="t" r="r" b="b"/>
            <a:pathLst>
              <a:path h="151764">
                <a:moveTo>
                  <a:pt x="0" y="0"/>
                </a:moveTo>
                <a:lnTo>
                  <a:pt x="0" y="151538"/>
                </a:lnTo>
              </a:path>
            </a:pathLst>
          </a:custGeom>
          <a:ln w="884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78973" y="5198614"/>
            <a:ext cx="0" cy="144145"/>
          </a:xfrm>
          <a:custGeom>
            <a:avLst/>
            <a:gdLst/>
            <a:ahLst/>
            <a:cxnLst/>
            <a:rect l="l" t="t" r="r" b="b"/>
            <a:pathLst>
              <a:path h="144145">
                <a:moveTo>
                  <a:pt x="0" y="0"/>
                </a:moveTo>
                <a:lnTo>
                  <a:pt x="0" y="143696"/>
                </a:lnTo>
              </a:path>
            </a:pathLst>
          </a:custGeom>
          <a:ln w="884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33570" y="6524313"/>
            <a:ext cx="0" cy="153670"/>
          </a:xfrm>
          <a:custGeom>
            <a:avLst/>
            <a:gdLst/>
            <a:ahLst/>
            <a:cxnLst/>
            <a:rect l="l" t="t" r="r" b="b"/>
            <a:pathLst>
              <a:path h="153670">
                <a:moveTo>
                  <a:pt x="0" y="0"/>
                </a:moveTo>
                <a:lnTo>
                  <a:pt x="0" y="153234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33570" y="3564778"/>
            <a:ext cx="0" cy="2665095"/>
          </a:xfrm>
          <a:custGeom>
            <a:avLst/>
            <a:gdLst/>
            <a:ahLst/>
            <a:cxnLst/>
            <a:rect l="l" t="t" r="r" b="b"/>
            <a:pathLst>
              <a:path h="2665095">
                <a:moveTo>
                  <a:pt x="0" y="0"/>
                </a:moveTo>
                <a:lnTo>
                  <a:pt x="0" y="2664511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09013" y="6085592"/>
            <a:ext cx="0" cy="144145"/>
          </a:xfrm>
          <a:custGeom>
            <a:avLst/>
            <a:gdLst/>
            <a:ahLst/>
            <a:cxnLst/>
            <a:rect l="l" t="t" r="r" b="b"/>
            <a:pathLst>
              <a:path h="144145">
                <a:moveTo>
                  <a:pt x="0" y="0"/>
                </a:moveTo>
                <a:lnTo>
                  <a:pt x="0" y="143696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09013" y="3564778"/>
            <a:ext cx="0" cy="2226310"/>
          </a:xfrm>
          <a:custGeom>
            <a:avLst/>
            <a:gdLst/>
            <a:ahLst/>
            <a:cxnLst/>
            <a:rect l="l" t="t" r="r" b="b"/>
            <a:pathLst>
              <a:path h="2226310">
                <a:moveTo>
                  <a:pt x="0" y="0"/>
                </a:moveTo>
                <a:lnTo>
                  <a:pt x="0" y="2225790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765122" y="3560333"/>
            <a:ext cx="5703570" cy="3417570"/>
            <a:chOff x="1765122" y="3560333"/>
            <a:chExt cx="5703570" cy="3417570"/>
          </a:xfrm>
        </p:grpSpPr>
        <p:sp>
          <p:nvSpPr>
            <p:cNvPr id="18" name="object 18"/>
            <p:cNvSpPr/>
            <p:nvPr/>
          </p:nvSpPr>
          <p:spPr>
            <a:xfrm>
              <a:off x="2289913" y="3566566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89">
                  <a:moveTo>
                    <a:pt x="0" y="0"/>
                  </a:moveTo>
                  <a:lnTo>
                    <a:pt x="8847" y="0"/>
                  </a:lnTo>
                </a:path>
              </a:pathLst>
            </a:custGeom>
            <a:ln w="35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94337" y="3863378"/>
              <a:ext cx="0" cy="3110230"/>
            </a:xfrm>
            <a:custGeom>
              <a:avLst/>
              <a:gdLst/>
              <a:ahLst/>
              <a:cxnLst/>
              <a:rect l="l" t="t" r="r" b="b"/>
              <a:pathLst>
                <a:path h="3110229">
                  <a:moveTo>
                    <a:pt x="0" y="0"/>
                  </a:moveTo>
                  <a:lnTo>
                    <a:pt x="0" y="3109802"/>
                  </a:lnTo>
                </a:path>
              </a:pathLst>
            </a:custGeom>
            <a:ln w="884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68932" y="3568354"/>
              <a:ext cx="1905" cy="3401695"/>
            </a:xfrm>
            <a:custGeom>
              <a:avLst/>
              <a:gdLst/>
              <a:ahLst/>
              <a:cxnLst/>
              <a:rect l="l" t="t" r="r" b="b"/>
              <a:pathLst>
                <a:path w="1905" h="3401695">
                  <a:moveTo>
                    <a:pt x="0" y="3401249"/>
                  </a:moveTo>
                  <a:lnTo>
                    <a:pt x="1695" y="0"/>
                  </a:lnTo>
                </a:path>
              </a:pathLst>
            </a:custGeom>
            <a:ln w="715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24376" y="3863378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h="153670">
                  <a:moveTo>
                    <a:pt x="0" y="0"/>
                  </a:moveTo>
                  <a:lnTo>
                    <a:pt x="0" y="153234"/>
                  </a:lnTo>
                </a:path>
              </a:pathLst>
            </a:custGeom>
            <a:ln w="884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19952" y="3566566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89">
                  <a:moveTo>
                    <a:pt x="0" y="0"/>
                  </a:moveTo>
                  <a:lnTo>
                    <a:pt x="8847" y="0"/>
                  </a:lnTo>
                </a:path>
              </a:pathLst>
            </a:custGeom>
            <a:ln w="35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24376" y="4311636"/>
              <a:ext cx="0" cy="2661920"/>
            </a:xfrm>
            <a:custGeom>
              <a:avLst/>
              <a:gdLst/>
              <a:ahLst/>
              <a:cxnLst/>
              <a:rect l="l" t="t" r="r" b="b"/>
              <a:pathLst>
                <a:path h="2661920">
                  <a:moveTo>
                    <a:pt x="0" y="0"/>
                  </a:moveTo>
                  <a:lnTo>
                    <a:pt x="0" y="2661544"/>
                  </a:lnTo>
                </a:path>
              </a:pathLst>
            </a:custGeom>
            <a:ln w="884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09357" y="4311636"/>
              <a:ext cx="0" cy="2661920"/>
            </a:xfrm>
            <a:custGeom>
              <a:avLst/>
              <a:gdLst/>
              <a:ahLst/>
              <a:cxnLst/>
              <a:rect l="l" t="t" r="r" b="b"/>
              <a:pathLst>
                <a:path h="2661920">
                  <a:moveTo>
                    <a:pt x="0" y="0"/>
                  </a:moveTo>
                  <a:lnTo>
                    <a:pt x="0" y="2661544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04932" y="3566566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89">
                  <a:moveTo>
                    <a:pt x="0" y="0"/>
                  </a:moveTo>
                  <a:lnTo>
                    <a:pt x="8848" y="0"/>
                  </a:lnTo>
                </a:path>
              </a:pathLst>
            </a:custGeom>
            <a:ln w="35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09357" y="3863378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h="153670">
                  <a:moveTo>
                    <a:pt x="0" y="0"/>
                  </a:moveTo>
                  <a:lnTo>
                    <a:pt x="0" y="153234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48933" y="3863378"/>
              <a:ext cx="0" cy="3110230"/>
            </a:xfrm>
            <a:custGeom>
              <a:avLst/>
              <a:gdLst/>
              <a:ahLst/>
              <a:cxnLst/>
              <a:rect l="l" t="t" r="r" b="b"/>
              <a:pathLst>
                <a:path h="3110229">
                  <a:moveTo>
                    <a:pt x="0" y="1335236"/>
                  </a:moveTo>
                  <a:lnTo>
                    <a:pt x="0" y="3109802"/>
                  </a:lnTo>
                </a:path>
                <a:path h="3110229">
                  <a:moveTo>
                    <a:pt x="0" y="0"/>
                  </a:moveTo>
                  <a:lnTo>
                    <a:pt x="0" y="591954"/>
                  </a:lnTo>
                </a:path>
              </a:pathLst>
            </a:custGeom>
            <a:ln w="884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44509" y="3566566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89">
                  <a:moveTo>
                    <a:pt x="0" y="0"/>
                  </a:moveTo>
                  <a:lnTo>
                    <a:pt x="8847" y="0"/>
                  </a:lnTo>
                </a:path>
              </a:pathLst>
            </a:custGeom>
            <a:ln w="35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93993" y="6524313"/>
              <a:ext cx="0" cy="448945"/>
            </a:xfrm>
            <a:custGeom>
              <a:avLst/>
              <a:gdLst/>
              <a:ahLst/>
              <a:cxnLst/>
              <a:rect l="l" t="t" r="r" b="b"/>
              <a:pathLst>
                <a:path h="448945">
                  <a:moveTo>
                    <a:pt x="0" y="0"/>
                  </a:moveTo>
                  <a:lnTo>
                    <a:pt x="0" y="448867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78973" y="3564778"/>
              <a:ext cx="0" cy="3408679"/>
            </a:xfrm>
            <a:custGeom>
              <a:avLst/>
              <a:gdLst/>
              <a:ahLst/>
              <a:cxnLst/>
              <a:rect l="l" t="t" r="r" b="b"/>
              <a:pathLst>
                <a:path h="3408679">
                  <a:moveTo>
                    <a:pt x="0" y="0"/>
                  </a:moveTo>
                  <a:lnTo>
                    <a:pt x="0" y="1338812"/>
                  </a:lnTo>
                </a:path>
                <a:path h="3408679">
                  <a:moveTo>
                    <a:pt x="0" y="2520814"/>
                  </a:moveTo>
                  <a:lnTo>
                    <a:pt x="0" y="3408402"/>
                  </a:lnTo>
                </a:path>
              </a:pathLst>
            </a:custGeom>
            <a:ln w="884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09013" y="6524313"/>
              <a:ext cx="0" cy="448945"/>
            </a:xfrm>
            <a:custGeom>
              <a:avLst/>
              <a:gdLst/>
              <a:ahLst/>
              <a:cxnLst/>
              <a:rect l="l" t="t" r="r" b="b"/>
              <a:pathLst>
                <a:path h="448945">
                  <a:moveTo>
                    <a:pt x="0" y="0"/>
                  </a:moveTo>
                  <a:lnTo>
                    <a:pt x="0" y="448867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62762" y="3568354"/>
              <a:ext cx="1905" cy="3401695"/>
            </a:xfrm>
            <a:custGeom>
              <a:avLst/>
              <a:gdLst/>
              <a:ahLst/>
              <a:cxnLst/>
              <a:rect l="l" t="t" r="r" b="b"/>
              <a:pathLst>
                <a:path w="1904" h="3401695">
                  <a:moveTo>
                    <a:pt x="0" y="3401249"/>
                  </a:moveTo>
                  <a:lnTo>
                    <a:pt x="1695" y="0"/>
                  </a:lnTo>
                </a:path>
              </a:pathLst>
            </a:custGeom>
            <a:ln w="715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6948590" y="3564778"/>
            <a:ext cx="0" cy="3112770"/>
          </a:xfrm>
          <a:custGeom>
            <a:avLst/>
            <a:gdLst/>
            <a:ahLst/>
            <a:cxnLst/>
            <a:rect l="l" t="t" r="r" b="b"/>
            <a:pathLst>
              <a:path h="3112770">
                <a:moveTo>
                  <a:pt x="0" y="0"/>
                </a:moveTo>
                <a:lnTo>
                  <a:pt x="0" y="3112769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363105" y="5790568"/>
            <a:ext cx="2068830" cy="29527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f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78125" y="6229289"/>
            <a:ext cx="2070735" cy="29527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g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357624" y="3564661"/>
            <a:ext cx="12700" cy="3413125"/>
            <a:chOff x="4357624" y="3564661"/>
            <a:chExt cx="12700" cy="3413125"/>
          </a:xfrm>
        </p:grpSpPr>
        <p:sp>
          <p:nvSpPr>
            <p:cNvPr id="37" name="object 37"/>
            <p:cNvSpPr/>
            <p:nvPr/>
          </p:nvSpPr>
          <p:spPr>
            <a:xfrm>
              <a:off x="4363953" y="3863377"/>
              <a:ext cx="0" cy="1040765"/>
            </a:xfrm>
            <a:custGeom>
              <a:avLst/>
              <a:gdLst/>
              <a:ahLst/>
              <a:cxnLst/>
              <a:rect l="l" t="t" r="r" b="b"/>
              <a:pathLst>
                <a:path h="1040764">
                  <a:moveTo>
                    <a:pt x="0" y="0"/>
                  </a:moveTo>
                  <a:lnTo>
                    <a:pt x="0" y="1040212"/>
                  </a:lnTo>
                </a:path>
              </a:pathLst>
            </a:custGeom>
            <a:ln w="884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59529" y="3566566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89">
                  <a:moveTo>
                    <a:pt x="0" y="0"/>
                  </a:moveTo>
                  <a:lnTo>
                    <a:pt x="8847" y="0"/>
                  </a:lnTo>
                </a:path>
              </a:pathLst>
            </a:custGeom>
            <a:ln w="35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363953" y="5639029"/>
              <a:ext cx="0" cy="1334770"/>
            </a:xfrm>
            <a:custGeom>
              <a:avLst/>
              <a:gdLst/>
              <a:ahLst/>
              <a:cxnLst/>
              <a:rect l="l" t="t" r="r" b="b"/>
              <a:pathLst>
                <a:path h="1334770">
                  <a:moveTo>
                    <a:pt x="0" y="0"/>
                  </a:moveTo>
                  <a:lnTo>
                    <a:pt x="0" y="1334150"/>
                  </a:lnTo>
                </a:path>
              </a:pathLst>
            </a:custGeom>
            <a:ln w="884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4363953" y="5198614"/>
            <a:ext cx="0" cy="144145"/>
          </a:xfrm>
          <a:custGeom>
            <a:avLst/>
            <a:gdLst/>
            <a:ahLst/>
            <a:cxnLst/>
            <a:rect l="l" t="t" r="r" b="b"/>
            <a:pathLst>
              <a:path h="144145">
                <a:moveTo>
                  <a:pt x="0" y="0"/>
                </a:moveTo>
                <a:lnTo>
                  <a:pt x="0" y="143696"/>
                </a:lnTo>
              </a:path>
            </a:pathLst>
          </a:custGeom>
          <a:ln w="884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908164" y="6677547"/>
            <a:ext cx="1553210" cy="29718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h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848086" y="5342310"/>
            <a:ext cx="1551940" cy="29718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e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778469" y="3568354"/>
            <a:ext cx="3105150" cy="295275"/>
          </a:xfrm>
          <a:custGeom>
            <a:avLst/>
            <a:gdLst/>
            <a:ahLst/>
            <a:cxnLst/>
            <a:rect l="l" t="t" r="r" b="b"/>
            <a:pathLst>
              <a:path w="3105150" h="295275">
                <a:moveTo>
                  <a:pt x="0" y="0"/>
                </a:moveTo>
                <a:lnTo>
                  <a:pt x="3104530" y="0"/>
                </a:lnTo>
                <a:lnTo>
                  <a:pt x="3104530" y="295023"/>
                </a:lnTo>
                <a:lnTo>
                  <a:pt x="0" y="295023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285684" y="3584266"/>
            <a:ext cx="1079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Lucida Sans Unicode"/>
                <a:cs typeface="Lucida Sans Unicode"/>
              </a:rPr>
              <a:t>a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293489" y="4016612"/>
            <a:ext cx="1553210" cy="29527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b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23528" y="4455332"/>
            <a:ext cx="1034415" cy="29718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c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23528" y="4903590"/>
            <a:ext cx="2585720" cy="29527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d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736547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0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251566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776123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2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291144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3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806163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4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321183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5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845740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6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360759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7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875779" y="7008193"/>
            <a:ext cx="16967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050" algn="l"/>
                <a:tab pos="927100" algn="l"/>
                <a:tab pos="1489710" algn="l"/>
              </a:tabLst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8</a:t>
            </a:r>
            <a:r>
              <a:rPr sz="12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9</a:t>
            </a:r>
            <a:r>
              <a:rPr sz="12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2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10</a:t>
            </a:r>
            <a:r>
              <a:rPr sz="12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2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11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759395" y="6938636"/>
            <a:ext cx="6291580" cy="92075"/>
            <a:chOff x="1759395" y="6938636"/>
            <a:chExt cx="6291580" cy="92075"/>
          </a:xfrm>
        </p:grpSpPr>
        <p:sp>
          <p:nvSpPr>
            <p:cNvPr id="58" name="object 58"/>
            <p:cNvSpPr/>
            <p:nvPr/>
          </p:nvSpPr>
          <p:spPr>
            <a:xfrm>
              <a:off x="1768932" y="6982744"/>
              <a:ext cx="6200140" cy="1905"/>
            </a:xfrm>
            <a:custGeom>
              <a:avLst/>
              <a:gdLst/>
              <a:ahLst/>
              <a:cxnLst/>
              <a:rect l="l" t="t" r="r" b="b"/>
              <a:pathLst>
                <a:path w="6200140" h="1904">
                  <a:moveTo>
                    <a:pt x="0" y="0"/>
                  </a:moveTo>
                  <a:lnTo>
                    <a:pt x="6190410" y="1670"/>
                  </a:lnTo>
                  <a:lnTo>
                    <a:pt x="6199948" y="1673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959329" y="6938636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25" y="0"/>
                  </a:moveTo>
                  <a:lnTo>
                    <a:pt x="0" y="91558"/>
                  </a:lnTo>
                  <a:lnTo>
                    <a:pt x="91572" y="45803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9483454" y="7234878"/>
            <a:ext cx="98425" cy="16129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900" spc="-50" dirty="0">
                <a:latin typeface="Lucida Sans Unicode"/>
                <a:cs typeface="Lucida Sans Unicode"/>
              </a:rPr>
              <a:t>6</a:t>
            </a:r>
            <a:endParaRPr sz="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Earliest-</a:t>
            </a:r>
            <a:r>
              <a:rPr spc="-60" dirty="0"/>
              <a:t>finish-</a:t>
            </a:r>
            <a:r>
              <a:rPr dirty="0"/>
              <a:t>time</a:t>
            </a:r>
            <a:r>
              <a:rPr spc="55" dirty="0"/>
              <a:t> </a:t>
            </a:r>
            <a:r>
              <a:rPr dirty="0"/>
              <a:t>first</a:t>
            </a:r>
            <a:r>
              <a:rPr spc="55" dirty="0"/>
              <a:t> </a:t>
            </a:r>
            <a:r>
              <a:rPr spc="35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167" y="1218991"/>
            <a:ext cx="7818755" cy="1750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1980"/>
              </a:lnSpc>
              <a:spcBef>
                <a:spcPts val="100"/>
              </a:spcBef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Earliest</a:t>
            </a:r>
            <a:r>
              <a:rPr sz="18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0048AA"/>
                </a:solidFill>
                <a:latin typeface="Lucida Sans Unicode"/>
                <a:cs typeface="Lucida Sans Unicode"/>
              </a:rPr>
              <a:t>finish-</a:t>
            </a: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time</a:t>
            </a:r>
            <a:r>
              <a:rPr sz="1800" spc="-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first.</a:t>
            </a:r>
            <a:endParaRPr sz="1800">
              <a:latin typeface="Lucida Sans Unicode"/>
              <a:cs typeface="Lucida Sans Unicode"/>
            </a:endParaRPr>
          </a:p>
          <a:p>
            <a:pPr marL="146050">
              <a:lnSpc>
                <a:spcPts val="2960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Consider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jobs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ascending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order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finish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time.</a:t>
            </a:r>
            <a:endParaRPr sz="1800">
              <a:latin typeface="Lucida Sans Unicode"/>
              <a:cs typeface="Lucida Sans Unicode"/>
            </a:endParaRPr>
          </a:p>
          <a:p>
            <a:pPr marL="146050">
              <a:lnSpc>
                <a:spcPts val="3135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Add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job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subset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compatible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previously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chosen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jobs.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91694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Recall.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Greedy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correct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weights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1.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3755940"/>
            <a:ext cx="8045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051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Greedy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fails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spectacularly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weighted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version.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8825" y="5920930"/>
            <a:ext cx="10128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weight</a:t>
            </a:r>
            <a:r>
              <a:rPr sz="1200" spc="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90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200" spc="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999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9573" y="6435949"/>
            <a:ext cx="8191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weight</a:t>
            </a:r>
            <a:r>
              <a:rPr sz="1200" spc="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90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200" spc="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96276" y="6855595"/>
            <a:ext cx="3746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Trebuchet MS"/>
                <a:cs typeface="Trebuchet MS"/>
              </a:rPr>
              <a:t>time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79571" y="5353364"/>
            <a:ext cx="5701665" cy="1628139"/>
            <a:chOff x="1879571" y="5353364"/>
            <a:chExt cx="5701665" cy="1628139"/>
          </a:xfrm>
        </p:grpSpPr>
        <p:sp>
          <p:nvSpPr>
            <p:cNvPr id="10" name="object 10"/>
            <p:cNvSpPr/>
            <p:nvPr/>
          </p:nvSpPr>
          <p:spPr>
            <a:xfrm>
              <a:off x="2410924" y="6180966"/>
              <a:ext cx="0" cy="796290"/>
            </a:xfrm>
            <a:custGeom>
              <a:avLst/>
              <a:gdLst/>
              <a:ahLst/>
              <a:cxnLst/>
              <a:rect l="l" t="t" r="r" b="b"/>
              <a:pathLst>
                <a:path h="796290">
                  <a:moveTo>
                    <a:pt x="0" y="526252"/>
                  </a:moveTo>
                  <a:lnTo>
                    <a:pt x="0" y="795818"/>
                  </a:lnTo>
                </a:path>
                <a:path h="796290">
                  <a:moveTo>
                    <a:pt x="0" y="0"/>
                  </a:moveTo>
                  <a:lnTo>
                    <a:pt x="0" y="229533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10924" y="5357809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20">
                  <a:moveTo>
                    <a:pt x="0" y="0"/>
                  </a:moveTo>
                  <a:lnTo>
                    <a:pt x="0" y="528133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83381" y="5361386"/>
              <a:ext cx="1905" cy="1612265"/>
            </a:xfrm>
            <a:custGeom>
              <a:avLst/>
              <a:gdLst/>
              <a:ahLst/>
              <a:cxnLst/>
              <a:rect l="l" t="t" r="r" b="b"/>
              <a:pathLst>
                <a:path w="1905" h="1612265">
                  <a:moveTo>
                    <a:pt x="0" y="1611822"/>
                  </a:moveTo>
                  <a:lnTo>
                    <a:pt x="1695" y="0"/>
                  </a:lnTo>
                </a:path>
              </a:pathLst>
            </a:custGeom>
            <a:ln w="715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37400" y="5357809"/>
              <a:ext cx="0" cy="1619250"/>
            </a:xfrm>
            <a:custGeom>
              <a:avLst/>
              <a:gdLst/>
              <a:ahLst/>
              <a:cxnLst/>
              <a:rect l="l" t="t" r="r" b="b"/>
              <a:pathLst>
                <a:path h="1619250">
                  <a:moveTo>
                    <a:pt x="0" y="0"/>
                  </a:moveTo>
                  <a:lnTo>
                    <a:pt x="0" y="528133"/>
                  </a:lnTo>
                </a:path>
                <a:path h="1619250">
                  <a:moveTo>
                    <a:pt x="0" y="823157"/>
                  </a:moveTo>
                  <a:lnTo>
                    <a:pt x="0" y="1618975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18546" y="5357809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20">
                  <a:moveTo>
                    <a:pt x="0" y="0"/>
                  </a:moveTo>
                  <a:lnTo>
                    <a:pt x="0" y="528133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18546" y="6180966"/>
              <a:ext cx="0" cy="796290"/>
            </a:xfrm>
            <a:custGeom>
              <a:avLst/>
              <a:gdLst/>
              <a:ahLst/>
              <a:cxnLst/>
              <a:rect l="l" t="t" r="r" b="b"/>
              <a:pathLst>
                <a:path h="796290">
                  <a:moveTo>
                    <a:pt x="0" y="526252"/>
                  </a:moveTo>
                  <a:lnTo>
                    <a:pt x="0" y="795818"/>
                  </a:lnTo>
                </a:path>
                <a:path h="796290">
                  <a:moveTo>
                    <a:pt x="0" y="0"/>
                  </a:moveTo>
                  <a:lnTo>
                    <a:pt x="0" y="229533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54558" y="5357809"/>
              <a:ext cx="1551940" cy="1619250"/>
            </a:xfrm>
            <a:custGeom>
              <a:avLst/>
              <a:gdLst/>
              <a:ahLst/>
              <a:cxnLst/>
              <a:rect l="l" t="t" r="r" b="b"/>
              <a:pathLst>
                <a:path w="1551939" h="1619250">
                  <a:moveTo>
                    <a:pt x="0" y="823157"/>
                  </a:moveTo>
                  <a:lnTo>
                    <a:pt x="0" y="1618975"/>
                  </a:lnTo>
                </a:path>
                <a:path w="1551939" h="1619250">
                  <a:moveTo>
                    <a:pt x="0" y="0"/>
                  </a:moveTo>
                  <a:lnTo>
                    <a:pt x="0" y="528133"/>
                  </a:lnTo>
                </a:path>
                <a:path w="1551939" h="1619250">
                  <a:moveTo>
                    <a:pt x="1551475" y="823157"/>
                  </a:moveTo>
                  <a:lnTo>
                    <a:pt x="1551475" y="1618975"/>
                  </a:lnTo>
                </a:path>
                <a:path w="1551939" h="1619250">
                  <a:moveTo>
                    <a:pt x="1551475" y="0"/>
                  </a:moveTo>
                  <a:lnTo>
                    <a:pt x="1551475" y="528133"/>
                  </a:lnTo>
                </a:path>
                <a:path w="1551939" h="1619250">
                  <a:moveTo>
                    <a:pt x="1034317" y="0"/>
                  </a:moveTo>
                  <a:lnTo>
                    <a:pt x="1034317" y="528133"/>
                  </a:lnTo>
                </a:path>
                <a:path w="1551939" h="1619250">
                  <a:moveTo>
                    <a:pt x="1034317" y="823157"/>
                  </a:moveTo>
                  <a:lnTo>
                    <a:pt x="1034317" y="1618975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35925" y="6975525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90">
                  <a:moveTo>
                    <a:pt x="0" y="0"/>
                  </a:moveTo>
                  <a:lnTo>
                    <a:pt x="8848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40350" y="6180966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4">
                  <a:moveTo>
                    <a:pt x="0" y="0"/>
                  </a:moveTo>
                  <a:lnTo>
                    <a:pt x="0" y="496580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40350" y="5357809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20">
                  <a:moveTo>
                    <a:pt x="0" y="0"/>
                  </a:moveTo>
                  <a:lnTo>
                    <a:pt x="0" y="528133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23192" y="5357809"/>
              <a:ext cx="0" cy="1619250"/>
            </a:xfrm>
            <a:custGeom>
              <a:avLst/>
              <a:gdLst/>
              <a:ahLst/>
              <a:cxnLst/>
              <a:rect l="l" t="t" r="r" b="b"/>
              <a:pathLst>
                <a:path h="1619250">
                  <a:moveTo>
                    <a:pt x="0" y="823157"/>
                  </a:moveTo>
                  <a:lnTo>
                    <a:pt x="0" y="1618975"/>
                  </a:lnTo>
                </a:path>
                <a:path h="1619250">
                  <a:moveTo>
                    <a:pt x="0" y="0"/>
                  </a:moveTo>
                  <a:lnTo>
                    <a:pt x="0" y="528133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75514" y="5361386"/>
              <a:ext cx="1905" cy="1612265"/>
            </a:xfrm>
            <a:custGeom>
              <a:avLst/>
              <a:gdLst/>
              <a:ahLst/>
              <a:cxnLst/>
              <a:rect l="l" t="t" r="r" b="b"/>
              <a:pathLst>
                <a:path w="1904" h="1612265">
                  <a:moveTo>
                    <a:pt x="0" y="1611822"/>
                  </a:moveTo>
                  <a:lnTo>
                    <a:pt x="1696" y="0"/>
                  </a:lnTo>
                </a:path>
              </a:pathLst>
            </a:custGeom>
            <a:ln w="715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54780" y="6975525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90">
                  <a:moveTo>
                    <a:pt x="0" y="0"/>
                  </a:moveTo>
                  <a:lnTo>
                    <a:pt x="8848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59205" y="6180966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4">
                  <a:moveTo>
                    <a:pt x="0" y="0"/>
                  </a:moveTo>
                  <a:lnTo>
                    <a:pt x="0" y="496580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59205" y="5357809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20">
                  <a:moveTo>
                    <a:pt x="0" y="0"/>
                  </a:moveTo>
                  <a:lnTo>
                    <a:pt x="0" y="528133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1717" y="5357809"/>
              <a:ext cx="0" cy="1619250"/>
            </a:xfrm>
            <a:custGeom>
              <a:avLst/>
              <a:gdLst/>
              <a:ahLst/>
              <a:cxnLst/>
              <a:rect l="l" t="t" r="r" b="b"/>
              <a:pathLst>
                <a:path h="1619250">
                  <a:moveTo>
                    <a:pt x="0" y="823157"/>
                  </a:moveTo>
                  <a:lnTo>
                    <a:pt x="0" y="1618975"/>
                  </a:lnTo>
                </a:path>
                <a:path h="1619250">
                  <a:moveTo>
                    <a:pt x="0" y="0"/>
                  </a:moveTo>
                  <a:lnTo>
                    <a:pt x="0" y="528133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850995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0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66016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90573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2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05592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3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20611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4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35632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5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60189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6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75208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7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90227" y="7008193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8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05248" y="7008193"/>
            <a:ext cx="6191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2115" algn="l"/>
              </a:tabLst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9</a:t>
            </a:r>
            <a:r>
              <a:rPr sz="12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2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10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67915" y="7008193"/>
            <a:ext cx="2190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11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873538" y="5885943"/>
            <a:ext cx="6292215" cy="1144270"/>
            <a:chOff x="1873538" y="5885943"/>
            <a:chExt cx="6292215" cy="1144270"/>
          </a:xfrm>
        </p:grpSpPr>
        <p:sp>
          <p:nvSpPr>
            <p:cNvPr id="38" name="object 38"/>
            <p:cNvSpPr/>
            <p:nvPr/>
          </p:nvSpPr>
          <p:spPr>
            <a:xfrm>
              <a:off x="1883381" y="6982745"/>
              <a:ext cx="6200140" cy="1905"/>
            </a:xfrm>
            <a:custGeom>
              <a:avLst/>
              <a:gdLst/>
              <a:ahLst/>
              <a:cxnLst/>
              <a:rect l="l" t="t" r="r" b="b"/>
              <a:pathLst>
                <a:path w="6200140" h="1904">
                  <a:moveTo>
                    <a:pt x="0" y="0"/>
                  </a:moveTo>
                  <a:lnTo>
                    <a:pt x="6190410" y="1670"/>
                  </a:lnTo>
                  <a:lnTo>
                    <a:pt x="6199948" y="1673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073779" y="6938636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24" y="0"/>
                  </a:moveTo>
                  <a:lnTo>
                    <a:pt x="0" y="91558"/>
                  </a:lnTo>
                  <a:lnTo>
                    <a:pt x="91570" y="45803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883380" y="5885943"/>
              <a:ext cx="5191760" cy="295275"/>
            </a:xfrm>
            <a:custGeom>
              <a:avLst/>
              <a:gdLst/>
              <a:ahLst/>
              <a:cxnLst/>
              <a:rect l="l" t="t" r="r" b="b"/>
              <a:pathLst>
                <a:path w="5191759" h="295275">
                  <a:moveTo>
                    <a:pt x="0" y="0"/>
                  </a:moveTo>
                  <a:lnTo>
                    <a:pt x="5191738" y="0"/>
                  </a:lnTo>
                  <a:lnTo>
                    <a:pt x="5191738" y="295023"/>
                  </a:lnTo>
                  <a:lnTo>
                    <a:pt x="0" y="295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410777" y="5901855"/>
            <a:ext cx="13398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Lucida Sans Unicode"/>
                <a:cs typeface="Lucida Sans Unicode"/>
              </a:rPr>
              <a:t>b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883380" y="6410500"/>
            <a:ext cx="1551940" cy="297180"/>
          </a:xfrm>
          <a:custGeom>
            <a:avLst/>
            <a:gdLst/>
            <a:ahLst/>
            <a:cxnLst/>
            <a:rect l="l" t="t" r="r" b="b"/>
            <a:pathLst>
              <a:path w="1551939" h="297179">
                <a:moveTo>
                  <a:pt x="0" y="0"/>
                </a:moveTo>
                <a:lnTo>
                  <a:pt x="1551418" y="0"/>
                </a:lnTo>
                <a:lnTo>
                  <a:pt x="1551418" y="296718"/>
                </a:lnTo>
                <a:lnTo>
                  <a:pt x="0" y="296718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600597" y="6426412"/>
            <a:ext cx="1206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Lucida Sans Unicode"/>
                <a:cs typeface="Lucida Sans Unicode"/>
              </a:rPr>
              <a:t>a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022614" y="6677547"/>
            <a:ext cx="1553210" cy="297180"/>
          </a:xfrm>
          <a:custGeom>
            <a:avLst/>
            <a:gdLst/>
            <a:ahLst/>
            <a:cxnLst/>
            <a:rect l="l" t="t" r="r" b="b"/>
            <a:pathLst>
              <a:path w="1553209" h="297179">
                <a:moveTo>
                  <a:pt x="0" y="0"/>
                </a:moveTo>
                <a:lnTo>
                  <a:pt x="1553113" y="0"/>
                </a:lnTo>
                <a:lnTo>
                  <a:pt x="1553113" y="296718"/>
                </a:lnTo>
                <a:lnTo>
                  <a:pt x="0" y="296718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027616" y="6693459"/>
            <a:ext cx="154432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Lucida Sans Unicode"/>
                <a:cs typeface="Lucida Sans Unicode"/>
              </a:rPr>
              <a:t>h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644946" y="5992761"/>
            <a:ext cx="487045" cy="616585"/>
            <a:chOff x="1644946" y="5992761"/>
            <a:chExt cx="487045" cy="616585"/>
          </a:xfrm>
        </p:grpSpPr>
        <p:sp>
          <p:nvSpPr>
            <p:cNvPr id="47" name="object 47"/>
            <p:cNvSpPr/>
            <p:nvPr/>
          </p:nvSpPr>
          <p:spPr>
            <a:xfrm>
              <a:off x="1653397" y="6038541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5">
                  <a:moveTo>
                    <a:pt x="419174" y="0"/>
                  </a:moveTo>
                  <a:lnTo>
                    <a:pt x="409637" y="0"/>
                  </a:lnTo>
                  <a:lnTo>
                    <a:pt x="0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040144" y="5992761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0" y="0"/>
                  </a:moveTo>
                  <a:lnTo>
                    <a:pt x="22890" y="45779"/>
                  </a:lnTo>
                  <a:lnTo>
                    <a:pt x="0" y="91559"/>
                  </a:lnTo>
                  <a:lnTo>
                    <a:pt x="91559" y="45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644946" y="6563099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5">
                  <a:moveTo>
                    <a:pt x="419174" y="0"/>
                  </a:moveTo>
                  <a:lnTo>
                    <a:pt x="409637" y="0"/>
                  </a:lnTo>
                  <a:lnTo>
                    <a:pt x="0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031693" y="6517319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0" y="0"/>
                  </a:moveTo>
                  <a:lnTo>
                    <a:pt x="22889" y="45779"/>
                  </a:lnTo>
                  <a:lnTo>
                    <a:pt x="0" y="91558"/>
                  </a:lnTo>
                  <a:lnTo>
                    <a:pt x="91559" y="45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167" y="1218991"/>
            <a:ext cx="7389495" cy="138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223645" algn="l"/>
                <a:tab pos="452247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Notation.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Label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jobs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finishing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time: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spc="450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baseline="-18518" dirty="0">
                <a:latin typeface="Times New Roman"/>
                <a:cs typeface="Times New Roman"/>
              </a:rPr>
              <a:t>2</a:t>
            </a:r>
            <a:r>
              <a:rPr sz="1800" spc="450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 . . . ≤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baseline="-18518" dirty="0">
                <a:latin typeface="Times New Roman"/>
                <a:cs typeface="Times New Roman"/>
              </a:rPr>
              <a:t>n </a:t>
            </a:r>
            <a:r>
              <a:rPr sz="1800" spc="-5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94615" marR="17780">
              <a:lnSpc>
                <a:spcPct val="132100"/>
              </a:lnSpc>
              <a:tabLst>
                <a:tab pos="575945" algn="l"/>
                <a:tab pos="694690" algn="l"/>
              </a:tabLst>
            </a:pP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	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) =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largest index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&lt;</a:t>
            </a:r>
            <a:r>
              <a:rPr sz="1800" i="1" spc="4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such that job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 compatible with </a:t>
            </a:r>
            <a:r>
              <a:rPr sz="1800" i="1" spc="-25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Lucida Sans Unicode"/>
                <a:cs typeface="Lucida Sans Unicode"/>
              </a:rPr>
              <a:t>.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(8) = 5,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(7) = 3,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(2) = </a:t>
            </a:r>
            <a:r>
              <a:rPr sz="1800" spc="-25" dirty="0">
                <a:latin typeface="Times New Roman"/>
                <a:cs typeface="Times New Roman"/>
              </a:rPr>
              <a:t>0.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Weighted</a:t>
            </a:r>
            <a:r>
              <a:rPr spc="390" dirty="0"/>
              <a:t> </a:t>
            </a:r>
            <a:r>
              <a:rPr dirty="0"/>
              <a:t>interval</a:t>
            </a:r>
            <a:r>
              <a:rPr spc="390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86453" y="6757042"/>
            <a:ext cx="3746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Trebuchet MS"/>
                <a:cs typeface="Trebuchet MS"/>
              </a:rPr>
              <a:t>time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191339" y="3468985"/>
            <a:ext cx="1562100" cy="937894"/>
            <a:chOff x="2191339" y="3468985"/>
            <a:chExt cx="1562100" cy="937894"/>
          </a:xfrm>
        </p:grpSpPr>
        <p:sp>
          <p:nvSpPr>
            <p:cNvPr id="7" name="object 7"/>
            <p:cNvSpPr/>
            <p:nvPr/>
          </p:nvSpPr>
          <p:spPr>
            <a:xfrm>
              <a:off x="2195784" y="3473430"/>
              <a:ext cx="0" cy="929005"/>
            </a:xfrm>
            <a:custGeom>
              <a:avLst/>
              <a:gdLst/>
              <a:ahLst/>
              <a:cxnLst/>
              <a:rect l="l" t="t" r="r" b="b"/>
              <a:pathLst>
                <a:path h="929004">
                  <a:moveTo>
                    <a:pt x="0" y="0"/>
                  </a:moveTo>
                  <a:lnTo>
                    <a:pt x="0" y="928493"/>
                  </a:lnTo>
                </a:path>
              </a:pathLst>
            </a:custGeom>
            <a:ln w="884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31758" y="3772879"/>
              <a:ext cx="0" cy="629285"/>
            </a:xfrm>
            <a:custGeom>
              <a:avLst/>
              <a:gdLst/>
              <a:ahLst/>
              <a:cxnLst/>
              <a:rect l="l" t="t" r="r" b="b"/>
              <a:pathLst>
                <a:path h="629285">
                  <a:moveTo>
                    <a:pt x="0" y="0"/>
                  </a:moveTo>
                  <a:lnTo>
                    <a:pt x="0" y="629044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7334" y="3475642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89">
                  <a:moveTo>
                    <a:pt x="0" y="0"/>
                  </a:moveTo>
                  <a:lnTo>
                    <a:pt x="8848" y="0"/>
                  </a:lnTo>
                </a:path>
              </a:pathLst>
            </a:custGeom>
            <a:ln w="442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12923" y="3772879"/>
              <a:ext cx="0" cy="629285"/>
            </a:xfrm>
            <a:custGeom>
              <a:avLst/>
              <a:gdLst/>
              <a:ahLst/>
              <a:cxnLst/>
              <a:rect l="l" t="t" r="r" b="b"/>
              <a:pathLst>
                <a:path h="629285">
                  <a:moveTo>
                    <a:pt x="0" y="0"/>
                  </a:moveTo>
                  <a:lnTo>
                    <a:pt x="0" y="629044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08499" y="3475642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89">
                  <a:moveTo>
                    <a:pt x="0" y="0"/>
                  </a:moveTo>
                  <a:lnTo>
                    <a:pt x="8848" y="0"/>
                  </a:lnTo>
                </a:path>
              </a:pathLst>
            </a:custGeom>
            <a:ln w="442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48897" y="3473430"/>
              <a:ext cx="0" cy="495934"/>
            </a:xfrm>
            <a:custGeom>
              <a:avLst/>
              <a:gdLst/>
              <a:ahLst/>
              <a:cxnLst/>
              <a:rect l="l" t="t" r="r" b="b"/>
              <a:pathLst>
                <a:path h="495935">
                  <a:moveTo>
                    <a:pt x="0" y="0"/>
                  </a:moveTo>
                  <a:lnTo>
                    <a:pt x="0" y="495494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3748897" y="4696947"/>
            <a:ext cx="0" cy="600710"/>
          </a:xfrm>
          <a:custGeom>
            <a:avLst/>
            <a:gdLst/>
            <a:ahLst/>
            <a:cxnLst/>
            <a:rect l="l" t="t" r="r" b="b"/>
            <a:pathLst>
              <a:path h="600710">
                <a:moveTo>
                  <a:pt x="0" y="0"/>
                </a:moveTo>
                <a:lnTo>
                  <a:pt x="0" y="600219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48897" y="4265644"/>
            <a:ext cx="0" cy="136525"/>
          </a:xfrm>
          <a:custGeom>
            <a:avLst/>
            <a:gdLst/>
            <a:ahLst/>
            <a:cxnLst/>
            <a:rect l="l" t="t" r="r" b="b"/>
            <a:pathLst>
              <a:path h="136525">
                <a:moveTo>
                  <a:pt x="0" y="0"/>
                </a:moveTo>
                <a:lnTo>
                  <a:pt x="0" y="136279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00315" y="5988948"/>
            <a:ext cx="0" cy="149225"/>
          </a:xfrm>
          <a:custGeom>
            <a:avLst/>
            <a:gdLst/>
            <a:ahLst/>
            <a:cxnLst/>
            <a:rect l="l" t="t" r="r" b="b"/>
            <a:pathLst>
              <a:path h="149225">
                <a:moveTo>
                  <a:pt x="0" y="0"/>
                </a:moveTo>
                <a:lnTo>
                  <a:pt x="0" y="149205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00315" y="5592190"/>
            <a:ext cx="0" cy="102235"/>
          </a:xfrm>
          <a:custGeom>
            <a:avLst/>
            <a:gdLst/>
            <a:ahLst/>
            <a:cxnLst/>
            <a:rect l="l" t="t" r="r" b="b"/>
            <a:pathLst>
              <a:path h="102235">
                <a:moveTo>
                  <a:pt x="0" y="0"/>
                </a:moveTo>
                <a:lnTo>
                  <a:pt x="0" y="101732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00315" y="3473430"/>
            <a:ext cx="0" cy="1824355"/>
          </a:xfrm>
          <a:custGeom>
            <a:avLst/>
            <a:gdLst/>
            <a:ahLst/>
            <a:cxnLst/>
            <a:rect l="l" t="t" r="r" b="b"/>
            <a:pathLst>
              <a:path h="1824354">
                <a:moveTo>
                  <a:pt x="0" y="0"/>
                </a:moveTo>
                <a:lnTo>
                  <a:pt x="0" y="1823736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83175" y="5592190"/>
            <a:ext cx="0" cy="102235"/>
          </a:xfrm>
          <a:custGeom>
            <a:avLst/>
            <a:gdLst/>
            <a:ahLst/>
            <a:cxnLst/>
            <a:rect l="l" t="t" r="r" b="b"/>
            <a:pathLst>
              <a:path h="102235">
                <a:moveTo>
                  <a:pt x="0" y="0"/>
                </a:moveTo>
                <a:lnTo>
                  <a:pt x="0" y="101732"/>
                </a:lnTo>
              </a:path>
            </a:pathLst>
          </a:custGeom>
          <a:ln w="884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83175" y="5152622"/>
            <a:ext cx="0" cy="144780"/>
          </a:xfrm>
          <a:custGeom>
            <a:avLst/>
            <a:gdLst/>
            <a:ahLst/>
            <a:cxnLst/>
            <a:rect l="l" t="t" r="r" b="b"/>
            <a:pathLst>
              <a:path h="144779">
                <a:moveTo>
                  <a:pt x="0" y="0"/>
                </a:moveTo>
                <a:lnTo>
                  <a:pt x="0" y="144545"/>
                </a:lnTo>
              </a:path>
            </a:pathLst>
          </a:custGeom>
          <a:ln w="884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83175" y="3473430"/>
            <a:ext cx="0" cy="1383030"/>
          </a:xfrm>
          <a:custGeom>
            <a:avLst/>
            <a:gdLst/>
            <a:ahLst/>
            <a:cxnLst/>
            <a:rect l="l" t="t" r="r" b="b"/>
            <a:pathLst>
              <a:path h="1383029">
                <a:moveTo>
                  <a:pt x="0" y="0"/>
                </a:moveTo>
                <a:lnTo>
                  <a:pt x="0" y="1382472"/>
                </a:lnTo>
              </a:path>
            </a:pathLst>
          </a:custGeom>
          <a:ln w="884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34593" y="3473430"/>
            <a:ext cx="0" cy="2665095"/>
          </a:xfrm>
          <a:custGeom>
            <a:avLst/>
            <a:gdLst/>
            <a:ahLst/>
            <a:cxnLst/>
            <a:rect l="l" t="t" r="r" b="b"/>
            <a:pathLst>
              <a:path h="2665095">
                <a:moveTo>
                  <a:pt x="0" y="0"/>
                </a:moveTo>
                <a:lnTo>
                  <a:pt x="0" y="2664723"/>
                </a:lnTo>
              </a:path>
            </a:pathLst>
          </a:custGeom>
          <a:ln w="884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17454" y="5988948"/>
            <a:ext cx="0" cy="149225"/>
          </a:xfrm>
          <a:custGeom>
            <a:avLst/>
            <a:gdLst/>
            <a:ahLst/>
            <a:cxnLst/>
            <a:rect l="l" t="t" r="r" b="b"/>
            <a:pathLst>
              <a:path h="149225">
                <a:moveTo>
                  <a:pt x="0" y="0"/>
                </a:moveTo>
                <a:lnTo>
                  <a:pt x="0" y="149205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17454" y="3473430"/>
            <a:ext cx="0" cy="2220595"/>
          </a:xfrm>
          <a:custGeom>
            <a:avLst/>
            <a:gdLst/>
            <a:ahLst/>
            <a:cxnLst/>
            <a:rect l="l" t="t" r="r" b="b"/>
            <a:pathLst>
              <a:path h="2220595">
                <a:moveTo>
                  <a:pt x="0" y="0"/>
                </a:moveTo>
                <a:lnTo>
                  <a:pt x="0" y="2220492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1673986" y="3468985"/>
            <a:ext cx="5701665" cy="3417570"/>
            <a:chOff x="1673986" y="3468985"/>
            <a:chExt cx="5701665" cy="3417570"/>
          </a:xfrm>
        </p:grpSpPr>
        <p:sp>
          <p:nvSpPr>
            <p:cNvPr id="25" name="object 25"/>
            <p:cNvSpPr/>
            <p:nvPr/>
          </p:nvSpPr>
          <p:spPr>
            <a:xfrm>
              <a:off x="2195784" y="4696947"/>
              <a:ext cx="0" cy="2185035"/>
            </a:xfrm>
            <a:custGeom>
              <a:avLst/>
              <a:gdLst/>
              <a:ahLst/>
              <a:cxnLst/>
              <a:rect l="l" t="t" r="r" b="b"/>
              <a:pathLst>
                <a:path h="2185034">
                  <a:moveTo>
                    <a:pt x="0" y="0"/>
                  </a:moveTo>
                  <a:lnTo>
                    <a:pt x="0" y="2184885"/>
                  </a:lnTo>
                </a:path>
              </a:pathLst>
            </a:custGeom>
            <a:ln w="884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77796" y="3477007"/>
              <a:ext cx="1905" cy="3401695"/>
            </a:xfrm>
            <a:custGeom>
              <a:avLst/>
              <a:gdLst/>
              <a:ahLst/>
              <a:cxnLst/>
              <a:rect l="l" t="t" r="r" b="b"/>
              <a:pathLst>
                <a:path w="1905" h="3401695">
                  <a:moveTo>
                    <a:pt x="0" y="3401249"/>
                  </a:moveTo>
                  <a:lnTo>
                    <a:pt x="1695" y="0"/>
                  </a:lnTo>
                </a:path>
              </a:pathLst>
            </a:custGeom>
            <a:ln w="715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31758" y="4696947"/>
              <a:ext cx="0" cy="2185035"/>
            </a:xfrm>
            <a:custGeom>
              <a:avLst/>
              <a:gdLst/>
              <a:ahLst/>
              <a:cxnLst/>
              <a:rect l="l" t="t" r="r" b="b"/>
              <a:pathLst>
                <a:path h="2185034">
                  <a:moveTo>
                    <a:pt x="0" y="0"/>
                  </a:moveTo>
                  <a:lnTo>
                    <a:pt x="0" y="2184885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12923" y="4696947"/>
              <a:ext cx="0" cy="2185035"/>
            </a:xfrm>
            <a:custGeom>
              <a:avLst/>
              <a:gdLst/>
              <a:ahLst/>
              <a:cxnLst/>
              <a:rect l="l" t="t" r="r" b="b"/>
              <a:pathLst>
                <a:path h="2185034">
                  <a:moveTo>
                    <a:pt x="0" y="0"/>
                  </a:moveTo>
                  <a:lnTo>
                    <a:pt x="0" y="2184885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48897" y="5592190"/>
              <a:ext cx="1551940" cy="1289685"/>
            </a:xfrm>
            <a:custGeom>
              <a:avLst/>
              <a:gdLst/>
              <a:ahLst/>
              <a:cxnLst/>
              <a:rect l="l" t="t" r="r" b="b"/>
              <a:pathLst>
                <a:path w="1551939" h="1289684">
                  <a:moveTo>
                    <a:pt x="0" y="0"/>
                  </a:moveTo>
                  <a:lnTo>
                    <a:pt x="0" y="1289642"/>
                  </a:lnTo>
                </a:path>
                <a:path w="1551939" h="1289684">
                  <a:moveTo>
                    <a:pt x="1551417" y="840987"/>
                  </a:moveTo>
                  <a:lnTo>
                    <a:pt x="1551417" y="1289642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83175" y="5988947"/>
              <a:ext cx="1551940" cy="893444"/>
            </a:xfrm>
            <a:custGeom>
              <a:avLst/>
              <a:gdLst/>
              <a:ahLst/>
              <a:cxnLst/>
              <a:rect l="l" t="t" r="r" b="b"/>
              <a:pathLst>
                <a:path w="1551939" h="893445">
                  <a:moveTo>
                    <a:pt x="0" y="0"/>
                  </a:moveTo>
                  <a:lnTo>
                    <a:pt x="0" y="892885"/>
                  </a:lnTo>
                </a:path>
                <a:path w="1551939" h="893445">
                  <a:moveTo>
                    <a:pt x="1551417" y="880407"/>
                  </a:moveTo>
                  <a:lnTo>
                    <a:pt x="1551417" y="892885"/>
                  </a:lnTo>
                </a:path>
                <a:path w="1551939" h="893445">
                  <a:moveTo>
                    <a:pt x="1551417" y="444230"/>
                  </a:moveTo>
                  <a:lnTo>
                    <a:pt x="1551417" y="583688"/>
                  </a:lnTo>
                </a:path>
              </a:pathLst>
            </a:custGeom>
            <a:ln w="884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17454" y="6433178"/>
              <a:ext cx="0" cy="448945"/>
            </a:xfrm>
            <a:custGeom>
              <a:avLst/>
              <a:gdLst/>
              <a:ahLst/>
              <a:cxnLst/>
              <a:rect l="l" t="t" r="r" b="b"/>
              <a:pathLst>
                <a:path h="448945">
                  <a:moveTo>
                    <a:pt x="0" y="436176"/>
                  </a:moveTo>
                  <a:lnTo>
                    <a:pt x="0" y="448654"/>
                  </a:lnTo>
                </a:path>
                <a:path h="448945">
                  <a:moveTo>
                    <a:pt x="0" y="0"/>
                  </a:moveTo>
                  <a:lnTo>
                    <a:pt x="0" y="139457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69719" y="3477007"/>
              <a:ext cx="1905" cy="3401695"/>
            </a:xfrm>
            <a:custGeom>
              <a:avLst/>
              <a:gdLst/>
              <a:ahLst/>
              <a:cxnLst/>
              <a:rect l="l" t="t" r="r" b="b"/>
              <a:pathLst>
                <a:path w="1904" h="3401695">
                  <a:moveTo>
                    <a:pt x="0" y="3401249"/>
                  </a:moveTo>
                  <a:lnTo>
                    <a:pt x="1695" y="0"/>
                  </a:lnTo>
                </a:path>
              </a:pathLst>
            </a:custGeom>
            <a:ln w="715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53428" y="3473430"/>
              <a:ext cx="0" cy="3408679"/>
            </a:xfrm>
            <a:custGeom>
              <a:avLst/>
              <a:gdLst/>
              <a:ahLst/>
              <a:cxnLst/>
              <a:rect l="l" t="t" r="r" b="b"/>
              <a:pathLst>
                <a:path h="3408679">
                  <a:moveTo>
                    <a:pt x="0" y="3395924"/>
                  </a:moveTo>
                  <a:lnTo>
                    <a:pt x="0" y="3408402"/>
                  </a:lnTo>
                </a:path>
                <a:path h="3408679">
                  <a:moveTo>
                    <a:pt x="0" y="0"/>
                  </a:moveTo>
                  <a:lnTo>
                    <a:pt x="0" y="3099205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66036" y="5592190"/>
              <a:ext cx="0" cy="1289685"/>
            </a:xfrm>
            <a:custGeom>
              <a:avLst/>
              <a:gdLst/>
              <a:ahLst/>
              <a:cxnLst/>
              <a:rect l="l" t="t" r="r" b="b"/>
              <a:pathLst>
                <a:path h="1289684">
                  <a:moveTo>
                    <a:pt x="0" y="0"/>
                  </a:moveTo>
                  <a:lnTo>
                    <a:pt x="0" y="1289642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4266036" y="5152622"/>
            <a:ext cx="0" cy="144780"/>
          </a:xfrm>
          <a:custGeom>
            <a:avLst/>
            <a:gdLst/>
            <a:ahLst/>
            <a:cxnLst/>
            <a:rect l="l" t="t" r="r" b="b"/>
            <a:pathLst>
              <a:path h="144779">
                <a:moveTo>
                  <a:pt x="0" y="0"/>
                </a:moveTo>
                <a:lnTo>
                  <a:pt x="0" y="144545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66036" y="4696947"/>
            <a:ext cx="0" cy="159385"/>
          </a:xfrm>
          <a:custGeom>
            <a:avLst/>
            <a:gdLst/>
            <a:ahLst/>
            <a:cxnLst/>
            <a:rect l="l" t="t" r="r" b="b"/>
            <a:pathLst>
              <a:path h="159385">
                <a:moveTo>
                  <a:pt x="0" y="0"/>
                </a:moveTo>
                <a:lnTo>
                  <a:pt x="0" y="158955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66036" y="3473430"/>
            <a:ext cx="0" cy="929005"/>
          </a:xfrm>
          <a:custGeom>
            <a:avLst/>
            <a:gdLst/>
            <a:ahLst/>
            <a:cxnLst/>
            <a:rect l="l" t="t" r="r" b="b"/>
            <a:pathLst>
              <a:path h="929004">
                <a:moveTo>
                  <a:pt x="0" y="0"/>
                </a:moveTo>
                <a:lnTo>
                  <a:pt x="0" y="928493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641172" y="6912395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0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58947" y="6912395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76086" y="6912395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2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93226" y="6912395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3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12061" y="6912395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4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229200" y="6912395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5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46338" y="6912395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6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265385" y="6912395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7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780618" y="6912395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8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297757" y="6912395"/>
            <a:ext cx="6165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0209" algn="l"/>
              </a:tabLst>
            </a:pPr>
            <a:r>
              <a:rPr sz="12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9</a:t>
            </a:r>
            <a:r>
              <a:rPr sz="12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2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10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58092" y="6912819"/>
            <a:ext cx="2190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66036" y="5693922"/>
            <a:ext cx="2068830" cy="29527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6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783175" y="6138154"/>
            <a:ext cx="2070735" cy="29527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7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812791" y="6572636"/>
            <a:ext cx="1553210" cy="297180"/>
          </a:xfrm>
          <a:custGeom>
            <a:avLst/>
            <a:gdLst/>
            <a:ahLst/>
            <a:cxnLst/>
            <a:rect l="l" t="t" r="r" b="b"/>
            <a:pathLst>
              <a:path w="1553209" h="297179">
                <a:moveTo>
                  <a:pt x="0" y="0"/>
                </a:moveTo>
                <a:lnTo>
                  <a:pt x="1553113" y="0"/>
                </a:lnTo>
                <a:lnTo>
                  <a:pt x="1553113" y="296718"/>
                </a:lnTo>
                <a:lnTo>
                  <a:pt x="0" y="296718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5817454" y="6588548"/>
            <a:ext cx="154876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Lucida Sans Unicode"/>
                <a:cs typeface="Lucida Sans Unicode"/>
              </a:rPr>
              <a:t>8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748897" y="4855903"/>
            <a:ext cx="1551940" cy="29718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4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78645" y="4401923"/>
            <a:ext cx="3105150" cy="29527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3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198116" y="3477854"/>
            <a:ext cx="1553210" cy="295275"/>
          </a:xfrm>
          <a:custGeom>
            <a:avLst/>
            <a:gdLst/>
            <a:ahLst/>
            <a:cxnLst/>
            <a:rect l="l" t="t" r="r" b="b"/>
            <a:pathLst>
              <a:path w="1553210" h="295275">
                <a:moveTo>
                  <a:pt x="0" y="0"/>
                </a:moveTo>
                <a:lnTo>
                  <a:pt x="1553112" y="0"/>
                </a:lnTo>
                <a:lnTo>
                  <a:pt x="1553112" y="295024"/>
                </a:lnTo>
                <a:lnTo>
                  <a:pt x="0" y="295024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2200208" y="3493766"/>
            <a:ext cx="154432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Lucida Sans Unicode"/>
                <a:cs typeface="Lucida Sans Unicode"/>
              </a:rPr>
              <a:t>1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231757" y="3968925"/>
            <a:ext cx="1034415" cy="29718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2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231757" y="5297167"/>
            <a:ext cx="2585720" cy="29527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350" spc="-50" dirty="0">
                <a:latin typeface="Lucida Sans Unicode"/>
                <a:cs typeface="Lucida Sans Unicode"/>
              </a:rPr>
              <a:t>5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669142" y="6841190"/>
            <a:ext cx="6291580" cy="92075"/>
            <a:chOff x="1669142" y="6841190"/>
            <a:chExt cx="6291580" cy="92075"/>
          </a:xfrm>
        </p:grpSpPr>
        <p:sp>
          <p:nvSpPr>
            <p:cNvPr id="60" name="object 60"/>
            <p:cNvSpPr/>
            <p:nvPr/>
          </p:nvSpPr>
          <p:spPr>
            <a:xfrm>
              <a:off x="1728239" y="6886962"/>
              <a:ext cx="6223000" cy="1905"/>
            </a:xfrm>
            <a:custGeom>
              <a:avLst/>
              <a:gdLst/>
              <a:ahLst/>
              <a:cxnLst/>
              <a:rect l="l" t="t" r="r" b="b"/>
              <a:pathLst>
                <a:path w="6223000" h="1904">
                  <a:moveTo>
                    <a:pt x="0" y="0"/>
                  </a:moveTo>
                  <a:lnTo>
                    <a:pt x="9537" y="1"/>
                  </a:lnTo>
                  <a:lnTo>
                    <a:pt x="6222837" y="168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669142" y="6841190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35" y="0"/>
                  </a:moveTo>
                  <a:lnTo>
                    <a:pt x="0" y="45773"/>
                  </a:lnTo>
                  <a:lnTo>
                    <a:pt x="91511" y="91558"/>
                  </a:lnTo>
                  <a:lnTo>
                    <a:pt x="68633" y="45773"/>
                  </a:lnTo>
                  <a:lnTo>
                    <a:pt x="915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2567" y="475073"/>
            <a:ext cx="8138159" cy="2521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3036570" algn="l"/>
              </a:tabLst>
            </a:pPr>
            <a:r>
              <a:rPr sz="2100" dirty="0">
                <a:latin typeface="Arial MT"/>
                <a:cs typeface="Arial MT"/>
              </a:rPr>
              <a:t>Dynamic</a:t>
            </a:r>
            <a:r>
              <a:rPr sz="2100" spc="1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programming:</a:t>
            </a:r>
            <a:r>
              <a:rPr sz="2100" dirty="0">
                <a:latin typeface="Arial MT"/>
                <a:cs typeface="Arial MT"/>
              </a:rPr>
              <a:t>	</a:t>
            </a:r>
            <a:r>
              <a:rPr sz="2100" spc="80" dirty="0">
                <a:latin typeface="Arial MT"/>
                <a:cs typeface="Arial MT"/>
              </a:rPr>
              <a:t>binary</a:t>
            </a:r>
            <a:r>
              <a:rPr sz="2100" spc="6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choice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100">
              <a:latin typeface="Arial MT"/>
              <a:cs typeface="Arial MT"/>
            </a:endParaRPr>
          </a:p>
          <a:p>
            <a:pPr marL="25400" marR="17780">
              <a:lnSpc>
                <a:spcPct val="132100"/>
              </a:lnSpc>
              <a:tabLst>
                <a:tab pos="119824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Notation.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value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 optimal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solution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problem consisting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of </a:t>
            </a:r>
            <a:r>
              <a:rPr sz="1800" dirty="0">
                <a:latin typeface="Lucida Sans Unicode"/>
                <a:cs typeface="Lucida Sans Unicode"/>
              </a:rPr>
              <a:t>job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requests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...,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25400">
              <a:lnSpc>
                <a:spcPts val="1980"/>
              </a:lnSpc>
              <a:tabLst>
                <a:tab pos="98806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Case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selects job </a:t>
            </a:r>
            <a:r>
              <a:rPr sz="1800" i="1" spc="-25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20650">
              <a:lnSpc>
                <a:spcPts val="3240"/>
              </a:lnSpc>
            </a:pPr>
            <a:r>
              <a:rPr sz="4275" spc="2175" baseline="-7797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Collect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profit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v</a:t>
            </a:r>
            <a:r>
              <a:rPr sz="1800" i="1" spc="-37" baseline="-6944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241" y="2893759"/>
            <a:ext cx="6357620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Can't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use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incompatible jobs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spc="-5" dirty="0">
                <a:latin typeface="Times New Roman"/>
                <a:cs typeface="Times New Roman"/>
              </a:rPr>
              <a:t>) + </a:t>
            </a:r>
            <a:r>
              <a:rPr sz="1800" dirty="0">
                <a:latin typeface="Times New Roman"/>
                <a:cs typeface="Times New Roman"/>
              </a:rPr>
              <a:t>1,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spc="-5" dirty="0">
                <a:latin typeface="Times New Roman"/>
                <a:cs typeface="Times New Roman"/>
              </a:rPr>
              <a:t>) + </a:t>
            </a:r>
            <a:r>
              <a:rPr sz="1800" dirty="0">
                <a:latin typeface="Times New Roman"/>
                <a:cs typeface="Times New Roman"/>
              </a:rPr>
              <a:t>2,</a:t>
            </a:r>
            <a:r>
              <a:rPr sz="1800" spc="70" dirty="0">
                <a:latin typeface="Times New Roman"/>
                <a:cs typeface="Times New Roman"/>
              </a:rPr>
              <a:t> ...,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 1</a:t>
            </a:r>
            <a:r>
              <a:rPr sz="1800" spc="-15" dirty="0">
                <a:latin typeface="Times New Roman"/>
                <a:cs typeface="Times New Roman"/>
              </a:rPr>
              <a:t> }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5267" y="4480782"/>
            <a:ext cx="3812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536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Case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2.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does not select job </a:t>
            </a:r>
            <a:r>
              <a:rPr sz="1800" i="1" spc="-25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241" y="4609423"/>
            <a:ext cx="7740015" cy="89661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81000" marR="30480" indent="-343535">
              <a:lnSpc>
                <a:spcPct val="114100"/>
              </a:lnSpc>
              <a:spcBef>
                <a:spcPts val="409"/>
              </a:spcBef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Must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include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optimal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solution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problem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consisting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remaining </a:t>
            </a:r>
            <a:r>
              <a:rPr sz="1800" dirty="0">
                <a:latin typeface="Lucida Sans Unicode"/>
                <a:cs typeface="Lucida Sans Unicode"/>
              </a:rPr>
              <a:t>compatible jobs </a:t>
            </a:r>
            <a:r>
              <a:rPr sz="1800" dirty="0">
                <a:latin typeface="Times New Roman"/>
                <a:cs typeface="Times New Roman"/>
              </a:rPr>
              <a:t>1, 2,</a:t>
            </a:r>
            <a:r>
              <a:rPr sz="1800" spc="75" dirty="0">
                <a:latin typeface="Times New Roman"/>
                <a:cs typeface="Times New Roman"/>
              </a:rPr>
              <a:t> ..., </a:t>
            </a:r>
            <a:r>
              <a:rPr sz="1800" i="1" dirty="0">
                <a:latin typeface="Times New Roman"/>
                <a:cs typeface="Times New Roman"/>
              </a:rPr>
              <a:t>j </a:t>
            </a:r>
            <a:r>
              <a:rPr sz="1800" dirty="0">
                <a:latin typeface="Times New Roman"/>
                <a:cs typeface="Times New Roman"/>
              </a:rPr>
              <a:t>– 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3279" y="6475072"/>
            <a:ext cx="972819" cy="75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95"/>
              </a:spcBef>
            </a:pPr>
            <a:r>
              <a:rPr sz="1900" dirty="0">
                <a:latin typeface="Times New Roman"/>
                <a:cs typeface="Times New Roman"/>
              </a:rPr>
              <a:t>if</a:t>
            </a:r>
            <a:r>
              <a:rPr sz="1900" spc="48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j</a:t>
            </a:r>
            <a:r>
              <a:rPr sz="1900" spc="-20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0 </a:t>
            </a:r>
            <a:r>
              <a:rPr sz="1900" spc="-10" dirty="0">
                <a:latin typeface="Times New Roman"/>
                <a:cs typeface="Times New Roman"/>
              </a:rPr>
              <a:t>otherwise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6400" y="6532497"/>
            <a:ext cx="4839335" cy="708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2669">
              <a:lnSpc>
                <a:spcPts val="2005"/>
              </a:lnSpc>
              <a:spcBef>
                <a:spcPts val="100"/>
              </a:spcBef>
              <a:tabLst>
                <a:tab pos="1298575" algn="l"/>
              </a:tabLst>
            </a:pPr>
            <a:r>
              <a:rPr sz="1900" spc="-50" dirty="0">
                <a:latin typeface="Symbol"/>
                <a:cs typeface="Symbol"/>
              </a:rPr>
              <a:t>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850" spc="-75" baseline="-2923" dirty="0">
                <a:latin typeface="Times New Roman"/>
                <a:cs typeface="Times New Roman"/>
              </a:rPr>
              <a:t>0</a:t>
            </a:r>
            <a:endParaRPr sz="2850" baseline="-2923">
              <a:latin typeface="Times New Roman"/>
              <a:cs typeface="Times New Roman"/>
            </a:endParaRPr>
          </a:p>
          <a:p>
            <a:pPr marL="38100">
              <a:lnSpc>
                <a:spcPts val="1210"/>
              </a:lnSpc>
            </a:pPr>
            <a:r>
              <a:rPr sz="2850" i="1" baseline="2923" dirty="0">
                <a:latin typeface="Times New Roman"/>
                <a:cs typeface="Times New Roman"/>
              </a:rPr>
              <a:t>OPT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2850" spc="75" baseline="2923" dirty="0">
                <a:latin typeface="Times New Roman"/>
                <a:cs typeface="Times New Roman"/>
              </a:rPr>
              <a:t> </a:t>
            </a:r>
            <a:r>
              <a:rPr sz="2850" i="1" spc="82" baseline="2923" dirty="0">
                <a:latin typeface="Times New Roman"/>
                <a:cs typeface="Times New Roman"/>
              </a:rPr>
              <a:t>j</a:t>
            </a:r>
            <a:r>
              <a:rPr sz="2850" spc="82" baseline="2923" dirty="0">
                <a:latin typeface="Times New Roman"/>
                <a:cs typeface="Times New Roman"/>
              </a:rPr>
              <a:t>)</a:t>
            </a:r>
            <a:r>
              <a:rPr sz="2850" spc="-172" baseline="2923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Symbol"/>
                <a:cs typeface="Symbol"/>
              </a:rPr>
              <a:t></a:t>
            </a:r>
            <a:r>
              <a:rPr sz="2850" spc="-52" baseline="2923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</a:t>
            </a:r>
            <a:endParaRPr sz="1900">
              <a:latin typeface="Symbol"/>
              <a:cs typeface="Symbol"/>
            </a:endParaRPr>
          </a:p>
          <a:p>
            <a:pPr marL="1042669">
              <a:lnSpc>
                <a:spcPts val="2145"/>
              </a:lnSpc>
              <a:tabLst>
                <a:tab pos="3579495" algn="l"/>
              </a:tabLst>
            </a:pPr>
            <a:r>
              <a:rPr sz="2850" baseline="-14619" dirty="0">
                <a:latin typeface="Symbol"/>
                <a:cs typeface="Symbol"/>
              </a:rPr>
              <a:t></a:t>
            </a:r>
            <a:r>
              <a:rPr sz="1900" dirty="0">
                <a:latin typeface="Times New Roman"/>
                <a:cs typeface="Times New Roman"/>
              </a:rPr>
              <a:t>max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3675" spc="-457" baseline="-4535" dirty="0">
                <a:latin typeface="Symbol"/>
                <a:cs typeface="Symbol"/>
              </a:rPr>
              <a:t></a:t>
            </a:r>
            <a:r>
              <a:rPr sz="3675" spc="142" baseline="-453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i="1" spc="-200" dirty="0">
                <a:latin typeface="Times New Roman"/>
                <a:cs typeface="Times New Roman"/>
              </a:rPr>
              <a:t> </a:t>
            </a:r>
            <a:r>
              <a:rPr sz="1875" i="1" baseline="-22222" dirty="0">
                <a:latin typeface="Times New Roman"/>
                <a:cs typeface="Times New Roman"/>
              </a:rPr>
              <a:t>j</a:t>
            </a:r>
            <a:r>
              <a:rPr sz="1875" i="1" spc="315" baseline="-2222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OPT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j</a:t>
            </a:r>
            <a:r>
              <a:rPr sz="1900" spc="-20" dirty="0">
                <a:latin typeface="Times New Roman"/>
                <a:cs typeface="Times New Roman"/>
              </a:rPr>
              <a:t>)),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OPT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j</a:t>
            </a:r>
            <a:r>
              <a:rPr sz="1900" i="1" spc="-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dirty="0">
                <a:latin typeface="Times New Roman"/>
                <a:cs typeface="Times New Roman"/>
              </a:rPr>
              <a:t>1)</a:t>
            </a:r>
            <a:r>
              <a:rPr sz="1900" spc="-240" dirty="0">
                <a:latin typeface="Times New Roman"/>
                <a:cs typeface="Times New Roman"/>
              </a:rPr>
              <a:t> </a:t>
            </a:r>
            <a:r>
              <a:rPr sz="3675" spc="-532" baseline="-4535" dirty="0">
                <a:latin typeface="Symbol"/>
                <a:cs typeface="Symbol"/>
              </a:rPr>
              <a:t></a:t>
            </a:r>
            <a:endParaRPr sz="3675" baseline="-4535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5241" y="3159738"/>
            <a:ext cx="7877809" cy="13347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81000" marR="168275" indent="-343535">
              <a:lnSpc>
                <a:spcPct val="114100"/>
              </a:lnSpc>
              <a:spcBef>
                <a:spcPts val="409"/>
              </a:spcBef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Must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include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optimal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solution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problem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consisting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remaining </a:t>
            </a:r>
            <a:r>
              <a:rPr sz="1800" dirty="0">
                <a:latin typeface="Lucida Sans Unicode"/>
                <a:cs typeface="Lucida Sans Unicode"/>
              </a:rPr>
              <a:t>compatible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jobs </a:t>
            </a:r>
            <a:r>
              <a:rPr sz="1800" dirty="0">
                <a:latin typeface="Times New Roman"/>
                <a:cs typeface="Times New Roman"/>
              </a:rPr>
              <a:t>1, 2,</a:t>
            </a:r>
            <a:r>
              <a:rPr sz="1800" spc="75" dirty="0">
                <a:latin typeface="Times New Roman"/>
                <a:cs typeface="Times New Roman"/>
              </a:rPr>
              <a:t> ..., </a:t>
            </a:r>
            <a:r>
              <a:rPr sz="1800" i="1" spc="-10" dirty="0">
                <a:latin typeface="Times New Roman"/>
                <a:cs typeface="Times New Roman"/>
              </a:rPr>
              <a:t>p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j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5557520" marR="30480" indent="25400" algn="r">
              <a:lnSpc>
                <a:spcPct val="114700"/>
              </a:lnSpc>
              <a:spcBef>
                <a:spcPts val="145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optimal</a:t>
            </a:r>
            <a:r>
              <a:rPr sz="12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substructure</a:t>
            </a:r>
            <a:r>
              <a:rPr sz="12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property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(proof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via</a:t>
            </a:r>
            <a:r>
              <a:rPr sz="12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exchange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argument)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82769" y="4348017"/>
            <a:ext cx="315595" cy="291465"/>
            <a:chOff x="5982769" y="4348017"/>
            <a:chExt cx="315595" cy="291465"/>
          </a:xfrm>
        </p:grpSpPr>
        <p:sp>
          <p:nvSpPr>
            <p:cNvPr id="10" name="object 10"/>
            <p:cNvSpPr/>
            <p:nvPr/>
          </p:nvSpPr>
          <p:spPr>
            <a:xfrm>
              <a:off x="6026271" y="4357554"/>
              <a:ext cx="262890" cy="241935"/>
            </a:xfrm>
            <a:custGeom>
              <a:avLst/>
              <a:gdLst/>
              <a:ahLst/>
              <a:cxnLst/>
              <a:rect l="l" t="t" r="r" b="b"/>
              <a:pathLst>
                <a:path w="262889" h="241935">
                  <a:moveTo>
                    <a:pt x="0" y="241480"/>
                  </a:moveTo>
                  <a:lnTo>
                    <a:pt x="7015" y="235020"/>
                  </a:lnTo>
                  <a:lnTo>
                    <a:pt x="262277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82769" y="4543391"/>
              <a:ext cx="98425" cy="95885"/>
            </a:xfrm>
            <a:custGeom>
              <a:avLst/>
              <a:gdLst/>
              <a:ahLst/>
              <a:cxnLst/>
              <a:rect l="l" t="t" r="r" b="b"/>
              <a:pathLst>
                <a:path w="98425" h="95885">
                  <a:moveTo>
                    <a:pt x="36349" y="0"/>
                  </a:moveTo>
                  <a:lnTo>
                    <a:pt x="0" y="95694"/>
                  </a:lnTo>
                  <a:lnTo>
                    <a:pt x="98365" y="67358"/>
                  </a:lnTo>
                  <a:lnTo>
                    <a:pt x="50518" y="49183"/>
                  </a:lnTo>
                  <a:lnTo>
                    <a:pt x="3634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974927" y="3968925"/>
            <a:ext cx="315595" cy="291465"/>
            <a:chOff x="5974927" y="3968925"/>
            <a:chExt cx="315595" cy="291465"/>
          </a:xfrm>
        </p:grpSpPr>
        <p:sp>
          <p:nvSpPr>
            <p:cNvPr id="13" name="object 13"/>
            <p:cNvSpPr/>
            <p:nvPr/>
          </p:nvSpPr>
          <p:spPr>
            <a:xfrm>
              <a:off x="6018429" y="4008977"/>
              <a:ext cx="262890" cy="241935"/>
            </a:xfrm>
            <a:custGeom>
              <a:avLst/>
              <a:gdLst/>
              <a:ahLst/>
              <a:cxnLst/>
              <a:rect l="l" t="t" r="r" b="b"/>
              <a:pathLst>
                <a:path w="262889" h="241935">
                  <a:moveTo>
                    <a:pt x="0" y="0"/>
                  </a:moveTo>
                  <a:lnTo>
                    <a:pt x="7015" y="6460"/>
                  </a:lnTo>
                  <a:lnTo>
                    <a:pt x="262278" y="24148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74927" y="3968925"/>
              <a:ext cx="98425" cy="95885"/>
            </a:xfrm>
            <a:custGeom>
              <a:avLst/>
              <a:gdLst/>
              <a:ahLst/>
              <a:cxnLst/>
              <a:rect l="l" t="t" r="r" b="b"/>
              <a:pathLst>
                <a:path w="98425" h="95885">
                  <a:moveTo>
                    <a:pt x="0" y="0"/>
                  </a:moveTo>
                  <a:lnTo>
                    <a:pt x="36348" y="95695"/>
                  </a:lnTo>
                  <a:lnTo>
                    <a:pt x="50518" y="46512"/>
                  </a:lnTo>
                  <a:lnTo>
                    <a:pt x="98365" y="28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80790" algn="l"/>
              </a:tabLst>
            </a:pPr>
            <a:r>
              <a:rPr dirty="0"/>
              <a:t>Weighted</a:t>
            </a:r>
            <a:r>
              <a:rPr spc="390" dirty="0"/>
              <a:t> </a:t>
            </a:r>
            <a:r>
              <a:rPr dirty="0"/>
              <a:t>interval</a:t>
            </a:r>
            <a:r>
              <a:rPr spc="390" dirty="0"/>
              <a:t> </a:t>
            </a:r>
            <a:r>
              <a:rPr spc="-10" dirty="0"/>
              <a:t>scheduling:</a:t>
            </a:r>
            <a:r>
              <a:rPr dirty="0"/>
              <a:t>	brute</a:t>
            </a:r>
            <a:r>
              <a:rPr spc="245" dirty="0"/>
              <a:t> </a:t>
            </a:r>
            <a:r>
              <a:rPr spc="-10" dirty="0"/>
              <a:t>force</a:t>
            </a:r>
          </a:p>
        </p:txBody>
      </p:sp>
      <p:sp>
        <p:nvSpPr>
          <p:cNvPr id="4" name="object 4"/>
          <p:cNvSpPr/>
          <p:nvPr/>
        </p:nvSpPr>
        <p:spPr>
          <a:xfrm>
            <a:off x="1168075" y="2004220"/>
            <a:ext cx="7792084" cy="3376295"/>
          </a:xfrm>
          <a:custGeom>
            <a:avLst/>
            <a:gdLst/>
            <a:ahLst/>
            <a:cxnLst/>
            <a:rect l="l" t="t" r="r" b="b"/>
            <a:pathLst>
              <a:path w="7792084" h="3376295">
                <a:moveTo>
                  <a:pt x="0" y="0"/>
                </a:moveTo>
                <a:lnTo>
                  <a:pt x="7792057" y="0"/>
                </a:lnTo>
                <a:lnTo>
                  <a:pt x="7792057" y="3376240"/>
                </a:lnTo>
                <a:lnTo>
                  <a:pt x="0" y="33762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68075" y="2004220"/>
            <a:ext cx="7792084" cy="337629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5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  <a:spcBef>
                <a:spcPts val="5"/>
              </a:spcBef>
              <a:tabLst>
                <a:tab pos="1137920" algn="l"/>
              </a:tabLst>
            </a:pPr>
            <a:r>
              <a:rPr sz="1500" spc="-10" dirty="0">
                <a:solidFill>
                  <a:srgbClr val="003F83"/>
                </a:solidFill>
                <a:latin typeface="Lucida Console"/>
                <a:cs typeface="Lucida Console"/>
              </a:rPr>
              <a:t>Input: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	</a:t>
            </a:r>
            <a:r>
              <a:rPr sz="1500" dirty="0">
                <a:latin typeface="Lucida Console"/>
                <a:cs typeface="Lucida Console"/>
              </a:rPr>
              <a:t>n, s[1..n], f[1..n], </a:t>
            </a:r>
            <a:r>
              <a:rPr sz="1500" spc="-10" dirty="0">
                <a:latin typeface="Lucida Console"/>
                <a:cs typeface="Lucida Console"/>
              </a:rPr>
              <a:t>v[1..n]</a:t>
            </a:r>
            <a:endParaRPr sz="1500">
              <a:latin typeface="Lucida Console"/>
              <a:cs typeface="Lucida Console"/>
            </a:endParaRPr>
          </a:p>
          <a:p>
            <a:pPr marL="219075" marR="1023619">
              <a:lnSpc>
                <a:spcPct val="146000"/>
              </a:lnSpc>
            </a:pP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Sort </a:t>
            </a:r>
            <a:r>
              <a:rPr sz="1500" dirty="0">
                <a:latin typeface="Lucida Console"/>
                <a:cs typeface="Lucida Console"/>
              </a:rPr>
              <a:t>jobs by finish time so that f[1] </a:t>
            </a:r>
            <a:r>
              <a:rPr sz="1500" dirty="0">
                <a:latin typeface="Lucida Sans Unicode"/>
                <a:cs typeface="Lucida Sans Unicode"/>
              </a:rPr>
              <a:t>≤</a:t>
            </a:r>
            <a:r>
              <a:rPr sz="1500" spc="43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Console"/>
                <a:cs typeface="Lucida Console"/>
              </a:rPr>
              <a:t>f[2] </a:t>
            </a:r>
            <a:r>
              <a:rPr sz="1500" dirty="0">
                <a:latin typeface="Lucida Sans Unicode"/>
                <a:cs typeface="Lucida Sans Unicode"/>
              </a:rPr>
              <a:t>≤</a:t>
            </a:r>
            <a:r>
              <a:rPr sz="1500" spc="43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Console"/>
                <a:cs typeface="Lucida Console"/>
              </a:rPr>
              <a:t>… </a:t>
            </a:r>
            <a:r>
              <a:rPr sz="1500" dirty="0">
                <a:latin typeface="Lucida Sans Unicode"/>
                <a:cs typeface="Lucida Sans Unicode"/>
              </a:rPr>
              <a:t>≤</a:t>
            </a:r>
            <a:r>
              <a:rPr sz="1500" spc="43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Console"/>
                <a:cs typeface="Lucida Console"/>
              </a:rPr>
              <a:t>f[n]. 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Compute </a:t>
            </a:r>
            <a:r>
              <a:rPr sz="1500" dirty="0">
                <a:latin typeface="Lucida Console"/>
                <a:cs typeface="Lucida Console"/>
              </a:rPr>
              <a:t>p[1], p[2], …, </a:t>
            </a:r>
            <a:r>
              <a:rPr sz="1500" spc="-10" dirty="0">
                <a:latin typeface="Lucida Console"/>
                <a:cs typeface="Lucida Console"/>
              </a:rPr>
              <a:t>p[n].</a:t>
            </a:r>
            <a:endParaRPr sz="15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1500">
              <a:latin typeface="Lucida Console"/>
              <a:cs typeface="Lucida Console"/>
            </a:endParaRPr>
          </a:p>
          <a:p>
            <a:pPr marL="219075" marR="5956935">
              <a:lnSpc>
                <a:spcPct val="146000"/>
              </a:lnSpc>
            </a:pP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Compute-</a:t>
            </a:r>
            <a:r>
              <a:rPr sz="1500" spc="-10" dirty="0">
                <a:solidFill>
                  <a:srgbClr val="003F83"/>
                </a:solidFill>
                <a:latin typeface="Lucida Console"/>
                <a:cs typeface="Lucida Console"/>
              </a:rPr>
              <a:t>Opt</a:t>
            </a:r>
            <a:r>
              <a:rPr sz="1500" spc="-10" dirty="0">
                <a:latin typeface="Lucida Console"/>
                <a:cs typeface="Lucida Console"/>
              </a:rPr>
              <a:t>(j) 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if </a:t>
            </a:r>
            <a:r>
              <a:rPr sz="1500" dirty="0">
                <a:latin typeface="Lucida Console"/>
                <a:cs typeface="Lucida Console"/>
              </a:rPr>
              <a:t>j = </a:t>
            </a:r>
            <a:r>
              <a:rPr sz="1500" spc="-50" dirty="0">
                <a:latin typeface="Lucida Console"/>
                <a:cs typeface="Lucida Console"/>
              </a:rPr>
              <a:t>0</a:t>
            </a:r>
            <a:endParaRPr sz="1500">
              <a:latin typeface="Lucida Console"/>
              <a:cs typeface="Lucida Console"/>
            </a:endParaRPr>
          </a:p>
          <a:p>
            <a:pPr marL="219075" marR="6186805" indent="344170">
              <a:lnSpc>
                <a:spcPct val="146000"/>
              </a:lnSpc>
              <a:spcBef>
                <a:spcPts val="5"/>
              </a:spcBef>
            </a:pP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return </a:t>
            </a:r>
            <a:r>
              <a:rPr sz="1500" spc="-25" dirty="0">
                <a:latin typeface="Lucida Console"/>
                <a:cs typeface="Lucida Console"/>
              </a:rPr>
              <a:t>0. </a:t>
            </a:r>
            <a:r>
              <a:rPr sz="1500" spc="-20" dirty="0">
                <a:solidFill>
                  <a:srgbClr val="003F83"/>
                </a:solidFill>
                <a:latin typeface="Lucida Console"/>
                <a:cs typeface="Lucida Console"/>
              </a:rPr>
              <a:t>else</a:t>
            </a:r>
            <a:endParaRPr sz="1500">
              <a:latin typeface="Lucida Console"/>
              <a:cs typeface="Lucida Console"/>
            </a:endParaRPr>
          </a:p>
          <a:p>
            <a:pPr marL="563245">
              <a:lnSpc>
                <a:spcPct val="100000"/>
              </a:lnSpc>
              <a:spcBef>
                <a:spcPts val="825"/>
              </a:spcBef>
            </a:pP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return </a:t>
            </a:r>
            <a:r>
              <a:rPr sz="1500" dirty="0">
                <a:latin typeface="Lucida Console"/>
                <a:cs typeface="Lucida Console"/>
              </a:rPr>
              <a:t>max(v[j] + 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Compute-Opt</a:t>
            </a:r>
            <a:r>
              <a:rPr sz="1500" dirty="0">
                <a:latin typeface="Lucida Console"/>
                <a:cs typeface="Lucida Console"/>
              </a:rPr>
              <a:t>(p[j], 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Compute-</a:t>
            </a:r>
            <a:r>
              <a:rPr sz="1500" spc="-10" dirty="0">
                <a:solidFill>
                  <a:srgbClr val="003F83"/>
                </a:solidFill>
                <a:latin typeface="Lucida Console"/>
                <a:cs typeface="Lucida Console"/>
              </a:rPr>
              <a:t>Opt</a:t>
            </a:r>
            <a:r>
              <a:rPr sz="1500" spc="-10" dirty="0">
                <a:latin typeface="Lucida Console"/>
                <a:cs typeface="Lucida Console"/>
              </a:rPr>
              <a:t>(j–1))).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8352" y="3883088"/>
            <a:ext cx="1649095" cy="0"/>
          </a:xfrm>
          <a:custGeom>
            <a:avLst/>
            <a:gdLst/>
            <a:ahLst/>
            <a:cxnLst/>
            <a:rect l="l" t="t" r="r" b="b"/>
            <a:pathLst>
              <a:path w="1649095">
                <a:moveTo>
                  <a:pt x="0" y="0"/>
                </a:moveTo>
                <a:lnTo>
                  <a:pt x="1648596" y="0"/>
                </a:lnTo>
              </a:path>
            </a:pathLst>
          </a:custGeom>
          <a:ln w="11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80790" algn="l"/>
              </a:tabLst>
            </a:pPr>
            <a:r>
              <a:rPr dirty="0"/>
              <a:t>Weighted</a:t>
            </a:r>
            <a:r>
              <a:rPr spc="390" dirty="0"/>
              <a:t> </a:t>
            </a:r>
            <a:r>
              <a:rPr dirty="0"/>
              <a:t>interval</a:t>
            </a:r>
            <a:r>
              <a:rPr spc="390" dirty="0"/>
              <a:t> </a:t>
            </a:r>
            <a:r>
              <a:rPr spc="-10" dirty="0"/>
              <a:t>scheduling:</a:t>
            </a:r>
            <a:r>
              <a:rPr dirty="0"/>
              <a:t>	brute</a:t>
            </a:r>
            <a:r>
              <a:rPr spc="245" dirty="0"/>
              <a:t> </a:t>
            </a:r>
            <a:r>
              <a:rPr spc="-10" dirty="0"/>
              <a:t>force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5267" y="1131247"/>
            <a:ext cx="8363584" cy="1837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1580515" algn="l"/>
                <a:tab pos="1602105" algn="l"/>
                <a:tab pos="197231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Recursive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fails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spectacularly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because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redundant subproblems</a:t>
            </a:r>
            <a:r>
              <a:rPr sz="1800" dirty="0">
                <a:latin typeface="Lucida Sans Unicode"/>
                <a:cs typeface="Lucida Sans Unicode"/>
              </a:rPr>
              <a:t>		</a:t>
            </a:r>
            <a:r>
              <a:rPr sz="1800" spc="-50" dirty="0">
                <a:latin typeface="Symbol"/>
                <a:cs typeface="Symbol"/>
              </a:rPr>
              <a:t>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exponential </a:t>
            </a:r>
            <a:r>
              <a:rPr sz="1800" spc="-10" dirty="0">
                <a:latin typeface="Lucida Sans Unicode"/>
                <a:cs typeface="Lucida Sans Unicode"/>
              </a:rPr>
              <a:t>algorithms.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" marR="189865">
              <a:lnSpc>
                <a:spcPct val="132100"/>
              </a:lnSpc>
              <a:tabLst>
                <a:tab pos="49339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Number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recursive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calls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family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"layered"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instances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grows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like </a:t>
            </a:r>
            <a:r>
              <a:rPr sz="1800" dirty="0">
                <a:latin typeface="Lucida Sans Unicode"/>
                <a:cs typeface="Lucida Sans Unicode"/>
              </a:rPr>
              <a:t>Fibonacci </a:t>
            </a:r>
            <a:r>
              <a:rPr sz="1800" spc="-10" dirty="0">
                <a:latin typeface="Lucida Sans Unicode"/>
                <a:cs typeface="Lucida Sans Unicode"/>
              </a:rPr>
              <a:t>sequence.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15743" y="4684229"/>
            <a:ext cx="4344035" cy="934719"/>
            <a:chOff x="1415743" y="4684229"/>
            <a:chExt cx="4344035" cy="934719"/>
          </a:xfrm>
        </p:grpSpPr>
        <p:sp>
          <p:nvSpPr>
            <p:cNvPr id="6" name="object 6"/>
            <p:cNvSpPr/>
            <p:nvPr/>
          </p:nvSpPr>
          <p:spPr>
            <a:xfrm>
              <a:off x="1425586" y="5571209"/>
              <a:ext cx="4251960" cy="1905"/>
            </a:xfrm>
            <a:custGeom>
              <a:avLst/>
              <a:gdLst/>
              <a:ahLst/>
              <a:cxnLst/>
              <a:rect l="l" t="t" r="r" b="b"/>
              <a:pathLst>
                <a:path w="4251960" h="1904">
                  <a:moveTo>
                    <a:pt x="0" y="0"/>
                  </a:moveTo>
                  <a:lnTo>
                    <a:pt x="4242236" y="1659"/>
                  </a:lnTo>
                  <a:lnTo>
                    <a:pt x="4251774" y="1663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67804" y="5527089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36" y="0"/>
                  </a:moveTo>
                  <a:lnTo>
                    <a:pt x="0" y="91559"/>
                  </a:lnTo>
                  <a:lnTo>
                    <a:pt x="91577" y="45815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03882" y="4684229"/>
              <a:ext cx="1116330" cy="219075"/>
            </a:xfrm>
            <a:custGeom>
              <a:avLst/>
              <a:gdLst/>
              <a:ahLst/>
              <a:cxnLst/>
              <a:rect l="l" t="t" r="r" b="b"/>
              <a:pathLst>
                <a:path w="1116329" h="219075">
                  <a:moveTo>
                    <a:pt x="0" y="0"/>
                  </a:moveTo>
                  <a:lnTo>
                    <a:pt x="1115876" y="0"/>
                  </a:lnTo>
                  <a:lnTo>
                    <a:pt x="1115876" y="218724"/>
                  </a:lnTo>
                  <a:lnTo>
                    <a:pt x="0" y="218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76792" y="4684229"/>
            <a:ext cx="360680" cy="21907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0" rIns="0" bIns="0" rtlCol="0">
            <a:spAutoFit/>
          </a:bodyPr>
          <a:lstStyle/>
          <a:p>
            <a:pPr marL="9525" algn="ctr">
              <a:lnSpc>
                <a:spcPct val="100000"/>
              </a:lnSpc>
            </a:pPr>
            <a:r>
              <a:rPr sz="1200" spc="-50" dirty="0">
                <a:latin typeface="Lucida Sans Unicode"/>
                <a:cs typeface="Lucida Sans Unicode"/>
              </a:rPr>
              <a:t>3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47800" y="5008501"/>
            <a:ext cx="1109345" cy="222250"/>
          </a:xfrm>
          <a:custGeom>
            <a:avLst/>
            <a:gdLst/>
            <a:ahLst/>
            <a:cxnLst/>
            <a:rect l="l" t="t" r="r" b="b"/>
            <a:pathLst>
              <a:path w="1109345" h="222250">
                <a:moveTo>
                  <a:pt x="0" y="0"/>
                </a:moveTo>
                <a:lnTo>
                  <a:pt x="1108881" y="0"/>
                </a:lnTo>
                <a:lnTo>
                  <a:pt x="1108881" y="222115"/>
                </a:lnTo>
                <a:lnTo>
                  <a:pt x="0" y="222115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14682" y="5008501"/>
            <a:ext cx="360680" cy="22225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0" rIns="0" bIns="0" rtlCol="0">
            <a:spAutoFit/>
          </a:bodyPr>
          <a:lstStyle/>
          <a:p>
            <a:pPr marL="12065" algn="ctr">
              <a:lnSpc>
                <a:spcPct val="100000"/>
              </a:lnSpc>
            </a:pPr>
            <a:r>
              <a:rPr sz="1200" spc="-50" dirty="0">
                <a:latin typeface="Lucida Sans Unicode"/>
                <a:cs typeface="Lucida Sans Unicode"/>
              </a:rPr>
              <a:t>4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95378" y="3889049"/>
            <a:ext cx="0" cy="165735"/>
          </a:xfrm>
          <a:custGeom>
            <a:avLst/>
            <a:gdLst/>
            <a:ahLst/>
            <a:cxnLst/>
            <a:rect l="l" t="t" r="r" b="b"/>
            <a:pathLst>
              <a:path h="165735">
                <a:moveTo>
                  <a:pt x="0" y="0"/>
                </a:moveTo>
                <a:lnTo>
                  <a:pt x="0" y="165712"/>
                </a:lnTo>
              </a:path>
            </a:pathLst>
          </a:custGeom>
          <a:ln w="884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422009" y="3889049"/>
            <a:ext cx="4069715" cy="1684655"/>
            <a:chOff x="1422009" y="3889049"/>
            <a:chExt cx="4069715" cy="1684655"/>
          </a:xfrm>
        </p:grpSpPr>
        <p:sp>
          <p:nvSpPr>
            <p:cNvPr id="14" name="object 14"/>
            <p:cNvSpPr/>
            <p:nvPr/>
          </p:nvSpPr>
          <p:spPr>
            <a:xfrm>
              <a:off x="1795378" y="4278572"/>
              <a:ext cx="0" cy="1294765"/>
            </a:xfrm>
            <a:custGeom>
              <a:avLst/>
              <a:gdLst/>
              <a:ahLst/>
              <a:cxnLst/>
              <a:rect l="l" t="t" r="r" b="b"/>
              <a:pathLst>
                <a:path h="1294764">
                  <a:moveTo>
                    <a:pt x="0" y="0"/>
                  </a:moveTo>
                  <a:lnTo>
                    <a:pt x="0" y="1294517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25586" y="3892626"/>
              <a:ext cx="1905" cy="1677035"/>
            </a:xfrm>
            <a:custGeom>
              <a:avLst/>
              <a:gdLst/>
              <a:ahLst/>
              <a:cxnLst/>
              <a:rect l="l" t="t" r="r" b="b"/>
              <a:pathLst>
                <a:path w="1905" h="1677035">
                  <a:moveTo>
                    <a:pt x="0" y="1676887"/>
                  </a:moveTo>
                  <a:lnTo>
                    <a:pt x="1695" y="0"/>
                  </a:lnTo>
                </a:path>
              </a:pathLst>
            </a:custGeom>
            <a:ln w="715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34477" y="4278572"/>
              <a:ext cx="0" cy="1294765"/>
            </a:xfrm>
            <a:custGeom>
              <a:avLst/>
              <a:gdLst/>
              <a:ahLst/>
              <a:cxnLst/>
              <a:rect l="l" t="t" r="r" b="b"/>
              <a:pathLst>
                <a:path h="1294764">
                  <a:moveTo>
                    <a:pt x="0" y="322576"/>
                  </a:moveTo>
                  <a:lnTo>
                    <a:pt x="0" y="1294517"/>
                  </a:lnTo>
                </a:path>
                <a:path h="1294764">
                  <a:moveTo>
                    <a:pt x="0" y="0"/>
                  </a:moveTo>
                  <a:lnTo>
                    <a:pt x="0" y="100460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34477" y="3889049"/>
              <a:ext cx="0" cy="165735"/>
            </a:xfrm>
            <a:custGeom>
              <a:avLst/>
              <a:gdLst/>
              <a:ahLst/>
              <a:cxnLst/>
              <a:rect l="l" t="t" r="r" b="b"/>
              <a:pathLst>
                <a:path h="165735">
                  <a:moveTo>
                    <a:pt x="0" y="0"/>
                  </a:moveTo>
                  <a:lnTo>
                    <a:pt x="0" y="165712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64323" y="3889049"/>
              <a:ext cx="0" cy="1684655"/>
            </a:xfrm>
            <a:custGeom>
              <a:avLst/>
              <a:gdLst/>
              <a:ahLst/>
              <a:cxnLst/>
              <a:rect l="l" t="t" r="r" b="b"/>
              <a:pathLst>
                <a:path h="1684654">
                  <a:moveTo>
                    <a:pt x="0" y="389523"/>
                  </a:moveTo>
                  <a:lnTo>
                    <a:pt x="0" y="1684040"/>
                  </a:lnTo>
                </a:path>
                <a:path h="1684654">
                  <a:moveTo>
                    <a:pt x="0" y="0"/>
                  </a:moveTo>
                  <a:lnTo>
                    <a:pt x="0" y="165712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03423" y="3889049"/>
              <a:ext cx="0" cy="1684655"/>
            </a:xfrm>
            <a:custGeom>
              <a:avLst/>
              <a:gdLst/>
              <a:ahLst/>
              <a:cxnLst/>
              <a:rect l="l" t="t" r="r" b="b"/>
              <a:pathLst>
                <a:path h="1684654">
                  <a:moveTo>
                    <a:pt x="0" y="712099"/>
                  </a:moveTo>
                  <a:lnTo>
                    <a:pt x="0" y="1684040"/>
                  </a:lnTo>
                </a:path>
                <a:path h="1684654">
                  <a:moveTo>
                    <a:pt x="0" y="0"/>
                  </a:moveTo>
                  <a:lnTo>
                    <a:pt x="0" y="489983"/>
                  </a:lnTo>
                </a:path>
              </a:pathLst>
            </a:custGeom>
            <a:ln w="884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40465" y="3892626"/>
              <a:ext cx="370840" cy="1677035"/>
            </a:xfrm>
            <a:custGeom>
              <a:avLst/>
              <a:gdLst/>
              <a:ahLst/>
              <a:cxnLst/>
              <a:rect l="l" t="t" r="r" b="b"/>
              <a:pathLst>
                <a:path w="370839" h="1677035">
                  <a:moveTo>
                    <a:pt x="368944" y="1676887"/>
                  </a:moveTo>
                  <a:lnTo>
                    <a:pt x="370640" y="0"/>
                  </a:lnTo>
                </a:path>
                <a:path w="370839" h="1677035">
                  <a:moveTo>
                    <a:pt x="0" y="1676887"/>
                  </a:moveTo>
                  <a:lnTo>
                    <a:pt x="1694" y="0"/>
                  </a:lnTo>
                </a:path>
              </a:pathLst>
            </a:custGeom>
            <a:ln w="715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43723" y="5568758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89">
                  <a:moveTo>
                    <a:pt x="0" y="0"/>
                  </a:moveTo>
                  <a:lnTo>
                    <a:pt x="8848" y="0"/>
                  </a:lnTo>
                </a:path>
              </a:pathLst>
            </a:custGeom>
            <a:ln w="866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48148" y="3889049"/>
              <a:ext cx="0" cy="1453515"/>
            </a:xfrm>
            <a:custGeom>
              <a:avLst/>
              <a:gdLst/>
              <a:ahLst/>
              <a:cxnLst/>
              <a:rect l="l" t="t" r="r" b="b"/>
              <a:pathLst>
                <a:path h="1453514">
                  <a:moveTo>
                    <a:pt x="0" y="0"/>
                  </a:moveTo>
                  <a:lnTo>
                    <a:pt x="0" y="1453261"/>
                  </a:lnTo>
                </a:path>
              </a:pathLst>
            </a:custGeom>
            <a:ln w="884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78355" y="3892626"/>
              <a:ext cx="1109980" cy="1677035"/>
            </a:xfrm>
            <a:custGeom>
              <a:avLst/>
              <a:gdLst/>
              <a:ahLst/>
              <a:cxnLst/>
              <a:rect l="l" t="t" r="r" b="b"/>
              <a:pathLst>
                <a:path w="1109979" h="1677035">
                  <a:moveTo>
                    <a:pt x="0" y="1676887"/>
                  </a:moveTo>
                  <a:lnTo>
                    <a:pt x="1694" y="0"/>
                  </a:lnTo>
                </a:path>
                <a:path w="1109979" h="1677035">
                  <a:moveTo>
                    <a:pt x="1108045" y="1676887"/>
                  </a:moveTo>
                  <a:lnTo>
                    <a:pt x="1109740" y="0"/>
                  </a:lnTo>
                </a:path>
              </a:pathLst>
            </a:custGeom>
            <a:ln w="715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13879" y="5568758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89">
                  <a:moveTo>
                    <a:pt x="0" y="0"/>
                  </a:moveTo>
                  <a:lnTo>
                    <a:pt x="8847" y="0"/>
                  </a:lnTo>
                </a:path>
              </a:pathLst>
            </a:custGeom>
            <a:ln w="866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18302" y="3889049"/>
              <a:ext cx="0" cy="1453515"/>
            </a:xfrm>
            <a:custGeom>
              <a:avLst/>
              <a:gdLst/>
              <a:ahLst/>
              <a:cxnLst/>
              <a:rect l="l" t="t" r="r" b="b"/>
              <a:pathLst>
                <a:path h="1453514">
                  <a:moveTo>
                    <a:pt x="0" y="0"/>
                  </a:moveTo>
                  <a:lnTo>
                    <a:pt x="0" y="1453261"/>
                  </a:lnTo>
                </a:path>
              </a:pathLst>
            </a:custGeom>
            <a:ln w="884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71520" y="3892626"/>
              <a:ext cx="1905" cy="1677035"/>
            </a:xfrm>
            <a:custGeom>
              <a:avLst/>
              <a:gdLst/>
              <a:ahLst/>
              <a:cxnLst/>
              <a:rect l="l" t="t" r="r" b="b"/>
              <a:pathLst>
                <a:path w="1904" h="1677035">
                  <a:moveTo>
                    <a:pt x="0" y="1676887"/>
                  </a:moveTo>
                  <a:lnTo>
                    <a:pt x="1694" y="0"/>
                  </a:lnTo>
                </a:path>
              </a:pathLst>
            </a:custGeom>
            <a:ln w="715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82180" y="5342311"/>
              <a:ext cx="1107440" cy="222250"/>
            </a:xfrm>
            <a:custGeom>
              <a:avLst/>
              <a:gdLst/>
              <a:ahLst/>
              <a:cxnLst/>
              <a:rect l="l" t="t" r="r" b="b"/>
              <a:pathLst>
                <a:path w="1107439" h="222250">
                  <a:moveTo>
                    <a:pt x="0" y="0"/>
                  </a:moveTo>
                  <a:lnTo>
                    <a:pt x="1107186" y="0"/>
                  </a:lnTo>
                  <a:lnTo>
                    <a:pt x="1107186" y="222115"/>
                  </a:lnTo>
                  <a:lnTo>
                    <a:pt x="0" y="222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383627" y="5329610"/>
            <a:ext cx="10998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5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35122" y="4054762"/>
            <a:ext cx="1107440" cy="224154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pc="-50" dirty="0">
                <a:latin typeface="Lucida Sans Unicode"/>
                <a:cs typeface="Lucida Sans Unicode"/>
              </a:rPr>
              <a:t>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69502" y="4379033"/>
            <a:ext cx="1105535" cy="22225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1200" spc="-50" dirty="0">
                <a:latin typeface="Lucida Sans Unicode"/>
                <a:cs typeface="Lucida Sans Unicode"/>
              </a:rPr>
              <a:t>2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33815" y="5701569"/>
            <a:ext cx="14871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rebuchet MS"/>
                <a:cs typeface="Trebuchet MS"/>
              </a:rPr>
              <a:t>p(1)</a:t>
            </a:r>
            <a:r>
              <a:rPr sz="1200" b="1" spc="70" dirty="0">
                <a:latin typeface="Trebuchet MS"/>
                <a:cs typeface="Trebuchet MS"/>
              </a:rPr>
              <a:t> </a:t>
            </a:r>
            <a:r>
              <a:rPr sz="1200" b="1" spc="250" dirty="0">
                <a:latin typeface="Trebuchet MS"/>
                <a:cs typeface="Trebuchet MS"/>
              </a:rPr>
              <a:t>=</a:t>
            </a:r>
            <a:r>
              <a:rPr sz="1200" b="1" spc="7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0,</a:t>
            </a:r>
            <a:r>
              <a:rPr sz="1200" b="1" spc="7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p(j)</a:t>
            </a:r>
            <a:r>
              <a:rPr sz="1200" b="1" spc="70" dirty="0">
                <a:latin typeface="Trebuchet MS"/>
                <a:cs typeface="Trebuchet MS"/>
              </a:rPr>
              <a:t> </a:t>
            </a:r>
            <a:r>
              <a:rPr sz="1200" b="1" spc="250" dirty="0">
                <a:latin typeface="Trebuchet MS"/>
                <a:cs typeface="Trebuchet MS"/>
              </a:rPr>
              <a:t>=</a:t>
            </a:r>
            <a:r>
              <a:rPr sz="1200" b="1" spc="75" dirty="0">
                <a:latin typeface="Trebuchet MS"/>
                <a:cs typeface="Trebuchet MS"/>
              </a:rPr>
              <a:t> </a:t>
            </a:r>
            <a:r>
              <a:rPr sz="1200" b="1" spc="140" dirty="0">
                <a:latin typeface="Trebuchet MS"/>
                <a:cs typeface="Trebuchet MS"/>
              </a:rPr>
              <a:t>j-</a:t>
            </a:r>
            <a:r>
              <a:rPr sz="1200" b="1" spc="40" dirty="0"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4952" y="3488478"/>
            <a:ext cx="237168" cy="23719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8228017" y="3498430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5</a:t>
            </a:r>
            <a:endParaRPr sz="1050">
              <a:latin typeface="Lucida Sans Unicode"/>
              <a:cs typeface="Lucida Sans Unicode"/>
            </a:endParaRPr>
          </a:p>
        </p:txBody>
      </p:sp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9824" y="4022572"/>
            <a:ext cx="237168" cy="237199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302890" y="4032525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4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436384" y="3685038"/>
            <a:ext cx="1729105" cy="575310"/>
            <a:chOff x="7436384" y="3685038"/>
            <a:chExt cx="1729105" cy="575310"/>
          </a:xfrm>
        </p:grpSpPr>
        <p:sp>
          <p:nvSpPr>
            <p:cNvPr id="37" name="object 37"/>
            <p:cNvSpPr/>
            <p:nvPr/>
          </p:nvSpPr>
          <p:spPr>
            <a:xfrm>
              <a:off x="7443687" y="3692340"/>
              <a:ext cx="757555" cy="374015"/>
            </a:xfrm>
            <a:custGeom>
              <a:avLst/>
              <a:gdLst/>
              <a:ahLst/>
              <a:cxnLst/>
              <a:rect l="l" t="t" r="r" b="b"/>
              <a:pathLst>
                <a:path w="757554" h="374014">
                  <a:moveTo>
                    <a:pt x="757129" y="0"/>
                  </a:moveTo>
                  <a:lnTo>
                    <a:pt x="0" y="373824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7944" y="4022572"/>
              <a:ext cx="237168" cy="237199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8991010" y="4032525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3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782029" y="3685038"/>
            <a:ext cx="2188845" cy="1118870"/>
            <a:chOff x="6782029" y="3685038"/>
            <a:chExt cx="2188845" cy="1118870"/>
          </a:xfrm>
        </p:grpSpPr>
        <p:sp>
          <p:nvSpPr>
            <p:cNvPr id="41" name="object 41"/>
            <p:cNvSpPr/>
            <p:nvPr/>
          </p:nvSpPr>
          <p:spPr>
            <a:xfrm>
              <a:off x="8359278" y="3692340"/>
              <a:ext cx="603885" cy="374015"/>
            </a:xfrm>
            <a:custGeom>
              <a:avLst/>
              <a:gdLst/>
              <a:ahLst/>
              <a:cxnLst/>
              <a:rect l="l" t="t" r="r" b="b"/>
              <a:pathLst>
                <a:path w="603884" h="374014">
                  <a:moveTo>
                    <a:pt x="0" y="0"/>
                  </a:moveTo>
                  <a:lnTo>
                    <a:pt x="603787" y="373824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2029" y="4566204"/>
              <a:ext cx="237168" cy="237199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845094" y="4576155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3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892752" y="4219132"/>
            <a:ext cx="1052195" cy="584835"/>
            <a:chOff x="6892752" y="4219132"/>
            <a:chExt cx="1052195" cy="584835"/>
          </a:xfrm>
        </p:grpSpPr>
        <p:sp>
          <p:nvSpPr>
            <p:cNvPr id="45" name="object 45"/>
            <p:cNvSpPr/>
            <p:nvPr/>
          </p:nvSpPr>
          <p:spPr>
            <a:xfrm>
              <a:off x="6900055" y="4226435"/>
              <a:ext cx="379095" cy="340360"/>
            </a:xfrm>
            <a:custGeom>
              <a:avLst/>
              <a:gdLst/>
              <a:ahLst/>
              <a:cxnLst/>
              <a:rect l="l" t="t" r="r" b="b"/>
              <a:pathLst>
                <a:path w="379095" h="340360">
                  <a:moveTo>
                    <a:pt x="378565" y="0"/>
                  </a:moveTo>
                  <a:lnTo>
                    <a:pt x="0" y="340276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07157" y="4566204"/>
              <a:ext cx="237168" cy="237199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770222" y="4576155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2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436384" y="4219132"/>
            <a:ext cx="1423670" cy="584835"/>
            <a:chOff x="7436384" y="4219132"/>
            <a:chExt cx="1423670" cy="584835"/>
          </a:xfrm>
        </p:grpSpPr>
        <p:sp>
          <p:nvSpPr>
            <p:cNvPr id="49" name="object 49"/>
            <p:cNvSpPr/>
            <p:nvPr/>
          </p:nvSpPr>
          <p:spPr>
            <a:xfrm>
              <a:off x="7443687" y="4226435"/>
              <a:ext cx="379095" cy="340360"/>
            </a:xfrm>
            <a:custGeom>
              <a:avLst/>
              <a:gdLst/>
              <a:ahLst/>
              <a:cxnLst/>
              <a:rect l="l" t="t" r="r" b="b"/>
              <a:pathLst>
                <a:path w="379095" h="340360">
                  <a:moveTo>
                    <a:pt x="0" y="0"/>
                  </a:moveTo>
                  <a:lnTo>
                    <a:pt x="378565" y="340276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22748" y="4566204"/>
              <a:ext cx="237168" cy="237199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8685814" y="4576155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2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8733471" y="4219132"/>
            <a:ext cx="737235" cy="584835"/>
            <a:chOff x="8733471" y="4219132"/>
            <a:chExt cx="737235" cy="584835"/>
          </a:xfrm>
        </p:grpSpPr>
        <p:sp>
          <p:nvSpPr>
            <p:cNvPr id="53" name="object 53"/>
            <p:cNvSpPr/>
            <p:nvPr/>
          </p:nvSpPr>
          <p:spPr>
            <a:xfrm>
              <a:off x="8740774" y="4226435"/>
              <a:ext cx="225425" cy="340360"/>
            </a:xfrm>
            <a:custGeom>
              <a:avLst/>
              <a:gdLst/>
              <a:ahLst/>
              <a:cxnLst/>
              <a:rect l="l" t="t" r="r" b="b"/>
              <a:pathLst>
                <a:path w="225425" h="340360">
                  <a:moveTo>
                    <a:pt x="225222" y="0"/>
                  </a:moveTo>
                  <a:lnTo>
                    <a:pt x="0" y="340276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33141" y="4566204"/>
              <a:ext cx="237168" cy="237199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9296207" y="4576155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1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553131" y="4219132"/>
            <a:ext cx="2811780" cy="1118870"/>
            <a:chOff x="6553131" y="4219132"/>
            <a:chExt cx="2811780" cy="1118870"/>
          </a:xfrm>
        </p:grpSpPr>
        <p:sp>
          <p:nvSpPr>
            <p:cNvPr id="57" name="object 57"/>
            <p:cNvSpPr/>
            <p:nvPr/>
          </p:nvSpPr>
          <p:spPr>
            <a:xfrm>
              <a:off x="9131807" y="4226435"/>
              <a:ext cx="225425" cy="340360"/>
            </a:xfrm>
            <a:custGeom>
              <a:avLst/>
              <a:gdLst/>
              <a:ahLst/>
              <a:cxnLst/>
              <a:rect l="l" t="t" r="r" b="b"/>
              <a:pathLst>
                <a:path w="225425" h="340360">
                  <a:moveTo>
                    <a:pt x="0" y="0"/>
                  </a:moveTo>
                  <a:lnTo>
                    <a:pt x="225222" y="340276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3131" y="5100299"/>
              <a:ext cx="237168" cy="237199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6616196" y="5110250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1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663855" y="4753227"/>
            <a:ext cx="584835" cy="584835"/>
            <a:chOff x="6663855" y="4753227"/>
            <a:chExt cx="584835" cy="584835"/>
          </a:xfrm>
        </p:grpSpPr>
        <p:sp>
          <p:nvSpPr>
            <p:cNvPr id="61" name="object 61"/>
            <p:cNvSpPr/>
            <p:nvPr/>
          </p:nvSpPr>
          <p:spPr>
            <a:xfrm>
              <a:off x="6671157" y="4760529"/>
              <a:ext cx="148590" cy="340360"/>
            </a:xfrm>
            <a:custGeom>
              <a:avLst/>
              <a:gdLst/>
              <a:ahLst/>
              <a:cxnLst/>
              <a:rect l="l" t="t" r="r" b="b"/>
              <a:pathLst>
                <a:path w="148590" h="340360">
                  <a:moveTo>
                    <a:pt x="148550" y="0"/>
                  </a:moveTo>
                  <a:lnTo>
                    <a:pt x="0" y="340276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0927" y="5100299"/>
              <a:ext cx="237168" cy="237199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7073992" y="5110250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1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324234" y="4753227"/>
            <a:ext cx="817880" cy="1118870"/>
            <a:chOff x="6324234" y="4753227"/>
            <a:chExt cx="817880" cy="1118870"/>
          </a:xfrm>
        </p:grpSpPr>
        <p:sp>
          <p:nvSpPr>
            <p:cNvPr id="65" name="object 65"/>
            <p:cNvSpPr/>
            <p:nvPr/>
          </p:nvSpPr>
          <p:spPr>
            <a:xfrm>
              <a:off x="6985891" y="4760529"/>
              <a:ext cx="148590" cy="340360"/>
            </a:xfrm>
            <a:custGeom>
              <a:avLst/>
              <a:gdLst/>
              <a:ahLst/>
              <a:cxnLst/>
              <a:rect l="l" t="t" r="r" b="b"/>
              <a:pathLst>
                <a:path w="148590" h="340360">
                  <a:moveTo>
                    <a:pt x="0" y="0"/>
                  </a:moveTo>
                  <a:lnTo>
                    <a:pt x="148550" y="340276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4234" y="5634394"/>
              <a:ext cx="237167" cy="237199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6387299" y="5644345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1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6434957" y="5296859"/>
            <a:ext cx="584835" cy="575310"/>
            <a:chOff x="6434957" y="5296859"/>
            <a:chExt cx="584835" cy="575310"/>
          </a:xfrm>
        </p:grpSpPr>
        <p:sp>
          <p:nvSpPr>
            <p:cNvPr id="69" name="object 69"/>
            <p:cNvSpPr/>
            <p:nvPr/>
          </p:nvSpPr>
          <p:spPr>
            <a:xfrm>
              <a:off x="6442260" y="5304161"/>
              <a:ext cx="148590" cy="340360"/>
            </a:xfrm>
            <a:custGeom>
              <a:avLst/>
              <a:gdLst/>
              <a:ahLst/>
              <a:cxnLst/>
              <a:rect l="l" t="t" r="r" b="b"/>
              <a:pathLst>
                <a:path w="148590" h="340360">
                  <a:moveTo>
                    <a:pt x="148550" y="0"/>
                  </a:moveTo>
                  <a:lnTo>
                    <a:pt x="0" y="340276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2029" y="5634394"/>
              <a:ext cx="237168" cy="237199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6845094" y="5644345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0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749691" y="5100299"/>
            <a:ext cx="956310" cy="551815"/>
            <a:chOff x="6749691" y="5100299"/>
            <a:chExt cx="956310" cy="551815"/>
          </a:xfrm>
        </p:grpSpPr>
        <p:sp>
          <p:nvSpPr>
            <p:cNvPr id="73" name="object 73"/>
            <p:cNvSpPr/>
            <p:nvPr/>
          </p:nvSpPr>
          <p:spPr>
            <a:xfrm>
              <a:off x="6756994" y="5304161"/>
              <a:ext cx="148590" cy="340360"/>
            </a:xfrm>
            <a:custGeom>
              <a:avLst/>
              <a:gdLst/>
              <a:ahLst/>
              <a:cxnLst/>
              <a:rect l="l" t="t" r="r" b="b"/>
              <a:pathLst>
                <a:path w="148590" h="340360">
                  <a:moveTo>
                    <a:pt x="0" y="0"/>
                  </a:moveTo>
                  <a:lnTo>
                    <a:pt x="148550" y="340276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8722" y="5100299"/>
              <a:ext cx="237168" cy="237199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7531787" y="5110250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1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7588983" y="4753227"/>
            <a:ext cx="584835" cy="584835"/>
            <a:chOff x="7588983" y="4753227"/>
            <a:chExt cx="584835" cy="584835"/>
          </a:xfrm>
        </p:grpSpPr>
        <p:sp>
          <p:nvSpPr>
            <p:cNvPr id="77" name="object 77"/>
            <p:cNvSpPr/>
            <p:nvPr/>
          </p:nvSpPr>
          <p:spPr>
            <a:xfrm>
              <a:off x="7596285" y="4760529"/>
              <a:ext cx="148590" cy="340360"/>
            </a:xfrm>
            <a:custGeom>
              <a:avLst/>
              <a:gdLst/>
              <a:ahLst/>
              <a:cxnLst/>
              <a:rect l="l" t="t" r="r" b="b"/>
              <a:pathLst>
                <a:path w="148590" h="340360">
                  <a:moveTo>
                    <a:pt x="148550" y="0"/>
                  </a:moveTo>
                  <a:lnTo>
                    <a:pt x="0" y="340276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36055" y="5100299"/>
              <a:ext cx="237168" cy="237199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7999119" y="5110250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0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7894180" y="4753227"/>
            <a:ext cx="737235" cy="584835"/>
            <a:chOff x="7894180" y="4753227"/>
            <a:chExt cx="737235" cy="584835"/>
          </a:xfrm>
        </p:grpSpPr>
        <p:sp>
          <p:nvSpPr>
            <p:cNvPr id="81" name="object 81"/>
            <p:cNvSpPr/>
            <p:nvPr/>
          </p:nvSpPr>
          <p:spPr>
            <a:xfrm>
              <a:off x="7901482" y="4760529"/>
              <a:ext cx="148590" cy="340360"/>
            </a:xfrm>
            <a:custGeom>
              <a:avLst/>
              <a:gdLst/>
              <a:ahLst/>
              <a:cxnLst/>
              <a:rect l="l" t="t" r="r" b="b"/>
              <a:pathLst>
                <a:path w="148590" h="340360">
                  <a:moveTo>
                    <a:pt x="0" y="0"/>
                  </a:moveTo>
                  <a:lnTo>
                    <a:pt x="148550" y="340276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3850" y="5100299"/>
              <a:ext cx="237168" cy="237199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456915" y="5110250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1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8504573" y="4753227"/>
            <a:ext cx="584835" cy="584835"/>
            <a:chOff x="8504573" y="4753227"/>
            <a:chExt cx="584835" cy="584835"/>
          </a:xfrm>
        </p:grpSpPr>
        <p:sp>
          <p:nvSpPr>
            <p:cNvPr id="85" name="object 85"/>
            <p:cNvSpPr/>
            <p:nvPr/>
          </p:nvSpPr>
          <p:spPr>
            <a:xfrm>
              <a:off x="8511876" y="4760529"/>
              <a:ext cx="148590" cy="340360"/>
            </a:xfrm>
            <a:custGeom>
              <a:avLst/>
              <a:gdLst/>
              <a:ahLst/>
              <a:cxnLst/>
              <a:rect l="l" t="t" r="r" b="b"/>
              <a:pathLst>
                <a:path w="148590" h="340360">
                  <a:moveTo>
                    <a:pt x="148550" y="0"/>
                  </a:moveTo>
                  <a:lnTo>
                    <a:pt x="0" y="340276"/>
                  </a:lnTo>
                </a:path>
              </a:pathLst>
            </a:custGeom>
            <a:ln w="1430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51645" y="5100299"/>
              <a:ext cx="237168" cy="237199"/>
            </a:xfrm>
            <a:prstGeom prst="rect">
              <a:avLst/>
            </a:prstGeom>
          </p:spPr>
        </p:pic>
      </p:grpSp>
      <p:sp>
        <p:nvSpPr>
          <p:cNvPr id="87" name="object 87"/>
          <p:cNvSpPr txBox="1"/>
          <p:nvPr/>
        </p:nvSpPr>
        <p:spPr>
          <a:xfrm>
            <a:off x="8914710" y="5110250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Lucida Sans Unicode"/>
                <a:cs typeface="Lucida Sans Unicode"/>
              </a:rPr>
              <a:t>0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8826610" y="4760529"/>
            <a:ext cx="148590" cy="340360"/>
          </a:xfrm>
          <a:custGeom>
            <a:avLst/>
            <a:gdLst/>
            <a:ahLst/>
            <a:cxnLst/>
            <a:rect l="l" t="t" r="r" b="b"/>
            <a:pathLst>
              <a:path w="148590" h="340360">
                <a:moveTo>
                  <a:pt x="0" y="0"/>
                </a:moveTo>
                <a:lnTo>
                  <a:pt x="148550" y="340276"/>
                </a:lnTo>
              </a:path>
            </a:pathLst>
          </a:custGeom>
          <a:ln w="14306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7435756" y="5920929"/>
            <a:ext cx="11290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5" dirty="0">
                <a:latin typeface="Trebuchet MS"/>
                <a:cs typeface="Trebuchet MS"/>
              </a:rPr>
              <a:t>recursion</a:t>
            </a:r>
            <a:r>
              <a:rPr sz="1200" b="1" spc="25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tree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267" y="1218991"/>
            <a:ext cx="76371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6239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Memoization.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Cache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results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each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subproblem;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lookup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needed.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45151" y="4310805"/>
            <a:ext cx="88582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global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array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53428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80790" algn="l"/>
              </a:tabLst>
            </a:pPr>
            <a:r>
              <a:rPr dirty="0"/>
              <a:t>Weighted</a:t>
            </a:r>
            <a:r>
              <a:rPr spc="390" dirty="0"/>
              <a:t> </a:t>
            </a:r>
            <a:r>
              <a:rPr dirty="0"/>
              <a:t>interval</a:t>
            </a:r>
            <a:r>
              <a:rPr spc="390" dirty="0"/>
              <a:t> </a:t>
            </a:r>
            <a:r>
              <a:rPr spc="-10" dirty="0"/>
              <a:t>scheduling:</a:t>
            </a:r>
            <a:r>
              <a:rPr dirty="0"/>
              <a:t>	</a:t>
            </a:r>
            <a:r>
              <a:rPr spc="-10" dirty="0"/>
              <a:t>memoization</a:t>
            </a:r>
          </a:p>
        </p:txBody>
      </p:sp>
      <p:sp>
        <p:nvSpPr>
          <p:cNvPr id="6" name="object 6"/>
          <p:cNvSpPr/>
          <p:nvPr/>
        </p:nvSpPr>
        <p:spPr>
          <a:xfrm>
            <a:off x="986865" y="2070982"/>
            <a:ext cx="7945120" cy="4377690"/>
          </a:xfrm>
          <a:custGeom>
            <a:avLst/>
            <a:gdLst/>
            <a:ahLst/>
            <a:cxnLst/>
            <a:rect l="l" t="t" r="r" b="b"/>
            <a:pathLst>
              <a:path w="7945120" h="4377690">
                <a:moveTo>
                  <a:pt x="0" y="0"/>
                </a:moveTo>
                <a:lnTo>
                  <a:pt x="7944656" y="0"/>
                </a:lnTo>
                <a:lnTo>
                  <a:pt x="7944656" y="4377667"/>
                </a:lnTo>
                <a:lnTo>
                  <a:pt x="0" y="43776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6865" y="2070982"/>
            <a:ext cx="7945120" cy="43776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5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  <a:spcBef>
                <a:spcPts val="5"/>
              </a:spcBef>
              <a:tabLst>
                <a:tab pos="1137920" algn="l"/>
              </a:tabLst>
            </a:pPr>
            <a:r>
              <a:rPr sz="1500" spc="-10" dirty="0">
                <a:solidFill>
                  <a:srgbClr val="003F83"/>
                </a:solidFill>
                <a:latin typeface="Lucida Console"/>
                <a:cs typeface="Lucida Console"/>
              </a:rPr>
              <a:t>Input: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	</a:t>
            </a:r>
            <a:r>
              <a:rPr sz="1500" dirty="0">
                <a:latin typeface="Lucida Console"/>
                <a:cs typeface="Lucida Console"/>
              </a:rPr>
              <a:t>n, s[1..n], f[1..n], </a:t>
            </a:r>
            <a:r>
              <a:rPr sz="1500" spc="-10" dirty="0">
                <a:latin typeface="Lucida Console"/>
                <a:cs typeface="Lucida Console"/>
              </a:rPr>
              <a:t>v[1..n]</a:t>
            </a:r>
            <a:endParaRPr sz="1500">
              <a:latin typeface="Lucida Console"/>
              <a:cs typeface="Lucida Console"/>
            </a:endParaRPr>
          </a:p>
          <a:p>
            <a:pPr marL="219075" marR="1176020">
              <a:lnSpc>
                <a:spcPct val="146000"/>
              </a:lnSpc>
            </a:pP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Sort </a:t>
            </a:r>
            <a:r>
              <a:rPr sz="1500" dirty="0">
                <a:latin typeface="Lucida Console"/>
                <a:cs typeface="Lucida Console"/>
              </a:rPr>
              <a:t>jobs by finish time so that f[1] </a:t>
            </a:r>
            <a:r>
              <a:rPr sz="1500" dirty="0">
                <a:latin typeface="Lucida Sans Unicode"/>
                <a:cs typeface="Lucida Sans Unicode"/>
              </a:rPr>
              <a:t>≤</a:t>
            </a:r>
            <a:r>
              <a:rPr sz="1500" spc="43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Console"/>
                <a:cs typeface="Lucida Console"/>
              </a:rPr>
              <a:t>f[2] </a:t>
            </a:r>
            <a:r>
              <a:rPr sz="1500" dirty="0">
                <a:latin typeface="Lucida Sans Unicode"/>
                <a:cs typeface="Lucida Sans Unicode"/>
              </a:rPr>
              <a:t>≤</a:t>
            </a:r>
            <a:r>
              <a:rPr sz="1500" spc="43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Console"/>
                <a:cs typeface="Lucida Console"/>
              </a:rPr>
              <a:t>… </a:t>
            </a:r>
            <a:r>
              <a:rPr sz="1500" dirty="0">
                <a:latin typeface="Lucida Sans Unicode"/>
                <a:cs typeface="Lucida Sans Unicode"/>
              </a:rPr>
              <a:t>≤</a:t>
            </a:r>
            <a:r>
              <a:rPr sz="1500" spc="43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Console"/>
                <a:cs typeface="Lucida Console"/>
              </a:rPr>
              <a:t>f[n]. 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Compute </a:t>
            </a:r>
            <a:r>
              <a:rPr sz="1500" dirty="0">
                <a:latin typeface="Lucida Console"/>
                <a:cs typeface="Lucida Console"/>
              </a:rPr>
              <a:t>p[1], p[2], …, </a:t>
            </a:r>
            <a:r>
              <a:rPr sz="1500" spc="-10" dirty="0">
                <a:latin typeface="Lucida Console"/>
                <a:cs typeface="Lucida Console"/>
              </a:rPr>
              <a:t>p[n].</a:t>
            </a:r>
            <a:endParaRPr sz="15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1500">
              <a:latin typeface="Lucida Console"/>
              <a:cs typeface="Lucida Console"/>
            </a:endParaRPr>
          </a:p>
          <a:p>
            <a:pPr marL="563245" marR="5803900" indent="-344805">
              <a:lnSpc>
                <a:spcPct val="146000"/>
              </a:lnSpc>
              <a:tabLst>
                <a:tab pos="1826895" algn="l"/>
              </a:tabLst>
            </a:pPr>
            <a:r>
              <a:rPr sz="1500" dirty="0">
                <a:latin typeface="Lucida Console"/>
                <a:cs typeface="Lucida Console"/>
              </a:rPr>
              <a:t>for j = 1 </a:t>
            </a:r>
            <a:r>
              <a:rPr sz="1500" spc="-25" dirty="0">
                <a:latin typeface="Lucida Console"/>
                <a:cs typeface="Lucida Console"/>
              </a:rPr>
              <a:t>to</a:t>
            </a:r>
            <a:r>
              <a:rPr sz="1500" dirty="0">
                <a:latin typeface="Lucida Console"/>
                <a:cs typeface="Lucida Console"/>
              </a:rPr>
              <a:t>	</a:t>
            </a:r>
            <a:r>
              <a:rPr sz="1500" spc="-50" dirty="0">
                <a:latin typeface="Lucida Console"/>
                <a:cs typeface="Lucida Console"/>
              </a:rPr>
              <a:t>n </a:t>
            </a:r>
            <a:r>
              <a:rPr sz="1500" dirty="0">
                <a:latin typeface="Lucida Console"/>
                <a:cs typeface="Lucida Console"/>
              </a:rPr>
              <a:t>M[j] </a:t>
            </a:r>
            <a:r>
              <a:rPr sz="1500" spc="80" dirty="0">
                <a:latin typeface="Lucida Sans Unicode"/>
                <a:cs typeface="Lucida Sans Unicode"/>
              </a:rPr>
              <a:t>←</a:t>
            </a:r>
            <a:r>
              <a:rPr sz="1500" spc="43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Console"/>
                <a:cs typeface="Lucida Console"/>
              </a:rPr>
              <a:t>empty.</a:t>
            </a:r>
            <a:endParaRPr sz="1500">
              <a:latin typeface="Lucida Console"/>
              <a:cs typeface="Lucida Console"/>
            </a:endParaRPr>
          </a:p>
          <a:p>
            <a:pPr marL="219075">
              <a:lnSpc>
                <a:spcPct val="100000"/>
              </a:lnSpc>
              <a:spcBef>
                <a:spcPts val="830"/>
              </a:spcBef>
            </a:pPr>
            <a:r>
              <a:rPr sz="1500" dirty="0">
                <a:latin typeface="Lucida Console"/>
                <a:cs typeface="Lucida Console"/>
              </a:rPr>
              <a:t>M[0] </a:t>
            </a:r>
            <a:r>
              <a:rPr sz="1500" spc="80" dirty="0">
                <a:latin typeface="Lucida Sans Unicode"/>
                <a:cs typeface="Lucida Sans Unicode"/>
              </a:rPr>
              <a:t>←</a:t>
            </a:r>
            <a:r>
              <a:rPr sz="1500" spc="430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Console"/>
                <a:cs typeface="Lucida Console"/>
              </a:rPr>
              <a:t>0.</a:t>
            </a:r>
            <a:endParaRPr sz="15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500">
              <a:latin typeface="Lucida Console"/>
              <a:cs typeface="Lucida Console"/>
            </a:endParaRPr>
          </a:p>
          <a:p>
            <a:pPr marL="219075" marR="5880100">
              <a:lnSpc>
                <a:spcPct val="146000"/>
              </a:lnSpc>
            </a:pP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M-Compute-</a:t>
            </a:r>
            <a:r>
              <a:rPr sz="1500" spc="-10" dirty="0">
                <a:solidFill>
                  <a:srgbClr val="003F83"/>
                </a:solidFill>
                <a:latin typeface="Lucida Console"/>
                <a:cs typeface="Lucida Console"/>
              </a:rPr>
              <a:t>Opt</a:t>
            </a:r>
            <a:r>
              <a:rPr sz="1500" spc="-10" dirty="0">
                <a:latin typeface="Lucida Console"/>
                <a:cs typeface="Lucida Console"/>
              </a:rPr>
              <a:t>(j) 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if </a:t>
            </a:r>
            <a:r>
              <a:rPr sz="1500" dirty="0">
                <a:latin typeface="Lucida Console"/>
                <a:cs typeface="Lucida Console"/>
              </a:rPr>
              <a:t>M[j] is </a:t>
            </a:r>
            <a:r>
              <a:rPr sz="1500" spc="-10" dirty="0">
                <a:latin typeface="Lucida Console"/>
                <a:cs typeface="Lucida Console"/>
              </a:rPr>
              <a:t>empty</a:t>
            </a:r>
            <a:endParaRPr sz="1500">
              <a:latin typeface="Lucida Console"/>
              <a:cs typeface="Lucida Console"/>
            </a:endParaRPr>
          </a:p>
          <a:p>
            <a:pPr marL="219075" marR="292100" indent="344170">
              <a:lnSpc>
                <a:spcPct val="146000"/>
              </a:lnSpc>
            </a:pPr>
            <a:r>
              <a:rPr sz="1500" dirty="0">
                <a:latin typeface="Lucida Console"/>
                <a:cs typeface="Lucida Console"/>
              </a:rPr>
              <a:t>M[j] </a:t>
            </a:r>
            <a:r>
              <a:rPr sz="1500" spc="80" dirty="0">
                <a:latin typeface="Lucida Sans Unicode"/>
                <a:cs typeface="Lucida Sans Unicode"/>
              </a:rPr>
              <a:t>←</a:t>
            </a:r>
            <a:r>
              <a:rPr sz="1500" spc="43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Console"/>
                <a:cs typeface="Lucida Console"/>
              </a:rPr>
              <a:t>max(v[j] + 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M-Compute-Opt</a:t>
            </a:r>
            <a:r>
              <a:rPr sz="1500" dirty="0">
                <a:latin typeface="Lucida Console"/>
                <a:cs typeface="Lucida Console"/>
              </a:rPr>
              <a:t>(p[j]), 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M-Compute-Opt</a:t>
            </a:r>
            <a:r>
              <a:rPr sz="1500" dirty="0">
                <a:latin typeface="Lucida Console"/>
                <a:cs typeface="Lucida Console"/>
              </a:rPr>
              <a:t>(j – </a:t>
            </a:r>
            <a:r>
              <a:rPr sz="1500" spc="-20" dirty="0">
                <a:latin typeface="Lucida Console"/>
                <a:cs typeface="Lucida Console"/>
              </a:rPr>
              <a:t>1)). 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return </a:t>
            </a:r>
            <a:r>
              <a:rPr sz="1500" spc="-10" dirty="0">
                <a:latin typeface="Lucida Console"/>
                <a:cs typeface="Lucida Console"/>
              </a:rPr>
              <a:t>M[j].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06679" y="5294624"/>
            <a:ext cx="1993264" cy="0"/>
          </a:xfrm>
          <a:custGeom>
            <a:avLst/>
            <a:gdLst/>
            <a:ahLst/>
            <a:cxnLst/>
            <a:rect l="l" t="t" r="r" b="b"/>
            <a:pathLst>
              <a:path w="1993264">
                <a:moveTo>
                  <a:pt x="0" y="0"/>
                </a:moveTo>
                <a:lnTo>
                  <a:pt x="1993081" y="0"/>
                </a:lnTo>
              </a:path>
            </a:pathLst>
          </a:custGeom>
          <a:ln w="11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529018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80790" algn="l"/>
              </a:tabLst>
            </a:pPr>
            <a:r>
              <a:rPr dirty="0"/>
              <a:t>Weighted</a:t>
            </a:r>
            <a:r>
              <a:rPr spc="390" dirty="0"/>
              <a:t> </a:t>
            </a:r>
            <a:r>
              <a:rPr dirty="0"/>
              <a:t>interval</a:t>
            </a:r>
            <a:r>
              <a:rPr spc="390" dirty="0"/>
              <a:t> </a:t>
            </a:r>
            <a:r>
              <a:rPr spc="-10" dirty="0"/>
              <a:t>scheduling:</a:t>
            </a:r>
            <a:r>
              <a:rPr dirty="0"/>
              <a:t>	running</a:t>
            </a:r>
            <a:r>
              <a:rPr spc="250" dirty="0"/>
              <a:t> </a:t>
            </a:r>
            <a:r>
              <a:rPr spc="-20" dirty="0"/>
              <a:t>time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69067" y="1218991"/>
            <a:ext cx="7572375" cy="5374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ts val="1980"/>
              </a:lnSpc>
              <a:spcBef>
                <a:spcPts val="100"/>
              </a:spcBef>
              <a:tabLst>
                <a:tab pos="93662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Memoized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version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takes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time.</a:t>
            </a:r>
            <a:endParaRPr sz="1800">
              <a:latin typeface="Lucida Sans Unicode"/>
              <a:cs typeface="Lucida Sans Unicode"/>
            </a:endParaRPr>
          </a:p>
          <a:p>
            <a:pPr marL="184150">
              <a:lnSpc>
                <a:spcPts val="2960"/>
              </a:lnSpc>
              <a:tabLst>
                <a:tab pos="2811145" algn="l"/>
              </a:tabLst>
            </a:pPr>
            <a:r>
              <a:rPr sz="4275" spc="2175" baseline="-7797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Sort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finish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time: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84150">
              <a:lnSpc>
                <a:spcPts val="3135"/>
              </a:lnSpc>
              <a:tabLst>
                <a:tab pos="2470785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Computing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dirty="0">
                <a:latin typeface="Symbol"/>
                <a:cs typeface="Symbol"/>
              </a:rPr>
              <a:t>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: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via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sorting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start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time.</a:t>
            </a:r>
            <a:endParaRPr sz="1800">
              <a:latin typeface="Lucida Sans Unicode"/>
              <a:cs typeface="Lucida Sans Unicode"/>
            </a:endParaRPr>
          </a:p>
          <a:p>
            <a:pPr marL="184150">
              <a:lnSpc>
                <a:spcPct val="100000"/>
              </a:lnSpc>
              <a:spcBef>
                <a:spcPts val="2290"/>
              </a:spcBef>
              <a:tabLst>
                <a:tab pos="2623820" algn="l"/>
              </a:tabLst>
            </a:pPr>
            <a:r>
              <a:rPr sz="4275" spc="2175" baseline="-7797" dirty="0">
                <a:latin typeface="Yu Gothic UI"/>
                <a:cs typeface="Yu Gothic UI"/>
              </a:rPr>
              <a:t>・</a:t>
            </a:r>
            <a:r>
              <a:rPr sz="1800" dirty="0">
                <a:latin typeface="Times New Roman"/>
                <a:cs typeface="Times New Roman"/>
              </a:rPr>
              <a:t>M-</a:t>
            </a:r>
            <a:r>
              <a:rPr sz="1800" spc="-10" dirty="0">
                <a:latin typeface="Times New Roman"/>
                <a:cs typeface="Times New Roman"/>
              </a:rPr>
              <a:t>C</a:t>
            </a:r>
            <a:r>
              <a:rPr sz="1450" spc="-10" dirty="0">
                <a:latin typeface="Times New Roman"/>
                <a:cs typeface="Times New Roman"/>
              </a:rPr>
              <a:t>OMPUTE</a:t>
            </a:r>
            <a:r>
              <a:rPr sz="1800" spc="-10" dirty="0">
                <a:latin typeface="Times New Roman"/>
                <a:cs typeface="Times New Roman"/>
              </a:rPr>
              <a:t>-O</a:t>
            </a:r>
            <a:r>
              <a:rPr sz="1450" spc="-10" dirty="0">
                <a:latin typeface="Times New Roman"/>
                <a:cs typeface="Times New Roman"/>
              </a:rPr>
              <a:t>PT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j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:</a:t>
            </a:r>
            <a:r>
              <a:rPr sz="1800" dirty="0">
                <a:latin typeface="Lucida Sans Unicode"/>
                <a:cs typeface="Lucida Sans Unicode"/>
              </a:rPr>
              <a:t>	each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invocation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takes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(1)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either</a:t>
            </a:r>
            <a:endParaRPr sz="1800">
              <a:latin typeface="Lucida Sans Unicode"/>
              <a:cs typeface="Lucida Sans Unicode"/>
            </a:endParaRPr>
          </a:p>
          <a:p>
            <a:pPr marL="775335" indent="-238760">
              <a:lnSpc>
                <a:spcPct val="100000"/>
              </a:lnSpc>
              <a:spcBef>
                <a:spcPts val="500"/>
              </a:spcBef>
              <a:buFont typeface="Yu Gothic UI"/>
              <a:buChar char="-"/>
              <a:tabLst>
                <a:tab pos="775335" algn="l"/>
                <a:tab pos="1134745" algn="l"/>
              </a:tabLst>
            </a:pPr>
            <a:r>
              <a:rPr sz="1800" spc="-25" dirty="0">
                <a:latin typeface="Lucida Sans Unicode"/>
                <a:cs typeface="Lucida Sans Unicode"/>
              </a:rPr>
              <a:t>(i)</a:t>
            </a:r>
            <a:r>
              <a:rPr sz="1800" dirty="0">
                <a:latin typeface="Lucida Sans Unicode"/>
                <a:cs typeface="Lucida Sans Unicode"/>
              </a:rPr>
              <a:t>	returns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existing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value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650" spc="-20" dirty="0">
                <a:latin typeface="Lucida Console"/>
                <a:cs typeface="Lucida Console"/>
              </a:rPr>
              <a:t>M[j]</a:t>
            </a:r>
            <a:endParaRPr sz="1650">
              <a:latin typeface="Lucida Console"/>
              <a:cs typeface="Lucida Console"/>
            </a:endParaRPr>
          </a:p>
          <a:p>
            <a:pPr marL="775335" indent="-238760">
              <a:lnSpc>
                <a:spcPct val="100000"/>
              </a:lnSpc>
              <a:spcBef>
                <a:spcPts val="695"/>
              </a:spcBef>
              <a:buFont typeface="Yu Gothic UI"/>
              <a:buChar char="-"/>
              <a:tabLst>
                <a:tab pos="775335" algn="l"/>
              </a:tabLst>
            </a:pPr>
            <a:r>
              <a:rPr sz="1800" dirty="0">
                <a:latin typeface="Lucida Sans Unicode"/>
                <a:cs typeface="Lucida Sans Unicode"/>
              </a:rPr>
              <a:t>(ii)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fills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one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new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entry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650" spc="-10" dirty="0">
                <a:latin typeface="Lucida Console"/>
                <a:cs typeface="Lucida Console"/>
              </a:rPr>
              <a:t>M[j]</a:t>
            </a:r>
            <a:r>
              <a:rPr sz="1650" spc="-405" dirty="0">
                <a:latin typeface="Lucida Console"/>
                <a:cs typeface="Lucida Consol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makes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two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recursive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calls</a:t>
            </a:r>
            <a:endParaRPr sz="1800">
              <a:latin typeface="Lucida Sans Unicode"/>
              <a:cs typeface="Lucida Sans Unicode"/>
            </a:endParaRPr>
          </a:p>
          <a:p>
            <a:pPr marL="184150">
              <a:lnSpc>
                <a:spcPct val="100000"/>
              </a:lnSpc>
              <a:spcBef>
                <a:spcPts val="2480"/>
              </a:spcBef>
            </a:pPr>
            <a:r>
              <a:rPr sz="4275" spc="2175" baseline="-7797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Progress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measure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Φ</a:t>
            </a:r>
            <a:r>
              <a:rPr sz="1800" spc="15" dirty="0">
                <a:latin typeface="Times New Roman"/>
                <a:cs typeface="Times New Roman"/>
              </a:rPr>
              <a:t> = # </a:t>
            </a:r>
            <a:r>
              <a:rPr sz="1800" dirty="0">
                <a:latin typeface="Lucida Sans Unicode"/>
                <a:cs typeface="Lucida Sans Unicode"/>
              </a:rPr>
              <a:t>nonempty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entries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650" spc="-20" dirty="0">
                <a:latin typeface="Lucida Console"/>
                <a:cs typeface="Lucida Console"/>
              </a:rPr>
              <a:t>M[]</a:t>
            </a:r>
            <a:r>
              <a:rPr sz="1800" spc="-2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775335" indent="-238760">
              <a:lnSpc>
                <a:spcPct val="100000"/>
              </a:lnSpc>
              <a:spcBef>
                <a:spcPts val="480"/>
              </a:spcBef>
              <a:buFont typeface="Yu Gothic UI"/>
              <a:buChar char="-"/>
              <a:tabLst>
                <a:tab pos="775335" algn="l"/>
                <a:tab pos="2404745" algn="l"/>
              </a:tabLst>
            </a:pPr>
            <a:r>
              <a:rPr sz="1800" dirty="0">
                <a:latin typeface="Lucida Sans Unicode"/>
                <a:cs typeface="Lucida Sans Unicode"/>
              </a:rPr>
              <a:t>initially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Φ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0</a:t>
            </a:r>
            <a:r>
              <a:rPr sz="1800" spc="-25" dirty="0">
                <a:latin typeface="Lucida Sans Unicode"/>
                <a:cs typeface="Lucida Sans Unicode"/>
              </a:rPr>
              <a:t>,</a:t>
            </a:r>
            <a:r>
              <a:rPr sz="1800" dirty="0">
                <a:latin typeface="Lucida Sans Unicode"/>
                <a:cs typeface="Lucida Sans Unicode"/>
              </a:rPr>
              <a:t>	throughout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Φ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775335" indent="-238760">
              <a:lnSpc>
                <a:spcPct val="100000"/>
              </a:lnSpc>
              <a:spcBef>
                <a:spcPts val="695"/>
              </a:spcBef>
              <a:buFont typeface="Yu Gothic UI"/>
              <a:buChar char="-"/>
              <a:tabLst>
                <a:tab pos="775335" algn="l"/>
                <a:tab pos="3076575" algn="l"/>
                <a:tab pos="3447415" algn="l"/>
              </a:tabLst>
            </a:pPr>
            <a:r>
              <a:rPr sz="1800" dirty="0">
                <a:latin typeface="Lucida Sans Unicode"/>
                <a:cs typeface="Lucida Sans Unicode"/>
              </a:rPr>
              <a:t>(ii)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increases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Φ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Symbol"/>
                <a:cs typeface="Symbol"/>
              </a:rPr>
              <a:t>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at most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recursive </a:t>
            </a:r>
            <a:r>
              <a:rPr sz="1800" spc="-10" dirty="0">
                <a:latin typeface="Lucida Sans Unicode"/>
                <a:cs typeface="Lucida Sans Unicode"/>
              </a:rPr>
              <a:t>calls.</a:t>
            </a:r>
            <a:endParaRPr sz="1800">
              <a:latin typeface="Lucida Sans Unicode"/>
              <a:cs typeface="Lucida Sans Unicode"/>
            </a:endParaRPr>
          </a:p>
          <a:p>
            <a:pPr marL="184150">
              <a:lnSpc>
                <a:spcPct val="100000"/>
              </a:lnSpc>
              <a:spcBef>
                <a:spcPts val="2500"/>
              </a:spcBef>
              <a:tabLst>
                <a:tab pos="6172200" algn="l"/>
              </a:tabLst>
            </a:pPr>
            <a:r>
              <a:rPr sz="4275" spc="2175" baseline="-5847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Overall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running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M-</a:t>
            </a:r>
            <a:r>
              <a:rPr sz="1800" spc="-10" dirty="0">
                <a:latin typeface="Times New Roman"/>
                <a:cs typeface="Times New Roman"/>
              </a:rPr>
              <a:t>C</a:t>
            </a:r>
            <a:r>
              <a:rPr sz="1450" spc="-10" dirty="0">
                <a:latin typeface="Times New Roman"/>
                <a:cs typeface="Times New Roman"/>
              </a:rPr>
              <a:t>OMPUTE</a:t>
            </a:r>
            <a:r>
              <a:rPr sz="1800" spc="-10" dirty="0">
                <a:latin typeface="Times New Roman"/>
                <a:cs typeface="Times New Roman"/>
              </a:rPr>
              <a:t>-</a:t>
            </a:r>
            <a:r>
              <a:rPr sz="1800" dirty="0">
                <a:latin typeface="Times New Roman"/>
                <a:cs typeface="Times New Roman"/>
              </a:rPr>
              <a:t>O</a:t>
            </a:r>
            <a:r>
              <a:rPr sz="1450" dirty="0">
                <a:latin typeface="Times New Roman"/>
                <a:cs typeface="Times New Roman"/>
              </a:rPr>
              <a:t>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spc="-50" dirty="0">
                <a:latin typeface="Lucida Sans Unicode"/>
                <a:cs typeface="Lucida Sans Unicode"/>
              </a:rPr>
              <a:t>▪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88900">
              <a:lnSpc>
                <a:spcPct val="100000"/>
              </a:lnSpc>
              <a:tabLst>
                <a:tab pos="114554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jobs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presorted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start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finish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times.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586740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80790" algn="l"/>
              </a:tabLst>
            </a:pPr>
            <a:r>
              <a:rPr dirty="0"/>
              <a:t>Weighted</a:t>
            </a:r>
            <a:r>
              <a:rPr spc="390" dirty="0"/>
              <a:t> </a:t>
            </a:r>
            <a:r>
              <a:rPr dirty="0"/>
              <a:t>interval</a:t>
            </a:r>
            <a:r>
              <a:rPr spc="390" dirty="0"/>
              <a:t> </a:t>
            </a:r>
            <a:r>
              <a:rPr spc="-10" dirty="0"/>
              <a:t>scheduling:</a:t>
            </a:r>
            <a:r>
              <a:rPr dirty="0"/>
              <a:t>	finding</a:t>
            </a:r>
            <a:r>
              <a:rPr spc="200" dirty="0"/>
              <a:t> </a:t>
            </a:r>
            <a:r>
              <a:rPr spc="90" dirty="0"/>
              <a:t>a</a:t>
            </a:r>
            <a:r>
              <a:rPr spc="20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5267" y="1131247"/>
            <a:ext cx="7748905" cy="7505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407034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DP algorithm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computes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optimal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value.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How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solution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itself?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87350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A.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Make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second </a:t>
            </a:r>
            <a:r>
              <a:rPr sz="1800" spc="-10" dirty="0">
                <a:latin typeface="Lucida Sans Unicode"/>
                <a:cs typeface="Lucida Sans Unicode"/>
              </a:rPr>
              <a:t>pass.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6655310"/>
            <a:ext cx="45859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125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Analysis.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# 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recursive calls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4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</a:t>
            </a:r>
            <a:r>
              <a:rPr sz="1800" spc="455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69502" y="2586001"/>
            <a:ext cx="5417820" cy="2708910"/>
          </a:xfrm>
          <a:custGeom>
            <a:avLst/>
            <a:gdLst/>
            <a:ahLst/>
            <a:cxnLst/>
            <a:rect l="l" t="t" r="r" b="b"/>
            <a:pathLst>
              <a:path w="5417820" h="2708910">
                <a:moveTo>
                  <a:pt x="0" y="0"/>
                </a:moveTo>
                <a:lnTo>
                  <a:pt x="5417244" y="0"/>
                </a:lnTo>
                <a:lnTo>
                  <a:pt x="5417244" y="2708621"/>
                </a:lnTo>
                <a:lnTo>
                  <a:pt x="0" y="27086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69502" y="2586001"/>
            <a:ext cx="5417820" cy="270891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19075" marR="3352800">
              <a:lnSpc>
                <a:spcPct val="146000"/>
              </a:lnSpc>
              <a:spcBef>
                <a:spcPts val="1200"/>
              </a:spcBef>
            </a:pP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Find-</a:t>
            </a:r>
            <a:r>
              <a:rPr sz="1500" spc="-10" dirty="0">
                <a:solidFill>
                  <a:srgbClr val="003F83"/>
                </a:solidFill>
                <a:latin typeface="Lucida Console"/>
                <a:cs typeface="Lucida Console"/>
              </a:rPr>
              <a:t>Solution</a:t>
            </a:r>
            <a:r>
              <a:rPr sz="1500" spc="-10" dirty="0">
                <a:latin typeface="Lucida Console"/>
                <a:cs typeface="Lucida Console"/>
              </a:rPr>
              <a:t>(j) 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if </a:t>
            </a:r>
            <a:r>
              <a:rPr sz="1500" dirty="0">
                <a:latin typeface="Lucida Console"/>
                <a:cs typeface="Lucida Console"/>
              </a:rPr>
              <a:t>j = </a:t>
            </a:r>
            <a:r>
              <a:rPr sz="1500" spc="-50" dirty="0">
                <a:latin typeface="Lucida Console"/>
                <a:cs typeface="Lucida Console"/>
              </a:rPr>
              <a:t>0</a:t>
            </a:r>
            <a:endParaRPr sz="1500">
              <a:latin typeface="Lucida Console"/>
              <a:cs typeface="Lucida Console"/>
            </a:endParaRPr>
          </a:p>
          <a:p>
            <a:pPr marL="563245">
              <a:lnSpc>
                <a:spcPct val="100000"/>
              </a:lnSpc>
              <a:spcBef>
                <a:spcPts val="830"/>
              </a:spcBef>
            </a:pP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return </a:t>
            </a:r>
            <a:r>
              <a:rPr sz="1500" spc="-25" dirty="0">
                <a:latin typeface="Symbol"/>
                <a:cs typeface="Symbol"/>
              </a:rPr>
              <a:t></a:t>
            </a:r>
            <a:r>
              <a:rPr sz="1500" spc="-25" dirty="0">
                <a:latin typeface="Lucida Console"/>
                <a:cs typeface="Lucida Console"/>
              </a:rPr>
              <a:t>.</a:t>
            </a:r>
            <a:endParaRPr sz="1500">
              <a:latin typeface="Lucida Console"/>
              <a:cs typeface="Lucida Console"/>
            </a:endParaRPr>
          </a:p>
          <a:p>
            <a:pPr marL="563245" marR="925830" indent="-344805">
              <a:lnSpc>
                <a:spcPct val="137700"/>
              </a:lnSpc>
              <a:spcBef>
                <a:spcPts val="150"/>
              </a:spcBef>
            </a:pP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else if </a:t>
            </a:r>
            <a:r>
              <a:rPr sz="1500" dirty="0">
                <a:latin typeface="Lucida Console"/>
                <a:cs typeface="Lucida Console"/>
              </a:rPr>
              <a:t>(v[j] + M[p[j]] &gt; </a:t>
            </a:r>
            <a:r>
              <a:rPr sz="1500" spc="-10" dirty="0">
                <a:latin typeface="Lucida Console"/>
                <a:cs typeface="Lucida Console"/>
              </a:rPr>
              <a:t>M[j–1]) 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return</a:t>
            </a:r>
            <a:r>
              <a:rPr sz="1500" spc="-5" dirty="0">
                <a:solidFill>
                  <a:srgbClr val="003F83"/>
                </a:solidFill>
                <a:latin typeface="Lucida Console"/>
                <a:cs typeface="Lucida Console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{ </a:t>
            </a:r>
            <a:r>
              <a:rPr sz="1650" i="1" dirty="0">
                <a:latin typeface="Times New Roman"/>
                <a:cs typeface="Times New Roman"/>
              </a:rPr>
              <a:t>j</a:t>
            </a:r>
            <a:r>
              <a:rPr sz="1650" i="1" spc="4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}</a:t>
            </a:r>
            <a:r>
              <a:rPr sz="1650" spc="80" dirty="0">
                <a:latin typeface="Times New Roman"/>
                <a:cs typeface="Times New Roman"/>
              </a:rPr>
              <a:t>  </a:t>
            </a:r>
            <a:r>
              <a:rPr sz="1650" dirty="0">
                <a:latin typeface="Symbol"/>
                <a:cs typeface="Symbol"/>
              </a:rPr>
              <a:t></a:t>
            </a:r>
            <a:r>
              <a:rPr sz="1650" spc="484" dirty="0"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Find-</a:t>
            </a:r>
            <a:r>
              <a:rPr sz="1500" spc="-10" dirty="0">
                <a:solidFill>
                  <a:srgbClr val="003F83"/>
                </a:solidFill>
                <a:latin typeface="Lucida Console"/>
                <a:cs typeface="Lucida Console"/>
              </a:rPr>
              <a:t>Solution</a:t>
            </a:r>
            <a:r>
              <a:rPr sz="1500" spc="-10" dirty="0">
                <a:latin typeface="Lucida Console"/>
                <a:cs typeface="Lucida Console"/>
              </a:rPr>
              <a:t>(p[j]).</a:t>
            </a:r>
            <a:endParaRPr sz="1500">
              <a:latin typeface="Lucida Console"/>
              <a:cs typeface="Lucida Console"/>
            </a:endParaRPr>
          </a:p>
          <a:p>
            <a:pPr marL="219075">
              <a:lnSpc>
                <a:spcPct val="100000"/>
              </a:lnSpc>
              <a:spcBef>
                <a:spcPts val="795"/>
              </a:spcBef>
            </a:pPr>
            <a:r>
              <a:rPr sz="1500" spc="-20" dirty="0">
                <a:solidFill>
                  <a:srgbClr val="003F83"/>
                </a:solidFill>
                <a:latin typeface="Lucida Console"/>
                <a:cs typeface="Lucida Console"/>
              </a:rPr>
              <a:t>else</a:t>
            </a:r>
            <a:endParaRPr sz="1500">
              <a:latin typeface="Lucida Console"/>
              <a:cs typeface="Lucida Console"/>
            </a:endParaRPr>
          </a:p>
          <a:p>
            <a:pPr marL="563245">
              <a:lnSpc>
                <a:spcPct val="100000"/>
              </a:lnSpc>
              <a:spcBef>
                <a:spcPts val="830"/>
              </a:spcBef>
            </a:pPr>
            <a:r>
              <a:rPr sz="1500" dirty="0">
                <a:solidFill>
                  <a:srgbClr val="003F83"/>
                </a:solidFill>
                <a:latin typeface="Lucida Console"/>
                <a:cs typeface="Lucida Console"/>
              </a:rPr>
              <a:t>return Find-</a:t>
            </a:r>
            <a:r>
              <a:rPr sz="1500" spc="-10" dirty="0">
                <a:solidFill>
                  <a:srgbClr val="003F83"/>
                </a:solidFill>
                <a:latin typeface="Lucida Console"/>
                <a:cs typeface="Lucida Console"/>
              </a:rPr>
              <a:t>Solution</a:t>
            </a:r>
            <a:r>
              <a:rPr sz="1500" spc="-10" dirty="0">
                <a:latin typeface="Lucida Console"/>
                <a:cs typeface="Lucida Console"/>
              </a:rPr>
              <a:t>(j–1).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9317" y="3139171"/>
            <a:ext cx="1871345" cy="0"/>
          </a:xfrm>
          <a:custGeom>
            <a:avLst/>
            <a:gdLst/>
            <a:ahLst/>
            <a:cxnLst/>
            <a:rect l="l" t="t" r="r" b="b"/>
            <a:pathLst>
              <a:path w="1871345">
                <a:moveTo>
                  <a:pt x="0" y="0"/>
                </a:moveTo>
                <a:lnTo>
                  <a:pt x="1871063" y="0"/>
                </a:lnTo>
              </a:path>
            </a:pathLst>
          </a:custGeom>
          <a:ln w="11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49999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80790" algn="l"/>
              </a:tabLst>
            </a:pPr>
            <a:r>
              <a:rPr dirty="0"/>
              <a:t>Weighted</a:t>
            </a:r>
            <a:r>
              <a:rPr spc="390" dirty="0"/>
              <a:t> </a:t>
            </a:r>
            <a:r>
              <a:rPr dirty="0"/>
              <a:t>interval</a:t>
            </a:r>
            <a:r>
              <a:rPr spc="390" dirty="0"/>
              <a:t> </a:t>
            </a:r>
            <a:r>
              <a:rPr spc="-10" dirty="0"/>
              <a:t>scheduling:</a:t>
            </a:r>
            <a:r>
              <a:rPr dirty="0"/>
              <a:t>	</a:t>
            </a:r>
            <a:r>
              <a:rPr spc="-20" dirty="0"/>
              <a:t>bottom-</a:t>
            </a:r>
            <a:r>
              <a:rPr spc="-25" dirty="0"/>
              <a:t>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108733"/>
            <a:ext cx="60267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7800" algn="l"/>
              </a:tabLst>
            </a:pPr>
            <a:r>
              <a:rPr sz="1800" spc="-60" dirty="0">
                <a:solidFill>
                  <a:srgbClr val="0048AA"/>
                </a:solidFill>
                <a:latin typeface="Lucida Sans Unicode"/>
                <a:cs typeface="Lucida Sans Unicode"/>
              </a:rPr>
              <a:t>Bottom-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up</a:t>
            </a:r>
            <a:r>
              <a:rPr sz="1800" spc="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dynamic</a:t>
            </a:r>
            <a:r>
              <a:rPr sz="1800" spc="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programming.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Unwind</a:t>
            </a:r>
            <a:r>
              <a:rPr sz="1800" spc="6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recursion.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6941" y="1662821"/>
            <a:ext cx="6018530" cy="2927985"/>
            <a:chOff x="1673557" y="2776749"/>
            <a:chExt cx="6018530" cy="2927985"/>
          </a:xfrm>
        </p:grpSpPr>
        <p:sp>
          <p:nvSpPr>
            <p:cNvPr id="6" name="object 6"/>
            <p:cNvSpPr/>
            <p:nvPr/>
          </p:nvSpPr>
          <p:spPr>
            <a:xfrm>
              <a:off x="1673557" y="2776749"/>
              <a:ext cx="6018530" cy="2927985"/>
            </a:xfrm>
            <a:custGeom>
              <a:avLst/>
              <a:gdLst/>
              <a:ahLst/>
              <a:cxnLst/>
              <a:rect l="l" t="t" r="r" b="b"/>
              <a:pathLst>
                <a:path w="6018530" h="2927985">
                  <a:moveTo>
                    <a:pt x="0" y="0"/>
                  </a:moveTo>
                  <a:lnTo>
                    <a:pt x="6018102" y="0"/>
                  </a:lnTo>
                  <a:lnTo>
                    <a:pt x="6018102" y="2927982"/>
                  </a:lnTo>
                  <a:lnTo>
                    <a:pt x="0" y="29279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92917" y="3379475"/>
              <a:ext cx="4964430" cy="0"/>
            </a:xfrm>
            <a:custGeom>
              <a:avLst/>
              <a:gdLst/>
              <a:ahLst/>
              <a:cxnLst/>
              <a:rect l="l" t="t" r="r" b="b"/>
              <a:pathLst>
                <a:path w="4964430">
                  <a:moveTo>
                    <a:pt x="0" y="0"/>
                  </a:moveTo>
                  <a:lnTo>
                    <a:pt x="496421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16941" y="1662821"/>
            <a:ext cx="6018530" cy="292798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505"/>
              </a:spcBef>
            </a:pPr>
            <a:r>
              <a:rPr sz="1800" spc="-20" dirty="0">
                <a:solidFill>
                  <a:srgbClr val="003F83"/>
                </a:solidFill>
                <a:latin typeface="Times New Roman"/>
                <a:cs typeface="Times New Roman"/>
              </a:rPr>
              <a:t>B</a:t>
            </a:r>
            <a:r>
              <a:rPr sz="1450" spc="-20" dirty="0">
                <a:solidFill>
                  <a:srgbClr val="003F83"/>
                </a:solidFill>
                <a:latin typeface="Times New Roman"/>
                <a:cs typeface="Times New Roman"/>
              </a:rPr>
              <a:t>OTTOM</a:t>
            </a:r>
            <a:r>
              <a:rPr sz="1800" spc="-20" dirty="0">
                <a:solidFill>
                  <a:srgbClr val="003F83"/>
                </a:solidFill>
                <a:latin typeface="Times New Roman"/>
                <a:cs typeface="Times New Roman"/>
              </a:rPr>
              <a:t>-</a:t>
            </a:r>
            <a:r>
              <a:rPr sz="1800" dirty="0">
                <a:solidFill>
                  <a:srgbClr val="003F83"/>
                </a:solidFill>
                <a:latin typeface="Times New Roman"/>
                <a:cs typeface="Times New Roman"/>
              </a:rPr>
              <a:t>U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P</a:t>
            </a:r>
            <a:r>
              <a:rPr sz="1450" spc="-6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,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…, s</a:t>
            </a:r>
            <a:r>
              <a:rPr sz="1800" i="1" baseline="-6944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, …, f</a:t>
            </a:r>
            <a:r>
              <a:rPr sz="1800" i="1" baseline="-6944" dirty="0">
                <a:latin typeface="Times New Roman"/>
                <a:cs typeface="Times New Roman"/>
              </a:rPr>
              <a:t>n</a:t>
            </a:r>
            <a:r>
              <a:rPr sz="1800" i="1" spc="232" baseline="-6944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, v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,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…, </a:t>
            </a:r>
            <a:r>
              <a:rPr sz="1800" i="1" spc="-25" dirty="0">
                <a:latin typeface="Times New Roman"/>
                <a:cs typeface="Times New Roman"/>
              </a:rPr>
              <a:t>v</a:t>
            </a:r>
            <a:r>
              <a:rPr sz="1800" i="1" spc="-37" baseline="-6944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219075" marR="1344295">
              <a:lnSpc>
                <a:spcPct val="135600"/>
              </a:lnSpc>
              <a:spcBef>
                <a:spcPts val="975"/>
              </a:spcBef>
            </a:pPr>
            <a:r>
              <a:rPr sz="1800" dirty="0">
                <a:latin typeface="Times New Roman"/>
                <a:cs typeface="Times New Roman"/>
              </a:rPr>
              <a:t>Sort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jobs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finish time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spc="217" baseline="-694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spc="667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 ≤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f</a:t>
            </a:r>
            <a:r>
              <a:rPr sz="1800" i="1" spc="-37" baseline="-6944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Times New Roman"/>
                <a:cs typeface="Times New Roman"/>
              </a:rPr>
              <a:t>. </a:t>
            </a:r>
            <a:r>
              <a:rPr sz="1800" dirty="0">
                <a:latin typeface="Times New Roman"/>
                <a:cs typeface="Times New Roman"/>
              </a:rPr>
              <a:t>Compute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(1),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(2), …,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-20" dirty="0">
                <a:latin typeface="Times New Roman"/>
                <a:cs typeface="Times New Roman"/>
              </a:rPr>
              <a:t>p</a:t>
            </a:r>
            <a:r>
              <a:rPr sz="1800" spc="-20" dirty="0">
                <a:latin typeface="Times New Roman"/>
                <a:cs typeface="Times New Roman"/>
              </a:rPr>
              <a:t>(</a:t>
            </a:r>
            <a:r>
              <a:rPr sz="1800" i="1" spc="-20" dirty="0">
                <a:latin typeface="Times New Roman"/>
                <a:cs typeface="Times New Roman"/>
              </a:rPr>
              <a:t>n</a:t>
            </a:r>
            <a:r>
              <a:rPr sz="1800" spc="-20" dirty="0">
                <a:latin typeface="Times New Roman"/>
                <a:cs typeface="Times New Roman"/>
              </a:rPr>
              <a:t>).</a:t>
            </a:r>
            <a:endParaRPr sz="1800">
              <a:latin typeface="Times New Roman"/>
              <a:cs typeface="Times New Roman"/>
            </a:endParaRPr>
          </a:p>
          <a:p>
            <a:pPr marL="219075" marR="4472305">
              <a:lnSpc>
                <a:spcPct val="135600"/>
              </a:lnSpc>
            </a:pP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[0] ← </a:t>
            </a:r>
            <a:r>
              <a:rPr sz="1800" spc="-25" dirty="0">
                <a:latin typeface="Times New Roman"/>
                <a:cs typeface="Times New Roman"/>
              </a:rPr>
              <a:t>0. </a:t>
            </a:r>
            <a:r>
              <a:rPr sz="180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450" spc="-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450" spc="7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476250">
              <a:lnSpc>
                <a:spcPct val="100000"/>
              </a:lnSpc>
              <a:spcBef>
                <a:spcPts val="770"/>
              </a:spcBef>
            </a:pP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]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←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max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 </a:t>
            </a:r>
            <a:r>
              <a:rPr sz="1800" i="1" dirty="0">
                <a:latin typeface="Times New Roman"/>
                <a:cs typeface="Times New Roman"/>
              </a:rPr>
              <a:t>v</a:t>
            </a:r>
            <a:r>
              <a:rPr sz="1800" i="1" baseline="-6944" dirty="0">
                <a:latin typeface="Times New Roman"/>
                <a:cs typeface="Times New Roman"/>
              </a:rPr>
              <a:t>j</a:t>
            </a:r>
            <a:r>
              <a:rPr sz="1800" i="1" spc="675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],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1] </a:t>
            </a:r>
            <a:r>
              <a:rPr sz="1800" spc="-25" dirty="0">
                <a:latin typeface="Times New Roman"/>
                <a:cs typeface="Times New Roman"/>
              </a:rPr>
              <a:t>}.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6301" y="4249327"/>
            <a:ext cx="4964430" cy="0"/>
          </a:xfrm>
          <a:custGeom>
            <a:avLst/>
            <a:gdLst/>
            <a:ahLst/>
            <a:cxnLst/>
            <a:rect l="l" t="t" r="r" b="b"/>
            <a:pathLst>
              <a:path w="4964430">
                <a:moveTo>
                  <a:pt x="0" y="0"/>
                </a:moveTo>
                <a:lnTo>
                  <a:pt x="49642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pic>
        <p:nvPicPr>
          <p:cNvPr id="2050" name="Picture 2" descr="Bottom-Up vs. Top-Down - Dynamic Programming Guide (2/3) - YouTube">
            <a:extLst>
              <a:ext uri="{FF2B5EF4-FFF2-40B4-BE49-F238E27FC236}">
                <a16:creationId xmlns:a16="http://schemas.microsoft.com/office/drawing/2014/main" id="{F6E285A4-E2BE-33C5-DE45-56C5EA7FC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425" y="4701064"/>
            <a:ext cx="4013741" cy="301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A0349D3-B61C-E8EB-E90A-E63F505323F5}"/>
              </a:ext>
            </a:extLst>
          </p:cNvPr>
          <p:cNvSpPr txBox="1"/>
          <p:nvPr/>
        </p:nvSpPr>
        <p:spPr>
          <a:xfrm>
            <a:off x="319976" y="56320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/>
              <a:t>_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D14CAD-3921-A7EE-0767-0AE79D6646D0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0" y="293915"/>
            <a:ext cx="10058400" cy="718457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tlCol="0" anchor="ctr">
            <a:noAutofit/>
          </a:bodyPr>
          <a:lstStyle/>
          <a:p>
            <a:pPr algn="ctr"/>
            <a:r>
              <a:rPr kumimoji="1"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kumimoji="1"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kumimoji="1" lang="en-GB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https://www.youtube.com/watch?v=Hdr64lKQ3e4</a:t>
            </a: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kumimoji="1"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温馨提示：此视频框在点击“上传手机课件”时会进行转换，用手机进行观看时则会变为可点击的视频。此视频框可被拖动移位和修改大小。</a:t>
            </a:r>
          </a:p>
        </p:txBody>
      </p:sp>
    </p:spTree>
    <p:extLst>
      <p:ext uri="{BB962C8B-B14F-4D97-AF65-F5344CB8AC3E}">
        <p14:creationId xmlns:p14="http://schemas.microsoft.com/office/powerpoint/2010/main" val="3979515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936" y="1527350"/>
            <a:ext cx="3337560" cy="3832225"/>
            <a:chOff x="640936" y="1527350"/>
            <a:chExt cx="3337560" cy="3832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6" y="1527350"/>
              <a:ext cx="3337527" cy="38320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8"/>
              <a:ext cx="552411" cy="60610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>
                <a:moveTo>
                  <a:pt x="0" y="0"/>
                </a:moveTo>
                <a:lnTo>
                  <a:pt x="4892688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73707" y="5444059"/>
            <a:ext cx="10826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cap="small" spc="85" dirty="0">
                <a:latin typeface="Trebuchet MS"/>
                <a:cs typeface="Trebuchet MS"/>
              </a:rPr>
              <a:t>Section</a:t>
            </a:r>
            <a:r>
              <a:rPr sz="1500" b="1" cap="small" spc="65" dirty="0">
                <a:latin typeface="Trebuchet MS"/>
                <a:cs typeface="Trebuchet MS"/>
              </a:rPr>
              <a:t> </a:t>
            </a:r>
            <a:r>
              <a:rPr sz="1500" b="1" cap="small" spc="-45" dirty="0">
                <a:latin typeface="Trebuchet MS"/>
                <a:cs typeface="Trebuchet MS"/>
              </a:rPr>
              <a:t>6.3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470765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latin typeface="Tahoma"/>
                <a:cs typeface="Tahoma"/>
              </a:rPr>
              <a:t>6.</a:t>
            </a:r>
            <a:r>
              <a:rPr sz="2700" b="1" cap="small" dirty="0">
                <a:latin typeface="Tahoma"/>
                <a:cs typeface="Tahoma"/>
              </a:rPr>
              <a:t>	</a:t>
            </a:r>
            <a:r>
              <a:rPr sz="2700" b="1" cap="small" spc="-60" dirty="0">
                <a:latin typeface="Tahoma"/>
                <a:cs typeface="Tahoma"/>
              </a:rPr>
              <a:t>Dynamic</a:t>
            </a:r>
            <a:r>
              <a:rPr sz="2700" b="1" cap="small" spc="-10" dirty="0">
                <a:latin typeface="Tahoma"/>
                <a:cs typeface="Tahoma"/>
              </a:rPr>
              <a:t> </a:t>
            </a:r>
            <a:r>
              <a:rPr sz="2700" b="1" cap="small" spc="-50" dirty="0">
                <a:latin typeface="Tahoma"/>
                <a:cs typeface="Tahoma"/>
              </a:rPr>
              <a:t>Programming</a:t>
            </a:r>
            <a:r>
              <a:rPr sz="2700" b="1" cap="small" spc="-10" dirty="0">
                <a:latin typeface="Tahoma"/>
                <a:cs typeface="Tahoma"/>
              </a:rPr>
              <a:t> </a:t>
            </a:r>
            <a:r>
              <a:rPr sz="2700" b="1" cap="small" spc="-940" dirty="0">
                <a:latin typeface="Tahoma"/>
                <a:cs typeface="Tahoma"/>
              </a:rPr>
              <a:t>I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541" y="2115505"/>
            <a:ext cx="3691254" cy="193293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04" dirty="0">
                <a:solidFill>
                  <a:srgbClr val="D5D5D5"/>
                </a:solidFill>
                <a:latin typeface="Verdana"/>
                <a:cs typeface="Verdana"/>
              </a:rPr>
              <a:t>weighted</a:t>
            </a:r>
            <a:r>
              <a:rPr sz="2250" i="1" spc="-14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D5D5D5"/>
                </a:solidFill>
                <a:latin typeface="Verdana"/>
                <a:cs typeface="Verdana"/>
              </a:rPr>
              <a:t>interval</a:t>
            </a:r>
            <a:r>
              <a:rPr sz="2250" i="1" spc="-13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D5D5D5"/>
                </a:solidFill>
                <a:latin typeface="Verdana"/>
                <a:cs typeface="Verdana"/>
              </a:rPr>
              <a:t>scheduling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80" dirty="0">
                <a:latin typeface="Verdana"/>
                <a:cs typeface="Verdana"/>
              </a:rPr>
              <a:t>segmented</a:t>
            </a:r>
            <a:r>
              <a:rPr sz="2250" i="1" spc="-105" dirty="0">
                <a:latin typeface="Verdana"/>
                <a:cs typeface="Verdana"/>
              </a:rPr>
              <a:t> </a:t>
            </a:r>
            <a:r>
              <a:rPr sz="2250" i="1" spc="-235" dirty="0">
                <a:latin typeface="Verdana"/>
                <a:cs typeface="Verdana"/>
              </a:rPr>
              <a:t>least</a:t>
            </a:r>
            <a:r>
              <a:rPr sz="2250" i="1" spc="-105" dirty="0">
                <a:latin typeface="Verdana"/>
                <a:cs typeface="Verdana"/>
              </a:rPr>
              <a:t> </a:t>
            </a:r>
            <a:r>
              <a:rPr sz="2250" i="1" spc="-70" dirty="0">
                <a:latin typeface="Verdana"/>
                <a:cs typeface="Verdana"/>
              </a:rPr>
              <a:t>squares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20" dirty="0">
                <a:solidFill>
                  <a:srgbClr val="D5D5D5"/>
                </a:solidFill>
                <a:latin typeface="Verdana"/>
                <a:cs typeface="Verdana"/>
              </a:rPr>
              <a:t>knapsack</a:t>
            </a:r>
            <a:r>
              <a:rPr sz="2250" i="1" spc="-6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70" dirty="0">
                <a:solidFill>
                  <a:srgbClr val="D5D5D5"/>
                </a:solidFill>
                <a:latin typeface="Verdana"/>
                <a:cs typeface="Verdana"/>
              </a:rPr>
              <a:t>problem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0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85" dirty="0">
                <a:solidFill>
                  <a:srgbClr val="D5D5D5"/>
                </a:solidFill>
                <a:latin typeface="Verdana"/>
                <a:cs typeface="Verdana"/>
              </a:rPr>
              <a:t>RNA</a:t>
            </a:r>
            <a:r>
              <a:rPr sz="2250" i="1" spc="-12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00" dirty="0">
                <a:solidFill>
                  <a:srgbClr val="D5D5D5"/>
                </a:solidFill>
                <a:latin typeface="Verdana"/>
                <a:cs typeface="Verdana"/>
              </a:rPr>
              <a:t>secondary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75" dirty="0">
                <a:solidFill>
                  <a:srgbClr val="D5D5D5"/>
                </a:solidFill>
                <a:latin typeface="Verdana"/>
                <a:cs typeface="Verdana"/>
              </a:rPr>
              <a:t>structure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164718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Least</a:t>
            </a:r>
            <a:r>
              <a:rPr spc="-105" dirty="0"/>
              <a:t> </a:t>
            </a:r>
            <a:r>
              <a:rPr spc="-10" dirty="0"/>
              <a:t>squares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867" y="1218991"/>
            <a:ext cx="8536305" cy="105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980"/>
              </a:lnSpc>
              <a:spcBef>
                <a:spcPts val="100"/>
              </a:spcBef>
              <a:tabLst>
                <a:tab pos="1767839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Least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squares.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Foundational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problem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statistics.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2960"/>
              </a:lnSpc>
              <a:tabLst>
                <a:tab pos="3688715" algn="l"/>
              </a:tabLst>
            </a:pPr>
            <a:r>
              <a:rPr sz="4275" spc="2175" baseline="-7797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points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plane: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),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) 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6944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spc="-20" dirty="0">
                <a:latin typeface="Times New Roman"/>
                <a:cs typeface="Times New Roman"/>
              </a:rPr>
              <a:t>y</a:t>
            </a:r>
            <a:r>
              <a:rPr sz="1800" i="1" spc="-30" baseline="-6944" dirty="0">
                <a:latin typeface="Times New Roman"/>
                <a:cs typeface="Times New Roman"/>
              </a:rPr>
              <a:t>n</a:t>
            </a:r>
            <a:r>
              <a:rPr sz="1800" spc="-20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3135"/>
              </a:lnSpc>
            </a:pPr>
            <a:r>
              <a:rPr sz="4275" spc="2175" baseline="-7797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line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= </a:t>
            </a:r>
            <a:r>
              <a:rPr sz="1800" i="1" dirty="0">
                <a:latin typeface="Times New Roman"/>
                <a:cs typeface="Times New Roman"/>
              </a:rPr>
              <a:t>ax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+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minimizes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squared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error</a:t>
            </a:r>
            <a:r>
              <a:rPr lang="en-GB" sz="1800" spc="-10" dirty="0">
                <a:latin typeface="Lucida Sans Unicode"/>
                <a:cs typeface="Lucida Sans Unicode"/>
              </a:rPr>
              <a:t>s</a:t>
            </a:r>
            <a:r>
              <a:rPr sz="1800" spc="-10" dirty="0">
                <a:latin typeface="Lucida Sans Unicode"/>
                <a:cs typeface="Lucida Sans Unicode"/>
              </a:rPr>
              <a:t>: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5568046"/>
            <a:ext cx="56254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5380" algn="l"/>
                <a:tab pos="2216150" algn="l"/>
                <a:tab pos="258699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latin typeface="Lucida Sans Unicode"/>
                <a:cs typeface="Lucida Sans Unicode"/>
              </a:rPr>
              <a:t>Calculus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spc="-50" dirty="0">
                <a:latin typeface="Symbol"/>
                <a:cs typeface="Symbol"/>
              </a:rPr>
              <a:t>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min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error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achieved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when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9578" y="2478159"/>
            <a:ext cx="2432685" cy="661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94360" algn="ctr">
              <a:lnSpc>
                <a:spcPts val="1305"/>
              </a:lnSpc>
              <a:spcBef>
                <a:spcPts val="130"/>
              </a:spcBef>
            </a:pPr>
            <a:r>
              <a:rPr sz="1250" i="1" spc="-50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  <a:p>
            <a:pPr marL="38100">
              <a:lnSpc>
                <a:spcPts val="2085"/>
              </a:lnSpc>
              <a:tabLst>
                <a:tab pos="559435" algn="l"/>
                <a:tab pos="830580" algn="l"/>
              </a:tabLst>
            </a:pPr>
            <a:r>
              <a:rPr sz="2850" i="1" spc="-37" baseline="2923" dirty="0">
                <a:latin typeface="Times New Roman"/>
                <a:cs typeface="Times New Roman"/>
              </a:rPr>
              <a:t>SSE</a:t>
            </a:r>
            <a:r>
              <a:rPr sz="2850" i="1" baseline="2923" dirty="0">
                <a:latin typeface="Times New Roman"/>
                <a:cs typeface="Times New Roman"/>
              </a:rPr>
              <a:t>	</a:t>
            </a:r>
            <a:r>
              <a:rPr sz="2850" spc="-75" baseline="2923" dirty="0">
                <a:latin typeface="Symbol"/>
                <a:cs typeface="Symbol"/>
              </a:rPr>
              <a:t></a:t>
            </a:r>
            <a:r>
              <a:rPr sz="2850" baseline="2923" dirty="0">
                <a:latin typeface="Times New Roman"/>
                <a:cs typeface="Times New Roman"/>
              </a:rPr>
              <a:t>	</a:t>
            </a:r>
            <a:r>
              <a:rPr sz="1900" dirty="0">
                <a:latin typeface="Symbol"/>
                <a:cs typeface="Symbol"/>
              </a:rPr>
              <a:t></a:t>
            </a:r>
            <a:r>
              <a:rPr sz="1900" spc="195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2850" spc="-330" baseline="2923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y</a:t>
            </a:r>
            <a:r>
              <a:rPr sz="1875" i="1" baseline="-17777" dirty="0">
                <a:latin typeface="Times New Roman"/>
                <a:cs typeface="Times New Roman"/>
              </a:rPr>
              <a:t>i</a:t>
            </a:r>
            <a:r>
              <a:rPr sz="1875" i="1" spc="292" baseline="-17777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Symbol"/>
                <a:cs typeface="Symbol"/>
              </a:rPr>
              <a:t></a:t>
            </a:r>
            <a:r>
              <a:rPr sz="2850" spc="-202" baseline="2923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ax</a:t>
            </a:r>
            <a:r>
              <a:rPr sz="1875" i="1" baseline="-17777" dirty="0">
                <a:latin typeface="Times New Roman"/>
                <a:cs typeface="Times New Roman"/>
              </a:rPr>
              <a:t>i</a:t>
            </a:r>
            <a:r>
              <a:rPr sz="1875" i="1" spc="292" baseline="-17777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Symbol"/>
                <a:cs typeface="Symbol"/>
              </a:rPr>
              <a:t></a:t>
            </a:r>
            <a:r>
              <a:rPr sz="2850" spc="-292" baseline="2923" dirty="0">
                <a:latin typeface="Times New Roman"/>
                <a:cs typeface="Times New Roman"/>
              </a:rPr>
              <a:t> </a:t>
            </a:r>
            <a:r>
              <a:rPr sz="2850" i="1" spc="-37" baseline="2923" dirty="0">
                <a:latin typeface="Times New Roman"/>
                <a:cs typeface="Times New Roman"/>
              </a:rPr>
              <a:t>b</a:t>
            </a:r>
            <a:r>
              <a:rPr sz="2850" spc="-37" baseline="2923" dirty="0">
                <a:latin typeface="Times New Roman"/>
                <a:cs typeface="Times New Roman"/>
              </a:rPr>
              <a:t>)</a:t>
            </a:r>
            <a:r>
              <a:rPr sz="1875" spc="-37" baseline="42222" dirty="0">
                <a:latin typeface="Times New Roman"/>
                <a:cs typeface="Times New Roman"/>
              </a:rPr>
              <a:t>2</a:t>
            </a:r>
            <a:endParaRPr sz="1875" baseline="42222">
              <a:latin typeface="Times New Roman"/>
              <a:cs typeface="Times New Roman"/>
            </a:endParaRPr>
          </a:p>
          <a:p>
            <a:pPr marR="579755" algn="ctr">
              <a:lnSpc>
                <a:spcPct val="100000"/>
              </a:lnSpc>
              <a:spcBef>
                <a:spcPts val="80"/>
              </a:spcBef>
            </a:pPr>
            <a:r>
              <a:rPr sz="1250" i="1" spc="-25" dirty="0">
                <a:latin typeface="Times New Roman"/>
                <a:cs typeface="Times New Roman"/>
              </a:rPr>
              <a:t>i</a:t>
            </a:r>
            <a:r>
              <a:rPr sz="1250" spc="-25" dirty="0">
                <a:latin typeface="Symbol"/>
                <a:cs typeface="Symbol"/>
              </a:rPr>
              <a:t></a:t>
            </a:r>
            <a:r>
              <a:rPr sz="1250" spc="-25" dirty="0"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0206" y="6216943"/>
            <a:ext cx="1252220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23545">
              <a:lnSpc>
                <a:spcPts val="1860"/>
              </a:lnSpc>
              <a:spcBef>
                <a:spcPts val="130"/>
              </a:spcBef>
            </a:pPr>
            <a:r>
              <a:rPr sz="2850" i="1" baseline="2923" dirty="0">
                <a:latin typeface="Times New Roman"/>
                <a:cs typeface="Times New Roman"/>
              </a:rPr>
              <a:t>n</a:t>
            </a:r>
            <a:r>
              <a:rPr sz="2850" i="1" spc="-82" baseline="292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</a:t>
            </a:r>
            <a:r>
              <a:rPr sz="1875" i="1" baseline="-22222" dirty="0">
                <a:latin typeface="Times New Roman"/>
                <a:cs typeface="Times New Roman"/>
              </a:rPr>
              <a:t>i</a:t>
            </a:r>
            <a:r>
              <a:rPr sz="1875" i="1" spc="104" baseline="-22222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x</a:t>
            </a:r>
            <a:r>
              <a:rPr sz="1875" i="1" baseline="-17777" dirty="0">
                <a:latin typeface="Times New Roman"/>
                <a:cs typeface="Times New Roman"/>
              </a:rPr>
              <a:t>i</a:t>
            </a:r>
            <a:r>
              <a:rPr sz="1875" i="1" spc="30" baseline="-17777" dirty="0">
                <a:latin typeface="Times New Roman"/>
                <a:cs typeface="Times New Roman"/>
              </a:rPr>
              <a:t> </a:t>
            </a:r>
            <a:r>
              <a:rPr sz="2850" i="1" spc="-37" baseline="2923" dirty="0">
                <a:latin typeface="Times New Roman"/>
                <a:cs typeface="Times New Roman"/>
              </a:rPr>
              <a:t>y</a:t>
            </a:r>
            <a:r>
              <a:rPr sz="1875" i="1" spc="-37" baseline="-17777" dirty="0">
                <a:latin typeface="Times New Roman"/>
                <a:cs typeface="Times New Roman"/>
              </a:rPr>
              <a:t>i</a:t>
            </a:r>
            <a:endParaRPr sz="1875" baseline="-17777">
              <a:latin typeface="Times New Roman"/>
              <a:cs typeface="Times New Roman"/>
            </a:endParaRPr>
          </a:p>
          <a:p>
            <a:pPr marL="38100">
              <a:lnSpc>
                <a:spcPts val="1860"/>
              </a:lnSpc>
            </a:pPr>
            <a:r>
              <a:rPr sz="1900" i="1" dirty="0">
                <a:latin typeface="Times New Roman"/>
                <a:cs typeface="Times New Roman"/>
              </a:rPr>
              <a:t>a</a:t>
            </a:r>
            <a:r>
              <a:rPr sz="1900" i="1" spc="-5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65049" y="6632986"/>
            <a:ext cx="13398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i="1" spc="-50" dirty="0">
                <a:latin typeface="Times New Roman"/>
                <a:cs typeface="Times New Roman"/>
              </a:rPr>
              <a:t>x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3348" y="6776214"/>
            <a:ext cx="7112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i="1" spc="-50" dirty="0"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4266" y="6592064"/>
            <a:ext cx="10668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50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24510" y="6776214"/>
            <a:ext cx="7112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i="1" spc="-50" dirty="0"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86958" y="6605705"/>
            <a:ext cx="10668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50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21449" y="6791560"/>
            <a:ext cx="7112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i="1" spc="-50" dirty="0"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3177" y="6643216"/>
            <a:ext cx="82931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baseline="2923" dirty="0">
                <a:latin typeface="Symbol"/>
                <a:cs typeface="Symbol"/>
              </a:rPr>
              <a:t></a:t>
            </a:r>
            <a:r>
              <a:rPr sz="2850" spc="-112" baseline="2923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1900" dirty="0">
                <a:latin typeface="Symbol"/>
                <a:cs typeface="Symbol"/>
              </a:rPr>
              <a:t></a:t>
            </a:r>
            <a:r>
              <a:rPr sz="1900" spc="265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x</a:t>
            </a:r>
            <a:r>
              <a:rPr sz="2850" i="1" spc="284" baseline="2923" dirty="0">
                <a:latin typeface="Times New Roman"/>
                <a:cs typeface="Times New Roman"/>
              </a:rPr>
              <a:t> </a:t>
            </a:r>
            <a:r>
              <a:rPr sz="2850" spc="-75" baseline="2923" dirty="0">
                <a:latin typeface="Times New Roman"/>
                <a:cs typeface="Times New Roman"/>
              </a:rPr>
              <a:t>)</a:t>
            </a:r>
            <a:endParaRPr sz="2850" baseline="292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70287" y="6791560"/>
            <a:ext cx="7112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i="1" spc="-50" dirty="0"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25084" y="6643216"/>
            <a:ext cx="37528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i="1" baseline="2923" dirty="0">
                <a:latin typeface="Times New Roman"/>
                <a:cs typeface="Times New Roman"/>
              </a:rPr>
              <a:t>n</a:t>
            </a:r>
            <a:r>
              <a:rPr sz="2850" i="1" spc="-75" baseline="2923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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70583" y="6603059"/>
            <a:ext cx="2458720" cy="0"/>
          </a:xfrm>
          <a:custGeom>
            <a:avLst/>
            <a:gdLst/>
            <a:ahLst/>
            <a:cxnLst/>
            <a:rect l="l" t="t" r="r" b="b"/>
            <a:pathLst>
              <a:path w="2458720">
                <a:moveTo>
                  <a:pt x="0" y="0"/>
                </a:moveTo>
                <a:lnTo>
                  <a:pt x="2458724" y="0"/>
                </a:lnTo>
              </a:path>
            </a:pathLst>
          </a:custGeom>
          <a:ln w="68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93636" y="6216943"/>
            <a:ext cx="1661795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ts val="1860"/>
              </a:lnSpc>
              <a:spcBef>
                <a:spcPts val="130"/>
              </a:spcBef>
            </a:pPr>
            <a:r>
              <a:rPr sz="2850" baseline="2923" dirty="0">
                <a:latin typeface="Symbol"/>
                <a:cs typeface="Symbol"/>
              </a:rPr>
              <a:t></a:t>
            </a:r>
            <a:r>
              <a:rPr sz="2850" spc="-120" baseline="2923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1900" dirty="0">
                <a:latin typeface="Symbol"/>
                <a:cs typeface="Symbol"/>
              </a:rPr>
              <a:t></a:t>
            </a:r>
            <a:r>
              <a:rPr sz="1875" i="1" baseline="-22222" dirty="0">
                <a:latin typeface="Times New Roman"/>
                <a:cs typeface="Times New Roman"/>
              </a:rPr>
              <a:t>i</a:t>
            </a:r>
            <a:r>
              <a:rPr sz="1875" i="1" spc="135" baseline="-22222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x</a:t>
            </a:r>
            <a:r>
              <a:rPr sz="1875" i="1" baseline="-17777" dirty="0">
                <a:latin typeface="Times New Roman"/>
                <a:cs typeface="Times New Roman"/>
              </a:rPr>
              <a:t>i</a:t>
            </a:r>
            <a:r>
              <a:rPr sz="1875" i="1" spc="-30" baseline="-17777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)</a:t>
            </a:r>
            <a:r>
              <a:rPr sz="2850" spc="7" baseline="2923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1900" dirty="0">
                <a:latin typeface="Symbol"/>
                <a:cs typeface="Symbol"/>
              </a:rPr>
              <a:t></a:t>
            </a:r>
            <a:r>
              <a:rPr sz="1875" i="1" baseline="-22222" dirty="0">
                <a:latin typeface="Times New Roman"/>
                <a:cs typeface="Times New Roman"/>
              </a:rPr>
              <a:t>i</a:t>
            </a:r>
            <a:r>
              <a:rPr sz="1875" i="1" spc="292" baseline="-22222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y</a:t>
            </a:r>
            <a:r>
              <a:rPr sz="1875" i="1" baseline="-17777" dirty="0">
                <a:latin typeface="Times New Roman"/>
                <a:cs typeface="Times New Roman"/>
              </a:rPr>
              <a:t>i</a:t>
            </a:r>
            <a:r>
              <a:rPr sz="1875" i="1" spc="-52" baseline="-17777" dirty="0">
                <a:latin typeface="Times New Roman"/>
                <a:cs typeface="Times New Roman"/>
              </a:rPr>
              <a:t> </a:t>
            </a:r>
            <a:r>
              <a:rPr sz="2850" spc="-75" baseline="2923" dirty="0">
                <a:latin typeface="Times New Roman"/>
                <a:cs typeface="Times New Roman"/>
              </a:rPr>
              <a:t>)</a:t>
            </a:r>
            <a:endParaRPr sz="2850" baseline="2923">
              <a:latin typeface="Times New Roman"/>
              <a:cs typeface="Times New Roman"/>
            </a:endParaRPr>
          </a:p>
          <a:p>
            <a:pPr marR="30480" algn="r">
              <a:lnSpc>
                <a:spcPts val="1860"/>
              </a:lnSpc>
            </a:pPr>
            <a:r>
              <a:rPr sz="1900" spc="-50" dirty="0">
                <a:latin typeface="Times New Roman"/>
                <a:cs typeface="Times New Roman"/>
              </a:rPr>
              <a:t>,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56861" y="6201598"/>
            <a:ext cx="1849120" cy="518159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63500" marR="55880" indent="372110">
              <a:lnSpc>
                <a:spcPct val="68300"/>
              </a:lnSpc>
              <a:spcBef>
                <a:spcPts val="855"/>
              </a:spcBef>
              <a:tabLst>
                <a:tab pos="995680" algn="l"/>
                <a:tab pos="1066800" algn="l"/>
              </a:tabLst>
            </a:pPr>
            <a:r>
              <a:rPr sz="1900" dirty="0">
                <a:latin typeface="Symbol"/>
                <a:cs typeface="Symbol"/>
              </a:rPr>
              <a:t></a:t>
            </a:r>
            <a:r>
              <a:rPr sz="1875" i="1" baseline="-22222" dirty="0">
                <a:latin typeface="Times New Roman"/>
                <a:cs typeface="Times New Roman"/>
              </a:rPr>
              <a:t>i</a:t>
            </a:r>
            <a:r>
              <a:rPr sz="1875" i="1" spc="232" baseline="-22222" dirty="0">
                <a:latin typeface="Times New Roman"/>
                <a:cs typeface="Times New Roman"/>
              </a:rPr>
              <a:t> </a:t>
            </a:r>
            <a:r>
              <a:rPr sz="2850" i="1" spc="-37" baseline="2923" dirty="0">
                <a:latin typeface="Times New Roman"/>
                <a:cs typeface="Times New Roman"/>
              </a:rPr>
              <a:t>y</a:t>
            </a:r>
            <a:r>
              <a:rPr sz="1875" i="1" spc="-37" baseline="-17777" dirty="0">
                <a:latin typeface="Times New Roman"/>
                <a:cs typeface="Times New Roman"/>
              </a:rPr>
              <a:t>i</a:t>
            </a:r>
            <a:r>
              <a:rPr sz="1875" i="1" baseline="-17777" dirty="0">
                <a:latin typeface="Times New Roman"/>
                <a:cs typeface="Times New Roman"/>
              </a:rPr>
              <a:t>	</a:t>
            </a:r>
            <a:r>
              <a:rPr sz="2850" baseline="2923" dirty="0">
                <a:latin typeface="Symbol"/>
                <a:cs typeface="Symbol"/>
              </a:rPr>
              <a:t></a:t>
            </a:r>
            <a:r>
              <a:rPr sz="2850" spc="-67" baseline="2923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a</a:t>
            </a:r>
            <a:r>
              <a:rPr sz="2850" i="1" spc="-7" baseline="292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</a:t>
            </a:r>
            <a:r>
              <a:rPr sz="1875" i="1" baseline="-22222" dirty="0">
                <a:latin typeface="Times New Roman"/>
                <a:cs typeface="Times New Roman"/>
              </a:rPr>
              <a:t>i</a:t>
            </a:r>
            <a:r>
              <a:rPr sz="1875" i="1" spc="104" baseline="-22222" dirty="0">
                <a:latin typeface="Times New Roman"/>
                <a:cs typeface="Times New Roman"/>
              </a:rPr>
              <a:t> </a:t>
            </a:r>
            <a:r>
              <a:rPr sz="2850" i="1" spc="-52" baseline="2923" dirty="0">
                <a:latin typeface="Times New Roman"/>
                <a:cs typeface="Times New Roman"/>
              </a:rPr>
              <a:t>x</a:t>
            </a:r>
            <a:r>
              <a:rPr sz="1875" i="1" spc="-52" baseline="-17777" dirty="0">
                <a:latin typeface="Times New Roman"/>
                <a:cs typeface="Times New Roman"/>
              </a:rPr>
              <a:t>i </a:t>
            </a:r>
            <a:r>
              <a:rPr sz="1900" i="1" dirty="0">
                <a:latin typeface="Times New Roman"/>
                <a:cs typeface="Times New Roman"/>
              </a:rPr>
              <a:t>b</a:t>
            </a:r>
            <a:r>
              <a:rPr sz="1900" i="1" spc="-10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r>
              <a:rPr sz="1900" dirty="0">
                <a:latin typeface="Times New Roman"/>
                <a:cs typeface="Times New Roman"/>
              </a:rPr>
              <a:t>		</a:t>
            </a:r>
            <a:r>
              <a:rPr sz="2850" i="1" spc="-75" baseline="-45321" dirty="0">
                <a:latin typeface="Times New Roman"/>
                <a:cs typeface="Times New Roman"/>
              </a:rPr>
              <a:t>n</a:t>
            </a:r>
            <a:endParaRPr sz="2850" baseline="-45321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85870" y="6603059"/>
            <a:ext cx="1393190" cy="0"/>
          </a:xfrm>
          <a:custGeom>
            <a:avLst/>
            <a:gdLst/>
            <a:ahLst/>
            <a:cxnLst/>
            <a:rect l="l" t="t" r="r" b="b"/>
            <a:pathLst>
              <a:path w="1393190">
                <a:moveTo>
                  <a:pt x="0" y="0"/>
                </a:moveTo>
                <a:lnTo>
                  <a:pt x="1392656" y="0"/>
                </a:lnTo>
              </a:path>
            </a:pathLst>
          </a:custGeom>
          <a:ln w="68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5946209" y="2812038"/>
            <a:ext cx="2911475" cy="2059305"/>
            <a:chOff x="5946209" y="2812038"/>
            <a:chExt cx="2911475" cy="2059305"/>
          </a:xfrm>
        </p:grpSpPr>
        <p:sp>
          <p:nvSpPr>
            <p:cNvPr id="22" name="object 22"/>
            <p:cNvSpPr/>
            <p:nvPr/>
          </p:nvSpPr>
          <p:spPr>
            <a:xfrm>
              <a:off x="6205327" y="2878800"/>
              <a:ext cx="1905" cy="1987550"/>
            </a:xfrm>
            <a:custGeom>
              <a:avLst/>
              <a:gdLst/>
              <a:ahLst/>
              <a:cxnLst/>
              <a:rect l="l" t="t" r="r" b="b"/>
              <a:pathLst>
                <a:path w="1904" h="1987550">
                  <a:moveTo>
                    <a:pt x="0" y="0"/>
                  </a:moveTo>
                  <a:lnTo>
                    <a:pt x="4" y="4768"/>
                  </a:lnTo>
                  <a:lnTo>
                    <a:pt x="1651" y="1987277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76718" y="282634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5">
                  <a:moveTo>
                    <a:pt x="28564" y="0"/>
                  </a:moveTo>
                  <a:lnTo>
                    <a:pt x="0" y="57247"/>
                  </a:lnTo>
                  <a:lnTo>
                    <a:pt x="57248" y="57247"/>
                  </a:lnTo>
                  <a:lnTo>
                    <a:pt x="28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50977" y="4662103"/>
              <a:ext cx="2854325" cy="1905"/>
            </a:xfrm>
            <a:custGeom>
              <a:avLst/>
              <a:gdLst/>
              <a:ahLst/>
              <a:cxnLst/>
              <a:rect l="l" t="t" r="r" b="b"/>
              <a:pathLst>
                <a:path w="2854325" h="1904">
                  <a:moveTo>
                    <a:pt x="0" y="0"/>
                  </a:moveTo>
                  <a:lnTo>
                    <a:pt x="2848929" y="1661"/>
                  </a:lnTo>
                  <a:lnTo>
                    <a:pt x="2853696" y="1665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99888" y="4635153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33" y="0"/>
                  </a:moveTo>
                  <a:lnTo>
                    <a:pt x="0" y="57224"/>
                  </a:lnTo>
                  <a:lnTo>
                    <a:pt x="57241" y="28646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87695" y="2826344"/>
              <a:ext cx="2687320" cy="1672589"/>
            </a:xfrm>
            <a:custGeom>
              <a:avLst/>
              <a:gdLst/>
              <a:ahLst/>
              <a:cxnLst/>
              <a:rect l="l" t="t" r="r" b="b"/>
              <a:pathLst>
                <a:path w="2687320" h="1672589">
                  <a:moveTo>
                    <a:pt x="0" y="1672580"/>
                  </a:moveTo>
                  <a:lnTo>
                    <a:pt x="2687204" y="0"/>
                  </a:lnTo>
                </a:path>
              </a:pathLst>
            </a:custGeom>
            <a:ln w="28612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14252" y="3398829"/>
              <a:ext cx="3175" cy="205740"/>
            </a:xfrm>
            <a:custGeom>
              <a:avLst/>
              <a:gdLst/>
              <a:ahLst/>
              <a:cxnLst/>
              <a:rect l="l" t="t" r="r" b="b"/>
              <a:pathLst>
                <a:path w="3175" h="205739">
                  <a:moveTo>
                    <a:pt x="0" y="0"/>
                  </a:moveTo>
                  <a:lnTo>
                    <a:pt x="2720" y="205333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2394" y="3924223"/>
              <a:ext cx="80588" cy="8874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3416" y="3557071"/>
              <a:ext cx="80588" cy="8874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5309" y="3516276"/>
              <a:ext cx="80588" cy="8874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01524" y="4168991"/>
              <a:ext cx="79228" cy="8874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01341" y="3842633"/>
              <a:ext cx="79228" cy="8874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73050" y="3312303"/>
              <a:ext cx="79227" cy="8874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18928" y="3761044"/>
              <a:ext cx="79228" cy="8874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62713" y="3189919"/>
              <a:ext cx="80588" cy="8874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373456" y="3322679"/>
              <a:ext cx="72390" cy="81915"/>
            </a:xfrm>
            <a:custGeom>
              <a:avLst/>
              <a:gdLst/>
              <a:ahLst/>
              <a:cxnLst/>
              <a:rect l="l" t="t" r="r" b="b"/>
              <a:pathLst>
                <a:path w="72390" h="81914">
                  <a:moveTo>
                    <a:pt x="61519" y="11948"/>
                  </a:moveTo>
                  <a:lnTo>
                    <a:pt x="69436" y="25443"/>
                  </a:lnTo>
                  <a:lnTo>
                    <a:pt x="72075" y="40794"/>
                  </a:lnTo>
                  <a:lnTo>
                    <a:pt x="69436" y="56145"/>
                  </a:lnTo>
                  <a:lnTo>
                    <a:pt x="61519" y="69640"/>
                  </a:lnTo>
                  <a:lnTo>
                    <a:pt x="49598" y="78602"/>
                  </a:lnTo>
                  <a:lnTo>
                    <a:pt x="36038" y="81589"/>
                  </a:lnTo>
                  <a:lnTo>
                    <a:pt x="22477" y="78602"/>
                  </a:lnTo>
                  <a:lnTo>
                    <a:pt x="10555" y="69640"/>
                  </a:lnTo>
                  <a:lnTo>
                    <a:pt x="2638" y="56145"/>
                  </a:lnTo>
                  <a:lnTo>
                    <a:pt x="0" y="40794"/>
                  </a:lnTo>
                  <a:lnTo>
                    <a:pt x="2638" y="25443"/>
                  </a:lnTo>
                  <a:lnTo>
                    <a:pt x="10555" y="11948"/>
                  </a:lnTo>
                  <a:lnTo>
                    <a:pt x="22477" y="2987"/>
                  </a:lnTo>
                  <a:lnTo>
                    <a:pt x="36038" y="0"/>
                  </a:lnTo>
                  <a:lnTo>
                    <a:pt x="49598" y="2987"/>
                  </a:lnTo>
                  <a:lnTo>
                    <a:pt x="61519" y="11948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18562" y="3067535"/>
              <a:ext cx="79228" cy="8874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98980" y="3372135"/>
              <a:ext cx="80588" cy="8874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06865" y="2938352"/>
              <a:ext cx="80588" cy="88742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8773724" y="4749949"/>
            <a:ext cx="933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Times New Roman"/>
                <a:cs typeface="Times New Roman"/>
              </a:rPr>
              <a:t>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447231" y="7234878"/>
            <a:ext cx="170815" cy="16129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900" spc="-25" dirty="0">
                <a:latin typeface="Lucida Sans Unicode"/>
                <a:cs typeface="Lucida Sans Unicode"/>
              </a:rPr>
              <a:t>17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42557" y="2783124"/>
            <a:ext cx="933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Times New Roman"/>
                <a:cs typeface="Times New Roman"/>
              </a:rPr>
              <a:t>y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Segmented</a:t>
            </a:r>
            <a:r>
              <a:rPr spc="-35" dirty="0"/>
              <a:t> </a:t>
            </a:r>
            <a:r>
              <a:rPr dirty="0"/>
              <a:t>least</a:t>
            </a:r>
            <a:r>
              <a:rPr spc="-35" dirty="0"/>
              <a:t> </a:t>
            </a:r>
            <a:r>
              <a:rPr spc="-10" dirty="0"/>
              <a:t>squares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5267" y="1218991"/>
            <a:ext cx="2861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Segmented least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squares.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241" y="1444073"/>
            <a:ext cx="6897370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Points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roughly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sequence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several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line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segments.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241" y="1710052"/>
            <a:ext cx="6869430" cy="89661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90"/>
              </a:spcBef>
              <a:tabLst>
                <a:tab pos="3593465" algn="l"/>
              </a:tabLst>
            </a:pPr>
            <a:r>
              <a:rPr sz="4275" spc="2175" baseline="-7797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points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plane: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),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, …,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6944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i="1" baseline="-6944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with</a:t>
            </a:r>
            <a:endParaRPr sz="1800">
              <a:latin typeface="Lucida Sans Unicode"/>
              <a:cs typeface="Lucida Sans Unicode"/>
            </a:endParaRPr>
          </a:p>
          <a:p>
            <a:pPr marL="381000">
              <a:lnSpc>
                <a:spcPct val="100000"/>
              </a:lnSpc>
              <a:spcBef>
                <a:spcPts val="484"/>
              </a:spcBef>
            </a:pP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spc="209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spc="209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...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6944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sequence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lines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minimizes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(</a:t>
            </a:r>
            <a:r>
              <a:rPr sz="1800" i="1" spc="-20" dirty="0">
                <a:latin typeface="Times New Roman"/>
                <a:cs typeface="Times New Roman"/>
              </a:rPr>
              <a:t>x</a:t>
            </a:r>
            <a:r>
              <a:rPr sz="1800" spc="-20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267" y="3031097"/>
            <a:ext cx="84023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034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What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 a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reasonable choice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balance accuracy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 </a:t>
            </a:r>
            <a:r>
              <a:rPr sz="1800" spc="-10" dirty="0">
                <a:latin typeface="Lucida Sans Unicode"/>
                <a:cs typeface="Lucida Sans Unicode"/>
              </a:rPr>
              <a:t>parsimony?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01742" y="4178006"/>
            <a:ext cx="4581525" cy="3094355"/>
            <a:chOff x="1401742" y="4178006"/>
            <a:chExt cx="4581525" cy="3094355"/>
          </a:xfrm>
        </p:grpSpPr>
        <p:sp>
          <p:nvSpPr>
            <p:cNvPr id="9" name="object 9"/>
            <p:cNvSpPr/>
            <p:nvPr/>
          </p:nvSpPr>
          <p:spPr>
            <a:xfrm>
              <a:off x="1763029" y="4507152"/>
              <a:ext cx="1905" cy="2760980"/>
            </a:xfrm>
            <a:custGeom>
              <a:avLst/>
              <a:gdLst/>
              <a:ahLst/>
              <a:cxnLst/>
              <a:rect l="l" t="t" r="r" b="b"/>
              <a:pathLst>
                <a:path w="1905" h="2760979">
                  <a:moveTo>
                    <a:pt x="0" y="0"/>
                  </a:moveTo>
                  <a:lnTo>
                    <a:pt x="2" y="4768"/>
                  </a:lnTo>
                  <a:lnTo>
                    <a:pt x="1664" y="2760443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34419" y="4454697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5">
                  <a:moveTo>
                    <a:pt x="28577" y="0"/>
                  </a:moveTo>
                  <a:lnTo>
                    <a:pt x="0" y="57241"/>
                  </a:lnTo>
                  <a:lnTo>
                    <a:pt x="57242" y="57241"/>
                  </a:lnTo>
                  <a:lnTo>
                    <a:pt x="285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81539" y="6986136"/>
              <a:ext cx="4449445" cy="1905"/>
            </a:xfrm>
            <a:custGeom>
              <a:avLst/>
              <a:gdLst/>
              <a:ahLst/>
              <a:cxnLst/>
              <a:rect l="l" t="t" r="r" b="b"/>
              <a:pathLst>
                <a:path w="4449445" h="1904">
                  <a:moveTo>
                    <a:pt x="0" y="0"/>
                  </a:moveTo>
                  <a:lnTo>
                    <a:pt x="4444429" y="1673"/>
                  </a:lnTo>
                  <a:lnTo>
                    <a:pt x="4449198" y="1676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25958" y="6959198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4">
                  <a:moveTo>
                    <a:pt x="20" y="0"/>
                  </a:moveTo>
                  <a:lnTo>
                    <a:pt x="0" y="57224"/>
                  </a:lnTo>
                  <a:lnTo>
                    <a:pt x="57235" y="28633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6718" y="6082228"/>
              <a:ext cx="119058" cy="12075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25916" y="6423218"/>
              <a:ext cx="112395" cy="113664"/>
            </a:xfrm>
            <a:custGeom>
              <a:avLst/>
              <a:gdLst/>
              <a:ahLst/>
              <a:cxnLst/>
              <a:rect l="l" t="t" r="r" b="b"/>
              <a:pathLst>
                <a:path w="112394" h="113665">
                  <a:moveTo>
                    <a:pt x="95517" y="16635"/>
                  </a:moveTo>
                  <a:lnTo>
                    <a:pt x="107808" y="35425"/>
                  </a:lnTo>
                  <a:lnTo>
                    <a:pt x="111905" y="56800"/>
                  </a:lnTo>
                  <a:lnTo>
                    <a:pt x="107808" y="78174"/>
                  </a:lnTo>
                  <a:lnTo>
                    <a:pt x="95517" y="96963"/>
                  </a:lnTo>
                  <a:lnTo>
                    <a:pt x="77007" y="109441"/>
                  </a:lnTo>
                  <a:lnTo>
                    <a:pt x="55952" y="113600"/>
                  </a:lnTo>
                  <a:lnTo>
                    <a:pt x="34897" y="109441"/>
                  </a:lnTo>
                  <a:lnTo>
                    <a:pt x="16388" y="96963"/>
                  </a:lnTo>
                  <a:lnTo>
                    <a:pt x="4097" y="78174"/>
                  </a:lnTo>
                  <a:lnTo>
                    <a:pt x="0" y="56800"/>
                  </a:lnTo>
                  <a:lnTo>
                    <a:pt x="4097" y="35425"/>
                  </a:lnTo>
                  <a:lnTo>
                    <a:pt x="16388" y="16635"/>
                  </a:lnTo>
                  <a:lnTo>
                    <a:pt x="34897" y="4158"/>
                  </a:lnTo>
                  <a:lnTo>
                    <a:pt x="55952" y="0"/>
                  </a:lnTo>
                  <a:lnTo>
                    <a:pt x="77007" y="4158"/>
                  </a:lnTo>
                  <a:lnTo>
                    <a:pt x="95517" y="16635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8456" y="6139876"/>
              <a:ext cx="119058" cy="12075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663329" y="6311312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4" h="112395">
                  <a:moveTo>
                    <a:pt x="95517" y="16388"/>
                  </a:moveTo>
                  <a:lnTo>
                    <a:pt x="107808" y="34897"/>
                  </a:lnTo>
                  <a:lnTo>
                    <a:pt x="111905" y="55952"/>
                  </a:lnTo>
                  <a:lnTo>
                    <a:pt x="107808" y="77007"/>
                  </a:lnTo>
                  <a:lnTo>
                    <a:pt x="95517" y="95517"/>
                  </a:lnTo>
                  <a:lnTo>
                    <a:pt x="77007" y="107808"/>
                  </a:lnTo>
                  <a:lnTo>
                    <a:pt x="55952" y="111904"/>
                  </a:lnTo>
                  <a:lnTo>
                    <a:pt x="34897" y="107808"/>
                  </a:lnTo>
                  <a:lnTo>
                    <a:pt x="16388" y="95517"/>
                  </a:lnTo>
                  <a:lnTo>
                    <a:pt x="4097" y="77007"/>
                  </a:lnTo>
                  <a:lnTo>
                    <a:pt x="0" y="55952"/>
                  </a:lnTo>
                  <a:lnTo>
                    <a:pt x="4097" y="34897"/>
                  </a:lnTo>
                  <a:lnTo>
                    <a:pt x="16388" y="16388"/>
                  </a:lnTo>
                  <a:lnTo>
                    <a:pt x="34897" y="4097"/>
                  </a:lnTo>
                  <a:lnTo>
                    <a:pt x="55952" y="0"/>
                  </a:lnTo>
                  <a:lnTo>
                    <a:pt x="77007" y="4097"/>
                  </a:lnTo>
                  <a:lnTo>
                    <a:pt x="95517" y="16388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0529" y="6026276"/>
              <a:ext cx="120754" cy="1190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7380" y="5800769"/>
              <a:ext cx="119058" cy="12075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845119" y="6029853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95517" y="16388"/>
                  </a:moveTo>
                  <a:lnTo>
                    <a:pt x="107808" y="34897"/>
                  </a:lnTo>
                  <a:lnTo>
                    <a:pt x="111905" y="55952"/>
                  </a:lnTo>
                  <a:lnTo>
                    <a:pt x="107808" y="77007"/>
                  </a:lnTo>
                  <a:lnTo>
                    <a:pt x="95517" y="95516"/>
                  </a:lnTo>
                  <a:lnTo>
                    <a:pt x="77007" y="107807"/>
                  </a:lnTo>
                  <a:lnTo>
                    <a:pt x="55952" y="111904"/>
                  </a:lnTo>
                  <a:lnTo>
                    <a:pt x="34897" y="107807"/>
                  </a:lnTo>
                  <a:lnTo>
                    <a:pt x="16388" y="95516"/>
                  </a:lnTo>
                  <a:lnTo>
                    <a:pt x="4097" y="77007"/>
                  </a:lnTo>
                  <a:lnTo>
                    <a:pt x="0" y="55952"/>
                  </a:lnTo>
                  <a:lnTo>
                    <a:pt x="4097" y="34897"/>
                  </a:lnTo>
                  <a:lnTo>
                    <a:pt x="16388" y="16388"/>
                  </a:lnTo>
                  <a:lnTo>
                    <a:pt x="34897" y="4097"/>
                  </a:lnTo>
                  <a:lnTo>
                    <a:pt x="55952" y="0"/>
                  </a:lnTo>
                  <a:lnTo>
                    <a:pt x="77007" y="4097"/>
                  </a:lnTo>
                  <a:lnTo>
                    <a:pt x="95517" y="16388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6698" y="4844485"/>
              <a:ext cx="120753" cy="12075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5239" y="5632911"/>
              <a:ext cx="120753" cy="11905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1191" y="5348272"/>
              <a:ext cx="120754" cy="11905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252416" y="4627005"/>
              <a:ext cx="224154" cy="614680"/>
            </a:xfrm>
            <a:custGeom>
              <a:avLst/>
              <a:gdLst/>
              <a:ahLst/>
              <a:cxnLst/>
              <a:rect l="l" t="t" r="r" b="b"/>
              <a:pathLst>
                <a:path w="224154" h="614679">
                  <a:moveTo>
                    <a:pt x="95517" y="518903"/>
                  </a:moveTo>
                  <a:lnTo>
                    <a:pt x="107808" y="537413"/>
                  </a:lnTo>
                  <a:lnTo>
                    <a:pt x="111904" y="558468"/>
                  </a:lnTo>
                  <a:lnTo>
                    <a:pt x="107808" y="579523"/>
                  </a:lnTo>
                  <a:lnTo>
                    <a:pt x="95517" y="598032"/>
                  </a:lnTo>
                  <a:lnTo>
                    <a:pt x="77007" y="610324"/>
                  </a:lnTo>
                  <a:lnTo>
                    <a:pt x="55952" y="614421"/>
                  </a:lnTo>
                  <a:lnTo>
                    <a:pt x="34897" y="610324"/>
                  </a:lnTo>
                  <a:lnTo>
                    <a:pt x="16388" y="598032"/>
                  </a:lnTo>
                  <a:lnTo>
                    <a:pt x="4097" y="579523"/>
                  </a:lnTo>
                  <a:lnTo>
                    <a:pt x="0" y="558468"/>
                  </a:lnTo>
                  <a:lnTo>
                    <a:pt x="4097" y="537413"/>
                  </a:lnTo>
                  <a:lnTo>
                    <a:pt x="16388" y="518903"/>
                  </a:lnTo>
                  <a:lnTo>
                    <a:pt x="34897" y="506612"/>
                  </a:lnTo>
                  <a:lnTo>
                    <a:pt x="55952" y="502515"/>
                  </a:lnTo>
                  <a:lnTo>
                    <a:pt x="77007" y="506612"/>
                  </a:lnTo>
                  <a:lnTo>
                    <a:pt x="95517" y="518903"/>
                  </a:lnTo>
                </a:path>
                <a:path w="224154" h="614679">
                  <a:moveTo>
                    <a:pt x="207422" y="16636"/>
                  </a:moveTo>
                  <a:lnTo>
                    <a:pt x="219713" y="35426"/>
                  </a:lnTo>
                  <a:lnTo>
                    <a:pt x="223810" y="56800"/>
                  </a:lnTo>
                  <a:lnTo>
                    <a:pt x="219713" y="78174"/>
                  </a:lnTo>
                  <a:lnTo>
                    <a:pt x="207422" y="96964"/>
                  </a:lnTo>
                  <a:lnTo>
                    <a:pt x="188913" y="109442"/>
                  </a:lnTo>
                  <a:lnTo>
                    <a:pt x="167858" y="113601"/>
                  </a:lnTo>
                  <a:lnTo>
                    <a:pt x="146803" y="109442"/>
                  </a:lnTo>
                  <a:lnTo>
                    <a:pt x="128293" y="96964"/>
                  </a:lnTo>
                  <a:lnTo>
                    <a:pt x="116002" y="78174"/>
                  </a:lnTo>
                  <a:lnTo>
                    <a:pt x="111905" y="56800"/>
                  </a:lnTo>
                  <a:lnTo>
                    <a:pt x="116002" y="35426"/>
                  </a:lnTo>
                  <a:lnTo>
                    <a:pt x="128293" y="16636"/>
                  </a:lnTo>
                  <a:lnTo>
                    <a:pt x="146803" y="4159"/>
                  </a:lnTo>
                  <a:lnTo>
                    <a:pt x="167858" y="0"/>
                  </a:lnTo>
                  <a:lnTo>
                    <a:pt x="188913" y="4159"/>
                  </a:lnTo>
                  <a:lnTo>
                    <a:pt x="207422" y="16636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78954" y="5970323"/>
              <a:ext cx="119058" cy="11905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29968" y="6026276"/>
              <a:ext cx="119058" cy="1190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16036" y="6026276"/>
              <a:ext cx="120754" cy="11905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214011" y="6199406"/>
              <a:ext cx="675005" cy="393700"/>
            </a:xfrm>
            <a:custGeom>
              <a:avLst/>
              <a:gdLst/>
              <a:ahLst/>
              <a:cxnLst/>
              <a:rect l="l" t="t" r="r" b="b"/>
              <a:pathLst>
                <a:path w="675005" h="393700">
                  <a:moveTo>
                    <a:pt x="95517" y="296399"/>
                  </a:moveTo>
                  <a:lnTo>
                    <a:pt x="107808" y="315189"/>
                  </a:lnTo>
                  <a:lnTo>
                    <a:pt x="111905" y="336564"/>
                  </a:lnTo>
                  <a:lnTo>
                    <a:pt x="107808" y="357938"/>
                  </a:lnTo>
                  <a:lnTo>
                    <a:pt x="95517" y="376728"/>
                  </a:lnTo>
                  <a:lnTo>
                    <a:pt x="77007" y="389206"/>
                  </a:lnTo>
                  <a:lnTo>
                    <a:pt x="55952" y="393365"/>
                  </a:lnTo>
                  <a:lnTo>
                    <a:pt x="34897" y="389206"/>
                  </a:lnTo>
                  <a:lnTo>
                    <a:pt x="16388" y="376728"/>
                  </a:lnTo>
                  <a:lnTo>
                    <a:pt x="4097" y="357938"/>
                  </a:lnTo>
                  <a:lnTo>
                    <a:pt x="0" y="336564"/>
                  </a:lnTo>
                  <a:lnTo>
                    <a:pt x="4097" y="315189"/>
                  </a:lnTo>
                  <a:lnTo>
                    <a:pt x="16388" y="296399"/>
                  </a:lnTo>
                  <a:lnTo>
                    <a:pt x="34897" y="283922"/>
                  </a:lnTo>
                  <a:lnTo>
                    <a:pt x="55952" y="279763"/>
                  </a:lnTo>
                  <a:lnTo>
                    <a:pt x="77007" y="283922"/>
                  </a:lnTo>
                  <a:lnTo>
                    <a:pt x="95517" y="296399"/>
                  </a:lnTo>
                </a:path>
                <a:path w="675005" h="393700">
                  <a:moveTo>
                    <a:pt x="658187" y="16388"/>
                  </a:moveTo>
                  <a:lnTo>
                    <a:pt x="670665" y="34897"/>
                  </a:lnTo>
                  <a:lnTo>
                    <a:pt x="674824" y="55952"/>
                  </a:lnTo>
                  <a:lnTo>
                    <a:pt x="670665" y="77007"/>
                  </a:lnTo>
                  <a:lnTo>
                    <a:pt x="658187" y="95517"/>
                  </a:lnTo>
                  <a:lnTo>
                    <a:pt x="639397" y="107808"/>
                  </a:lnTo>
                  <a:lnTo>
                    <a:pt x="618023" y="111905"/>
                  </a:lnTo>
                  <a:lnTo>
                    <a:pt x="596649" y="107808"/>
                  </a:lnTo>
                  <a:lnTo>
                    <a:pt x="577860" y="95517"/>
                  </a:lnTo>
                  <a:lnTo>
                    <a:pt x="565382" y="77007"/>
                  </a:lnTo>
                  <a:lnTo>
                    <a:pt x="561223" y="55952"/>
                  </a:lnTo>
                  <a:lnTo>
                    <a:pt x="565382" y="34897"/>
                  </a:lnTo>
                  <a:lnTo>
                    <a:pt x="577860" y="16388"/>
                  </a:lnTo>
                  <a:lnTo>
                    <a:pt x="596649" y="4097"/>
                  </a:lnTo>
                  <a:lnTo>
                    <a:pt x="618023" y="0"/>
                  </a:lnTo>
                  <a:lnTo>
                    <a:pt x="639397" y="4097"/>
                  </a:lnTo>
                  <a:lnTo>
                    <a:pt x="658187" y="16388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8508" y="5970323"/>
              <a:ext cx="119058" cy="11905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476227" y="4510650"/>
              <a:ext cx="113664" cy="112395"/>
            </a:xfrm>
            <a:custGeom>
              <a:avLst/>
              <a:gdLst/>
              <a:ahLst/>
              <a:cxnLst/>
              <a:rect l="l" t="t" r="r" b="b"/>
              <a:pathLst>
                <a:path w="113664" h="112395">
                  <a:moveTo>
                    <a:pt x="96964" y="16387"/>
                  </a:moveTo>
                  <a:lnTo>
                    <a:pt x="109442" y="34897"/>
                  </a:lnTo>
                  <a:lnTo>
                    <a:pt x="113601" y="55952"/>
                  </a:lnTo>
                  <a:lnTo>
                    <a:pt x="109442" y="77007"/>
                  </a:lnTo>
                  <a:lnTo>
                    <a:pt x="96964" y="95516"/>
                  </a:lnTo>
                  <a:lnTo>
                    <a:pt x="78174" y="107807"/>
                  </a:lnTo>
                  <a:lnTo>
                    <a:pt x="56800" y="111904"/>
                  </a:lnTo>
                  <a:lnTo>
                    <a:pt x="35425" y="107807"/>
                  </a:lnTo>
                  <a:lnTo>
                    <a:pt x="16635" y="95516"/>
                  </a:lnTo>
                  <a:lnTo>
                    <a:pt x="4158" y="77007"/>
                  </a:lnTo>
                  <a:lnTo>
                    <a:pt x="0" y="55952"/>
                  </a:lnTo>
                  <a:lnTo>
                    <a:pt x="4158" y="34897"/>
                  </a:lnTo>
                  <a:lnTo>
                    <a:pt x="16635" y="16387"/>
                  </a:lnTo>
                  <a:lnTo>
                    <a:pt x="35425" y="4096"/>
                  </a:lnTo>
                  <a:lnTo>
                    <a:pt x="56800" y="0"/>
                  </a:lnTo>
                  <a:lnTo>
                    <a:pt x="78174" y="4096"/>
                  </a:lnTo>
                  <a:lnTo>
                    <a:pt x="96964" y="16387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9732" y="6026276"/>
              <a:ext cx="120754" cy="11905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901071" y="5917946"/>
              <a:ext cx="113664" cy="112395"/>
            </a:xfrm>
            <a:custGeom>
              <a:avLst/>
              <a:gdLst/>
              <a:ahLst/>
              <a:cxnLst/>
              <a:rect l="l" t="t" r="r" b="b"/>
              <a:pathLst>
                <a:path w="113664" h="112395">
                  <a:moveTo>
                    <a:pt x="96964" y="16388"/>
                  </a:moveTo>
                  <a:lnTo>
                    <a:pt x="109441" y="34897"/>
                  </a:lnTo>
                  <a:lnTo>
                    <a:pt x="113600" y="55952"/>
                  </a:lnTo>
                  <a:lnTo>
                    <a:pt x="109441" y="77007"/>
                  </a:lnTo>
                  <a:lnTo>
                    <a:pt x="96964" y="95517"/>
                  </a:lnTo>
                  <a:lnTo>
                    <a:pt x="78174" y="107808"/>
                  </a:lnTo>
                  <a:lnTo>
                    <a:pt x="56800" y="111905"/>
                  </a:lnTo>
                  <a:lnTo>
                    <a:pt x="35426" y="107808"/>
                  </a:lnTo>
                  <a:lnTo>
                    <a:pt x="16636" y="95517"/>
                  </a:lnTo>
                  <a:lnTo>
                    <a:pt x="4159" y="77007"/>
                  </a:lnTo>
                  <a:lnTo>
                    <a:pt x="0" y="55952"/>
                  </a:lnTo>
                  <a:lnTo>
                    <a:pt x="4159" y="34897"/>
                  </a:lnTo>
                  <a:lnTo>
                    <a:pt x="16636" y="16388"/>
                  </a:lnTo>
                  <a:lnTo>
                    <a:pt x="35426" y="4097"/>
                  </a:lnTo>
                  <a:lnTo>
                    <a:pt x="56800" y="0"/>
                  </a:lnTo>
                  <a:lnTo>
                    <a:pt x="78174" y="4097"/>
                  </a:lnTo>
                  <a:lnTo>
                    <a:pt x="96964" y="16388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8839" y="4900438"/>
              <a:ext cx="119058" cy="12075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138815" y="4398744"/>
              <a:ext cx="567055" cy="786765"/>
            </a:xfrm>
            <a:custGeom>
              <a:avLst/>
              <a:gdLst/>
              <a:ahLst/>
              <a:cxnLst/>
              <a:rect l="l" t="t" r="r" b="b"/>
              <a:pathLst>
                <a:path w="567054" h="786764">
                  <a:moveTo>
                    <a:pt x="96963" y="691212"/>
                  </a:moveTo>
                  <a:lnTo>
                    <a:pt x="109441" y="709721"/>
                  </a:lnTo>
                  <a:lnTo>
                    <a:pt x="113600" y="730777"/>
                  </a:lnTo>
                  <a:lnTo>
                    <a:pt x="109441" y="751832"/>
                  </a:lnTo>
                  <a:lnTo>
                    <a:pt x="96963" y="770342"/>
                  </a:lnTo>
                  <a:lnTo>
                    <a:pt x="78174" y="782633"/>
                  </a:lnTo>
                  <a:lnTo>
                    <a:pt x="56800" y="786730"/>
                  </a:lnTo>
                  <a:lnTo>
                    <a:pt x="35425" y="782633"/>
                  </a:lnTo>
                  <a:lnTo>
                    <a:pt x="16635" y="770342"/>
                  </a:lnTo>
                  <a:lnTo>
                    <a:pt x="4158" y="751832"/>
                  </a:lnTo>
                  <a:lnTo>
                    <a:pt x="0" y="730777"/>
                  </a:lnTo>
                  <a:lnTo>
                    <a:pt x="4158" y="709721"/>
                  </a:lnTo>
                  <a:lnTo>
                    <a:pt x="16635" y="691212"/>
                  </a:lnTo>
                  <a:lnTo>
                    <a:pt x="35425" y="678921"/>
                  </a:lnTo>
                  <a:lnTo>
                    <a:pt x="56800" y="674824"/>
                  </a:lnTo>
                  <a:lnTo>
                    <a:pt x="78174" y="678921"/>
                  </a:lnTo>
                  <a:lnTo>
                    <a:pt x="96963" y="691212"/>
                  </a:lnTo>
                </a:path>
                <a:path w="567054" h="786764">
                  <a:moveTo>
                    <a:pt x="550132" y="16388"/>
                  </a:moveTo>
                  <a:lnTo>
                    <a:pt x="562423" y="34897"/>
                  </a:lnTo>
                  <a:lnTo>
                    <a:pt x="566520" y="55952"/>
                  </a:lnTo>
                  <a:lnTo>
                    <a:pt x="562423" y="77007"/>
                  </a:lnTo>
                  <a:lnTo>
                    <a:pt x="550132" y="95517"/>
                  </a:lnTo>
                  <a:lnTo>
                    <a:pt x="531622" y="107808"/>
                  </a:lnTo>
                  <a:lnTo>
                    <a:pt x="510567" y="111904"/>
                  </a:lnTo>
                  <a:lnTo>
                    <a:pt x="489512" y="107808"/>
                  </a:lnTo>
                  <a:lnTo>
                    <a:pt x="471003" y="95517"/>
                  </a:lnTo>
                  <a:lnTo>
                    <a:pt x="458712" y="77007"/>
                  </a:lnTo>
                  <a:lnTo>
                    <a:pt x="454615" y="55952"/>
                  </a:lnTo>
                  <a:lnTo>
                    <a:pt x="458712" y="34897"/>
                  </a:lnTo>
                  <a:lnTo>
                    <a:pt x="471003" y="16388"/>
                  </a:lnTo>
                  <a:lnTo>
                    <a:pt x="489512" y="4097"/>
                  </a:lnTo>
                  <a:lnTo>
                    <a:pt x="510567" y="0"/>
                  </a:lnTo>
                  <a:lnTo>
                    <a:pt x="531622" y="4097"/>
                  </a:lnTo>
                  <a:lnTo>
                    <a:pt x="550132" y="16388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40880" y="6589195"/>
              <a:ext cx="119058" cy="11905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416048" y="4192312"/>
              <a:ext cx="4276725" cy="2701290"/>
            </a:xfrm>
            <a:custGeom>
              <a:avLst/>
              <a:gdLst/>
              <a:ahLst/>
              <a:cxnLst/>
              <a:rect l="l" t="t" r="r" b="b"/>
              <a:pathLst>
                <a:path w="4276725" h="2701290">
                  <a:moveTo>
                    <a:pt x="0" y="2700992"/>
                  </a:moveTo>
                  <a:lnTo>
                    <a:pt x="1856748" y="1913203"/>
                  </a:lnTo>
                </a:path>
                <a:path w="4276725" h="2701290">
                  <a:moveTo>
                    <a:pt x="4276147" y="0"/>
                  </a:moveTo>
                  <a:lnTo>
                    <a:pt x="3600966" y="1856933"/>
                  </a:lnTo>
                </a:path>
                <a:path w="4276725" h="2701290">
                  <a:moveTo>
                    <a:pt x="1856748" y="1913204"/>
                  </a:moveTo>
                  <a:lnTo>
                    <a:pt x="3600966" y="1856933"/>
                  </a:lnTo>
                </a:path>
              </a:pathLst>
            </a:custGeom>
            <a:ln w="28612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507240" y="4421013"/>
            <a:ext cx="933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Times New Roman"/>
                <a:cs typeface="Times New Roman"/>
              </a:rPr>
              <a:t>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62443" y="3674977"/>
            <a:ext cx="11430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goodness of </a:t>
            </a:r>
            <a:r>
              <a:rPr sz="12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fit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731985" y="3356836"/>
            <a:ext cx="92075" cy="307975"/>
            <a:chOff x="6731985" y="3356836"/>
            <a:chExt cx="92075" cy="307975"/>
          </a:xfrm>
        </p:grpSpPr>
        <p:sp>
          <p:nvSpPr>
            <p:cNvPr id="39" name="object 39"/>
            <p:cNvSpPr/>
            <p:nvPr/>
          </p:nvSpPr>
          <p:spPr>
            <a:xfrm>
              <a:off x="6777764" y="3415967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h="248920">
                  <a:moveTo>
                    <a:pt x="0" y="0"/>
                  </a:moveTo>
                  <a:lnTo>
                    <a:pt x="0" y="9537"/>
                  </a:lnTo>
                  <a:lnTo>
                    <a:pt x="0" y="248468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31985" y="3356836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45779" y="0"/>
                  </a:moveTo>
                  <a:lnTo>
                    <a:pt x="0" y="91559"/>
                  </a:lnTo>
                  <a:lnTo>
                    <a:pt x="45779" y="68668"/>
                  </a:lnTo>
                  <a:lnTo>
                    <a:pt x="80113" y="68668"/>
                  </a:lnTo>
                  <a:lnTo>
                    <a:pt x="45779" y="0"/>
                  </a:lnTo>
                  <a:close/>
                </a:path>
                <a:path w="92075" h="92075">
                  <a:moveTo>
                    <a:pt x="80113" y="68668"/>
                  </a:moveTo>
                  <a:lnTo>
                    <a:pt x="45779" y="68668"/>
                  </a:lnTo>
                  <a:lnTo>
                    <a:pt x="91558" y="91559"/>
                  </a:lnTo>
                  <a:lnTo>
                    <a:pt x="80113" y="68668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897212" y="3679640"/>
            <a:ext cx="11925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number of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lines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389797" y="3358531"/>
            <a:ext cx="92075" cy="307975"/>
            <a:chOff x="8389797" y="3358531"/>
            <a:chExt cx="92075" cy="307975"/>
          </a:xfrm>
        </p:grpSpPr>
        <p:sp>
          <p:nvSpPr>
            <p:cNvPr id="43" name="object 43"/>
            <p:cNvSpPr/>
            <p:nvPr/>
          </p:nvSpPr>
          <p:spPr>
            <a:xfrm>
              <a:off x="8435577" y="3417663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h="248920">
                  <a:moveTo>
                    <a:pt x="0" y="0"/>
                  </a:moveTo>
                  <a:lnTo>
                    <a:pt x="0" y="9537"/>
                  </a:lnTo>
                  <a:lnTo>
                    <a:pt x="0" y="248468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389797" y="3358531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45778" y="0"/>
                  </a:moveTo>
                  <a:lnTo>
                    <a:pt x="0" y="91559"/>
                  </a:lnTo>
                  <a:lnTo>
                    <a:pt x="45778" y="68668"/>
                  </a:lnTo>
                  <a:lnTo>
                    <a:pt x="80112" y="68668"/>
                  </a:lnTo>
                  <a:lnTo>
                    <a:pt x="45778" y="0"/>
                  </a:lnTo>
                  <a:close/>
                </a:path>
                <a:path w="92075" h="92075">
                  <a:moveTo>
                    <a:pt x="80112" y="68668"/>
                  </a:moveTo>
                  <a:lnTo>
                    <a:pt x="45778" y="68668"/>
                  </a:lnTo>
                  <a:lnTo>
                    <a:pt x="91558" y="91559"/>
                  </a:lnTo>
                  <a:lnTo>
                    <a:pt x="80112" y="68668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755454" y="7133748"/>
            <a:ext cx="9334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i="1" spc="-50" dirty="0">
                <a:latin typeface="Times New Roman"/>
                <a:cs typeface="Times New Roman"/>
              </a:rPr>
              <a:t>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Segmented</a:t>
            </a:r>
            <a:r>
              <a:rPr spc="-35" dirty="0"/>
              <a:t> </a:t>
            </a:r>
            <a:r>
              <a:rPr dirty="0"/>
              <a:t>least</a:t>
            </a:r>
            <a:r>
              <a:rPr spc="-35" dirty="0"/>
              <a:t> </a:t>
            </a:r>
            <a:r>
              <a:rPr spc="-10" dirty="0"/>
              <a:t>squares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1767" y="1131247"/>
            <a:ext cx="8589645" cy="1503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68580">
              <a:lnSpc>
                <a:spcPct val="132100"/>
              </a:lnSpc>
              <a:spcBef>
                <a:spcPts val="100"/>
              </a:spcBef>
              <a:tabLst>
                <a:tab pos="3265170" algn="l"/>
              </a:tabLst>
            </a:pP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points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plane: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),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 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6944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i="1" baseline="-6944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spc="232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spc="232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... &lt;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6944" dirty="0">
                <a:latin typeface="Times New Roman"/>
                <a:cs typeface="Times New Roman"/>
              </a:rPr>
              <a:t>n</a:t>
            </a:r>
            <a:r>
              <a:rPr sz="1800" i="1" spc="405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 </a:t>
            </a:r>
            <a:r>
              <a:rPr sz="1800" spc="-50" dirty="0">
                <a:latin typeface="Lucida Sans Unicode"/>
                <a:cs typeface="Lucida Sans Unicode"/>
              </a:rPr>
              <a:t>a </a:t>
            </a:r>
            <a:r>
              <a:rPr sz="1800" dirty="0">
                <a:latin typeface="Lucida Sans Unicode"/>
                <a:cs typeface="Lucida Sans Unicode"/>
              </a:rPr>
              <a:t>constant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sequence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lines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minimizes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L</a:t>
            </a:r>
            <a:r>
              <a:rPr sz="1800" spc="-25" dirty="0">
                <a:latin typeface="Lucida Sans Unicode"/>
                <a:cs typeface="Lucida Sans Unicode"/>
              </a:rPr>
              <a:t>:</a:t>
            </a:r>
            <a:endParaRPr sz="1800">
              <a:latin typeface="Lucida Sans Unicode"/>
              <a:cs typeface="Lucida Sans Unicode"/>
            </a:endParaRPr>
          </a:p>
          <a:p>
            <a:pPr marL="171450">
              <a:lnSpc>
                <a:spcPts val="2780"/>
              </a:lnSpc>
            </a:pPr>
            <a:r>
              <a:rPr sz="4275" spc="2175" baseline="-7797" dirty="0">
                <a:latin typeface="Yu Gothic UI"/>
                <a:cs typeface="Yu Gothic UI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i="1" spc="145" dirty="0">
                <a:latin typeface="Times New Roman"/>
                <a:cs typeface="Times New Roman"/>
              </a:rPr>
              <a:t> =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sums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squared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errors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each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segment.</a:t>
            </a:r>
            <a:endParaRPr sz="1800">
              <a:latin typeface="Lucida Sans Unicode"/>
              <a:cs typeface="Lucida Sans Unicode"/>
            </a:endParaRPr>
          </a:p>
          <a:p>
            <a:pPr marL="171450">
              <a:lnSpc>
                <a:spcPts val="3135"/>
              </a:lnSpc>
            </a:pPr>
            <a:r>
              <a:rPr sz="4275" spc="2175" baseline="-7797" dirty="0">
                <a:latin typeface="Yu Gothic UI"/>
                <a:cs typeface="Yu Gothic UI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L</a:t>
            </a:r>
            <a:r>
              <a:rPr sz="1800" i="1" spc="135" dirty="0">
                <a:latin typeface="Times New Roman"/>
                <a:cs typeface="Times New Roman"/>
              </a:rPr>
              <a:t> = </a:t>
            </a:r>
            <a:r>
              <a:rPr sz="1800" dirty="0">
                <a:latin typeface="Lucida Sans Unicode"/>
                <a:cs typeface="Lucida Sans Unicode"/>
              </a:rPr>
              <a:t>the number of </a:t>
            </a:r>
            <a:r>
              <a:rPr sz="1800" spc="-10" dirty="0">
                <a:latin typeface="Lucida Sans Unicode"/>
                <a:cs typeface="Lucida Sans Unicode"/>
              </a:rPr>
              <a:t>lines.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01742" y="4178006"/>
            <a:ext cx="4581525" cy="3094355"/>
            <a:chOff x="1401742" y="4178006"/>
            <a:chExt cx="4581525" cy="3094355"/>
          </a:xfrm>
        </p:grpSpPr>
        <p:sp>
          <p:nvSpPr>
            <p:cNvPr id="6" name="object 6"/>
            <p:cNvSpPr/>
            <p:nvPr/>
          </p:nvSpPr>
          <p:spPr>
            <a:xfrm>
              <a:off x="1763029" y="4507152"/>
              <a:ext cx="1905" cy="2760980"/>
            </a:xfrm>
            <a:custGeom>
              <a:avLst/>
              <a:gdLst/>
              <a:ahLst/>
              <a:cxnLst/>
              <a:rect l="l" t="t" r="r" b="b"/>
              <a:pathLst>
                <a:path w="1905" h="2760979">
                  <a:moveTo>
                    <a:pt x="0" y="0"/>
                  </a:moveTo>
                  <a:lnTo>
                    <a:pt x="2" y="4768"/>
                  </a:lnTo>
                  <a:lnTo>
                    <a:pt x="1664" y="2760443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34419" y="4454697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5">
                  <a:moveTo>
                    <a:pt x="28577" y="0"/>
                  </a:moveTo>
                  <a:lnTo>
                    <a:pt x="0" y="57241"/>
                  </a:lnTo>
                  <a:lnTo>
                    <a:pt x="57242" y="57241"/>
                  </a:lnTo>
                  <a:lnTo>
                    <a:pt x="285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81539" y="6986136"/>
              <a:ext cx="4449445" cy="1905"/>
            </a:xfrm>
            <a:custGeom>
              <a:avLst/>
              <a:gdLst/>
              <a:ahLst/>
              <a:cxnLst/>
              <a:rect l="l" t="t" r="r" b="b"/>
              <a:pathLst>
                <a:path w="4449445" h="1904">
                  <a:moveTo>
                    <a:pt x="0" y="0"/>
                  </a:moveTo>
                  <a:lnTo>
                    <a:pt x="4444429" y="1673"/>
                  </a:lnTo>
                  <a:lnTo>
                    <a:pt x="4449198" y="1676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25958" y="6959198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4">
                  <a:moveTo>
                    <a:pt x="20" y="0"/>
                  </a:moveTo>
                  <a:lnTo>
                    <a:pt x="0" y="57224"/>
                  </a:lnTo>
                  <a:lnTo>
                    <a:pt x="57235" y="28633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6718" y="6082228"/>
              <a:ext cx="119058" cy="1207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325916" y="6423218"/>
              <a:ext cx="112395" cy="113664"/>
            </a:xfrm>
            <a:custGeom>
              <a:avLst/>
              <a:gdLst/>
              <a:ahLst/>
              <a:cxnLst/>
              <a:rect l="l" t="t" r="r" b="b"/>
              <a:pathLst>
                <a:path w="112394" h="113665">
                  <a:moveTo>
                    <a:pt x="95517" y="16635"/>
                  </a:moveTo>
                  <a:lnTo>
                    <a:pt x="107808" y="35425"/>
                  </a:lnTo>
                  <a:lnTo>
                    <a:pt x="111905" y="56800"/>
                  </a:lnTo>
                  <a:lnTo>
                    <a:pt x="107808" y="78174"/>
                  </a:lnTo>
                  <a:lnTo>
                    <a:pt x="95517" y="96963"/>
                  </a:lnTo>
                  <a:lnTo>
                    <a:pt x="77007" y="109441"/>
                  </a:lnTo>
                  <a:lnTo>
                    <a:pt x="55952" y="113600"/>
                  </a:lnTo>
                  <a:lnTo>
                    <a:pt x="34897" y="109441"/>
                  </a:lnTo>
                  <a:lnTo>
                    <a:pt x="16388" y="96963"/>
                  </a:lnTo>
                  <a:lnTo>
                    <a:pt x="4097" y="78174"/>
                  </a:lnTo>
                  <a:lnTo>
                    <a:pt x="0" y="56800"/>
                  </a:lnTo>
                  <a:lnTo>
                    <a:pt x="4097" y="35425"/>
                  </a:lnTo>
                  <a:lnTo>
                    <a:pt x="16388" y="16635"/>
                  </a:lnTo>
                  <a:lnTo>
                    <a:pt x="34897" y="4158"/>
                  </a:lnTo>
                  <a:lnTo>
                    <a:pt x="55952" y="0"/>
                  </a:lnTo>
                  <a:lnTo>
                    <a:pt x="77007" y="4158"/>
                  </a:lnTo>
                  <a:lnTo>
                    <a:pt x="95517" y="16635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8456" y="6139876"/>
              <a:ext cx="119058" cy="12075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663329" y="6311312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4" h="112395">
                  <a:moveTo>
                    <a:pt x="95517" y="16388"/>
                  </a:moveTo>
                  <a:lnTo>
                    <a:pt x="107808" y="34897"/>
                  </a:lnTo>
                  <a:lnTo>
                    <a:pt x="111905" y="55952"/>
                  </a:lnTo>
                  <a:lnTo>
                    <a:pt x="107808" y="77007"/>
                  </a:lnTo>
                  <a:lnTo>
                    <a:pt x="95517" y="95517"/>
                  </a:lnTo>
                  <a:lnTo>
                    <a:pt x="77007" y="107808"/>
                  </a:lnTo>
                  <a:lnTo>
                    <a:pt x="55952" y="111904"/>
                  </a:lnTo>
                  <a:lnTo>
                    <a:pt x="34897" y="107808"/>
                  </a:lnTo>
                  <a:lnTo>
                    <a:pt x="16388" y="95517"/>
                  </a:lnTo>
                  <a:lnTo>
                    <a:pt x="4097" y="77007"/>
                  </a:lnTo>
                  <a:lnTo>
                    <a:pt x="0" y="55952"/>
                  </a:lnTo>
                  <a:lnTo>
                    <a:pt x="4097" y="34897"/>
                  </a:lnTo>
                  <a:lnTo>
                    <a:pt x="16388" y="16388"/>
                  </a:lnTo>
                  <a:lnTo>
                    <a:pt x="34897" y="4097"/>
                  </a:lnTo>
                  <a:lnTo>
                    <a:pt x="55952" y="0"/>
                  </a:lnTo>
                  <a:lnTo>
                    <a:pt x="77007" y="4097"/>
                  </a:lnTo>
                  <a:lnTo>
                    <a:pt x="95517" y="16388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0529" y="6026276"/>
              <a:ext cx="120754" cy="1190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7380" y="5800769"/>
              <a:ext cx="119058" cy="12075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845119" y="6029853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95517" y="16388"/>
                  </a:moveTo>
                  <a:lnTo>
                    <a:pt x="107808" y="34897"/>
                  </a:lnTo>
                  <a:lnTo>
                    <a:pt x="111905" y="55952"/>
                  </a:lnTo>
                  <a:lnTo>
                    <a:pt x="107808" y="77007"/>
                  </a:lnTo>
                  <a:lnTo>
                    <a:pt x="95517" y="95516"/>
                  </a:lnTo>
                  <a:lnTo>
                    <a:pt x="77007" y="107807"/>
                  </a:lnTo>
                  <a:lnTo>
                    <a:pt x="55952" y="111904"/>
                  </a:lnTo>
                  <a:lnTo>
                    <a:pt x="34897" y="107807"/>
                  </a:lnTo>
                  <a:lnTo>
                    <a:pt x="16388" y="95516"/>
                  </a:lnTo>
                  <a:lnTo>
                    <a:pt x="4097" y="77007"/>
                  </a:lnTo>
                  <a:lnTo>
                    <a:pt x="0" y="55952"/>
                  </a:lnTo>
                  <a:lnTo>
                    <a:pt x="4097" y="34897"/>
                  </a:lnTo>
                  <a:lnTo>
                    <a:pt x="16388" y="16388"/>
                  </a:lnTo>
                  <a:lnTo>
                    <a:pt x="34897" y="4097"/>
                  </a:lnTo>
                  <a:lnTo>
                    <a:pt x="55952" y="0"/>
                  </a:lnTo>
                  <a:lnTo>
                    <a:pt x="77007" y="4097"/>
                  </a:lnTo>
                  <a:lnTo>
                    <a:pt x="95517" y="16388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6698" y="4844485"/>
              <a:ext cx="120753" cy="12075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91191" y="5348272"/>
              <a:ext cx="120754" cy="11905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5239" y="5632911"/>
              <a:ext cx="120753" cy="11905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252416" y="4627005"/>
              <a:ext cx="224154" cy="614680"/>
            </a:xfrm>
            <a:custGeom>
              <a:avLst/>
              <a:gdLst/>
              <a:ahLst/>
              <a:cxnLst/>
              <a:rect l="l" t="t" r="r" b="b"/>
              <a:pathLst>
                <a:path w="224154" h="614679">
                  <a:moveTo>
                    <a:pt x="95517" y="518903"/>
                  </a:moveTo>
                  <a:lnTo>
                    <a:pt x="107808" y="537413"/>
                  </a:lnTo>
                  <a:lnTo>
                    <a:pt x="111904" y="558468"/>
                  </a:lnTo>
                  <a:lnTo>
                    <a:pt x="107808" y="579523"/>
                  </a:lnTo>
                  <a:lnTo>
                    <a:pt x="95517" y="598032"/>
                  </a:lnTo>
                  <a:lnTo>
                    <a:pt x="77007" y="610324"/>
                  </a:lnTo>
                  <a:lnTo>
                    <a:pt x="55952" y="614421"/>
                  </a:lnTo>
                  <a:lnTo>
                    <a:pt x="34897" y="610324"/>
                  </a:lnTo>
                  <a:lnTo>
                    <a:pt x="16388" y="598032"/>
                  </a:lnTo>
                  <a:lnTo>
                    <a:pt x="4097" y="579523"/>
                  </a:lnTo>
                  <a:lnTo>
                    <a:pt x="0" y="558468"/>
                  </a:lnTo>
                  <a:lnTo>
                    <a:pt x="4097" y="537413"/>
                  </a:lnTo>
                  <a:lnTo>
                    <a:pt x="16388" y="518903"/>
                  </a:lnTo>
                  <a:lnTo>
                    <a:pt x="34897" y="506612"/>
                  </a:lnTo>
                  <a:lnTo>
                    <a:pt x="55952" y="502515"/>
                  </a:lnTo>
                  <a:lnTo>
                    <a:pt x="77007" y="506612"/>
                  </a:lnTo>
                  <a:lnTo>
                    <a:pt x="95517" y="518903"/>
                  </a:lnTo>
                </a:path>
                <a:path w="224154" h="614679">
                  <a:moveTo>
                    <a:pt x="207422" y="16636"/>
                  </a:moveTo>
                  <a:lnTo>
                    <a:pt x="219713" y="35426"/>
                  </a:lnTo>
                  <a:lnTo>
                    <a:pt x="223810" y="56800"/>
                  </a:lnTo>
                  <a:lnTo>
                    <a:pt x="219713" y="78174"/>
                  </a:lnTo>
                  <a:lnTo>
                    <a:pt x="207422" y="96964"/>
                  </a:lnTo>
                  <a:lnTo>
                    <a:pt x="188913" y="109442"/>
                  </a:lnTo>
                  <a:lnTo>
                    <a:pt x="167858" y="113601"/>
                  </a:lnTo>
                  <a:lnTo>
                    <a:pt x="146803" y="109442"/>
                  </a:lnTo>
                  <a:lnTo>
                    <a:pt x="128293" y="96964"/>
                  </a:lnTo>
                  <a:lnTo>
                    <a:pt x="116002" y="78174"/>
                  </a:lnTo>
                  <a:lnTo>
                    <a:pt x="111905" y="56800"/>
                  </a:lnTo>
                  <a:lnTo>
                    <a:pt x="116002" y="35426"/>
                  </a:lnTo>
                  <a:lnTo>
                    <a:pt x="128293" y="16636"/>
                  </a:lnTo>
                  <a:lnTo>
                    <a:pt x="146803" y="4159"/>
                  </a:lnTo>
                  <a:lnTo>
                    <a:pt x="167858" y="0"/>
                  </a:lnTo>
                  <a:lnTo>
                    <a:pt x="188913" y="4159"/>
                  </a:lnTo>
                  <a:lnTo>
                    <a:pt x="207422" y="16636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9968" y="6026276"/>
              <a:ext cx="119058" cy="11905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78954" y="5970323"/>
              <a:ext cx="119058" cy="11905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16036" y="6026276"/>
              <a:ext cx="120754" cy="11905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214011" y="6199406"/>
              <a:ext cx="675005" cy="393700"/>
            </a:xfrm>
            <a:custGeom>
              <a:avLst/>
              <a:gdLst/>
              <a:ahLst/>
              <a:cxnLst/>
              <a:rect l="l" t="t" r="r" b="b"/>
              <a:pathLst>
                <a:path w="675005" h="393700">
                  <a:moveTo>
                    <a:pt x="95517" y="296399"/>
                  </a:moveTo>
                  <a:lnTo>
                    <a:pt x="107808" y="315189"/>
                  </a:lnTo>
                  <a:lnTo>
                    <a:pt x="111905" y="336564"/>
                  </a:lnTo>
                  <a:lnTo>
                    <a:pt x="107808" y="357938"/>
                  </a:lnTo>
                  <a:lnTo>
                    <a:pt x="95517" y="376728"/>
                  </a:lnTo>
                  <a:lnTo>
                    <a:pt x="77007" y="389206"/>
                  </a:lnTo>
                  <a:lnTo>
                    <a:pt x="55952" y="393365"/>
                  </a:lnTo>
                  <a:lnTo>
                    <a:pt x="34897" y="389206"/>
                  </a:lnTo>
                  <a:lnTo>
                    <a:pt x="16388" y="376728"/>
                  </a:lnTo>
                  <a:lnTo>
                    <a:pt x="4097" y="357938"/>
                  </a:lnTo>
                  <a:lnTo>
                    <a:pt x="0" y="336564"/>
                  </a:lnTo>
                  <a:lnTo>
                    <a:pt x="4097" y="315189"/>
                  </a:lnTo>
                  <a:lnTo>
                    <a:pt x="16388" y="296399"/>
                  </a:lnTo>
                  <a:lnTo>
                    <a:pt x="34897" y="283922"/>
                  </a:lnTo>
                  <a:lnTo>
                    <a:pt x="55952" y="279763"/>
                  </a:lnTo>
                  <a:lnTo>
                    <a:pt x="77007" y="283922"/>
                  </a:lnTo>
                  <a:lnTo>
                    <a:pt x="95517" y="296399"/>
                  </a:lnTo>
                </a:path>
                <a:path w="675005" h="393700">
                  <a:moveTo>
                    <a:pt x="658187" y="16388"/>
                  </a:moveTo>
                  <a:lnTo>
                    <a:pt x="670665" y="34897"/>
                  </a:lnTo>
                  <a:lnTo>
                    <a:pt x="674824" y="55952"/>
                  </a:lnTo>
                  <a:lnTo>
                    <a:pt x="670665" y="77007"/>
                  </a:lnTo>
                  <a:lnTo>
                    <a:pt x="658187" y="95517"/>
                  </a:lnTo>
                  <a:lnTo>
                    <a:pt x="639397" y="107808"/>
                  </a:lnTo>
                  <a:lnTo>
                    <a:pt x="618023" y="111905"/>
                  </a:lnTo>
                  <a:lnTo>
                    <a:pt x="596649" y="107808"/>
                  </a:lnTo>
                  <a:lnTo>
                    <a:pt x="577860" y="95517"/>
                  </a:lnTo>
                  <a:lnTo>
                    <a:pt x="565382" y="77007"/>
                  </a:lnTo>
                  <a:lnTo>
                    <a:pt x="561223" y="55952"/>
                  </a:lnTo>
                  <a:lnTo>
                    <a:pt x="565382" y="34897"/>
                  </a:lnTo>
                  <a:lnTo>
                    <a:pt x="577860" y="16388"/>
                  </a:lnTo>
                  <a:lnTo>
                    <a:pt x="596649" y="4097"/>
                  </a:lnTo>
                  <a:lnTo>
                    <a:pt x="618023" y="0"/>
                  </a:lnTo>
                  <a:lnTo>
                    <a:pt x="639397" y="4097"/>
                  </a:lnTo>
                  <a:lnTo>
                    <a:pt x="658187" y="16388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8508" y="5970323"/>
              <a:ext cx="119058" cy="11905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476227" y="4510650"/>
              <a:ext cx="113664" cy="112395"/>
            </a:xfrm>
            <a:custGeom>
              <a:avLst/>
              <a:gdLst/>
              <a:ahLst/>
              <a:cxnLst/>
              <a:rect l="l" t="t" r="r" b="b"/>
              <a:pathLst>
                <a:path w="113664" h="112395">
                  <a:moveTo>
                    <a:pt x="96964" y="16387"/>
                  </a:moveTo>
                  <a:lnTo>
                    <a:pt x="109442" y="34897"/>
                  </a:lnTo>
                  <a:lnTo>
                    <a:pt x="113601" y="55952"/>
                  </a:lnTo>
                  <a:lnTo>
                    <a:pt x="109442" y="77007"/>
                  </a:lnTo>
                  <a:lnTo>
                    <a:pt x="96964" y="95516"/>
                  </a:lnTo>
                  <a:lnTo>
                    <a:pt x="78174" y="107807"/>
                  </a:lnTo>
                  <a:lnTo>
                    <a:pt x="56800" y="111904"/>
                  </a:lnTo>
                  <a:lnTo>
                    <a:pt x="35425" y="107807"/>
                  </a:lnTo>
                  <a:lnTo>
                    <a:pt x="16635" y="95516"/>
                  </a:lnTo>
                  <a:lnTo>
                    <a:pt x="4158" y="77007"/>
                  </a:lnTo>
                  <a:lnTo>
                    <a:pt x="0" y="55952"/>
                  </a:lnTo>
                  <a:lnTo>
                    <a:pt x="4158" y="34897"/>
                  </a:lnTo>
                  <a:lnTo>
                    <a:pt x="16635" y="16387"/>
                  </a:lnTo>
                  <a:lnTo>
                    <a:pt x="35425" y="4096"/>
                  </a:lnTo>
                  <a:lnTo>
                    <a:pt x="56800" y="0"/>
                  </a:lnTo>
                  <a:lnTo>
                    <a:pt x="78174" y="4096"/>
                  </a:lnTo>
                  <a:lnTo>
                    <a:pt x="96964" y="16387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9732" y="6026276"/>
              <a:ext cx="120754" cy="11905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901071" y="5917946"/>
              <a:ext cx="113664" cy="112395"/>
            </a:xfrm>
            <a:custGeom>
              <a:avLst/>
              <a:gdLst/>
              <a:ahLst/>
              <a:cxnLst/>
              <a:rect l="l" t="t" r="r" b="b"/>
              <a:pathLst>
                <a:path w="113664" h="112395">
                  <a:moveTo>
                    <a:pt x="96964" y="16388"/>
                  </a:moveTo>
                  <a:lnTo>
                    <a:pt x="109441" y="34897"/>
                  </a:lnTo>
                  <a:lnTo>
                    <a:pt x="113600" y="55952"/>
                  </a:lnTo>
                  <a:lnTo>
                    <a:pt x="109441" y="77007"/>
                  </a:lnTo>
                  <a:lnTo>
                    <a:pt x="96964" y="95517"/>
                  </a:lnTo>
                  <a:lnTo>
                    <a:pt x="78174" y="107808"/>
                  </a:lnTo>
                  <a:lnTo>
                    <a:pt x="56800" y="111905"/>
                  </a:lnTo>
                  <a:lnTo>
                    <a:pt x="35426" y="107808"/>
                  </a:lnTo>
                  <a:lnTo>
                    <a:pt x="16636" y="95517"/>
                  </a:lnTo>
                  <a:lnTo>
                    <a:pt x="4159" y="77007"/>
                  </a:lnTo>
                  <a:lnTo>
                    <a:pt x="0" y="55952"/>
                  </a:lnTo>
                  <a:lnTo>
                    <a:pt x="4159" y="34897"/>
                  </a:lnTo>
                  <a:lnTo>
                    <a:pt x="16636" y="16388"/>
                  </a:lnTo>
                  <a:lnTo>
                    <a:pt x="35426" y="4097"/>
                  </a:lnTo>
                  <a:lnTo>
                    <a:pt x="56800" y="0"/>
                  </a:lnTo>
                  <a:lnTo>
                    <a:pt x="78174" y="4097"/>
                  </a:lnTo>
                  <a:lnTo>
                    <a:pt x="96964" y="16388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8839" y="4900438"/>
              <a:ext cx="119058" cy="12075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138815" y="4398744"/>
              <a:ext cx="567055" cy="786765"/>
            </a:xfrm>
            <a:custGeom>
              <a:avLst/>
              <a:gdLst/>
              <a:ahLst/>
              <a:cxnLst/>
              <a:rect l="l" t="t" r="r" b="b"/>
              <a:pathLst>
                <a:path w="567054" h="786764">
                  <a:moveTo>
                    <a:pt x="96963" y="691212"/>
                  </a:moveTo>
                  <a:lnTo>
                    <a:pt x="109441" y="709721"/>
                  </a:lnTo>
                  <a:lnTo>
                    <a:pt x="113600" y="730777"/>
                  </a:lnTo>
                  <a:lnTo>
                    <a:pt x="109441" y="751832"/>
                  </a:lnTo>
                  <a:lnTo>
                    <a:pt x="96963" y="770342"/>
                  </a:lnTo>
                  <a:lnTo>
                    <a:pt x="78174" y="782633"/>
                  </a:lnTo>
                  <a:lnTo>
                    <a:pt x="56800" y="786730"/>
                  </a:lnTo>
                  <a:lnTo>
                    <a:pt x="35425" y="782633"/>
                  </a:lnTo>
                  <a:lnTo>
                    <a:pt x="16635" y="770342"/>
                  </a:lnTo>
                  <a:lnTo>
                    <a:pt x="4158" y="751832"/>
                  </a:lnTo>
                  <a:lnTo>
                    <a:pt x="0" y="730777"/>
                  </a:lnTo>
                  <a:lnTo>
                    <a:pt x="4158" y="709721"/>
                  </a:lnTo>
                  <a:lnTo>
                    <a:pt x="16635" y="691212"/>
                  </a:lnTo>
                  <a:lnTo>
                    <a:pt x="35425" y="678921"/>
                  </a:lnTo>
                  <a:lnTo>
                    <a:pt x="56800" y="674824"/>
                  </a:lnTo>
                  <a:lnTo>
                    <a:pt x="78174" y="678921"/>
                  </a:lnTo>
                  <a:lnTo>
                    <a:pt x="96963" y="691212"/>
                  </a:lnTo>
                </a:path>
                <a:path w="567054" h="786764">
                  <a:moveTo>
                    <a:pt x="550132" y="16388"/>
                  </a:moveTo>
                  <a:lnTo>
                    <a:pt x="562423" y="34897"/>
                  </a:lnTo>
                  <a:lnTo>
                    <a:pt x="566520" y="55952"/>
                  </a:lnTo>
                  <a:lnTo>
                    <a:pt x="562423" y="77007"/>
                  </a:lnTo>
                  <a:lnTo>
                    <a:pt x="550132" y="95517"/>
                  </a:lnTo>
                  <a:lnTo>
                    <a:pt x="531622" y="107808"/>
                  </a:lnTo>
                  <a:lnTo>
                    <a:pt x="510567" y="111904"/>
                  </a:lnTo>
                  <a:lnTo>
                    <a:pt x="489512" y="107808"/>
                  </a:lnTo>
                  <a:lnTo>
                    <a:pt x="471003" y="95517"/>
                  </a:lnTo>
                  <a:lnTo>
                    <a:pt x="458712" y="77007"/>
                  </a:lnTo>
                  <a:lnTo>
                    <a:pt x="454615" y="55952"/>
                  </a:lnTo>
                  <a:lnTo>
                    <a:pt x="458712" y="34897"/>
                  </a:lnTo>
                  <a:lnTo>
                    <a:pt x="471003" y="16388"/>
                  </a:lnTo>
                  <a:lnTo>
                    <a:pt x="489512" y="4097"/>
                  </a:lnTo>
                  <a:lnTo>
                    <a:pt x="510567" y="0"/>
                  </a:lnTo>
                  <a:lnTo>
                    <a:pt x="531622" y="4097"/>
                  </a:lnTo>
                  <a:lnTo>
                    <a:pt x="550132" y="16388"/>
                  </a:lnTo>
                </a:path>
              </a:pathLst>
            </a:custGeom>
            <a:ln w="7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40880" y="6589195"/>
              <a:ext cx="119058" cy="11905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416048" y="4192312"/>
              <a:ext cx="4276725" cy="2701290"/>
            </a:xfrm>
            <a:custGeom>
              <a:avLst/>
              <a:gdLst/>
              <a:ahLst/>
              <a:cxnLst/>
              <a:rect l="l" t="t" r="r" b="b"/>
              <a:pathLst>
                <a:path w="4276725" h="2701290">
                  <a:moveTo>
                    <a:pt x="0" y="2700992"/>
                  </a:moveTo>
                  <a:lnTo>
                    <a:pt x="1856748" y="1913203"/>
                  </a:lnTo>
                </a:path>
                <a:path w="4276725" h="2701290">
                  <a:moveTo>
                    <a:pt x="4276147" y="0"/>
                  </a:moveTo>
                  <a:lnTo>
                    <a:pt x="3600966" y="1856933"/>
                  </a:lnTo>
                </a:path>
                <a:path w="4276725" h="2701290">
                  <a:moveTo>
                    <a:pt x="1856748" y="1913204"/>
                  </a:moveTo>
                  <a:lnTo>
                    <a:pt x="3600966" y="1856933"/>
                  </a:lnTo>
                </a:path>
              </a:pathLst>
            </a:custGeom>
            <a:ln w="28612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507240" y="4421013"/>
            <a:ext cx="933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Times New Roman"/>
                <a:cs typeface="Times New Roman"/>
              </a:rPr>
              <a:t>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55454" y="7133748"/>
            <a:ext cx="9334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i="1" spc="-50" dirty="0">
                <a:latin typeface="Times New Roman"/>
                <a:cs typeface="Times New Roman"/>
              </a:rPr>
              <a:t>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5267" y="475073"/>
            <a:ext cx="497522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23870" algn="l"/>
              </a:tabLst>
            </a:pPr>
            <a:r>
              <a:rPr sz="2100" dirty="0">
                <a:latin typeface="Arial MT"/>
                <a:cs typeface="Arial MT"/>
              </a:rPr>
              <a:t>Dynamic</a:t>
            </a:r>
            <a:r>
              <a:rPr sz="2100" spc="1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programming:</a:t>
            </a:r>
            <a:r>
              <a:rPr sz="2100" dirty="0">
                <a:latin typeface="Arial MT"/>
                <a:cs typeface="Arial MT"/>
              </a:rPr>
              <a:t>	multiway</a:t>
            </a:r>
            <a:r>
              <a:rPr sz="2100" spc="29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choice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5267" y="1218991"/>
            <a:ext cx="1054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Notation.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5241" y="1444073"/>
            <a:ext cx="5442585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spc="-145" dirty="0">
                <a:latin typeface="Lucida Sans Unicode"/>
                <a:cs typeface="Lucida Sans Unicode"/>
              </a:rPr>
              <a:t>= </a:t>
            </a:r>
            <a:r>
              <a:rPr sz="1800" dirty="0">
                <a:latin typeface="Lucida Sans Unicode"/>
                <a:cs typeface="Lucida Sans Unicode"/>
              </a:rPr>
              <a:t>minimum cost for points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spc="85" dirty="0">
                <a:latin typeface="Times New Roman"/>
                <a:cs typeface="Times New Roman"/>
              </a:rPr>
              <a:t>, …, </a:t>
            </a:r>
            <a:r>
              <a:rPr sz="1800" i="1" spc="-25" dirty="0">
                <a:latin typeface="Times New Roman"/>
                <a:cs typeface="Times New Roman"/>
              </a:rPr>
              <a:t>p</a:t>
            </a:r>
            <a:r>
              <a:rPr sz="1800" i="1" spc="-37" baseline="-6944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867" y="1806495"/>
            <a:ext cx="6909434" cy="15525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130"/>
              </a:spcBef>
              <a:tabLst>
                <a:tab pos="1212215" algn="l"/>
              </a:tabLst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85" dirty="0">
                <a:latin typeface="Lucida Sans Unicode"/>
                <a:cs typeface="Lucida Sans Unicode"/>
              </a:rPr>
              <a:t>=</a:t>
            </a:r>
            <a:r>
              <a:rPr sz="1800" dirty="0">
                <a:latin typeface="Lucida Sans Unicode"/>
                <a:cs typeface="Lucida Sans Unicode"/>
              </a:rPr>
              <a:t> minimum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squares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points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baseline="-6944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baseline="-6944" dirty="0">
                <a:latin typeface="Times New Roman"/>
                <a:cs typeface="Times New Roman"/>
              </a:rPr>
              <a:t>i+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p</a:t>
            </a:r>
            <a:r>
              <a:rPr sz="1800" i="1" spc="-37" baseline="-6944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38100">
              <a:lnSpc>
                <a:spcPts val="1980"/>
              </a:lnSpc>
            </a:pPr>
            <a:r>
              <a:rPr sz="1800" spc="-90" dirty="0">
                <a:solidFill>
                  <a:srgbClr val="0048AA"/>
                </a:solidFill>
                <a:latin typeface="Lucida Sans Unicode"/>
                <a:cs typeface="Lucida Sans Unicode"/>
              </a:rPr>
              <a:t>To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compute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i="1" spc="-10" dirty="0">
                <a:solidFill>
                  <a:srgbClr val="0048AA"/>
                </a:solidFill>
                <a:latin typeface="Times New Roman"/>
                <a:cs typeface="Times New Roman"/>
              </a:rPr>
              <a:t>OPT</a:t>
            </a:r>
            <a:r>
              <a:rPr sz="1800" spc="-1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1800" i="1" spc="-10" dirty="0">
                <a:solidFill>
                  <a:srgbClr val="0048AA"/>
                </a:solidFill>
                <a:latin typeface="Times New Roman"/>
                <a:cs typeface="Times New Roman"/>
              </a:rPr>
              <a:t>j</a:t>
            </a:r>
            <a:r>
              <a:rPr sz="1800" spc="-1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: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3240"/>
              </a:lnSpc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Last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segment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uses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points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baseline="-6944" dirty="0">
                <a:latin typeface="Times New Roman"/>
                <a:cs typeface="Times New Roman"/>
              </a:rPr>
              <a:t>i</a:t>
            </a:r>
            <a:r>
              <a:rPr sz="1800" spc="-5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baseline="-6944" dirty="0">
                <a:latin typeface="Times New Roman"/>
                <a:cs typeface="Times New Roman"/>
              </a:rPr>
              <a:t>i+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spc="85" dirty="0">
                <a:latin typeface="Times New Roman"/>
                <a:cs typeface="Times New Roman"/>
              </a:rPr>
              <a:t>, …,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baseline="-6944" dirty="0">
                <a:latin typeface="Times New Roman"/>
                <a:cs typeface="Times New Roman"/>
              </a:rPr>
              <a:t>j</a:t>
            </a:r>
            <a:r>
              <a:rPr sz="1800" i="1" spc="390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some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5241" y="3256180"/>
            <a:ext cx="3611245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Cost</a:t>
            </a:r>
            <a:r>
              <a:rPr sz="1800" spc="-100" dirty="0">
                <a:latin typeface="Lucida Sans Unicode"/>
                <a:cs typeface="Lucida Sans Unicode"/>
              </a:rPr>
              <a:t> = </a:t>
            </a: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spc="225" dirty="0">
                <a:latin typeface="Times New Roman"/>
                <a:cs typeface="Times New Roman"/>
              </a:rPr>
              <a:t>) +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450" dirty="0">
                <a:latin typeface="Times New Roman"/>
                <a:cs typeface="Times New Roman"/>
              </a:rPr>
              <a:t> </a:t>
            </a:r>
            <a:r>
              <a:rPr sz="1800" spc="225" dirty="0">
                <a:latin typeface="Times New Roman"/>
                <a:cs typeface="Times New Roman"/>
              </a:rPr>
              <a:t>+ 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i </a:t>
            </a:r>
            <a:r>
              <a:rPr sz="1800" dirty="0">
                <a:latin typeface="Times New Roman"/>
                <a:cs typeface="Times New Roman"/>
              </a:rPr>
              <a:t>– </a:t>
            </a:r>
            <a:r>
              <a:rPr sz="1800" spc="-25" dirty="0">
                <a:latin typeface="Times New Roman"/>
                <a:cs typeface="Times New Roman"/>
              </a:rPr>
              <a:t>1)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9920" y="4674446"/>
            <a:ext cx="486409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i="1" spc="-25" dirty="0">
                <a:latin typeface="Times New Roman"/>
                <a:cs typeface="Times New Roman"/>
              </a:rPr>
              <a:t>OPT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0958" y="4354068"/>
            <a:ext cx="97345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299"/>
              </a:lnSpc>
              <a:spcBef>
                <a:spcPts val="95"/>
              </a:spcBef>
            </a:pPr>
            <a:r>
              <a:rPr sz="1900" dirty="0">
                <a:latin typeface="Times New Roman"/>
                <a:cs typeface="Times New Roman"/>
              </a:rPr>
              <a:t>if</a:t>
            </a:r>
            <a:r>
              <a:rPr sz="1900" spc="4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j</a:t>
            </a:r>
            <a:r>
              <a:rPr sz="1900" spc="-20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0 </a:t>
            </a:r>
            <a:r>
              <a:rPr sz="1900" spc="-10" dirty="0">
                <a:latin typeface="Times New Roman"/>
                <a:cs typeface="Times New Roman"/>
              </a:rPr>
              <a:t>otherwise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3733" y="4760807"/>
            <a:ext cx="388683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baseline="27777" dirty="0">
                <a:latin typeface="Times New Roman"/>
                <a:cs typeface="Times New Roman"/>
              </a:rPr>
              <a:t>(</a:t>
            </a:r>
            <a:r>
              <a:rPr sz="2850" spc="7" baseline="27777" dirty="0">
                <a:latin typeface="Times New Roman"/>
                <a:cs typeface="Times New Roman"/>
              </a:rPr>
              <a:t> </a:t>
            </a:r>
            <a:r>
              <a:rPr sz="2850" i="1" spc="82" baseline="27777" dirty="0">
                <a:latin typeface="Times New Roman"/>
                <a:cs typeface="Times New Roman"/>
              </a:rPr>
              <a:t>j</a:t>
            </a:r>
            <a:r>
              <a:rPr sz="2850" spc="82" baseline="27777" dirty="0">
                <a:latin typeface="Times New Roman"/>
                <a:cs typeface="Times New Roman"/>
              </a:rPr>
              <a:t>)</a:t>
            </a:r>
            <a:r>
              <a:rPr sz="2850" spc="-217" baseline="27777" dirty="0">
                <a:latin typeface="Times New Roman"/>
                <a:cs typeface="Times New Roman"/>
              </a:rPr>
              <a:t> </a:t>
            </a:r>
            <a:r>
              <a:rPr sz="2850" baseline="27777" dirty="0">
                <a:latin typeface="Symbol"/>
                <a:cs typeface="Symbol"/>
              </a:rPr>
              <a:t></a:t>
            </a:r>
            <a:r>
              <a:rPr sz="2850" spc="-120" baseline="27777" dirty="0">
                <a:latin typeface="Times New Roman"/>
                <a:cs typeface="Times New Roman"/>
              </a:rPr>
              <a:t> </a:t>
            </a:r>
            <a:r>
              <a:rPr sz="2850" baseline="24853" dirty="0">
                <a:latin typeface="Symbol"/>
                <a:cs typeface="Symbol"/>
              </a:rPr>
              <a:t></a:t>
            </a:r>
            <a:r>
              <a:rPr sz="2850" spc="150" baseline="2485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min</a:t>
            </a:r>
            <a:r>
              <a:rPr sz="1900" spc="30" dirty="0">
                <a:latin typeface="Times New Roman"/>
                <a:cs typeface="Times New Roman"/>
              </a:rPr>
              <a:t>  </a:t>
            </a:r>
            <a:r>
              <a:rPr sz="3225" baseline="-3875" dirty="0">
                <a:latin typeface="Symbol"/>
                <a:cs typeface="Symbol"/>
              </a:rPr>
              <a:t></a:t>
            </a:r>
            <a:r>
              <a:rPr sz="3225" spc="667" baseline="-387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i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i="1" spc="55" dirty="0">
                <a:latin typeface="Times New Roman"/>
                <a:cs typeface="Times New Roman"/>
              </a:rPr>
              <a:t>j</a:t>
            </a:r>
            <a:r>
              <a:rPr sz="1900" spc="55" dirty="0">
                <a:latin typeface="Times New Roman"/>
                <a:cs typeface="Times New Roman"/>
              </a:rPr>
              <a:t>)</a:t>
            </a:r>
            <a:r>
              <a:rPr sz="1900" spc="1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c</a:t>
            </a:r>
            <a:r>
              <a:rPr sz="1900" i="1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OPT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i</a:t>
            </a:r>
            <a:r>
              <a:rPr sz="1900" i="1" spc="-1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dirty="0">
                <a:latin typeface="Times New Roman"/>
                <a:cs typeface="Times New Roman"/>
              </a:rPr>
              <a:t>1)</a:t>
            </a:r>
            <a:r>
              <a:rPr sz="1900" spc="-270" dirty="0">
                <a:latin typeface="Times New Roman"/>
                <a:cs typeface="Times New Roman"/>
              </a:rPr>
              <a:t> </a:t>
            </a:r>
            <a:r>
              <a:rPr sz="3225" spc="-75" baseline="-3875" dirty="0">
                <a:latin typeface="Symbol"/>
                <a:cs typeface="Symbol"/>
              </a:rPr>
              <a:t></a:t>
            </a:r>
            <a:endParaRPr sz="3225" baseline="-3875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80359" y="4411979"/>
            <a:ext cx="45402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293370" algn="l"/>
              </a:tabLst>
            </a:pPr>
            <a:r>
              <a:rPr sz="1900" spc="-680" dirty="0">
                <a:latin typeface="Symbol"/>
                <a:cs typeface="Symbol"/>
              </a:rPr>
              <a:t></a:t>
            </a:r>
            <a:r>
              <a:rPr sz="2850" spc="-1019" baseline="-19005" dirty="0">
                <a:latin typeface="Symbol"/>
                <a:cs typeface="Symbol"/>
              </a:rPr>
              <a:t></a:t>
            </a:r>
            <a:r>
              <a:rPr sz="2850" baseline="-19005" dirty="0">
                <a:latin typeface="Times New Roman"/>
                <a:cs typeface="Times New Roman"/>
              </a:rPr>
              <a:t>	</a:t>
            </a:r>
            <a:r>
              <a:rPr sz="2850" spc="-75" baseline="-2923" dirty="0">
                <a:latin typeface="Times New Roman"/>
                <a:cs typeface="Times New Roman"/>
              </a:rPr>
              <a:t>0</a:t>
            </a:r>
            <a:endParaRPr sz="2850" baseline="-292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80359" y="4957233"/>
            <a:ext cx="70929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850" spc="-697" baseline="19005" dirty="0">
                <a:latin typeface="Symbol"/>
                <a:cs typeface="Symbol"/>
              </a:rPr>
              <a:t></a:t>
            </a:r>
            <a:r>
              <a:rPr sz="1900" spc="-465" dirty="0">
                <a:latin typeface="Symbol"/>
                <a:cs typeface="Symbol"/>
              </a:rPr>
              <a:t></a:t>
            </a:r>
            <a:r>
              <a:rPr sz="1250" spc="-465" dirty="0">
                <a:latin typeface="Times New Roman"/>
                <a:cs typeface="Times New Roman"/>
              </a:rPr>
              <a:t>1</a:t>
            </a:r>
            <a:r>
              <a:rPr sz="1250" spc="-155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Symbol"/>
                <a:cs typeface="Symbol"/>
              </a:rPr>
              <a:t></a:t>
            </a:r>
            <a:r>
              <a:rPr sz="1250" spc="5" dirty="0">
                <a:latin typeface="Times New Roman"/>
                <a:cs typeface="Times New Roman"/>
              </a:rPr>
              <a:t> </a:t>
            </a:r>
            <a:r>
              <a:rPr sz="1250" i="1" dirty="0">
                <a:latin typeface="Times New Roman"/>
                <a:cs typeface="Times New Roman"/>
              </a:rPr>
              <a:t>i</a:t>
            </a:r>
            <a:r>
              <a:rPr sz="1250" i="1" spc="35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Symbol"/>
                <a:cs typeface="Symbol"/>
              </a:rPr>
              <a:t></a:t>
            </a:r>
            <a:r>
              <a:rPr sz="1250" spc="275" dirty="0">
                <a:latin typeface="Times New Roman"/>
                <a:cs typeface="Times New Roman"/>
              </a:rPr>
              <a:t> </a:t>
            </a:r>
            <a:r>
              <a:rPr sz="1250" i="1" spc="-50" dirty="0">
                <a:latin typeface="Times New Roman"/>
                <a:cs typeface="Times New Roman"/>
              </a:rPr>
              <a:t>j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67972" y="3457737"/>
            <a:ext cx="2307590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>
              <a:lnSpc>
                <a:spcPct val="114700"/>
              </a:lnSpc>
              <a:spcBef>
                <a:spcPts val="10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optimal</a:t>
            </a:r>
            <a:r>
              <a:rPr sz="12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substructure</a:t>
            </a:r>
            <a:r>
              <a:rPr sz="12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property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(proof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via</a:t>
            </a:r>
            <a:r>
              <a:rPr sz="12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exchange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argument)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25380" y="3546598"/>
            <a:ext cx="454025" cy="92075"/>
            <a:chOff x="4625380" y="3546598"/>
            <a:chExt cx="454025" cy="92075"/>
          </a:xfrm>
        </p:grpSpPr>
        <p:sp>
          <p:nvSpPr>
            <p:cNvPr id="15" name="object 15"/>
            <p:cNvSpPr/>
            <p:nvPr/>
          </p:nvSpPr>
          <p:spPr>
            <a:xfrm>
              <a:off x="4684512" y="3592377"/>
              <a:ext cx="394970" cy="0"/>
            </a:xfrm>
            <a:custGeom>
              <a:avLst/>
              <a:gdLst/>
              <a:ahLst/>
              <a:cxnLst/>
              <a:rect l="l" t="t" r="r" b="b"/>
              <a:pathLst>
                <a:path w="394970">
                  <a:moveTo>
                    <a:pt x="0" y="0"/>
                  </a:moveTo>
                  <a:lnTo>
                    <a:pt x="9537" y="0"/>
                  </a:lnTo>
                  <a:lnTo>
                    <a:pt x="394482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25380" y="3546598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8" y="0"/>
                  </a:moveTo>
                  <a:lnTo>
                    <a:pt x="0" y="45778"/>
                  </a:lnTo>
                  <a:lnTo>
                    <a:pt x="91558" y="91558"/>
                  </a:lnTo>
                  <a:lnTo>
                    <a:pt x="68668" y="45778"/>
                  </a:lnTo>
                  <a:lnTo>
                    <a:pt x="91558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Segmented</a:t>
            </a:r>
            <a:r>
              <a:rPr spc="-50" dirty="0"/>
              <a:t> </a:t>
            </a:r>
            <a:r>
              <a:rPr dirty="0"/>
              <a:t>least</a:t>
            </a:r>
            <a:r>
              <a:rPr spc="-50" dirty="0"/>
              <a:t> </a:t>
            </a:r>
            <a:r>
              <a:rPr dirty="0"/>
              <a:t>squares</a:t>
            </a:r>
            <a:r>
              <a:rPr spc="-50" dirty="0"/>
              <a:t> </a:t>
            </a:r>
            <a:r>
              <a:rPr spc="35" dirty="0"/>
              <a:t>algorithm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58538" y="2032833"/>
            <a:ext cx="7630159" cy="4291965"/>
            <a:chOff x="1158538" y="2032833"/>
            <a:chExt cx="7630159" cy="4291965"/>
          </a:xfrm>
        </p:grpSpPr>
        <p:sp>
          <p:nvSpPr>
            <p:cNvPr id="5" name="object 5"/>
            <p:cNvSpPr/>
            <p:nvPr/>
          </p:nvSpPr>
          <p:spPr>
            <a:xfrm>
              <a:off x="1158538" y="2032833"/>
              <a:ext cx="7630159" cy="4291965"/>
            </a:xfrm>
            <a:custGeom>
              <a:avLst/>
              <a:gdLst/>
              <a:ahLst/>
              <a:cxnLst/>
              <a:rect l="l" t="t" r="r" b="b"/>
              <a:pathLst>
                <a:path w="7630159" h="4291965">
                  <a:moveTo>
                    <a:pt x="0" y="0"/>
                  </a:moveTo>
                  <a:lnTo>
                    <a:pt x="7629922" y="0"/>
                  </a:lnTo>
                  <a:lnTo>
                    <a:pt x="7629922" y="4291830"/>
                  </a:lnTo>
                  <a:lnTo>
                    <a:pt x="0" y="4291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7898" y="2635558"/>
              <a:ext cx="6495415" cy="0"/>
            </a:xfrm>
            <a:custGeom>
              <a:avLst/>
              <a:gdLst/>
              <a:ahLst/>
              <a:cxnLst/>
              <a:rect l="l" t="t" r="r" b="b"/>
              <a:pathLst>
                <a:path w="6495415">
                  <a:moveTo>
                    <a:pt x="0" y="0"/>
                  </a:moveTo>
                  <a:lnTo>
                    <a:pt x="64949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58538" y="2032833"/>
            <a:ext cx="7630159" cy="429196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19075" marR="3086735">
              <a:lnSpc>
                <a:spcPts val="3910"/>
              </a:lnSpc>
              <a:spcBef>
                <a:spcPts val="175"/>
              </a:spcBef>
            </a:pPr>
            <a:r>
              <a:rPr sz="1800" spc="-20" dirty="0">
                <a:solidFill>
                  <a:srgbClr val="003F83"/>
                </a:solidFill>
                <a:latin typeface="Times New Roman"/>
                <a:cs typeface="Times New Roman"/>
              </a:rPr>
              <a:t>S</a:t>
            </a:r>
            <a:r>
              <a:rPr sz="1450" spc="-20" dirty="0">
                <a:solidFill>
                  <a:srgbClr val="003F83"/>
                </a:solidFill>
                <a:latin typeface="Times New Roman"/>
                <a:cs typeface="Times New Roman"/>
              </a:rPr>
              <a:t>EGMENTED</a:t>
            </a:r>
            <a:r>
              <a:rPr sz="1800" spc="-20" dirty="0">
                <a:solidFill>
                  <a:srgbClr val="003F83"/>
                </a:solidFill>
                <a:latin typeface="Times New Roman"/>
                <a:cs typeface="Times New Roman"/>
              </a:rPr>
              <a:t>-L</a:t>
            </a:r>
            <a:r>
              <a:rPr sz="1450" spc="-20" dirty="0">
                <a:solidFill>
                  <a:srgbClr val="003F83"/>
                </a:solidFill>
                <a:latin typeface="Times New Roman"/>
                <a:cs typeface="Times New Roman"/>
              </a:rPr>
              <a:t>EAST</a:t>
            </a:r>
            <a:r>
              <a:rPr sz="1800" spc="-20" dirty="0">
                <a:solidFill>
                  <a:srgbClr val="003F83"/>
                </a:solidFill>
                <a:latin typeface="Times New Roman"/>
                <a:cs typeface="Times New Roman"/>
              </a:rPr>
              <a:t>-</a:t>
            </a:r>
            <a:r>
              <a:rPr sz="1800" dirty="0">
                <a:solidFill>
                  <a:srgbClr val="003F83"/>
                </a:solidFill>
                <a:latin typeface="Times New Roman"/>
                <a:cs typeface="Times New Roman"/>
              </a:rPr>
              <a:t>S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QUARES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,</a:t>
            </a:r>
            <a:r>
              <a:rPr sz="1800" i="1" spc="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…,</a:t>
            </a:r>
            <a:r>
              <a:rPr sz="1800" i="1" spc="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baseline="-6944" dirty="0">
                <a:latin typeface="Times New Roman"/>
                <a:cs typeface="Times New Roman"/>
              </a:rPr>
              <a:t>n</a:t>
            </a:r>
            <a:r>
              <a:rPr sz="1800" i="1" spc="240" baseline="-6944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,</a:t>
            </a:r>
            <a:r>
              <a:rPr sz="1800" i="1" spc="10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c</a:t>
            </a:r>
            <a:r>
              <a:rPr sz="1800" spc="-25" dirty="0">
                <a:latin typeface="Times New Roman"/>
                <a:cs typeface="Times New Roman"/>
              </a:rPr>
              <a:t>) </a:t>
            </a:r>
            <a:r>
              <a:rPr sz="180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450" spc="33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450" spc="75" dirty="0">
                <a:solidFill>
                  <a:srgbClr val="003F83"/>
                </a:solidFill>
                <a:latin typeface="Times New Roman"/>
                <a:cs typeface="Times New Roman"/>
              </a:rPr>
              <a:t>  </a:t>
            </a:r>
            <a:r>
              <a:rPr sz="1800" i="1" spc="-5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476250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450" spc="33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450" spc="42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j</a:t>
            </a:r>
            <a:endParaRPr sz="1800">
              <a:latin typeface="Times New Roman"/>
              <a:cs typeface="Times New Roman"/>
            </a:endParaRPr>
          </a:p>
          <a:p>
            <a:pPr marL="734060">
              <a:lnSpc>
                <a:spcPct val="100000"/>
              </a:lnSpc>
              <a:spcBef>
                <a:spcPts val="770"/>
              </a:spcBef>
            </a:pPr>
            <a:r>
              <a:rPr sz="1800" dirty="0">
                <a:latin typeface="Times New Roman"/>
                <a:cs typeface="Times New Roman"/>
              </a:rPr>
              <a:t>Compute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least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squares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segment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baseline="-6944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baseline="-6944" dirty="0">
                <a:latin typeface="Times New Roman"/>
                <a:cs typeface="Times New Roman"/>
              </a:rPr>
              <a:t>i</a:t>
            </a:r>
            <a:r>
              <a:rPr sz="1800" baseline="-6944" dirty="0">
                <a:latin typeface="Times New Roman"/>
                <a:cs typeface="Times New Roman"/>
              </a:rPr>
              <a:t>+1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p</a:t>
            </a:r>
            <a:r>
              <a:rPr sz="1800" i="1" spc="-37" baseline="-6944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800">
              <a:latin typeface="Times New Roman"/>
              <a:cs typeface="Times New Roman"/>
            </a:endParaRPr>
          </a:p>
          <a:p>
            <a:pPr marL="219075" marR="5992495">
              <a:lnSpc>
                <a:spcPct val="135600"/>
              </a:lnSpc>
            </a:pP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[0] ← </a:t>
            </a:r>
            <a:r>
              <a:rPr sz="1800" spc="-25" dirty="0">
                <a:latin typeface="Times New Roman"/>
                <a:cs typeface="Times New Roman"/>
              </a:rPr>
              <a:t>0. </a:t>
            </a:r>
            <a:r>
              <a:rPr sz="180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450" spc="33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450" spc="42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476250">
              <a:lnSpc>
                <a:spcPct val="100000"/>
              </a:lnSpc>
              <a:spcBef>
                <a:spcPts val="770"/>
              </a:spcBef>
            </a:pP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]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←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aseline="-6944" dirty="0">
                <a:latin typeface="Times New Roman"/>
                <a:cs typeface="Times New Roman"/>
              </a:rPr>
              <a:t>1 ≤</a:t>
            </a:r>
            <a:r>
              <a:rPr sz="1800" spc="-7" baseline="-6944" dirty="0">
                <a:latin typeface="Times New Roman"/>
                <a:cs typeface="Times New Roman"/>
              </a:rPr>
              <a:t> </a:t>
            </a:r>
            <a:r>
              <a:rPr sz="1800" i="1" baseline="-6944" dirty="0">
                <a:latin typeface="Times New Roman"/>
                <a:cs typeface="Times New Roman"/>
              </a:rPr>
              <a:t>i </a:t>
            </a:r>
            <a:r>
              <a:rPr sz="1800" baseline="-6944" dirty="0">
                <a:latin typeface="Times New Roman"/>
                <a:cs typeface="Times New Roman"/>
              </a:rPr>
              <a:t>≤ </a:t>
            </a:r>
            <a:r>
              <a:rPr sz="1800" i="1" baseline="-6944" dirty="0">
                <a:latin typeface="Times New Roman"/>
                <a:cs typeface="Times New Roman"/>
              </a:rPr>
              <a:t>j</a:t>
            </a:r>
            <a:r>
              <a:rPr sz="1800" i="1" spc="217" baseline="-694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{ </a:t>
            </a: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i="1" baseline="-6944" dirty="0">
                <a:latin typeface="Times New Roman"/>
                <a:cs typeface="Times New Roman"/>
              </a:rPr>
              <a:t>ij</a:t>
            </a:r>
            <a:r>
              <a:rPr sz="1800" i="1" spc="667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1]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}.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8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</a:pPr>
            <a:r>
              <a:rPr sz="1800" cap="small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1800" cap="small" spc="38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i="1" spc="-20" dirty="0">
                <a:latin typeface="Times New Roman"/>
                <a:cs typeface="Times New Roman"/>
              </a:rPr>
              <a:t>M</a:t>
            </a:r>
            <a:r>
              <a:rPr sz="1800" cap="small" spc="-20" dirty="0">
                <a:latin typeface="Times New Roman"/>
                <a:cs typeface="Times New Roman"/>
              </a:rPr>
              <a:t>[</a:t>
            </a:r>
            <a:r>
              <a:rPr sz="1800" i="1" spc="-20" dirty="0">
                <a:latin typeface="Times New Roman"/>
                <a:cs typeface="Times New Roman"/>
              </a:rPr>
              <a:t>n</a:t>
            </a:r>
            <a:r>
              <a:rPr sz="1800" cap="small" spc="-20" dirty="0">
                <a:latin typeface="Times New Roman"/>
                <a:cs typeface="Times New Roman"/>
              </a:rPr>
              <a:t>].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77898" y="6107173"/>
            <a:ext cx="6495415" cy="0"/>
          </a:xfrm>
          <a:custGeom>
            <a:avLst/>
            <a:gdLst/>
            <a:ahLst/>
            <a:cxnLst/>
            <a:rect l="l" t="t" r="r" b="b"/>
            <a:pathLst>
              <a:path w="6495415">
                <a:moveTo>
                  <a:pt x="0" y="0"/>
                </a:moveTo>
                <a:lnTo>
                  <a:pt x="64949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Segmented</a:t>
            </a:r>
            <a:r>
              <a:rPr spc="-50" dirty="0"/>
              <a:t> </a:t>
            </a:r>
            <a:r>
              <a:rPr dirty="0"/>
              <a:t>least</a:t>
            </a:r>
            <a:r>
              <a:rPr spc="-50" dirty="0"/>
              <a:t> </a:t>
            </a:r>
            <a:r>
              <a:rPr dirty="0"/>
              <a:t>squares</a:t>
            </a:r>
            <a:r>
              <a:rPr spc="-5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1767" y="1131247"/>
            <a:ext cx="8535670" cy="222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68580">
              <a:lnSpc>
                <a:spcPct val="132100"/>
              </a:lnSpc>
              <a:spcBef>
                <a:spcPts val="100"/>
              </a:spcBef>
              <a:tabLst>
                <a:tab pos="1278255" algn="l"/>
                <a:tab pos="309689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[Bellman </a:t>
            </a:r>
            <a:r>
              <a:rPr sz="18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1961]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dynamic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programming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solves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the </a:t>
            </a:r>
            <a:r>
              <a:rPr sz="1800" dirty="0">
                <a:latin typeface="Lucida Sans Unicode"/>
                <a:cs typeface="Lucida Sans Unicode"/>
              </a:rPr>
              <a:t>segmented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least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squares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problem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0833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space.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ts val="1980"/>
              </a:lnSpc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1800">
              <a:latin typeface="Lucida Sans Unicode"/>
              <a:cs typeface="Lucida Sans Unicode"/>
            </a:endParaRPr>
          </a:p>
          <a:p>
            <a:pPr marL="171450">
              <a:lnSpc>
                <a:spcPts val="2960"/>
              </a:lnSpc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Bottleneck</a:t>
            </a:r>
            <a:r>
              <a:rPr sz="1800" spc="-100" dirty="0">
                <a:latin typeface="Lucida Sans Unicode"/>
                <a:cs typeface="Lucida Sans Unicode"/>
              </a:rPr>
              <a:t> = </a:t>
            </a:r>
            <a:r>
              <a:rPr sz="1800" dirty="0">
                <a:latin typeface="Lucida Sans Unicode"/>
                <a:cs typeface="Lucida Sans Unicode"/>
              </a:rPr>
              <a:t>computing </a:t>
            </a: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for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0833" dirty="0">
                <a:latin typeface="Times New Roman"/>
                <a:cs typeface="Times New Roman"/>
              </a:rPr>
              <a:t>2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spc="-10" dirty="0">
                <a:latin typeface="Lucida Sans Unicode"/>
                <a:cs typeface="Lucida Sans Unicode"/>
              </a:rPr>
              <a:t>pairs.</a:t>
            </a:r>
            <a:endParaRPr sz="1800">
              <a:latin typeface="Lucida Sans Unicode"/>
              <a:cs typeface="Lucida Sans Unicode"/>
            </a:endParaRPr>
          </a:p>
          <a:p>
            <a:pPr marL="171450">
              <a:lnSpc>
                <a:spcPts val="3135"/>
              </a:lnSpc>
              <a:tabLst>
                <a:tab pos="3819525" algn="l"/>
              </a:tabLst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per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using</a:t>
            </a:r>
            <a:r>
              <a:rPr sz="1800" spc="-10" dirty="0">
                <a:latin typeface="Lucida Sans Unicode"/>
                <a:cs typeface="Lucida Sans Unicode"/>
              </a:rPr>
              <a:t> formula.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spc="-50" dirty="0">
                <a:latin typeface="Lucida Sans Unicode"/>
                <a:cs typeface="Lucida Sans Unicode"/>
              </a:rPr>
              <a:t>▪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867" y="5480302"/>
            <a:ext cx="8132445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2100"/>
              </a:lnSpc>
              <a:spcBef>
                <a:spcPts val="100"/>
              </a:spcBef>
              <a:tabLst>
                <a:tab pos="109474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Can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improved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space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precomputing </a:t>
            </a:r>
            <a:r>
              <a:rPr sz="1800" dirty="0">
                <a:latin typeface="Lucida Sans Unicode"/>
                <a:cs typeface="Lucida Sans Unicode"/>
              </a:rPr>
              <a:t>various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statistics.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How?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4306" y="3664243"/>
            <a:ext cx="1252220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23545">
              <a:lnSpc>
                <a:spcPts val="1860"/>
              </a:lnSpc>
              <a:spcBef>
                <a:spcPts val="130"/>
              </a:spcBef>
            </a:pPr>
            <a:r>
              <a:rPr sz="2850" i="1" baseline="2923" dirty="0">
                <a:latin typeface="Times New Roman"/>
                <a:cs typeface="Times New Roman"/>
              </a:rPr>
              <a:t>n</a:t>
            </a:r>
            <a:r>
              <a:rPr sz="2850" i="1" spc="-82" baseline="292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</a:t>
            </a:r>
            <a:r>
              <a:rPr sz="1875" i="1" baseline="-22222" dirty="0">
                <a:latin typeface="Times New Roman"/>
                <a:cs typeface="Times New Roman"/>
              </a:rPr>
              <a:t>i</a:t>
            </a:r>
            <a:r>
              <a:rPr sz="1875" i="1" spc="104" baseline="-22222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x</a:t>
            </a:r>
            <a:r>
              <a:rPr sz="1875" i="1" baseline="-17777" dirty="0">
                <a:latin typeface="Times New Roman"/>
                <a:cs typeface="Times New Roman"/>
              </a:rPr>
              <a:t>i</a:t>
            </a:r>
            <a:r>
              <a:rPr sz="1875" i="1" spc="30" baseline="-17777" dirty="0">
                <a:latin typeface="Times New Roman"/>
                <a:cs typeface="Times New Roman"/>
              </a:rPr>
              <a:t> </a:t>
            </a:r>
            <a:r>
              <a:rPr sz="2850" i="1" spc="-37" baseline="2923" dirty="0">
                <a:latin typeface="Times New Roman"/>
                <a:cs typeface="Times New Roman"/>
              </a:rPr>
              <a:t>y</a:t>
            </a:r>
            <a:r>
              <a:rPr sz="1875" i="1" spc="-37" baseline="-17777" dirty="0">
                <a:latin typeface="Times New Roman"/>
                <a:cs typeface="Times New Roman"/>
              </a:rPr>
              <a:t>i</a:t>
            </a:r>
            <a:endParaRPr sz="1875" baseline="-17777">
              <a:latin typeface="Times New Roman"/>
              <a:cs typeface="Times New Roman"/>
            </a:endParaRPr>
          </a:p>
          <a:p>
            <a:pPr marL="38100">
              <a:lnSpc>
                <a:spcPts val="1860"/>
              </a:lnSpc>
            </a:pPr>
            <a:r>
              <a:rPr sz="1900" i="1" dirty="0">
                <a:latin typeface="Times New Roman"/>
                <a:cs typeface="Times New Roman"/>
              </a:rPr>
              <a:t>a</a:t>
            </a:r>
            <a:r>
              <a:rPr sz="1900" i="1" spc="-5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9149" y="4080286"/>
            <a:ext cx="13398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i="1" spc="-50" dirty="0">
                <a:latin typeface="Times New Roman"/>
                <a:cs typeface="Times New Roman"/>
              </a:rPr>
              <a:t>x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57448" y="4223514"/>
            <a:ext cx="7112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i="1" spc="-50" dirty="0"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8366" y="4039364"/>
            <a:ext cx="10668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50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08610" y="4223514"/>
            <a:ext cx="7112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i="1" spc="-50" dirty="0"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71058" y="4053005"/>
            <a:ext cx="10668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50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05549" y="4238860"/>
            <a:ext cx="7112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i="1" spc="-50" dirty="0"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67277" y="4090517"/>
            <a:ext cx="82931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baseline="2923" dirty="0">
                <a:latin typeface="Symbol"/>
                <a:cs typeface="Symbol"/>
              </a:rPr>
              <a:t></a:t>
            </a:r>
            <a:r>
              <a:rPr sz="2850" spc="-112" baseline="2923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1900" dirty="0">
                <a:latin typeface="Symbol"/>
                <a:cs typeface="Symbol"/>
              </a:rPr>
              <a:t></a:t>
            </a:r>
            <a:r>
              <a:rPr sz="1900" spc="265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x</a:t>
            </a:r>
            <a:r>
              <a:rPr sz="2850" i="1" spc="284" baseline="2923" dirty="0">
                <a:latin typeface="Times New Roman"/>
                <a:cs typeface="Times New Roman"/>
              </a:rPr>
              <a:t> </a:t>
            </a:r>
            <a:r>
              <a:rPr sz="2850" spc="-75" baseline="2923" dirty="0">
                <a:latin typeface="Times New Roman"/>
                <a:cs typeface="Times New Roman"/>
              </a:rPr>
              <a:t>)</a:t>
            </a:r>
            <a:endParaRPr sz="2850" baseline="292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54387" y="4238860"/>
            <a:ext cx="7112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i="1" spc="-50" dirty="0"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09184" y="4090517"/>
            <a:ext cx="37528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i="1" baseline="2923" dirty="0">
                <a:latin typeface="Times New Roman"/>
                <a:cs typeface="Times New Roman"/>
              </a:rPr>
              <a:t>n</a:t>
            </a:r>
            <a:r>
              <a:rPr sz="2850" i="1" spc="-75" baseline="2923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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54683" y="4050359"/>
            <a:ext cx="2458720" cy="0"/>
          </a:xfrm>
          <a:custGeom>
            <a:avLst/>
            <a:gdLst/>
            <a:ahLst/>
            <a:cxnLst/>
            <a:rect l="l" t="t" r="r" b="b"/>
            <a:pathLst>
              <a:path w="2458720">
                <a:moveTo>
                  <a:pt x="0" y="0"/>
                </a:moveTo>
                <a:lnTo>
                  <a:pt x="2458724" y="0"/>
                </a:lnTo>
              </a:path>
            </a:pathLst>
          </a:custGeom>
          <a:ln w="68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877736" y="3664243"/>
            <a:ext cx="1661795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ts val="1860"/>
              </a:lnSpc>
              <a:spcBef>
                <a:spcPts val="130"/>
              </a:spcBef>
            </a:pPr>
            <a:r>
              <a:rPr sz="2850" baseline="2923" dirty="0">
                <a:latin typeface="Symbol"/>
                <a:cs typeface="Symbol"/>
              </a:rPr>
              <a:t></a:t>
            </a:r>
            <a:r>
              <a:rPr sz="2850" spc="-120" baseline="2923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1900" dirty="0">
                <a:latin typeface="Symbol"/>
                <a:cs typeface="Symbol"/>
              </a:rPr>
              <a:t></a:t>
            </a:r>
            <a:r>
              <a:rPr sz="1875" i="1" baseline="-22222" dirty="0">
                <a:latin typeface="Times New Roman"/>
                <a:cs typeface="Times New Roman"/>
              </a:rPr>
              <a:t>i</a:t>
            </a:r>
            <a:r>
              <a:rPr sz="1875" i="1" spc="135" baseline="-22222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x</a:t>
            </a:r>
            <a:r>
              <a:rPr sz="1875" i="1" baseline="-17777" dirty="0">
                <a:latin typeface="Times New Roman"/>
                <a:cs typeface="Times New Roman"/>
              </a:rPr>
              <a:t>i</a:t>
            </a:r>
            <a:r>
              <a:rPr sz="1875" i="1" spc="-30" baseline="-17777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)</a:t>
            </a:r>
            <a:r>
              <a:rPr sz="2850" spc="7" baseline="2923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1900" dirty="0">
                <a:latin typeface="Symbol"/>
                <a:cs typeface="Symbol"/>
              </a:rPr>
              <a:t></a:t>
            </a:r>
            <a:r>
              <a:rPr sz="1875" i="1" baseline="-22222" dirty="0">
                <a:latin typeface="Times New Roman"/>
                <a:cs typeface="Times New Roman"/>
              </a:rPr>
              <a:t>i</a:t>
            </a:r>
            <a:r>
              <a:rPr sz="1875" i="1" spc="292" baseline="-22222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y</a:t>
            </a:r>
            <a:r>
              <a:rPr sz="1875" i="1" baseline="-17777" dirty="0">
                <a:latin typeface="Times New Roman"/>
                <a:cs typeface="Times New Roman"/>
              </a:rPr>
              <a:t>i</a:t>
            </a:r>
            <a:r>
              <a:rPr sz="1875" i="1" spc="-52" baseline="-17777" dirty="0">
                <a:latin typeface="Times New Roman"/>
                <a:cs typeface="Times New Roman"/>
              </a:rPr>
              <a:t> </a:t>
            </a:r>
            <a:r>
              <a:rPr sz="2850" spc="-75" baseline="2923" dirty="0">
                <a:latin typeface="Times New Roman"/>
                <a:cs typeface="Times New Roman"/>
              </a:rPr>
              <a:t>)</a:t>
            </a:r>
            <a:endParaRPr sz="2850" baseline="2923">
              <a:latin typeface="Times New Roman"/>
              <a:cs typeface="Times New Roman"/>
            </a:endParaRPr>
          </a:p>
          <a:p>
            <a:pPr marR="30480" algn="r">
              <a:lnSpc>
                <a:spcPts val="1860"/>
              </a:lnSpc>
            </a:pPr>
            <a:r>
              <a:rPr sz="1900" spc="-50" dirty="0">
                <a:latin typeface="Times New Roman"/>
                <a:cs typeface="Times New Roman"/>
              </a:rPr>
              <a:t>,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53661" y="3648898"/>
            <a:ext cx="182372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22909">
              <a:lnSpc>
                <a:spcPts val="1920"/>
              </a:lnSpc>
              <a:spcBef>
                <a:spcPts val="130"/>
              </a:spcBef>
              <a:tabLst>
                <a:tab pos="982980" algn="l"/>
              </a:tabLst>
            </a:pPr>
            <a:r>
              <a:rPr sz="1900" dirty="0">
                <a:latin typeface="Symbol"/>
                <a:cs typeface="Symbol"/>
              </a:rPr>
              <a:t></a:t>
            </a:r>
            <a:r>
              <a:rPr sz="1875" i="1" baseline="-22222" dirty="0">
                <a:latin typeface="Times New Roman"/>
                <a:cs typeface="Times New Roman"/>
              </a:rPr>
              <a:t>i</a:t>
            </a:r>
            <a:r>
              <a:rPr sz="1875" i="1" spc="232" baseline="-22222" dirty="0">
                <a:latin typeface="Times New Roman"/>
                <a:cs typeface="Times New Roman"/>
              </a:rPr>
              <a:t> </a:t>
            </a:r>
            <a:r>
              <a:rPr sz="2850" i="1" spc="-37" baseline="2923" dirty="0">
                <a:latin typeface="Times New Roman"/>
                <a:cs typeface="Times New Roman"/>
              </a:rPr>
              <a:t>y</a:t>
            </a:r>
            <a:r>
              <a:rPr sz="1875" i="1" spc="-37" baseline="-17777" dirty="0">
                <a:latin typeface="Times New Roman"/>
                <a:cs typeface="Times New Roman"/>
              </a:rPr>
              <a:t>i</a:t>
            </a:r>
            <a:r>
              <a:rPr sz="1875" i="1" baseline="-17777" dirty="0">
                <a:latin typeface="Times New Roman"/>
                <a:cs typeface="Times New Roman"/>
              </a:rPr>
              <a:t>	</a:t>
            </a:r>
            <a:r>
              <a:rPr sz="2850" baseline="2923" dirty="0">
                <a:latin typeface="Symbol"/>
                <a:cs typeface="Symbol"/>
              </a:rPr>
              <a:t></a:t>
            </a:r>
            <a:r>
              <a:rPr sz="2850" spc="-67" baseline="2923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a</a:t>
            </a:r>
            <a:r>
              <a:rPr sz="2850" i="1" spc="-7" baseline="292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</a:t>
            </a:r>
            <a:r>
              <a:rPr sz="1875" i="1" baseline="-22222" dirty="0">
                <a:latin typeface="Times New Roman"/>
                <a:cs typeface="Times New Roman"/>
              </a:rPr>
              <a:t>i</a:t>
            </a:r>
            <a:r>
              <a:rPr sz="1875" i="1" spc="104" baseline="-22222" dirty="0">
                <a:latin typeface="Times New Roman"/>
                <a:cs typeface="Times New Roman"/>
              </a:rPr>
              <a:t> </a:t>
            </a:r>
            <a:r>
              <a:rPr sz="2850" i="1" spc="-37" baseline="2923" dirty="0">
                <a:latin typeface="Times New Roman"/>
                <a:cs typeface="Times New Roman"/>
              </a:rPr>
              <a:t>x</a:t>
            </a:r>
            <a:r>
              <a:rPr sz="1875" i="1" spc="-37" baseline="-17777" dirty="0">
                <a:latin typeface="Times New Roman"/>
                <a:cs typeface="Times New Roman"/>
              </a:rPr>
              <a:t>i</a:t>
            </a:r>
            <a:endParaRPr sz="1875" baseline="-17777">
              <a:latin typeface="Times New Roman"/>
              <a:cs typeface="Times New Roman"/>
            </a:endParaRPr>
          </a:p>
          <a:p>
            <a:pPr marL="50800">
              <a:lnSpc>
                <a:spcPts val="1920"/>
              </a:lnSpc>
            </a:pPr>
            <a:r>
              <a:rPr sz="1900" i="1" dirty="0">
                <a:latin typeface="Times New Roman"/>
                <a:cs typeface="Times New Roman"/>
              </a:rPr>
              <a:t>b</a:t>
            </a:r>
            <a:r>
              <a:rPr sz="1900" i="1" spc="-10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95218" y="4041069"/>
            <a:ext cx="14732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i="1" spc="-50" dirty="0">
                <a:latin typeface="Times New Roman"/>
                <a:cs typeface="Times New Roman"/>
              </a:rPr>
              <a:t>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69970" y="4050359"/>
            <a:ext cx="1393190" cy="0"/>
          </a:xfrm>
          <a:custGeom>
            <a:avLst/>
            <a:gdLst/>
            <a:ahLst/>
            <a:cxnLst/>
            <a:rect l="l" t="t" r="r" b="b"/>
            <a:pathLst>
              <a:path w="1393189">
                <a:moveTo>
                  <a:pt x="0" y="0"/>
                </a:moveTo>
                <a:lnTo>
                  <a:pt x="1392656" y="0"/>
                </a:lnTo>
              </a:path>
            </a:pathLst>
          </a:custGeom>
          <a:ln w="68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936" y="1527350"/>
            <a:ext cx="3337560" cy="3832225"/>
            <a:chOff x="640936" y="1527350"/>
            <a:chExt cx="3337560" cy="3832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6" y="1527350"/>
              <a:ext cx="3337527" cy="38320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8"/>
              <a:ext cx="552411" cy="60610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>
                <a:moveTo>
                  <a:pt x="0" y="0"/>
                </a:moveTo>
                <a:lnTo>
                  <a:pt x="4892688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73707" y="5444059"/>
            <a:ext cx="10826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cap="small" spc="85" dirty="0">
                <a:latin typeface="Trebuchet MS"/>
                <a:cs typeface="Trebuchet MS"/>
              </a:rPr>
              <a:t>Section</a:t>
            </a:r>
            <a:r>
              <a:rPr sz="1500" b="1" cap="small" spc="65" dirty="0">
                <a:latin typeface="Trebuchet MS"/>
                <a:cs typeface="Trebuchet MS"/>
              </a:rPr>
              <a:t> </a:t>
            </a:r>
            <a:r>
              <a:rPr sz="1500" b="1" cap="small" spc="-45" dirty="0">
                <a:latin typeface="Trebuchet MS"/>
                <a:cs typeface="Trebuchet MS"/>
              </a:rPr>
              <a:t>6.4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4867861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latin typeface="Tahoma"/>
                <a:cs typeface="Tahoma"/>
              </a:rPr>
              <a:t>6.</a:t>
            </a:r>
            <a:r>
              <a:rPr sz="2700" b="1" cap="small" dirty="0">
                <a:latin typeface="Tahoma"/>
                <a:cs typeface="Tahoma"/>
              </a:rPr>
              <a:t>	</a:t>
            </a:r>
            <a:r>
              <a:rPr sz="2700" b="1" cap="small" spc="-60" dirty="0">
                <a:latin typeface="Tahoma"/>
                <a:cs typeface="Tahoma"/>
              </a:rPr>
              <a:t>Dynamic</a:t>
            </a:r>
            <a:r>
              <a:rPr sz="2700" b="1" cap="small" spc="-10" dirty="0">
                <a:latin typeface="Tahoma"/>
                <a:cs typeface="Tahoma"/>
              </a:rPr>
              <a:t> </a:t>
            </a:r>
            <a:r>
              <a:rPr sz="2700" b="1" cap="small" spc="-50" dirty="0">
                <a:latin typeface="Tahoma"/>
                <a:cs typeface="Tahoma"/>
              </a:rPr>
              <a:t>Programming</a:t>
            </a:r>
            <a:r>
              <a:rPr sz="2700" b="1" cap="small" spc="-10" dirty="0">
                <a:latin typeface="Tahoma"/>
                <a:cs typeface="Tahoma"/>
              </a:rPr>
              <a:t> </a:t>
            </a:r>
            <a:r>
              <a:rPr sz="2700" b="1" cap="small" spc="-940" dirty="0">
                <a:latin typeface="Tahoma"/>
                <a:cs typeface="Tahoma"/>
              </a:rPr>
              <a:t>I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541" y="2115505"/>
            <a:ext cx="3691254" cy="193293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04" dirty="0">
                <a:solidFill>
                  <a:srgbClr val="D5D5D5"/>
                </a:solidFill>
                <a:latin typeface="Verdana"/>
                <a:cs typeface="Verdana"/>
              </a:rPr>
              <a:t>weighted</a:t>
            </a:r>
            <a:r>
              <a:rPr sz="2250" i="1" spc="-14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D5D5D5"/>
                </a:solidFill>
                <a:latin typeface="Verdana"/>
                <a:cs typeface="Verdana"/>
              </a:rPr>
              <a:t>interval</a:t>
            </a:r>
            <a:r>
              <a:rPr sz="2250" i="1" spc="-13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D5D5D5"/>
                </a:solidFill>
                <a:latin typeface="Verdana"/>
                <a:cs typeface="Verdana"/>
              </a:rPr>
              <a:t>scheduling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80" dirty="0">
                <a:solidFill>
                  <a:srgbClr val="D5D5D5"/>
                </a:solidFill>
                <a:latin typeface="Verdana"/>
                <a:cs typeface="Verdana"/>
              </a:rPr>
              <a:t>segmented</a:t>
            </a:r>
            <a:r>
              <a:rPr sz="2250" i="1" spc="-10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35" dirty="0">
                <a:solidFill>
                  <a:srgbClr val="D5D5D5"/>
                </a:solidFill>
                <a:latin typeface="Verdana"/>
                <a:cs typeface="Verdana"/>
              </a:rPr>
              <a:t>least</a:t>
            </a:r>
            <a:r>
              <a:rPr sz="2250" i="1" spc="-10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70" dirty="0">
                <a:solidFill>
                  <a:srgbClr val="D5D5D5"/>
                </a:solidFill>
                <a:latin typeface="Verdana"/>
                <a:cs typeface="Verdana"/>
              </a:rPr>
              <a:t>squares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20" dirty="0">
                <a:latin typeface="Verdana"/>
                <a:cs typeface="Verdana"/>
              </a:rPr>
              <a:t>knapsack</a:t>
            </a:r>
            <a:r>
              <a:rPr sz="2250" i="1" spc="-65" dirty="0">
                <a:latin typeface="Verdana"/>
                <a:cs typeface="Verdana"/>
              </a:rPr>
              <a:t> </a:t>
            </a:r>
            <a:r>
              <a:rPr sz="2250" i="1" spc="-70" dirty="0">
                <a:latin typeface="Verdana"/>
                <a:cs typeface="Verdana"/>
              </a:rPr>
              <a:t>problem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0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85" dirty="0">
                <a:solidFill>
                  <a:srgbClr val="D5D5D5"/>
                </a:solidFill>
                <a:latin typeface="Verdana"/>
                <a:cs typeface="Verdana"/>
              </a:rPr>
              <a:t>RNA</a:t>
            </a:r>
            <a:r>
              <a:rPr sz="2250" i="1" spc="-12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00" dirty="0">
                <a:solidFill>
                  <a:srgbClr val="D5D5D5"/>
                </a:solidFill>
                <a:latin typeface="Verdana"/>
                <a:cs typeface="Verdana"/>
              </a:rPr>
              <a:t>secondary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75" dirty="0">
                <a:solidFill>
                  <a:srgbClr val="D5D5D5"/>
                </a:solidFill>
                <a:latin typeface="Verdana"/>
                <a:cs typeface="Verdana"/>
              </a:rPr>
              <a:t>structure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Knapsack</a:t>
            </a:r>
            <a:r>
              <a:rPr spc="10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32567" y="1081652"/>
            <a:ext cx="6078220" cy="33175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0650">
              <a:lnSpc>
                <a:spcPts val="3135"/>
              </a:lnSpc>
              <a:spcBef>
                <a:spcPts val="130"/>
              </a:spcBef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objects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"knapsack."</a:t>
            </a:r>
            <a:endParaRPr sz="1800">
              <a:latin typeface="Lucida Sans Unicode"/>
              <a:cs typeface="Lucida Sans Unicode"/>
            </a:endParaRPr>
          </a:p>
          <a:p>
            <a:pPr marL="120650">
              <a:lnSpc>
                <a:spcPts val="2855"/>
              </a:lnSpc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Item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weighs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i="1" baseline="-6944" dirty="0">
                <a:latin typeface="Times New Roman"/>
                <a:cs typeface="Times New Roman"/>
              </a:rPr>
              <a:t>i</a:t>
            </a:r>
            <a:r>
              <a:rPr sz="1800" i="1" spc="240" baseline="-6944" dirty="0">
                <a:latin typeface="Times New Roman"/>
                <a:cs typeface="Times New Roman"/>
              </a:rPr>
              <a:t>  </a:t>
            </a:r>
            <a:r>
              <a:rPr sz="1800" spc="5" dirty="0">
                <a:latin typeface="Times New Roman"/>
                <a:cs typeface="Times New Roman"/>
              </a:rPr>
              <a:t>&gt;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value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v</a:t>
            </a:r>
            <a:r>
              <a:rPr sz="1800" i="1" baseline="-6944" dirty="0">
                <a:latin typeface="Times New Roman"/>
                <a:cs typeface="Times New Roman"/>
              </a:rPr>
              <a:t>i</a:t>
            </a:r>
            <a:r>
              <a:rPr sz="1800" i="1" spc="240" baseline="-6944" dirty="0">
                <a:latin typeface="Times New Roman"/>
                <a:cs typeface="Times New Roman"/>
              </a:rPr>
              <a:t>  </a:t>
            </a:r>
            <a:r>
              <a:rPr sz="1800" spc="5" dirty="0">
                <a:latin typeface="Times New Roman"/>
                <a:cs typeface="Times New Roman"/>
              </a:rPr>
              <a:t>&gt; </a:t>
            </a:r>
            <a:r>
              <a:rPr sz="1800" spc="-25" dirty="0">
                <a:latin typeface="Times New Roman"/>
                <a:cs typeface="Times New Roman"/>
              </a:rPr>
              <a:t>0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20650">
              <a:lnSpc>
                <a:spcPts val="2855"/>
              </a:lnSpc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Knapsack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capacity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W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20650">
              <a:lnSpc>
                <a:spcPts val="3135"/>
              </a:lnSpc>
              <a:tabLst>
                <a:tab pos="1202055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spc="-10" dirty="0">
                <a:latin typeface="Lucida Sans Unicode"/>
                <a:cs typeface="Lucida Sans Unicode"/>
              </a:rPr>
              <a:t>Goal:</a:t>
            </a:r>
            <a:r>
              <a:rPr sz="1800" dirty="0">
                <a:latin typeface="Lucida Sans Unicode"/>
                <a:cs typeface="Lucida Sans Unicode"/>
              </a:rPr>
              <a:t>	fill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knapsack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maximize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total</a:t>
            </a:r>
            <a:r>
              <a:rPr sz="1800" spc="-10" dirty="0">
                <a:latin typeface="Lucida Sans Unicode"/>
                <a:cs typeface="Lucida Sans Unicode"/>
              </a:rPr>
              <a:t> value.</a:t>
            </a:r>
            <a:endParaRPr lang="en-US" sz="1800" spc="-10" dirty="0">
              <a:latin typeface="Lucida Sans Unicode"/>
              <a:cs typeface="Lucida Sans Unicode"/>
            </a:endParaRPr>
          </a:p>
          <a:p>
            <a:pPr marL="120650">
              <a:lnSpc>
                <a:spcPts val="3135"/>
              </a:lnSpc>
              <a:tabLst>
                <a:tab pos="1202055" algn="l"/>
              </a:tabLst>
            </a:pPr>
            <a:r>
              <a:rPr lang="en-US" altLang="zh-CN" spc="-10" dirty="0">
                <a:latin typeface="Lucida Sans Unicode"/>
                <a:cs typeface="Lucida Sans Unicode"/>
              </a:rPr>
              <a:t>-</a:t>
            </a:r>
            <a:r>
              <a:rPr lang="zh-CN" altLang="en-US" spc="-10" dirty="0">
                <a:latin typeface="Lucida Sans Unicode"/>
                <a:cs typeface="Lucida Sans Unicode"/>
              </a:rPr>
              <a:t> </a:t>
            </a:r>
            <a:r>
              <a:rPr lang="en-US" altLang="zh-CN" spc="-10" dirty="0">
                <a:latin typeface="Lucida Sans Unicode"/>
                <a:cs typeface="Lucida Sans Unicode"/>
              </a:rPr>
              <a:t>Note</a:t>
            </a:r>
            <a:r>
              <a:rPr lang="zh-CN" altLang="en-US" spc="-10" dirty="0">
                <a:latin typeface="Lucida Sans Unicode"/>
                <a:cs typeface="Lucida Sans Unicode"/>
              </a:rPr>
              <a:t>： </a:t>
            </a:r>
            <a:r>
              <a:rPr lang="en-GB" altLang="zh-CN" sz="1800" i="1" dirty="0">
                <a:latin typeface="Times New Roman"/>
                <a:cs typeface="Times New Roman"/>
              </a:rPr>
              <a:t>w</a:t>
            </a:r>
            <a:r>
              <a:rPr lang="en-GB" altLang="zh-CN" sz="1800" i="1" baseline="-6944" dirty="0">
                <a:latin typeface="Times New Roman"/>
                <a:cs typeface="Times New Roman"/>
              </a:rPr>
              <a:t>i, and W   are integers.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tabLst>
                <a:tab pos="50609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2,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}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value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35.</a:t>
            </a:r>
            <a:endParaRPr sz="180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spcBef>
                <a:spcPts val="690"/>
              </a:spcBef>
              <a:tabLst>
                <a:tab pos="50609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3,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}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value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40.</a:t>
            </a:r>
            <a:endParaRPr sz="180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spcBef>
                <a:spcPts val="695"/>
              </a:spcBef>
              <a:tabLst>
                <a:tab pos="50609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3,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}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has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value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46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(but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exceeds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weight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limit).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167" y="5480302"/>
            <a:ext cx="7303134" cy="1837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764540">
              <a:lnSpc>
                <a:spcPct val="132100"/>
              </a:lnSpc>
              <a:spcBef>
                <a:spcPts val="100"/>
              </a:spcBef>
              <a:tabLst>
                <a:tab pos="2063114" algn="l"/>
                <a:tab pos="222631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Greedy</a:t>
            </a:r>
            <a:r>
              <a:rPr sz="1800" spc="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by</a:t>
            </a:r>
            <a:r>
              <a:rPr sz="1800" spc="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value.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Repeatedly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add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item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maximum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v</a:t>
            </a:r>
            <a:r>
              <a:rPr sz="1800" i="1" spc="-37" baseline="-6944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Lucida Sans Unicode"/>
                <a:cs typeface="Lucida Sans Unicode"/>
              </a:rPr>
              <a:t>.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Greedy</a:t>
            </a:r>
            <a:r>
              <a:rPr sz="1800" spc="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by</a:t>
            </a:r>
            <a:r>
              <a:rPr sz="1800" spc="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weight.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	</a:t>
            </a:r>
            <a:r>
              <a:rPr sz="1800" dirty="0">
                <a:latin typeface="Lucida Sans Unicode"/>
                <a:cs typeface="Lucida Sans Unicode"/>
              </a:rPr>
              <a:t>Repeatedly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add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item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minimum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w</a:t>
            </a:r>
            <a:r>
              <a:rPr sz="1800" i="1" spc="-37" baseline="-6944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690"/>
              </a:spcBef>
              <a:tabLst>
                <a:tab pos="198247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Greedy</a:t>
            </a:r>
            <a:r>
              <a:rPr sz="1800" spc="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by</a:t>
            </a:r>
            <a:r>
              <a:rPr sz="1800" spc="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ratio.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Repeatedly add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item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maximum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ratio </a:t>
            </a:r>
            <a:r>
              <a:rPr sz="1800" i="1" dirty="0">
                <a:latin typeface="Times New Roman"/>
                <a:cs typeface="Times New Roman"/>
              </a:rPr>
              <a:t>v</a:t>
            </a:r>
            <a:r>
              <a:rPr sz="1800" i="1" baseline="-6944" dirty="0">
                <a:latin typeface="Times New Roman"/>
                <a:cs typeface="Times New Roman"/>
              </a:rPr>
              <a:t>i</a:t>
            </a:r>
            <a:r>
              <a:rPr sz="1800" i="1" spc="232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w</a:t>
            </a:r>
            <a:r>
              <a:rPr sz="1800" i="1" spc="-37" baseline="-6944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161861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None 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greedy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optimal.</a:t>
            </a:r>
            <a:endParaRPr sz="1800">
              <a:latin typeface="Lucida Sans Unicode"/>
              <a:cs typeface="Lucida Sans Unicode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233863" y="2414328"/>
          <a:ext cx="1992629" cy="2057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4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350" i="1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350" i="1" spc="-2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350" i="1" spc="-37" baseline="-6172" dirty="0">
                          <a:latin typeface="Times New Roman"/>
                          <a:cs typeface="Times New Roman"/>
                        </a:rPr>
                        <a:t>i</a:t>
                      </a:r>
                      <a:endParaRPr sz="1350" baseline="-6172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350" i="1" spc="-2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350" i="1" spc="-37" baseline="-6172" dirty="0">
                          <a:latin typeface="Times New Roman"/>
                          <a:cs typeface="Times New Roman"/>
                        </a:rPr>
                        <a:t>i</a:t>
                      </a:r>
                      <a:endParaRPr sz="1350" baseline="-6172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503790" y="4568526"/>
            <a:ext cx="1692275" cy="464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7950">
              <a:lnSpc>
                <a:spcPct val="119900"/>
              </a:lnSpc>
              <a:spcBef>
                <a:spcPts val="100"/>
              </a:spcBef>
            </a:pPr>
            <a:r>
              <a:rPr sz="1200" b="1" spc="80" dirty="0">
                <a:latin typeface="Trebuchet MS"/>
                <a:cs typeface="Trebuchet MS"/>
              </a:rPr>
              <a:t>knapsack</a:t>
            </a:r>
            <a:r>
              <a:rPr sz="1200" b="1" spc="45" dirty="0">
                <a:latin typeface="Trebuchet MS"/>
                <a:cs typeface="Trebuchet MS"/>
              </a:rPr>
              <a:t> </a:t>
            </a:r>
            <a:r>
              <a:rPr sz="1200" b="1" spc="40" dirty="0">
                <a:latin typeface="Trebuchet MS"/>
                <a:cs typeface="Trebuchet MS"/>
              </a:rPr>
              <a:t>instance </a:t>
            </a:r>
            <a:r>
              <a:rPr sz="1200" b="1" spc="55" dirty="0">
                <a:latin typeface="Trebuchet MS"/>
                <a:cs typeface="Trebuchet MS"/>
              </a:rPr>
              <a:t>(weight</a:t>
            </a:r>
            <a:r>
              <a:rPr sz="1200" b="1" spc="9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limit</a:t>
            </a:r>
            <a:r>
              <a:rPr sz="1200" b="1" spc="9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W</a:t>
            </a:r>
            <a:r>
              <a:rPr sz="1200" b="1" spc="95" dirty="0">
                <a:latin typeface="Trebuchet MS"/>
                <a:cs typeface="Trebuchet MS"/>
              </a:rPr>
              <a:t> </a:t>
            </a:r>
            <a:r>
              <a:rPr sz="1200" b="1" spc="250" dirty="0">
                <a:latin typeface="Trebuchet MS"/>
                <a:cs typeface="Trebuchet MS"/>
              </a:rPr>
              <a:t>=</a:t>
            </a:r>
            <a:r>
              <a:rPr sz="1200" b="1" spc="90" dirty="0">
                <a:latin typeface="Trebuchet MS"/>
                <a:cs typeface="Trebuchet MS"/>
              </a:rPr>
              <a:t> </a:t>
            </a:r>
            <a:r>
              <a:rPr sz="1200" b="1" spc="35" dirty="0">
                <a:latin typeface="Trebuchet MS"/>
                <a:cs typeface="Trebuchet MS"/>
              </a:rPr>
              <a:t>11)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42125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23870" algn="l"/>
              </a:tabLst>
            </a:pPr>
            <a:r>
              <a:rPr dirty="0"/>
              <a:t>Dynamic</a:t>
            </a:r>
            <a:r>
              <a:rPr spc="125" dirty="0"/>
              <a:t> </a:t>
            </a:r>
            <a:r>
              <a:rPr spc="-10" dirty="0"/>
              <a:t>programming:</a:t>
            </a:r>
            <a:r>
              <a:rPr dirty="0"/>
              <a:t>	false</a:t>
            </a:r>
            <a:r>
              <a:rPr spc="85" dirty="0"/>
              <a:t> </a:t>
            </a:r>
            <a:r>
              <a:rPr spc="-10" dirty="0"/>
              <a:t>start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2567" y="1218991"/>
            <a:ext cx="5285105" cy="1415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624840" algn="l"/>
              </a:tabLst>
            </a:pP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profit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subset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items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25400">
              <a:lnSpc>
                <a:spcPts val="1980"/>
              </a:lnSpc>
              <a:tabLst>
                <a:tab pos="98806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Case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does not select item </a:t>
            </a:r>
            <a:r>
              <a:rPr sz="1800" i="1" spc="-25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20650">
              <a:lnSpc>
                <a:spcPts val="3240"/>
              </a:lnSpc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i="1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selects best of </a:t>
            </a:r>
            <a:r>
              <a:rPr sz="1800" dirty="0">
                <a:latin typeface="Times New Roman"/>
                <a:cs typeface="Times New Roman"/>
              </a:rPr>
              <a:t>{ 1, 2, …, </a:t>
            </a:r>
            <a:r>
              <a:rPr sz="1800" i="1" dirty="0">
                <a:latin typeface="Times New Roman"/>
                <a:cs typeface="Times New Roman"/>
              </a:rPr>
              <a:t>i </a:t>
            </a:r>
            <a:r>
              <a:rPr sz="1800" dirty="0">
                <a:latin typeface="Times New Roman"/>
                <a:cs typeface="Times New Roman"/>
              </a:rPr>
              <a:t>– 1</a:t>
            </a:r>
            <a:r>
              <a:rPr sz="1800" spc="-15" dirty="0">
                <a:latin typeface="Times New Roman"/>
                <a:cs typeface="Times New Roman"/>
              </a:rPr>
              <a:t> }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3031097"/>
            <a:ext cx="30264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536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Case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2.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selects item </a:t>
            </a:r>
            <a:r>
              <a:rPr sz="1800" i="1" spc="-25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3988" y="3755940"/>
            <a:ext cx="13690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Unicode"/>
                <a:cs typeface="Lucida Sans Unicode"/>
              </a:rPr>
              <a:t>other </a:t>
            </a:r>
            <a:r>
              <a:rPr sz="1800" spc="-10" dirty="0">
                <a:latin typeface="Lucida Sans Unicode"/>
                <a:cs typeface="Lucida Sans Unicode"/>
              </a:rPr>
              <a:t>items.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5241" y="3256180"/>
            <a:ext cx="8272145" cy="15252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Selecting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item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does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not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immediately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imply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55" dirty="0">
                <a:latin typeface="Lucida Sans Unicode"/>
                <a:cs typeface="Lucida Sans Unicode"/>
              </a:rPr>
              <a:t>we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will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have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reject</a:t>
            </a:r>
            <a:endParaRPr sz="1800">
              <a:latin typeface="Lucida Sans Unicode"/>
              <a:cs typeface="Lucida Sans Unicode"/>
            </a:endParaRPr>
          </a:p>
          <a:p>
            <a:pPr marL="381000" marR="1419860" indent="-343535">
              <a:lnSpc>
                <a:spcPct val="114100"/>
              </a:lnSpc>
              <a:spcBef>
                <a:spcPts val="1805"/>
              </a:spcBef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Without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knowing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what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other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items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were</a:t>
            </a:r>
            <a:r>
              <a:rPr sz="1800" spc="3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selected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before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Lucida Sans Unicode"/>
                <a:cs typeface="Lucida Sans Unicode"/>
              </a:rPr>
              <a:t>, </a:t>
            </a:r>
            <a:r>
              <a:rPr sz="1800" spc="55" dirty="0">
                <a:latin typeface="Lucida Sans Unicode"/>
                <a:cs typeface="Lucida Sans Unicode"/>
              </a:rPr>
              <a:t>we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don't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even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know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spc="55" dirty="0">
                <a:latin typeface="Lucida Sans Unicode"/>
                <a:cs typeface="Lucida Sans Unicode"/>
              </a:rPr>
              <a:t>we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have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enough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room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267" y="5568046"/>
            <a:ext cx="42519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240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Conclusion.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Need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more</a:t>
            </a:r>
            <a:r>
              <a:rPr sz="1800" spc="-20" dirty="0">
                <a:latin typeface="Lucida Sans Unicode"/>
                <a:cs typeface="Lucida Sans Unicode"/>
              </a:rPr>
              <a:t> subproblems!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87332" y="2732894"/>
            <a:ext cx="2307590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>
              <a:lnSpc>
                <a:spcPct val="114700"/>
              </a:lnSpc>
              <a:spcBef>
                <a:spcPts val="10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optimal</a:t>
            </a:r>
            <a:r>
              <a:rPr sz="12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substructure</a:t>
            </a:r>
            <a:r>
              <a:rPr sz="12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property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(proof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via</a:t>
            </a:r>
            <a:r>
              <a:rPr sz="12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exchange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argument)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87662" y="2652763"/>
            <a:ext cx="366395" cy="259715"/>
            <a:chOff x="4887662" y="2652763"/>
            <a:chExt cx="366395" cy="259715"/>
          </a:xfrm>
        </p:grpSpPr>
        <p:sp>
          <p:nvSpPr>
            <p:cNvPr id="11" name="object 11"/>
            <p:cNvSpPr/>
            <p:nvPr/>
          </p:nvSpPr>
          <p:spPr>
            <a:xfrm>
              <a:off x="4936085" y="2686702"/>
              <a:ext cx="307975" cy="215900"/>
            </a:xfrm>
            <a:custGeom>
              <a:avLst/>
              <a:gdLst/>
              <a:ahLst/>
              <a:cxnLst/>
              <a:rect l="l" t="t" r="r" b="b"/>
              <a:pathLst>
                <a:path w="307975" h="215900">
                  <a:moveTo>
                    <a:pt x="0" y="0"/>
                  </a:moveTo>
                  <a:lnTo>
                    <a:pt x="7809" y="5474"/>
                  </a:lnTo>
                  <a:lnTo>
                    <a:pt x="307828" y="215761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87662" y="2652763"/>
              <a:ext cx="101600" cy="90170"/>
            </a:xfrm>
            <a:custGeom>
              <a:avLst/>
              <a:gdLst/>
              <a:ahLst/>
              <a:cxnLst/>
              <a:rect l="l" t="t" r="r" b="b"/>
              <a:pathLst>
                <a:path w="101600" h="90169">
                  <a:moveTo>
                    <a:pt x="0" y="0"/>
                  </a:moveTo>
                  <a:lnTo>
                    <a:pt x="48700" y="90040"/>
                  </a:lnTo>
                  <a:lnTo>
                    <a:pt x="56233" y="39414"/>
                  </a:lnTo>
                  <a:lnTo>
                    <a:pt x="101252" y="150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2567" y="475073"/>
            <a:ext cx="7734300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3036570" algn="l"/>
              </a:tabLst>
            </a:pPr>
            <a:r>
              <a:rPr sz="2100" dirty="0">
                <a:latin typeface="Arial MT"/>
                <a:cs typeface="Arial MT"/>
              </a:rPr>
              <a:t>Dynamic</a:t>
            </a:r>
            <a:r>
              <a:rPr sz="2100" spc="1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programming:</a:t>
            </a:r>
            <a:r>
              <a:rPr sz="2100" dirty="0">
                <a:latin typeface="Arial MT"/>
                <a:cs typeface="Arial MT"/>
              </a:rPr>
              <a:t>	</a:t>
            </a:r>
            <a:r>
              <a:rPr sz="2100" spc="65" dirty="0">
                <a:latin typeface="Arial MT"/>
                <a:cs typeface="Arial MT"/>
              </a:rPr>
              <a:t>adding</a:t>
            </a:r>
            <a:r>
              <a:rPr sz="2100" spc="90" dirty="0">
                <a:latin typeface="Arial MT"/>
                <a:cs typeface="Arial MT"/>
              </a:rPr>
              <a:t> a </a:t>
            </a:r>
            <a:r>
              <a:rPr sz="2100" dirty="0">
                <a:latin typeface="Arial MT"/>
                <a:cs typeface="Arial MT"/>
              </a:rPr>
              <a:t>new</a:t>
            </a:r>
            <a:r>
              <a:rPr sz="2100" spc="90" dirty="0">
                <a:latin typeface="Arial MT"/>
                <a:cs typeface="Arial MT"/>
              </a:rPr>
              <a:t> </a:t>
            </a:r>
            <a:r>
              <a:rPr sz="2100" spc="45" dirty="0">
                <a:latin typeface="Arial MT"/>
                <a:cs typeface="Arial MT"/>
              </a:rPr>
              <a:t>variable</a:t>
            </a:r>
            <a:endParaRPr sz="2100">
              <a:latin typeface="Arial MT"/>
              <a:cs typeface="Arial MT"/>
            </a:endParaRPr>
          </a:p>
          <a:p>
            <a:pPr marL="25400" marR="17780">
              <a:lnSpc>
                <a:spcPts val="5710"/>
              </a:lnSpc>
              <a:spcBef>
                <a:spcPts val="570"/>
              </a:spcBef>
              <a:tabLst>
                <a:tab pos="624840" algn="l"/>
                <a:tab pos="988060" algn="l"/>
              </a:tabLst>
            </a:pP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profit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subset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items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weight</a:t>
            </a:r>
            <a:r>
              <a:rPr sz="18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limit</a:t>
            </a:r>
            <a:r>
              <a:rPr sz="18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25" dirty="0">
                <a:solidFill>
                  <a:srgbClr val="8D3124"/>
                </a:solidFill>
                <a:latin typeface="Times New Roman"/>
                <a:cs typeface="Times New Roman"/>
              </a:rPr>
              <a:t>w</a:t>
            </a:r>
            <a:r>
              <a:rPr sz="1800" spc="-25" dirty="0">
                <a:latin typeface="Lucida Sans Unicode"/>
                <a:cs typeface="Lucida Sans Unicode"/>
              </a:rPr>
              <a:t>.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Case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does not select item </a:t>
            </a:r>
            <a:r>
              <a:rPr sz="1800" i="1" spc="-25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20650">
              <a:lnSpc>
                <a:spcPts val="2280"/>
              </a:lnSpc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i="1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selects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best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 1,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2, …,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 1</a:t>
            </a:r>
            <a:r>
              <a:rPr sz="1800" spc="40" dirty="0">
                <a:latin typeface="Times New Roman"/>
                <a:cs typeface="Times New Roman"/>
              </a:rPr>
              <a:t> } </a:t>
            </a:r>
            <a:r>
              <a:rPr sz="1800" dirty="0">
                <a:latin typeface="Lucida Sans Unicode"/>
                <a:cs typeface="Lucida Sans Unicode"/>
              </a:rPr>
              <a:t>using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weight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limit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w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267" y="3031097"/>
            <a:ext cx="30264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536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Case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2.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selects item </a:t>
            </a:r>
            <a:r>
              <a:rPr sz="1800" i="1" spc="-25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541" y="3256180"/>
            <a:ext cx="7359015" cy="827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ts val="3135"/>
              </a:lnSpc>
              <a:spcBef>
                <a:spcPts val="130"/>
              </a:spcBef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New</a:t>
            </a:r>
            <a:r>
              <a:rPr sz="1800" spc="3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weight</a:t>
            </a:r>
            <a:r>
              <a:rPr sz="1800" spc="3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limit</a:t>
            </a:r>
            <a:r>
              <a:rPr sz="1800" spc="35" dirty="0">
                <a:latin typeface="Lucida Sans Unicode"/>
                <a:cs typeface="Lucida Sans Unicode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=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i="1" spc="2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– </a:t>
            </a:r>
            <a:r>
              <a:rPr sz="1800" i="1" spc="-25" dirty="0">
                <a:latin typeface="Times New Roman"/>
                <a:cs typeface="Times New Roman"/>
              </a:rPr>
              <a:t>w</a:t>
            </a:r>
            <a:r>
              <a:rPr sz="1800" i="1" spc="-37" baseline="-6944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ts val="3135"/>
              </a:lnSpc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i="1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selects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best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{ </a:t>
            </a:r>
            <a:r>
              <a:rPr sz="1800" dirty="0">
                <a:latin typeface="Times New Roman"/>
                <a:cs typeface="Times New Roman"/>
              </a:rPr>
              <a:t>1,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2, …,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–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45" dirty="0">
                <a:latin typeface="Times New Roman"/>
                <a:cs typeface="Times New Roman"/>
              </a:rPr>
              <a:t> } </a:t>
            </a:r>
            <a:r>
              <a:rPr sz="1800" dirty="0">
                <a:latin typeface="Lucida Sans Unicode"/>
                <a:cs typeface="Lucida Sans Unicode"/>
              </a:rPr>
              <a:t>using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this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new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weight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limit.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87621" y="4900571"/>
            <a:ext cx="71691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dirty="0">
                <a:latin typeface="Times New Roman"/>
                <a:cs typeface="Times New Roman"/>
              </a:rPr>
              <a:t>if</a:t>
            </a:r>
            <a:r>
              <a:rPr sz="1900" spc="4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</a:t>
            </a:r>
            <a:r>
              <a:rPr sz="1900" spc="-1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87621" y="5265452"/>
            <a:ext cx="947419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dirty="0">
                <a:latin typeface="Times New Roman"/>
                <a:cs typeface="Times New Roman"/>
              </a:rPr>
              <a:t>if</a:t>
            </a:r>
            <a:r>
              <a:rPr sz="1900" spc="48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</a:t>
            </a:r>
            <a:r>
              <a:rPr sz="1900" spc="43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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w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1890" y="5598237"/>
            <a:ext cx="2425065" cy="356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875" i="1" baseline="-22222" dirty="0">
                <a:latin typeface="Times New Roman"/>
                <a:cs typeface="Times New Roman"/>
              </a:rPr>
              <a:t>i</a:t>
            </a:r>
            <a:r>
              <a:rPr sz="1875" i="1" spc="487" baseline="-2222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15" dirty="0">
                <a:latin typeface="Times New Roman"/>
                <a:cs typeface="Times New Roman"/>
              </a:rPr>
              <a:t>  </a:t>
            </a:r>
            <a:r>
              <a:rPr sz="1900" i="1" dirty="0">
                <a:latin typeface="Times New Roman"/>
                <a:cs typeface="Times New Roman"/>
              </a:rPr>
              <a:t>OPT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i</a:t>
            </a:r>
            <a:r>
              <a:rPr sz="1900" i="1" spc="-13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Symbol"/>
                <a:cs typeface="Symbol"/>
              </a:rPr>
              <a:t></a:t>
            </a:r>
            <a:r>
              <a:rPr sz="1900" spc="-20" dirty="0">
                <a:latin typeface="Times New Roman"/>
                <a:cs typeface="Times New Roman"/>
              </a:rPr>
              <a:t>1,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w</a:t>
            </a:r>
            <a:r>
              <a:rPr sz="1900" i="1" spc="-1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w</a:t>
            </a:r>
            <a:r>
              <a:rPr sz="1875" i="1" baseline="-22222" dirty="0">
                <a:latin typeface="Times New Roman"/>
                <a:cs typeface="Times New Roman"/>
              </a:rPr>
              <a:t>i</a:t>
            </a:r>
            <a:r>
              <a:rPr sz="1875" i="1" spc="-15" baseline="-2222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260" dirty="0">
                <a:latin typeface="Times New Roman"/>
                <a:cs typeface="Times New Roman"/>
              </a:rPr>
              <a:t> </a:t>
            </a:r>
            <a:r>
              <a:rPr sz="3225" spc="-75" baseline="-3875" dirty="0">
                <a:latin typeface="Symbol"/>
                <a:cs typeface="Symbol"/>
              </a:rPr>
              <a:t></a:t>
            </a:r>
            <a:endParaRPr sz="3225" baseline="-3875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87621" y="5388430"/>
            <a:ext cx="974090" cy="55943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275"/>
              </a:spcBef>
            </a:pPr>
            <a:r>
              <a:rPr sz="1250" spc="-50" dirty="0"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sz="1900" spc="-10" dirty="0">
                <a:latin typeface="Times New Roman"/>
                <a:cs typeface="Times New Roman"/>
              </a:rPr>
              <a:t>otherwise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4432" y="4783675"/>
            <a:ext cx="2753360" cy="80962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84605">
              <a:lnSpc>
                <a:spcPct val="100000"/>
              </a:lnSpc>
              <a:spcBef>
                <a:spcPts val="860"/>
              </a:spcBef>
              <a:tabLst>
                <a:tab pos="1542415" algn="l"/>
              </a:tabLst>
            </a:pPr>
            <a:r>
              <a:rPr sz="1900" spc="-50" dirty="0">
                <a:latin typeface="Symbol"/>
                <a:cs typeface="Symbol"/>
              </a:rPr>
              <a:t>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850" spc="-75" baseline="-4385" dirty="0">
                <a:latin typeface="Times New Roman"/>
                <a:cs typeface="Times New Roman"/>
              </a:rPr>
              <a:t>0</a:t>
            </a:r>
            <a:endParaRPr sz="2850" baseline="-4385">
              <a:latin typeface="Times New Roman"/>
              <a:cs typeface="Times New Roman"/>
            </a:endParaRPr>
          </a:p>
          <a:p>
            <a:pPr marL="63500">
              <a:lnSpc>
                <a:spcPts val="1180"/>
              </a:lnSpc>
              <a:spcBef>
                <a:spcPts val="765"/>
              </a:spcBef>
            </a:pPr>
            <a:r>
              <a:rPr sz="1900" i="1" dirty="0">
                <a:latin typeface="Times New Roman"/>
                <a:cs typeface="Times New Roman"/>
              </a:rPr>
              <a:t>OPT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i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w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2850" spc="-52" baseline="40935" dirty="0">
                <a:latin typeface="Symbol"/>
                <a:cs typeface="Symbol"/>
              </a:rPr>
              <a:t></a:t>
            </a:r>
            <a:r>
              <a:rPr sz="1900" i="1" spc="-35" dirty="0">
                <a:latin typeface="Times New Roman"/>
                <a:cs typeface="Times New Roman"/>
              </a:rPr>
              <a:t>OPT</a:t>
            </a:r>
            <a:r>
              <a:rPr sz="1900" spc="-35" dirty="0">
                <a:latin typeface="Times New Roman"/>
                <a:cs typeface="Times New Roman"/>
              </a:rPr>
              <a:t>(</a:t>
            </a:r>
            <a:r>
              <a:rPr sz="1900" i="1" spc="-35" dirty="0">
                <a:latin typeface="Times New Roman"/>
                <a:cs typeface="Times New Roman"/>
              </a:rPr>
              <a:t>i</a:t>
            </a:r>
            <a:r>
              <a:rPr sz="1900" i="1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Symbol"/>
                <a:cs typeface="Symbol"/>
              </a:rPr>
              <a:t></a:t>
            </a:r>
            <a:r>
              <a:rPr sz="1900" spc="-10" dirty="0">
                <a:latin typeface="Times New Roman"/>
                <a:cs typeface="Times New Roman"/>
              </a:rPr>
              <a:t>1,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w</a:t>
            </a:r>
            <a:r>
              <a:rPr sz="1900" spc="-25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marL="1284605">
              <a:lnSpc>
                <a:spcPts val="1180"/>
              </a:lnSpc>
            </a:pPr>
            <a:r>
              <a:rPr sz="1900" spc="-50" dirty="0">
                <a:latin typeface="Symbol"/>
                <a:cs typeface="Symbol"/>
              </a:rPr>
              <a:t>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6859" y="5672564"/>
            <a:ext cx="14605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spc="-50" dirty="0">
                <a:latin typeface="Symbol"/>
                <a:cs typeface="Symbol"/>
              </a:rPr>
              <a:t>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21459" y="5598237"/>
            <a:ext cx="2129790" cy="356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850" spc="-120" baseline="24853" dirty="0">
                <a:latin typeface="Symbol"/>
                <a:cs typeface="Symbol"/>
              </a:rPr>
              <a:t></a:t>
            </a:r>
            <a:r>
              <a:rPr sz="1900" spc="-80" dirty="0">
                <a:latin typeface="Times New Roman"/>
                <a:cs typeface="Times New Roman"/>
              </a:rPr>
              <a:t>max</a:t>
            </a:r>
            <a:r>
              <a:rPr sz="3225" spc="-120" baseline="-3875" dirty="0">
                <a:latin typeface="Symbol"/>
                <a:cs typeface="Symbol"/>
              </a:rPr>
              <a:t></a:t>
            </a:r>
            <a:r>
              <a:rPr sz="3225" spc="-254" baseline="-387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OPT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i</a:t>
            </a:r>
            <a:r>
              <a:rPr sz="1900" i="1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Symbol"/>
                <a:cs typeface="Symbol"/>
              </a:rPr>
              <a:t></a:t>
            </a:r>
            <a:r>
              <a:rPr sz="1900" spc="-10" dirty="0">
                <a:latin typeface="Times New Roman"/>
                <a:cs typeface="Times New Roman"/>
              </a:rPr>
              <a:t>1,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w</a:t>
            </a:r>
            <a:r>
              <a:rPr sz="1900" spc="-25" dirty="0">
                <a:latin typeface="Times New Roman"/>
                <a:cs typeface="Times New Roman"/>
              </a:rPr>
              <a:t>),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60719" y="2904568"/>
            <a:ext cx="2307590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>
              <a:lnSpc>
                <a:spcPct val="114700"/>
              </a:lnSpc>
              <a:spcBef>
                <a:spcPts val="10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optimal</a:t>
            </a:r>
            <a:r>
              <a:rPr sz="12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substructure</a:t>
            </a:r>
            <a:r>
              <a:rPr sz="12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property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(proof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via</a:t>
            </a:r>
            <a:r>
              <a:rPr sz="12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exchange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argument)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75497" y="2824436"/>
            <a:ext cx="315595" cy="291465"/>
            <a:chOff x="6375497" y="2824436"/>
            <a:chExt cx="315595" cy="291465"/>
          </a:xfrm>
        </p:grpSpPr>
        <p:sp>
          <p:nvSpPr>
            <p:cNvPr id="14" name="object 14"/>
            <p:cNvSpPr/>
            <p:nvPr/>
          </p:nvSpPr>
          <p:spPr>
            <a:xfrm>
              <a:off x="6419000" y="2864489"/>
              <a:ext cx="262890" cy="241935"/>
            </a:xfrm>
            <a:custGeom>
              <a:avLst/>
              <a:gdLst/>
              <a:ahLst/>
              <a:cxnLst/>
              <a:rect l="l" t="t" r="r" b="b"/>
              <a:pathLst>
                <a:path w="262890" h="241935">
                  <a:moveTo>
                    <a:pt x="0" y="0"/>
                  </a:moveTo>
                  <a:lnTo>
                    <a:pt x="7015" y="6460"/>
                  </a:lnTo>
                  <a:lnTo>
                    <a:pt x="262277" y="24148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75497" y="2824436"/>
              <a:ext cx="98425" cy="95885"/>
            </a:xfrm>
            <a:custGeom>
              <a:avLst/>
              <a:gdLst/>
              <a:ahLst/>
              <a:cxnLst/>
              <a:rect l="l" t="t" r="r" b="b"/>
              <a:pathLst>
                <a:path w="98425" h="95885">
                  <a:moveTo>
                    <a:pt x="0" y="0"/>
                  </a:moveTo>
                  <a:lnTo>
                    <a:pt x="36348" y="95695"/>
                  </a:lnTo>
                  <a:lnTo>
                    <a:pt x="50518" y="46512"/>
                  </a:lnTo>
                  <a:lnTo>
                    <a:pt x="98365" y="28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383340" y="3203528"/>
            <a:ext cx="315595" cy="291465"/>
            <a:chOff x="6383340" y="3203528"/>
            <a:chExt cx="315595" cy="291465"/>
          </a:xfrm>
        </p:grpSpPr>
        <p:sp>
          <p:nvSpPr>
            <p:cNvPr id="17" name="object 17"/>
            <p:cNvSpPr/>
            <p:nvPr/>
          </p:nvSpPr>
          <p:spPr>
            <a:xfrm>
              <a:off x="6426842" y="3213066"/>
              <a:ext cx="262890" cy="241935"/>
            </a:xfrm>
            <a:custGeom>
              <a:avLst/>
              <a:gdLst/>
              <a:ahLst/>
              <a:cxnLst/>
              <a:rect l="l" t="t" r="r" b="b"/>
              <a:pathLst>
                <a:path w="262890" h="241935">
                  <a:moveTo>
                    <a:pt x="0" y="241479"/>
                  </a:moveTo>
                  <a:lnTo>
                    <a:pt x="7016" y="235019"/>
                  </a:lnTo>
                  <a:lnTo>
                    <a:pt x="262278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83340" y="3398903"/>
              <a:ext cx="98425" cy="95885"/>
            </a:xfrm>
            <a:custGeom>
              <a:avLst/>
              <a:gdLst/>
              <a:ahLst/>
              <a:cxnLst/>
              <a:rect l="l" t="t" r="r" b="b"/>
              <a:pathLst>
                <a:path w="98425" h="95885">
                  <a:moveTo>
                    <a:pt x="36348" y="0"/>
                  </a:moveTo>
                  <a:lnTo>
                    <a:pt x="0" y="95695"/>
                  </a:lnTo>
                  <a:lnTo>
                    <a:pt x="98365" y="67356"/>
                  </a:lnTo>
                  <a:lnTo>
                    <a:pt x="50518" y="49182"/>
                  </a:lnTo>
                  <a:lnTo>
                    <a:pt x="36348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374396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4760" algn="l"/>
              </a:tabLst>
            </a:pPr>
            <a:r>
              <a:rPr dirty="0"/>
              <a:t>Knapsack</a:t>
            </a:r>
            <a:r>
              <a:rPr spc="100" dirty="0"/>
              <a:t> </a:t>
            </a:r>
            <a:r>
              <a:rPr spc="-10" dirty="0"/>
              <a:t>problem:</a:t>
            </a:r>
            <a:r>
              <a:rPr dirty="0"/>
              <a:t>	</a:t>
            </a:r>
            <a:r>
              <a:rPr spc="-20" dirty="0"/>
              <a:t>bottom-</a:t>
            </a:r>
            <a:r>
              <a:rPr spc="-25" dirty="0"/>
              <a:t>up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10851" y="1737173"/>
            <a:ext cx="7830820" cy="4291965"/>
            <a:chOff x="1110851" y="1737173"/>
            <a:chExt cx="7830820" cy="4291965"/>
          </a:xfrm>
        </p:grpSpPr>
        <p:sp>
          <p:nvSpPr>
            <p:cNvPr id="5" name="object 5"/>
            <p:cNvSpPr/>
            <p:nvPr/>
          </p:nvSpPr>
          <p:spPr>
            <a:xfrm>
              <a:off x="1110851" y="1737173"/>
              <a:ext cx="7830820" cy="4291965"/>
            </a:xfrm>
            <a:custGeom>
              <a:avLst/>
              <a:gdLst/>
              <a:ahLst/>
              <a:cxnLst/>
              <a:rect l="l" t="t" r="r" b="b"/>
              <a:pathLst>
                <a:path w="7830820" h="4291965">
                  <a:moveTo>
                    <a:pt x="0" y="0"/>
                  </a:moveTo>
                  <a:lnTo>
                    <a:pt x="7830207" y="0"/>
                  </a:lnTo>
                  <a:lnTo>
                    <a:pt x="7830207" y="4291830"/>
                  </a:lnTo>
                  <a:lnTo>
                    <a:pt x="0" y="4291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30211" y="2339899"/>
              <a:ext cx="7067550" cy="0"/>
            </a:xfrm>
            <a:custGeom>
              <a:avLst/>
              <a:gdLst/>
              <a:ahLst/>
              <a:cxnLst/>
              <a:rect l="l" t="t" r="r" b="b"/>
              <a:pathLst>
                <a:path w="7067550">
                  <a:moveTo>
                    <a:pt x="0" y="0"/>
                  </a:moveTo>
                  <a:lnTo>
                    <a:pt x="70672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66711" y="1915221"/>
            <a:ext cx="6863080" cy="377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F83"/>
                </a:solidFill>
                <a:latin typeface="Times New Roman"/>
                <a:cs typeface="Times New Roman"/>
              </a:rPr>
              <a:t>K</a:t>
            </a:r>
            <a:r>
              <a:rPr sz="1450" spc="-10" dirty="0">
                <a:solidFill>
                  <a:srgbClr val="003F83"/>
                </a:solidFill>
                <a:latin typeface="Times New Roman"/>
                <a:cs typeface="Times New Roman"/>
              </a:rPr>
              <a:t>NAPSACK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, …,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i="1" baseline="-6944" dirty="0">
                <a:latin typeface="Times New Roman"/>
                <a:cs typeface="Times New Roman"/>
              </a:rPr>
              <a:t>n</a:t>
            </a:r>
            <a:r>
              <a:rPr sz="1800" i="1" dirty="0">
                <a:latin typeface="Times New Roman"/>
                <a:cs typeface="Times New Roman"/>
              </a:rPr>
              <a:t>, v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, …,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v</a:t>
            </a:r>
            <a:r>
              <a:rPr sz="1800" i="1" baseline="-6944" dirty="0">
                <a:latin typeface="Times New Roman"/>
                <a:cs typeface="Times New Roman"/>
              </a:rPr>
              <a:t>n</a:t>
            </a:r>
            <a:r>
              <a:rPr sz="1800" i="1" spc="225" baseline="-6944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320675" marR="5250180" indent="-257810">
              <a:lnSpc>
                <a:spcPct val="135600"/>
              </a:lnSpc>
              <a:spcBef>
                <a:spcPts val="975"/>
              </a:spcBef>
            </a:pPr>
            <a:r>
              <a:rPr sz="180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450" spc="4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450" spc="7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W 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[0,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dirty="0">
                <a:latin typeface="Times New Roman"/>
                <a:cs typeface="Times New Roman"/>
              </a:rPr>
              <a:t>] ← </a:t>
            </a:r>
            <a:r>
              <a:rPr sz="1800" spc="-25" dirty="0">
                <a:latin typeface="Times New Roman"/>
                <a:cs typeface="Times New Roman"/>
              </a:rPr>
              <a:t>0.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1800" cap="small" dirty="0">
                <a:solidFill>
                  <a:srgbClr val="003F83"/>
                </a:solidFill>
                <a:latin typeface="Times New Roman"/>
                <a:cs typeface="Times New Roman"/>
              </a:rPr>
              <a:t>For</a:t>
            </a:r>
            <a:r>
              <a:rPr sz="1800" cap="small" spc="33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cap="small" dirty="0">
                <a:latin typeface="Times New Roman"/>
                <a:cs typeface="Times New Roman"/>
              </a:rPr>
              <a:t>=</a:t>
            </a:r>
            <a:r>
              <a:rPr sz="1800" cap="small" spc="-15" dirty="0">
                <a:latin typeface="Times New Roman"/>
                <a:cs typeface="Times New Roman"/>
              </a:rPr>
              <a:t> </a:t>
            </a:r>
            <a:r>
              <a:rPr sz="1800" cap="small" dirty="0">
                <a:latin typeface="Times New Roman"/>
                <a:cs typeface="Times New Roman"/>
              </a:rPr>
              <a:t>1</a:t>
            </a:r>
            <a:r>
              <a:rPr sz="1800" cap="small" spc="-10" dirty="0">
                <a:latin typeface="Times New Roman"/>
                <a:cs typeface="Times New Roman"/>
              </a:rPr>
              <a:t> </a:t>
            </a:r>
            <a:r>
              <a:rPr sz="1800" cap="small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800" cap="small" spc="7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  <a:spcBef>
                <a:spcPts val="770"/>
              </a:spcBef>
            </a:pPr>
            <a:r>
              <a:rPr sz="1800" cap="small" dirty="0">
                <a:solidFill>
                  <a:srgbClr val="003F83"/>
                </a:solidFill>
                <a:latin typeface="Times New Roman"/>
                <a:cs typeface="Times New Roman"/>
              </a:rPr>
              <a:t>For</a:t>
            </a:r>
            <a:r>
              <a:rPr sz="1800" cap="small" spc="4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cap="small" dirty="0">
                <a:latin typeface="Times New Roman"/>
                <a:cs typeface="Times New Roman"/>
              </a:rPr>
              <a:t>=</a:t>
            </a:r>
            <a:r>
              <a:rPr sz="1800" cap="small" spc="-10" dirty="0">
                <a:latin typeface="Times New Roman"/>
                <a:cs typeface="Times New Roman"/>
              </a:rPr>
              <a:t> </a:t>
            </a:r>
            <a:r>
              <a:rPr sz="1800" cap="small" dirty="0">
                <a:latin typeface="Times New Roman"/>
                <a:cs typeface="Times New Roman"/>
              </a:rPr>
              <a:t>1</a:t>
            </a:r>
            <a:r>
              <a:rPr sz="1800" cap="small" spc="-10" dirty="0">
                <a:latin typeface="Times New Roman"/>
                <a:cs typeface="Times New Roman"/>
              </a:rPr>
              <a:t> </a:t>
            </a:r>
            <a:r>
              <a:rPr sz="1800" cap="small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800" cap="small" spc="7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  <a:spcBef>
                <a:spcPts val="765"/>
              </a:spcBef>
              <a:tabLst>
                <a:tab pos="1517015" algn="l"/>
              </a:tabLst>
            </a:pPr>
            <a:r>
              <a:rPr sz="1800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450" spc="43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i="1" baseline="-6944" dirty="0">
                <a:latin typeface="Times New Roman"/>
                <a:cs typeface="Times New Roman"/>
              </a:rPr>
              <a:t>i</a:t>
            </a:r>
            <a:r>
              <a:rPr sz="1800" i="1" spc="217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w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]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←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 </a:t>
            </a:r>
            <a:r>
              <a:rPr sz="1800" i="1" spc="-25" dirty="0">
                <a:latin typeface="Times New Roman"/>
                <a:cs typeface="Times New Roman"/>
              </a:rPr>
              <a:t>w</a:t>
            </a:r>
            <a:r>
              <a:rPr sz="1800" spc="-25" dirty="0">
                <a:latin typeface="Times New Roman"/>
                <a:cs typeface="Times New Roman"/>
              </a:rPr>
              <a:t>].</a:t>
            </a:r>
            <a:endParaRPr sz="180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  <a:spcBef>
                <a:spcPts val="770"/>
              </a:spcBef>
              <a:tabLst>
                <a:tab pos="1495425" algn="l"/>
              </a:tabLst>
            </a:pPr>
            <a:r>
              <a:rPr sz="1800" spc="-20" dirty="0">
                <a:solidFill>
                  <a:srgbClr val="003F83"/>
                </a:solidFill>
                <a:latin typeface="Times New Roman"/>
                <a:cs typeface="Times New Roman"/>
              </a:rPr>
              <a:t>E</a:t>
            </a:r>
            <a:r>
              <a:rPr sz="1450" spc="-20" dirty="0">
                <a:solidFill>
                  <a:srgbClr val="003F83"/>
                </a:solidFill>
                <a:latin typeface="Times New Roman"/>
                <a:cs typeface="Times New Roman"/>
              </a:rPr>
              <a:t>LSE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]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←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max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 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dirty="0">
                <a:latin typeface="Times New Roman"/>
                <a:cs typeface="Times New Roman"/>
              </a:rPr>
              <a:t>],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v</a:t>
            </a:r>
            <a:r>
              <a:rPr sz="1800" i="1" baseline="-6944" dirty="0">
                <a:latin typeface="Times New Roman"/>
                <a:cs typeface="Times New Roman"/>
              </a:rPr>
              <a:t>i</a:t>
            </a:r>
            <a:r>
              <a:rPr sz="1800" i="1" spc="667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 </a:t>
            </a:r>
            <a:r>
              <a:rPr sz="1800" i="1" dirty="0">
                <a:latin typeface="Times New Roman"/>
                <a:cs typeface="Times New Roman"/>
              </a:rPr>
              <a:t>w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i="1" baseline="-6944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] </a:t>
            </a:r>
            <a:r>
              <a:rPr sz="1800" spc="-25" dirty="0">
                <a:latin typeface="Times New Roman"/>
                <a:cs typeface="Times New Roman"/>
              </a:rPr>
              <a:t>}.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1800" cap="small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1800" cap="small" spc="40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cap="small" dirty="0">
                <a:latin typeface="Times New Roman"/>
                <a:cs typeface="Times New Roman"/>
              </a:rPr>
              <a:t>[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cap="small" dirty="0">
                <a:latin typeface="Times New Roman"/>
                <a:cs typeface="Times New Roman"/>
              </a:rPr>
              <a:t>,</a:t>
            </a:r>
            <a:r>
              <a:rPr sz="1800" cap="small" spc="-20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W</a:t>
            </a:r>
            <a:r>
              <a:rPr sz="1800" cap="small" spc="-25" dirty="0">
                <a:latin typeface="Times New Roman"/>
                <a:cs typeface="Times New Roman"/>
              </a:rPr>
              <a:t>].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30211" y="5811513"/>
            <a:ext cx="7067550" cy="0"/>
          </a:xfrm>
          <a:custGeom>
            <a:avLst/>
            <a:gdLst/>
            <a:ahLst/>
            <a:cxnLst/>
            <a:rect l="l" t="t" r="r" b="b"/>
            <a:pathLst>
              <a:path w="7067550">
                <a:moveTo>
                  <a:pt x="0" y="0"/>
                </a:moveTo>
                <a:lnTo>
                  <a:pt x="706721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450596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4760" algn="l"/>
              </a:tabLst>
            </a:pPr>
            <a:r>
              <a:rPr dirty="0"/>
              <a:t>Knapsack</a:t>
            </a:r>
            <a:r>
              <a:rPr spc="100" dirty="0"/>
              <a:t> </a:t>
            </a:r>
            <a:r>
              <a:rPr spc="-10" dirty="0"/>
              <a:t>problem:</a:t>
            </a:r>
            <a:r>
              <a:rPr dirty="0"/>
              <a:t>	</a:t>
            </a:r>
            <a:r>
              <a:rPr spc="-20" dirty="0"/>
              <a:t>bottom-</a:t>
            </a:r>
            <a:r>
              <a:rPr dirty="0"/>
              <a:t>up</a:t>
            </a:r>
            <a:r>
              <a:rPr spc="190" dirty="0"/>
              <a:t> </a:t>
            </a:r>
            <a:r>
              <a:rPr spc="-20" dirty="0"/>
              <a:t>demo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47731" y="5113243"/>
            <a:ext cx="7966709" cy="1350645"/>
            <a:chOff x="1147731" y="5113243"/>
            <a:chExt cx="7966709" cy="1350645"/>
          </a:xfrm>
        </p:grpSpPr>
        <p:sp>
          <p:nvSpPr>
            <p:cNvPr id="5" name="object 5"/>
            <p:cNvSpPr/>
            <p:nvPr/>
          </p:nvSpPr>
          <p:spPr>
            <a:xfrm>
              <a:off x="2264600" y="5113248"/>
              <a:ext cx="6848475" cy="1350645"/>
            </a:xfrm>
            <a:custGeom>
              <a:avLst/>
              <a:gdLst/>
              <a:ahLst/>
              <a:cxnLst/>
              <a:rect l="l" t="t" r="r" b="b"/>
              <a:pathLst>
                <a:path w="6848475" h="1350645">
                  <a:moveTo>
                    <a:pt x="568388" y="450977"/>
                  </a:moveTo>
                  <a:lnTo>
                    <a:pt x="0" y="450977"/>
                  </a:lnTo>
                  <a:lnTo>
                    <a:pt x="0" y="899579"/>
                  </a:lnTo>
                  <a:lnTo>
                    <a:pt x="568388" y="899579"/>
                  </a:lnTo>
                  <a:lnTo>
                    <a:pt x="568388" y="450977"/>
                  </a:lnTo>
                  <a:close/>
                </a:path>
                <a:path w="6848475" h="1350645">
                  <a:moveTo>
                    <a:pt x="568388" y="0"/>
                  </a:moveTo>
                  <a:lnTo>
                    <a:pt x="0" y="0"/>
                  </a:lnTo>
                  <a:lnTo>
                    <a:pt x="0" y="448602"/>
                  </a:lnTo>
                  <a:lnTo>
                    <a:pt x="568388" y="448602"/>
                  </a:lnTo>
                  <a:lnTo>
                    <a:pt x="568388" y="0"/>
                  </a:lnTo>
                  <a:close/>
                </a:path>
                <a:path w="6848475" h="1350645">
                  <a:moveTo>
                    <a:pt x="1139164" y="450977"/>
                  </a:moveTo>
                  <a:lnTo>
                    <a:pt x="570776" y="450977"/>
                  </a:lnTo>
                  <a:lnTo>
                    <a:pt x="570776" y="899579"/>
                  </a:lnTo>
                  <a:lnTo>
                    <a:pt x="1139164" y="899579"/>
                  </a:lnTo>
                  <a:lnTo>
                    <a:pt x="1139164" y="450977"/>
                  </a:lnTo>
                  <a:close/>
                </a:path>
                <a:path w="6848475" h="1350645">
                  <a:moveTo>
                    <a:pt x="1139164" y="0"/>
                  </a:moveTo>
                  <a:lnTo>
                    <a:pt x="570776" y="0"/>
                  </a:lnTo>
                  <a:lnTo>
                    <a:pt x="570776" y="448602"/>
                  </a:lnTo>
                  <a:lnTo>
                    <a:pt x="1139164" y="448602"/>
                  </a:lnTo>
                  <a:lnTo>
                    <a:pt x="1139164" y="0"/>
                  </a:lnTo>
                  <a:close/>
                </a:path>
                <a:path w="6848475" h="1350645">
                  <a:moveTo>
                    <a:pt x="1709940" y="450977"/>
                  </a:moveTo>
                  <a:lnTo>
                    <a:pt x="1141552" y="450977"/>
                  </a:lnTo>
                  <a:lnTo>
                    <a:pt x="1141552" y="899579"/>
                  </a:lnTo>
                  <a:lnTo>
                    <a:pt x="1709940" y="899579"/>
                  </a:lnTo>
                  <a:lnTo>
                    <a:pt x="1709940" y="450977"/>
                  </a:lnTo>
                  <a:close/>
                </a:path>
                <a:path w="6848475" h="1350645">
                  <a:moveTo>
                    <a:pt x="1709940" y="0"/>
                  </a:moveTo>
                  <a:lnTo>
                    <a:pt x="1141552" y="0"/>
                  </a:lnTo>
                  <a:lnTo>
                    <a:pt x="1141552" y="448602"/>
                  </a:lnTo>
                  <a:lnTo>
                    <a:pt x="1709940" y="448602"/>
                  </a:lnTo>
                  <a:lnTo>
                    <a:pt x="1709940" y="0"/>
                  </a:lnTo>
                  <a:close/>
                </a:path>
                <a:path w="6848475" h="1350645">
                  <a:moveTo>
                    <a:pt x="2280716" y="450977"/>
                  </a:moveTo>
                  <a:lnTo>
                    <a:pt x="1712328" y="450977"/>
                  </a:lnTo>
                  <a:lnTo>
                    <a:pt x="1712328" y="899579"/>
                  </a:lnTo>
                  <a:lnTo>
                    <a:pt x="2280716" y="899579"/>
                  </a:lnTo>
                  <a:lnTo>
                    <a:pt x="2280716" y="450977"/>
                  </a:lnTo>
                  <a:close/>
                </a:path>
                <a:path w="6848475" h="1350645">
                  <a:moveTo>
                    <a:pt x="2280716" y="0"/>
                  </a:moveTo>
                  <a:lnTo>
                    <a:pt x="1712328" y="0"/>
                  </a:lnTo>
                  <a:lnTo>
                    <a:pt x="1712328" y="448602"/>
                  </a:lnTo>
                  <a:lnTo>
                    <a:pt x="2280716" y="448602"/>
                  </a:lnTo>
                  <a:lnTo>
                    <a:pt x="2280716" y="0"/>
                  </a:lnTo>
                  <a:close/>
                </a:path>
                <a:path w="6848475" h="1350645">
                  <a:moveTo>
                    <a:pt x="2851493" y="450977"/>
                  </a:moveTo>
                  <a:lnTo>
                    <a:pt x="2283104" y="450977"/>
                  </a:lnTo>
                  <a:lnTo>
                    <a:pt x="2283104" y="899579"/>
                  </a:lnTo>
                  <a:lnTo>
                    <a:pt x="2851493" y="899579"/>
                  </a:lnTo>
                  <a:lnTo>
                    <a:pt x="2851493" y="450977"/>
                  </a:lnTo>
                  <a:close/>
                </a:path>
                <a:path w="6848475" h="1350645">
                  <a:moveTo>
                    <a:pt x="2851493" y="0"/>
                  </a:moveTo>
                  <a:lnTo>
                    <a:pt x="2283104" y="0"/>
                  </a:lnTo>
                  <a:lnTo>
                    <a:pt x="2283104" y="448602"/>
                  </a:lnTo>
                  <a:lnTo>
                    <a:pt x="2851493" y="448602"/>
                  </a:lnTo>
                  <a:lnTo>
                    <a:pt x="2851493" y="0"/>
                  </a:lnTo>
                  <a:close/>
                </a:path>
                <a:path w="6848475" h="1350645">
                  <a:moveTo>
                    <a:pt x="3422269" y="450977"/>
                  </a:moveTo>
                  <a:lnTo>
                    <a:pt x="2853880" y="450977"/>
                  </a:lnTo>
                  <a:lnTo>
                    <a:pt x="2853880" y="899579"/>
                  </a:lnTo>
                  <a:lnTo>
                    <a:pt x="3422269" y="899579"/>
                  </a:lnTo>
                  <a:lnTo>
                    <a:pt x="3422269" y="450977"/>
                  </a:lnTo>
                  <a:close/>
                </a:path>
                <a:path w="6848475" h="1350645">
                  <a:moveTo>
                    <a:pt x="3422269" y="0"/>
                  </a:moveTo>
                  <a:lnTo>
                    <a:pt x="2853880" y="0"/>
                  </a:lnTo>
                  <a:lnTo>
                    <a:pt x="2853880" y="448602"/>
                  </a:lnTo>
                  <a:lnTo>
                    <a:pt x="3422269" y="448602"/>
                  </a:lnTo>
                  <a:lnTo>
                    <a:pt x="3422269" y="0"/>
                  </a:lnTo>
                  <a:close/>
                </a:path>
                <a:path w="6848475" h="1350645">
                  <a:moveTo>
                    <a:pt x="3993045" y="901966"/>
                  </a:moveTo>
                  <a:lnTo>
                    <a:pt x="3424656" y="901966"/>
                  </a:lnTo>
                  <a:lnTo>
                    <a:pt x="3424656" y="1350568"/>
                  </a:lnTo>
                  <a:lnTo>
                    <a:pt x="3993045" y="1350568"/>
                  </a:lnTo>
                  <a:lnTo>
                    <a:pt x="3993045" y="901966"/>
                  </a:lnTo>
                  <a:close/>
                </a:path>
                <a:path w="6848475" h="1350645">
                  <a:moveTo>
                    <a:pt x="3993045" y="450977"/>
                  </a:moveTo>
                  <a:lnTo>
                    <a:pt x="3424656" y="450977"/>
                  </a:lnTo>
                  <a:lnTo>
                    <a:pt x="3424656" y="899579"/>
                  </a:lnTo>
                  <a:lnTo>
                    <a:pt x="3993045" y="899579"/>
                  </a:lnTo>
                  <a:lnTo>
                    <a:pt x="3993045" y="450977"/>
                  </a:lnTo>
                  <a:close/>
                </a:path>
                <a:path w="6848475" h="1350645">
                  <a:moveTo>
                    <a:pt x="4563821" y="901966"/>
                  </a:moveTo>
                  <a:lnTo>
                    <a:pt x="3995432" y="901966"/>
                  </a:lnTo>
                  <a:lnTo>
                    <a:pt x="3995432" y="1350568"/>
                  </a:lnTo>
                  <a:lnTo>
                    <a:pt x="4563821" y="1350568"/>
                  </a:lnTo>
                  <a:lnTo>
                    <a:pt x="4563821" y="901966"/>
                  </a:lnTo>
                  <a:close/>
                </a:path>
                <a:path w="6848475" h="1350645">
                  <a:moveTo>
                    <a:pt x="4563821" y="450977"/>
                  </a:moveTo>
                  <a:lnTo>
                    <a:pt x="3995432" y="450977"/>
                  </a:lnTo>
                  <a:lnTo>
                    <a:pt x="3995432" y="899579"/>
                  </a:lnTo>
                  <a:lnTo>
                    <a:pt x="4563821" y="899579"/>
                  </a:lnTo>
                  <a:lnTo>
                    <a:pt x="4563821" y="450977"/>
                  </a:lnTo>
                  <a:close/>
                </a:path>
                <a:path w="6848475" h="1350645">
                  <a:moveTo>
                    <a:pt x="5134610" y="901966"/>
                  </a:moveTo>
                  <a:lnTo>
                    <a:pt x="4566209" y="901966"/>
                  </a:lnTo>
                  <a:lnTo>
                    <a:pt x="4566209" y="1350568"/>
                  </a:lnTo>
                  <a:lnTo>
                    <a:pt x="5134610" y="1350568"/>
                  </a:lnTo>
                  <a:lnTo>
                    <a:pt x="5134610" y="901966"/>
                  </a:lnTo>
                  <a:close/>
                </a:path>
                <a:path w="6848475" h="1350645">
                  <a:moveTo>
                    <a:pt x="5134610" y="450977"/>
                  </a:moveTo>
                  <a:lnTo>
                    <a:pt x="4566209" y="450977"/>
                  </a:lnTo>
                  <a:lnTo>
                    <a:pt x="4566209" y="899579"/>
                  </a:lnTo>
                  <a:lnTo>
                    <a:pt x="5134610" y="899579"/>
                  </a:lnTo>
                  <a:lnTo>
                    <a:pt x="5134610" y="450977"/>
                  </a:lnTo>
                  <a:close/>
                </a:path>
                <a:path w="6848475" h="1350645">
                  <a:moveTo>
                    <a:pt x="5705386" y="901966"/>
                  </a:moveTo>
                  <a:lnTo>
                    <a:pt x="5136985" y="901966"/>
                  </a:lnTo>
                  <a:lnTo>
                    <a:pt x="5136985" y="1350568"/>
                  </a:lnTo>
                  <a:lnTo>
                    <a:pt x="5705386" y="1350568"/>
                  </a:lnTo>
                  <a:lnTo>
                    <a:pt x="5705386" y="901966"/>
                  </a:lnTo>
                  <a:close/>
                </a:path>
                <a:path w="6848475" h="1350645">
                  <a:moveTo>
                    <a:pt x="5705386" y="450977"/>
                  </a:moveTo>
                  <a:lnTo>
                    <a:pt x="5136985" y="450977"/>
                  </a:lnTo>
                  <a:lnTo>
                    <a:pt x="5136985" y="899579"/>
                  </a:lnTo>
                  <a:lnTo>
                    <a:pt x="5705386" y="899579"/>
                  </a:lnTo>
                  <a:lnTo>
                    <a:pt x="5705386" y="450977"/>
                  </a:lnTo>
                  <a:close/>
                </a:path>
                <a:path w="6848475" h="1350645">
                  <a:moveTo>
                    <a:pt x="6276162" y="901966"/>
                  </a:moveTo>
                  <a:lnTo>
                    <a:pt x="5707761" y="901966"/>
                  </a:lnTo>
                  <a:lnTo>
                    <a:pt x="5707761" y="1350568"/>
                  </a:lnTo>
                  <a:lnTo>
                    <a:pt x="6276162" y="1350568"/>
                  </a:lnTo>
                  <a:lnTo>
                    <a:pt x="6276162" y="901966"/>
                  </a:lnTo>
                  <a:close/>
                </a:path>
                <a:path w="6848475" h="1350645">
                  <a:moveTo>
                    <a:pt x="6276162" y="450977"/>
                  </a:moveTo>
                  <a:lnTo>
                    <a:pt x="5707761" y="450977"/>
                  </a:lnTo>
                  <a:lnTo>
                    <a:pt x="5707761" y="899579"/>
                  </a:lnTo>
                  <a:lnTo>
                    <a:pt x="6276162" y="899579"/>
                  </a:lnTo>
                  <a:lnTo>
                    <a:pt x="6276162" y="450977"/>
                  </a:lnTo>
                  <a:close/>
                </a:path>
                <a:path w="6848475" h="1350645">
                  <a:moveTo>
                    <a:pt x="6848132" y="901966"/>
                  </a:moveTo>
                  <a:lnTo>
                    <a:pt x="6278537" y="901966"/>
                  </a:lnTo>
                  <a:lnTo>
                    <a:pt x="6278537" y="1350568"/>
                  </a:lnTo>
                  <a:lnTo>
                    <a:pt x="6848132" y="1350568"/>
                  </a:lnTo>
                  <a:lnTo>
                    <a:pt x="6848132" y="901966"/>
                  </a:lnTo>
                  <a:close/>
                </a:path>
                <a:path w="6848475" h="1350645">
                  <a:moveTo>
                    <a:pt x="6848132" y="450977"/>
                  </a:moveTo>
                  <a:lnTo>
                    <a:pt x="6278537" y="450977"/>
                  </a:lnTo>
                  <a:lnTo>
                    <a:pt x="6278537" y="899579"/>
                  </a:lnTo>
                  <a:lnTo>
                    <a:pt x="6848132" y="899579"/>
                  </a:lnTo>
                  <a:lnTo>
                    <a:pt x="6848132" y="450977"/>
                  </a:lnTo>
                  <a:close/>
                </a:path>
                <a:path w="6848475" h="1350645">
                  <a:moveTo>
                    <a:pt x="6848132" y="0"/>
                  </a:moveTo>
                  <a:lnTo>
                    <a:pt x="6278537" y="0"/>
                  </a:lnTo>
                  <a:lnTo>
                    <a:pt x="6278537" y="448602"/>
                  </a:lnTo>
                  <a:lnTo>
                    <a:pt x="6848132" y="448602"/>
                  </a:lnTo>
                  <a:lnTo>
                    <a:pt x="68481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9001" y="5563034"/>
              <a:ext cx="7964170" cy="0"/>
            </a:xfrm>
            <a:custGeom>
              <a:avLst/>
              <a:gdLst/>
              <a:ahLst/>
              <a:cxnLst/>
              <a:rect l="l" t="t" r="r" b="b"/>
              <a:pathLst>
                <a:path w="7964170">
                  <a:moveTo>
                    <a:pt x="0" y="0"/>
                  </a:moveTo>
                  <a:lnTo>
                    <a:pt x="7963731" y="0"/>
                  </a:lnTo>
                </a:path>
              </a:pathLst>
            </a:custGeom>
            <a:ln w="3175">
              <a:solidFill>
                <a:srgbClr val="E7EA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57967" y="1260303"/>
          <a:ext cx="1992629" cy="2057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4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350" i="1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350" i="1" spc="-2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350" i="1" spc="-37" baseline="-6172" dirty="0">
                          <a:latin typeface="Times New Roman"/>
                          <a:cs typeface="Times New Roman"/>
                        </a:rPr>
                        <a:t>i</a:t>
                      </a:r>
                      <a:endParaRPr sz="1350" baseline="-6172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350" i="1" spc="-2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350" i="1" spc="-37" baseline="-6172" dirty="0">
                          <a:latin typeface="Times New Roman"/>
                          <a:cs typeface="Times New Roman"/>
                        </a:rPr>
                        <a:t>i</a:t>
                      </a:r>
                      <a:endParaRPr sz="1350" baseline="-6172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35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238172" y="3450742"/>
            <a:ext cx="11493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latin typeface="Trebuchet MS"/>
                <a:cs typeface="Trebuchet MS"/>
              </a:rPr>
              <a:t>weight</a:t>
            </a:r>
            <a:r>
              <a:rPr sz="1200" b="1" spc="14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limit</a:t>
            </a:r>
            <a:r>
              <a:rPr sz="1200" b="1" spc="140" dirty="0">
                <a:latin typeface="Trebuchet MS"/>
                <a:cs typeface="Trebuchet MS"/>
              </a:rPr>
              <a:t> </a:t>
            </a:r>
            <a:r>
              <a:rPr sz="1200" b="1" spc="40" dirty="0">
                <a:latin typeface="Trebuchet MS"/>
                <a:cs typeface="Trebuchet MS"/>
              </a:rPr>
              <a:t>w</a:t>
            </a:r>
            <a:endParaRPr sz="120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35482" y="3759102"/>
          <a:ext cx="8778231" cy="3155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0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08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08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08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08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08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5085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7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7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2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7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3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7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4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7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5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7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6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7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7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8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7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9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7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spc="-2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10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77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spc="-2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11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775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{</a:t>
                      </a:r>
                      <a:r>
                        <a:rPr sz="1050" spc="34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}</a:t>
                      </a:r>
                      <a:endParaRPr sz="10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4620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{ 1 </a:t>
                      </a:r>
                      <a:r>
                        <a:rPr sz="10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}</a:t>
                      </a:r>
                      <a:endParaRPr sz="10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4620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200" b="1" spc="70" dirty="0">
                          <a:latin typeface="Trebuchet MS"/>
                          <a:cs typeface="Trebuchet MS"/>
                        </a:rPr>
                        <a:t>subset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{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1, 2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}</a:t>
                      </a:r>
                      <a:endParaRPr sz="10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4620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6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7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200" b="1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50" dirty="0">
                          <a:latin typeface="Trebuchet MS"/>
                          <a:cs typeface="Trebuchet MS"/>
                        </a:rPr>
                        <a:t>items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latin typeface="Trebuchet MS"/>
                          <a:cs typeface="Trebuchet MS"/>
                        </a:rPr>
                        <a:t>1,</a:t>
                      </a:r>
                      <a:r>
                        <a:rPr sz="1200" b="1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80" dirty="0">
                          <a:latin typeface="Trebuchet MS"/>
                          <a:cs typeface="Trebuchet MS"/>
                        </a:rPr>
                        <a:t>…,</a:t>
                      </a:r>
                      <a:r>
                        <a:rPr sz="1200" b="1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50" dirty="0">
                          <a:latin typeface="Trebuchet MS"/>
                          <a:cs typeface="Trebuchet MS"/>
                        </a:rPr>
                        <a:t>i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{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1,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2,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3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}</a:t>
                      </a:r>
                      <a:endParaRPr sz="1050">
                        <a:latin typeface="Lucida Sans Unicode"/>
                        <a:cs typeface="Lucida Sans Unicode"/>
                      </a:endParaRPr>
                    </a:p>
                  </a:txBody>
                  <a:tcPr marL="0" marR="0" marT="92075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ct val="100000"/>
                        </a:lnSpc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68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ct val="100000"/>
                        </a:lnSpc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68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ct val="100000"/>
                        </a:lnSpc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6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68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ct val="100000"/>
                        </a:lnSpc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68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ct val="100000"/>
                        </a:lnSpc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68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ct val="100000"/>
                        </a:lnSpc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18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68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ct val="100000"/>
                        </a:lnSpc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19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68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ct val="100000"/>
                        </a:lnSpc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24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68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ct val="100000"/>
                        </a:lnSpc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25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68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ct val="100000"/>
                        </a:lnSpc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25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68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ct val="100000"/>
                        </a:lnSpc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25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68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5085" algn="ctr">
                        <a:lnSpc>
                          <a:spcPct val="100000"/>
                        </a:lnSpc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25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685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{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1,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2,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3,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4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}</a:t>
                      </a:r>
                      <a:endParaRPr sz="10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4620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6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18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22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24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28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29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29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40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{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1,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2,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3,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4,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5</a:t>
                      </a:r>
                      <a:r>
                        <a:rPr sz="105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50" spc="-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}</a:t>
                      </a:r>
                      <a:endParaRPr sz="10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4620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6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18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22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28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29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34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34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50" spc="-25" dirty="0">
                          <a:latin typeface="Lucida Sans Unicode"/>
                          <a:cs typeface="Lucida Sans Unicode"/>
                        </a:rPr>
                        <a:t>40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543328" y="7046343"/>
            <a:ext cx="5172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rebuchet MS"/>
                <a:cs typeface="Trebuchet MS"/>
              </a:rPr>
              <a:t>OPT(i,</a:t>
            </a:r>
            <a:r>
              <a:rPr sz="1200" b="1" spc="8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w)</a:t>
            </a:r>
            <a:r>
              <a:rPr sz="1200" b="1" spc="80" dirty="0">
                <a:latin typeface="Trebuchet MS"/>
                <a:cs typeface="Trebuchet MS"/>
              </a:rPr>
              <a:t> </a:t>
            </a:r>
            <a:r>
              <a:rPr sz="1200" b="1" spc="250" dirty="0">
                <a:latin typeface="Trebuchet MS"/>
                <a:cs typeface="Trebuchet MS"/>
              </a:rPr>
              <a:t>=</a:t>
            </a:r>
            <a:r>
              <a:rPr sz="1200" b="1" spc="80" dirty="0">
                <a:latin typeface="Trebuchet MS"/>
                <a:cs typeface="Trebuchet MS"/>
              </a:rPr>
              <a:t> </a:t>
            </a:r>
            <a:r>
              <a:rPr sz="1200" b="1" spc="75" dirty="0">
                <a:latin typeface="Trebuchet MS"/>
                <a:cs typeface="Trebuchet MS"/>
              </a:rPr>
              <a:t>max</a:t>
            </a:r>
            <a:r>
              <a:rPr sz="1200" b="1" spc="8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profit</a:t>
            </a:r>
            <a:r>
              <a:rPr sz="1200" b="1" spc="85" dirty="0">
                <a:latin typeface="Trebuchet MS"/>
                <a:cs typeface="Trebuchet MS"/>
              </a:rPr>
              <a:t> subset</a:t>
            </a:r>
            <a:r>
              <a:rPr sz="1200" b="1" spc="80" dirty="0">
                <a:latin typeface="Trebuchet MS"/>
                <a:cs typeface="Trebuchet MS"/>
              </a:rPr>
              <a:t> </a:t>
            </a:r>
            <a:r>
              <a:rPr sz="1200" b="1" spc="70" dirty="0">
                <a:latin typeface="Trebuchet MS"/>
                <a:cs typeface="Trebuchet MS"/>
              </a:rPr>
              <a:t>of</a:t>
            </a:r>
            <a:r>
              <a:rPr sz="1200" b="1" spc="80" dirty="0">
                <a:latin typeface="Trebuchet MS"/>
                <a:cs typeface="Trebuchet MS"/>
              </a:rPr>
              <a:t> </a:t>
            </a:r>
            <a:r>
              <a:rPr sz="1200" b="1" spc="65" dirty="0">
                <a:latin typeface="Trebuchet MS"/>
                <a:cs typeface="Trebuchet MS"/>
              </a:rPr>
              <a:t>items</a:t>
            </a:r>
            <a:r>
              <a:rPr sz="1200" b="1" spc="8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1,</a:t>
            </a:r>
            <a:r>
              <a:rPr sz="1200" b="1" spc="80" dirty="0">
                <a:latin typeface="Trebuchet MS"/>
                <a:cs typeface="Trebuchet MS"/>
              </a:rPr>
              <a:t> …,</a:t>
            </a:r>
            <a:r>
              <a:rPr sz="1200" b="1" spc="8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i</a:t>
            </a:r>
            <a:r>
              <a:rPr sz="1200" b="1" spc="80" dirty="0">
                <a:latin typeface="Trebuchet MS"/>
                <a:cs typeface="Trebuchet MS"/>
              </a:rPr>
              <a:t> </a:t>
            </a:r>
            <a:r>
              <a:rPr sz="1200" b="1" spc="50" dirty="0">
                <a:latin typeface="Trebuchet MS"/>
                <a:cs typeface="Trebuchet MS"/>
              </a:rPr>
              <a:t>with</a:t>
            </a:r>
            <a:r>
              <a:rPr sz="1200" b="1" spc="80" dirty="0">
                <a:latin typeface="Trebuchet MS"/>
                <a:cs typeface="Trebuchet MS"/>
              </a:rPr>
              <a:t> </a:t>
            </a:r>
            <a:r>
              <a:rPr sz="1200" b="1" spc="65" dirty="0">
                <a:latin typeface="Trebuchet MS"/>
                <a:cs typeface="Trebuchet MS"/>
              </a:rPr>
              <a:t>weight</a:t>
            </a:r>
            <a:r>
              <a:rPr sz="1200" b="1" spc="8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limit</a:t>
            </a:r>
            <a:r>
              <a:rPr sz="1200" b="1" spc="80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w.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15075" y="1743482"/>
            <a:ext cx="584835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latin typeface="Times New Roman"/>
                <a:cs typeface="Times New Roman"/>
              </a:rPr>
              <a:t>if</a:t>
            </a:r>
            <a:r>
              <a:rPr sz="1550" spc="3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</a:t>
            </a:r>
            <a:r>
              <a:rPr sz="1550" spc="-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Symbol"/>
                <a:cs typeface="Symbol"/>
              </a:rPr>
              <a:t>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-50" dirty="0"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15075" y="2038024"/>
            <a:ext cx="771525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latin typeface="Times New Roman"/>
                <a:cs typeface="Times New Roman"/>
              </a:rPr>
              <a:t>if</a:t>
            </a:r>
            <a:r>
              <a:rPr sz="1550" spc="3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</a:t>
            </a:r>
            <a:r>
              <a:rPr sz="1550" spc="3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Symbol"/>
                <a:cs typeface="Symbol"/>
              </a:rPr>
              <a:t>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50" dirty="0">
                <a:latin typeface="Times New Roman"/>
                <a:cs typeface="Times New Roman"/>
              </a:rPr>
              <a:t>w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10254" y="2306658"/>
            <a:ext cx="197675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50" i="1" dirty="0">
                <a:latin typeface="Times New Roman"/>
                <a:cs typeface="Times New Roman"/>
              </a:rPr>
              <a:t>v</a:t>
            </a:r>
            <a:r>
              <a:rPr sz="1500" i="1" baseline="-22222" dirty="0">
                <a:latin typeface="Times New Roman"/>
                <a:cs typeface="Times New Roman"/>
              </a:rPr>
              <a:t>i</a:t>
            </a:r>
            <a:r>
              <a:rPr sz="1500" i="1" spc="390" baseline="-22222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Symbol"/>
                <a:cs typeface="Symbol"/>
              </a:rPr>
              <a:t></a:t>
            </a:r>
            <a:r>
              <a:rPr sz="1550" spc="385" dirty="0">
                <a:latin typeface="Times New Roman"/>
                <a:cs typeface="Times New Roman"/>
              </a:rPr>
              <a:t> </a:t>
            </a:r>
            <a:r>
              <a:rPr sz="1550" i="1" dirty="0">
                <a:latin typeface="Times New Roman"/>
                <a:cs typeface="Times New Roman"/>
              </a:rPr>
              <a:t>OPT</a:t>
            </a:r>
            <a:r>
              <a:rPr sz="1550" dirty="0">
                <a:latin typeface="Times New Roman"/>
                <a:cs typeface="Times New Roman"/>
              </a:rPr>
              <a:t>(</a:t>
            </a:r>
            <a:r>
              <a:rPr sz="1550" i="1" dirty="0">
                <a:latin typeface="Times New Roman"/>
                <a:cs typeface="Times New Roman"/>
              </a:rPr>
              <a:t>i</a:t>
            </a:r>
            <a:r>
              <a:rPr sz="1550" i="1" spc="-114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Symbol"/>
                <a:cs typeface="Symbol"/>
              </a:rPr>
              <a:t></a:t>
            </a:r>
            <a:r>
              <a:rPr sz="1550" spc="-20" dirty="0">
                <a:latin typeface="Times New Roman"/>
                <a:cs typeface="Times New Roman"/>
              </a:rPr>
              <a:t>1,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i="1" spc="-20" dirty="0">
                <a:latin typeface="Times New Roman"/>
                <a:cs typeface="Times New Roman"/>
              </a:rPr>
              <a:t>w</a:t>
            </a:r>
            <a:r>
              <a:rPr sz="1550" i="1" spc="-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Symbol"/>
                <a:cs typeface="Symbol"/>
              </a:rPr>
              <a:t></a:t>
            </a:r>
            <a:r>
              <a:rPr sz="1550" spc="-105" dirty="0">
                <a:latin typeface="Times New Roman"/>
                <a:cs typeface="Times New Roman"/>
              </a:rPr>
              <a:t> </a:t>
            </a:r>
            <a:r>
              <a:rPr sz="1550" i="1" spc="-10" dirty="0">
                <a:latin typeface="Times New Roman"/>
                <a:cs typeface="Times New Roman"/>
              </a:rPr>
              <a:t>w</a:t>
            </a:r>
            <a:r>
              <a:rPr sz="1500" i="1" spc="-15" baseline="-22222" dirty="0">
                <a:latin typeface="Times New Roman"/>
                <a:cs typeface="Times New Roman"/>
              </a:rPr>
              <a:t>i </a:t>
            </a:r>
            <a:r>
              <a:rPr sz="1550" dirty="0">
                <a:latin typeface="Times New Roman"/>
                <a:cs typeface="Times New Roman"/>
              </a:rPr>
              <a:t>)</a:t>
            </a:r>
            <a:r>
              <a:rPr sz="1550" spc="-220" dirty="0">
                <a:latin typeface="Times New Roman"/>
                <a:cs typeface="Times New Roman"/>
              </a:rPr>
              <a:t> </a:t>
            </a:r>
            <a:r>
              <a:rPr sz="2625" spc="-75" baseline="-4761" dirty="0">
                <a:latin typeface="Symbol"/>
                <a:cs typeface="Symbol"/>
              </a:rPr>
              <a:t></a:t>
            </a:r>
            <a:endParaRPr sz="2625" baseline="-4761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15075" y="2137295"/>
            <a:ext cx="793115" cy="45656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250"/>
              </a:spcBef>
            </a:pPr>
            <a:r>
              <a:rPr sz="1000" spc="-50" dirty="0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550" spc="-10" dirty="0">
                <a:latin typeface="Times New Roman"/>
                <a:cs typeface="Times New Roman"/>
              </a:rPr>
              <a:t>otherwise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59748" y="1649118"/>
            <a:ext cx="2251710" cy="6584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051560">
              <a:lnSpc>
                <a:spcPct val="100000"/>
              </a:lnSpc>
              <a:spcBef>
                <a:spcPts val="700"/>
              </a:spcBef>
            </a:pPr>
            <a:r>
              <a:rPr sz="1550" dirty="0">
                <a:latin typeface="Symbol"/>
                <a:cs typeface="Symbol"/>
              </a:rPr>
              <a:t></a:t>
            </a:r>
            <a:r>
              <a:rPr sz="1550" spc="480" dirty="0">
                <a:latin typeface="Times New Roman"/>
                <a:cs typeface="Times New Roman"/>
              </a:rPr>
              <a:t> </a:t>
            </a:r>
            <a:r>
              <a:rPr sz="2325" spc="-75" baseline="-5376" dirty="0">
                <a:latin typeface="Times New Roman"/>
                <a:cs typeface="Times New Roman"/>
              </a:rPr>
              <a:t>0</a:t>
            </a:r>
            <a:endParaRPr sz="2325" baseline="-5376">
              <a:latin typeface="Times New Roman"/>
              <a:cs typeface="Times New Roman"/>
            </a:endParaRPr>
          </a:p>
          <a:p>
            <a:pPr marL="63500">
              <a:lnSpc>
                <a:spcPts val="960"/>
              </a:lnSpc>
              <a:spcBef>
                <a:spcPts val="595"/>
              </a:spcBef>
            </a:pPr>
            <a:r>
              <a:rPr sz="1550" i="1" dirty="0">
                <a:latin typeface="Times New Roman"/>
                <a:cs typeface="Times New Roman"/>
              </a:rPr>
              <a:t>OPT</a:t>
            </a:r>
            <a:r>
              <a:rPr sz="1550" dirty="0">
                <a:latin typeface="Times New Roman"/>
                <a:cs typeface="Times New Roman"/>
              </a:rPr>
              <a:t>(</a:t>
            </a:r>
            <a:r>
              <a:rPr sz="1550" i="1" dirty="0">
                <a:latin typeface="Times New Roman"/>
                <a:cs typeface="Times New Roman"/>
              </a:rPr>
              <a:t>i</a:t>
            </a:r>
            <a:r>
              <a:rPr sz="1550" dirty="0">
                <a:latin typeface="Times New Roman"/>
                <a:cs typeface="Times New Roman"/>
              </a:rPr>
              <a:t>,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i="1" dirty="0">
                <a:latin typeface="Times New Roman"/>
                <a:cs typeface="Times New Roman"/>
              </a:rPr>
              <a:t>w</a:t>
            </a:r>
            <a:r>
              <a:rPr sz="1550" dirty="0">
                <a:latin typeface="Times New Roman"/>
                <a:cs typeface="Times New Roman"/>
              </a:rPr>
              <a:t>)</a:t>
            </a:r>
            <a:r>
              <a:rPr sz="1550" spc="-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Symbol"/>
                <a:cs typeface="Symbol"/>
              </a:rPr>
              <a:t>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2325" spc="-52" baseline="41218" dirty="0">
                <a:latin typeface="Symbol"/>
                <a:cs typeface="Symbol"/>
              </a:rPr>
              <a:t></a:t>
            </a:r>
            <a:r>
              <a:rPr sz="1550" i="1" spc="-35" dirty="0">
                <a:latin typeface="Times New Roman"/>
                <a:cs typeface="Times New Roman"/>
              </a:rPr>
              <a:t>OPT</a:t>
            </a:r>
            <a:r>
              <a:rPr sz="1550" spc="-35" dirty="0">
                <a:latin typeface="Times New Roman"/>
                <a:cs typeface="Times New Roman"/>
              </a:rPr>
              <a:t>(</a:t>
            </a:r>
            <a:r>
              <a:rPr sz="1550" i="1" spc="-35" dirty="0">
                <a:latin typeface="Times New Roman"/>
                <a:cs typeface="Times New Roman"/>
              </a:rPr>
              <a:t>i</a:t>
            </a:r>
            <a:r>
              <a:rPr sz="1550" i="1" spc="-8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Symbol"/>
                <a:cs typeface="Symbol"/>
              </a:rPr>
              <a:t></a:t>
            </a:r>
            <a:r>
              <a:rPr sz="1550" spc="-20" dirty="0">
                <a:latin typeface="Times New Roman"/>
                <a:cs typeface="Times New Roman"/>
              </a:rPr>
              <a:t>1,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i="1" spc="-25" dirty="0">
                <a:latin typeface="Times New Roman"/>
                <a:cs typeface="Times New Roman"/>
              </a:rPr>
              <a:t>w</a:t>
            </a:r>
            <a:r>
              <a:rPr sz="1550" spc="-25" dirty="0">
                <a:latin typeface="Times New Roman"/>
                <a:cs typeface="Times New Roman"/>
              </a:rPr>
              <a:t>)</a:t>
            </a:r>
            <a:endParaRPr sz="1550">
              <a:latin typeface="Times New Roman"/>
              <a:cs typeface="Times New Roman"/>
            </a:endParaRPr>
          </a:p>
          <a:p>
            <a:pPr marL="1051560">
              <a:lnSpc>
                <a:spcPts val="960"/>
              </a:lnSpc>
            </a:pPr>
            <a:r>
              <a:rPr sz="1550" spc="-50" dirty="0">
                <a:latin typeface="Symbol"/>
                <a:cs typeface="Symbol"/>
              </a:rPr>
              <a:t>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98856" y="2366657"/>
            <a:ext cx="123189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50" dirty="0">
                <a:latin typeface="Symbol"/>
                <a:cs typeface="Symbol"/>
              </a:rPr>
              <a:t>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73456" y="2306658"/>
            <a:ext cx="173799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25" spc="-112" baseline="25089" dirty="0">
                <a:latin typeface="Symbol"/>
                <a:cs typeface="Symbol"/>
              </a:rPr>
              <a:t></a:t>
            </a:r>
            <a:r>
              <a:rPr sz="1550" spc="-75" dirty="0">
                <a:latin typeface="Times New Roman"/>
                <a:cs typeface="Times New Roman"/>
              </a:rPr>
              <a:t>max</a:t>
            </a:r>
            <a:r>
              <a:rPr sz="2625" spc="-112" baseline="-4761" dirty="0">
                <a:latin typeface="Symbol"/>
                <a:cs typeface="Symbol"/>
              </a:rPr>
              <a:t></a:t>
            </a:r>
            <a:r>
              <a:rPr sz="2625" spc="-217" baseline="-4761" dirty="0">
                <a:latin typeface="Times New Roman"/>
                <a:cs typeface="Times New Roman"/>
              </a:rPr>
              <a:t> </a:t>
            </a:r>
            <a:r>
              <a:rPr sz="1550" i="1" dirty="0">
                <a:latin typeface="Times New Roman"/>
                <a:cs typeface="Times New Roman"/>
              </a:rPr>
              <a:t>OPT</a:t>
            </a:r>
            <a:r>
              <a:rPr sz="1550" dirty="0">
                <a:latin typeface="Times New Roman"/>
                <a:cs typeface="Times New Roman"/>
              </a:rPr>
              <a:t>(</a:t>
            </a:r>
            <a:r>
              <a:rPr sz="1550" i="1" dirty="0">
                <a:latin typeface="Times New Roman"/>
                <a:cs typeface="Times New Roman"/>
              </a:rPr>
              <a:t>i</a:t>
            </a:r>
            <a:r>
              <a:rPr sz="1550" i="1" spc="-7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Symbol"/>
                <a:cs typeface="Symbol"/>
              </a:rPr>
              <a:t></a:t>
            </a:r>
            <a:r>
              <a:rPr sz="1550" spc="-20" dirty="0">
                <a:latin typeface="Times New Roman"/>
                <a:cs typeface="Times New Roman"/>
              </a:rPr>
              <a:t>1,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i="1" spc="-25" dirty="0">
                <a:latin typeface="Times New Roman"/>
                <a:cs typeface="Times New Roman"/>
              </a:rPr>
              <a:t>w</a:t>
            </a:r>
            <a:r>
              <a:rPr sz="1550" spc="-25" dirty="0">
                <a:latin typeface="Times New Roman"/>
                <a:cs typeface="Times New Roman"/>
              </a:rPr>
              <a:t>),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799904" y="6347154"/>
            <a:ext cx="92075" cy="92075"/>
          </a:xfrm>
          <a:custGeom>
            <a:avLst/>
            <a:gdLst/>
            <a:ahLst/>
            <a:cxnLst/>
            <a:rect l="l" t="t" r="r" b="b"/>
            <a:pathLst>
              <a:path w="92075" h="92075">
                <a:moveTo>
                  <a:pt x="45779" y="0"/>
                </a:moveTo>
                <a:lnTo>
                  <a:pt x="0" y="91558"/>
                </a:lnTo>
                <a:lnTo>
                  <a:pt x="91559" y="91558"/>
                </a:lnTo>
                <a:lnTo>
                  <a:pt x="45779" y="0"/>
                </a:lnTo>
                <a:close/>
              </a:path>
            </a:pathLst>
          </a:custGeom>
          <a:solidFill>
            <a:srgbClr val="8D3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83371" y="5766353"/>
            <a:ext cx="97155" cy="90805"/>
          </a:xfrm>
          <a:custGeom>
            <a:avLst/>
            <a:gdLst/>
            <a:ahLst/>
            <a:cxnLst/>
            <a:rect l="l" t="t" r="r" b="b"/>
            <a:pathLst>
              <a:path w="97154" h="90804">
                <a:moveTo>
                  <a:pt x="96668" y="0"/>
                </a:moveTo>
                <a:lnTo>
                  <a:pt x="0" y="33674"/>
                </a:lnTo>
                <a:lnTo>
                  <a:pt x="84941" y="90805"/>
                </a:lnTo>
                <a:lnTo>
                  <a:pt x="96668" y="0"/>
                </a:lnTo>
                <a:close/>
              </a:path>
            </a:pathLst>
          </a:custGeom>
          <a:solidFill>
            <a:srgbClr val="8D3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74852" y="5327846"/>
            <a:ext cx="6071235" cy="1226185"/>
          </a:xfrm>
          <a:custGeom>
            <a:avLst/>
            <a:gdLst/>
            <a:ahLst/>
            <a:cxnLst/>
            <a:rect l="l" t="t" r="r" b="b"/>
            <a:pathLst>
              <a:path w="6071234" h="1226184">
                <a:moveTo>
                  <a:pt x="6070832" y="1225714"/>
                </a:moveTo>
                <a:lnTo>
                  <a:pt x="6070832" y="1110866"/>
                </a:lnTo>
                <a:lnTo>
                  <a:pt x="6070832" y="1101328"/>
                </a:lnTo>
              </a:path>
              <a:path w="6071234" h="1226184">
                <a:moveTo>
                  <a:pt x="5927063" y="874952"/>
                </a:moveTo>
                <a:lnTo>
                  <a:pt x="2899328" y="483910"/>
                </a:lnTo>
                <a:lnTo>
                  <a:pt x="2889865" y="482687"/>
                </a:lnTo>
              </a:path>
              <a:path w="6071234" h="1226184">
                <a:moveTo>
                  <a:pt x="2475232" y="433420"/>
                </a:moveTo>
                <a:lnTo>
                  <a:pt x="9401" y="1647"/>
                </a:lnTo>
                <a:lnTo>
                  <a:pt x="0" y="0"/>
                </a:lnTo>
              </a:path>
            </a:pathLst>
          </a:custGeom>
          <a:ln w="19074">
            <a:solidFill>
              <a:srgbClr val="8D3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94059" y="5284397"/>
            <a:ext cx="98425" cy="90805"/>
          </a:xfrm>
          <a:custGeom>
            <a:avLst/>
            <a:gdLst/>
            <a:ahLst/>
            <a:cxnLst/>
            <a:rect l="l" t="t" r="r" b="b"/>
            <a:pathLst>
              <a:path w="98425" h="90804">
                <a:moveTo>
                  <a:pt x="98083" y="0"/>
                </a:moveTo>
                <a:lnTo>
                  <a:pt x="0" y="29302"/>
                </a:lnTo>
                <a:lnTo>
                  <a:pt x="82292" y="90187"/>
                </a:lnTo>
                <a:lnTo>
                  <a:pt x="98083" y="0"/>
                </a:lnTo>
                <a:close/>
              </a:path>
            </a:pathLst>
          </a:custGeom>
          <a:solidFill>
            <a:srgbClr val="8D3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2524293" y="4560243"/>
            <a:ext cx="92075" cy="207010"/>
            <a:chOff x="2524293" y="4560243"/>
            <a:chExt cx="92075" cy="207010"/>
          </a:xfrm>
        </p:grpSpPr>
        <p:sp>
          <p:nvSpPr>
            <p:cNvPr id="23" name="object 23"/>
            <p:cNvSpPr/>
            <p:nvPr/>
          </p:nvSpPr>
          <p:spPr>
            <a:xfrm>
              <a:off x="2570074" y="4642266"/>
              <a:ext cx="0" cy="124460"/>
            </a:xfrm>
            <a:custGeom>
              <a:avLst/>
              <a:gdLst/>
              <a:ahLst/>
              <a:cxnLst/>
              <a:rect l="l" t="t" r="r" b="b"/>
              <a:pathLst>
                <a:path h="124460">
                  <a:moveTo>
                    <a:pt x="0" y="124385"/>
                  </a:moveTo>
                  <a:lnTo>
                    <a:pt x="0" y="9537"/>
                  </a:lnTo>
                  <a:lnTo>
                    <a:pt x="0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24293" y="4560243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45779" y="0"/>
                  </a:moveTo>
                  <a:lnTo>
                    <a:pt x="0" y="91559"/>
                  </a:lnTo>
                  <a:lnTo>
                    <a:pt x="91559" y="91559"/>
                  </a:lnTo>
                  <a:lnTo>
                    <a:pt x="4577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2524293" y="5018039"/>
            <a:ext cx="92075" cy="207010"/>
            <a:chOff x="2524293" y="5018039"/>
            <a:chExt cx="92075" cy="207010"/>
          </a:xfrm>
        </p:grpSpPr>
        <p:sp>
          <p:nvSpPr>
            <p:cNvPr id="26" name="object 26"/>
            <p:cNvSpPr/>
            <p:nvPr/>
          </p:nvSpPr>
          <p:spPr>
            <a:xfrm>
              <a:off x="2570074" y="5100060"/>
              <a:ext cx="0" cy="124460"/>
            </a:xfrm>
            <a:custGeom>
              <a:avLst/>
              <a:gdLst/>
              <a:ahLst/>
              <a:cxnLst/>
              <a:rect l="l" t="t" r="r" b="b"/>
              <a:pathLst>
                <a:path h="124460">
                  <a:moveTo>
                    <a:pt x="0" y="124386"/>
                  </a:moveTo>
                  <a:lnTo>
                    <a:pt x="0" y="9538"/>
                  </a:lnTo>
                  <a:lnTo>
                    <a:pt x="0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24293" y="5018039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45779" y="0"/>
                  </a:moveTo>
                  <a:lnTo>
                    <a:pt x="0" y="91559"/>
                  </a:lnTo>
                  <a:lnTo>
                    <a:pt x="91559" y="91559"/>
                  </a:lnTo>
                  <a:lnTo>
                    <a:pt x="4577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8713726" y="6564663"/>
            <a:ext cx="264160" cy="264160"/>
          </a:xfrm>
          <a:custGeom>
            <a:avLst/>
            <a:gdLst/>
            <a:ahLst/>
            <a:cxnLst/>
            <a:rect l="l" t="t" r="r" b="b"/>
            <a:pathLst>
              <a:path w="264159" h="264159">
                <a:moveTo>
                  <a:pt x="226374" y="37543"/>
                </a:moveTo>
                <a:lnTo>
                  <a:pt x="251403" y="72199"/>
                </a:lnTo>
                <a:lnTo>
                  <a:pt x="263918" y="111520"/>
                </a:lnTo>
                <a:lnTo>
                  <a:pt x="263918" y="152397"/>
                </a:lnTo>
                <a:lnTo>
                  <a:pt x="251403" y="191718"/>
                </a:lnTo>
                <a:lnTo>
                  <a:pt x="226374" y="226374"/>
                </a:lnTo>
                <a:lnTo>
                  <a:pt x="191718" y="251403"/>
                </a:lnTo>
                <a:lnTo>
                  <a:pt x="152397" y="263918"/>
                </a:lnTo>
                <a:lnTo>
                  <a:pt x="111520" y="263918"/>
                </a:lnTo>
                <a:lnTo>
                  <a:pt x="72199" y="251403"/>
                </a:lnTo>
                <a:lnTo>
                  <a:pt x="37543" y="226374"/>
                </a:lnTo>
                <a:lnTo>
                  <a:pt x="12514" y="191718"/>
                </a:lnTo>
                <a:lnTo>
                  <a:pt x="0" y="152397"/>
                </a:lnTo>
                <a:lnTo>
                  <a:pt x="0" y="111520"/>
                </a:lnTo>
                <a:lnTo>
                  <a:pt x="12514" y="72199"/>
                </a:lnTo>
                <a:lnTo>
                  <a:pt x="37543" y="37543"/>
                </a:lnTo>
                <a:lnTo>
                  <a:pt x="72199" y="12514"/>
                </a:lnTo>
                <a:lnTo>
                  <a:pt x="111520" y="0"/>
                </a:lnTo>
                <a:lnTo>
                  <a:pt x="152397" y="0"/>
                </a:lnTo>
                <a:lnTo>
                  <a:pt x="191718" y="12514"/>
                </a:lnTo>
                <a:lnTo>
                  <a:pt x="226374" y="37543"/>
                </a:lnTo>
              </a:path>
            </a:pathLst>
          </a:custGeom>
          <a:ln w="19074">
            <a:solidFill>
              <a:srgbClr val="8D3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4034154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4760" algn="l"/>
              </a:tabLst>
            </a:pPr>
            <a:r>
              <a:rPr dirty="0"/>
              <a:t>Knapsack</a:t>
            </a:r>
            <a:r>
              <a:rPr spc="100" dirty="0"/>
              <a:t> </a:t>
            </a:r>
            <a:r>
              <a:rPr spc="-10" dirty="0"/>
              <a:t>problem:</a:t>
            </a:r>
            <a:r>
              <a:rPr dirty="0"/>
              <a:t>	running</a:t>
            </a:r>
            <a:r>
              <a:rPr spc="250" dirty="0"/>
              <a:t> </a:t>
            </a:r>
            <a:r>
              <a:rPr spc="-20"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5267" y="1131247"/>
            <a:ext cx="8310880" cy="7505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121475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There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exists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solve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knapsack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problem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latin typeface="Lucida Sans Unicode"/>
                <a:cs typeface="Lucida Sans Unicode"/>
              </a:rPr>
              <a:t>items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maximum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weight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i="1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65" dirty="0">
                <a:latin typeface="Times New Roman"/>
                <a:cs typeface="Times New Roman"/>
              </a:rPr>
              <a:t>Θ(</a:t>
            </a:r>
            <a:r>
              <a:rPr sz="1800" i="1" spc="65" dirty="0">
                <a:latin typeface="Times New Roman"/>
                <a:cs typeface="Times New Roman"/>
              </a:rPr>
              <a:t>n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and</a:t>
            </a:r>
            <a:r>
              <a:rPr sz="1800" spc="-114" dirty="0">
                <a:latin typeface="Lucida Sans Unicode"/>
                <a:cs typeface="Lucida Sans Unicode"/>
              </a:rPr>
              <a:t> </a:t>
            </a:r>
            <a:r>
              <a:rPr sz="1800" spc="65" dirty="0">
                <a:latin typeface="Times New Roman"/>
                <a:cs typeface="Times New Roman"/>
              </a:rPr>
              <a:t>Θ(</a:t>
            </a:r>
            <a:r>
              <a:rPr sz="1800" i="1" spc="65" dirty="0">
                <a:latin typeface="Times New Roman"/>
                <a:cs typeface="Times New Roman"/>
              </a:rPr>
              <a:t>n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space.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1943833"/>
            <a:ext cx="3086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241" y="2168916"/>
            <a:ext cx="3896995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spc="-20" dirty="0">
                <a:latin typeface="Lucida Sans Unicode"/>
                <a:cs typeface="Lucida Sans Unicode"/>
              </a:rPr>
              <a:t>Takes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(1)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per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table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entry.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5241" y="2531337"/>
            <a:ext cx="3777615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There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65" dirty="0">
                <a:latin typeface="Times New Roman"/>
                <a:cs typeface="Times New Roman"/>
              </a:rPr>
              <a:t>Θ(</a:t>
            </a:r>
            <a:r>
              <a:rPr sz="1800" i="1" spc="65" dirty="0">
                <a:latin typeface="Times New Roman"/>
                <a:cs typeface="Times New Roman"/>
              </a:rPr>
              <a:t>n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spc="-1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table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entries.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5241" y="2797317"/>
            <a:ext cx="7558405" cy="89661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81000" marR="30480" indent="-343535">
              <a:lnSpc>
                <a:spcPct val="114100"/>
              </a:lnSpc>
              <a:spcBef>
                <a:spcPts val="409"/>
              </a:spcBef>
              <a:tabLst>
                <a:tab pos="5636260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After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computing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optimal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values,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can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trace back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solution: </a:t>
            </a:r>
            <a:r>
              <a:rPr sz="1800" dirty="0">
                <a:latin typeface="Lucida Sans Unicode"/>
                <a:cs typeface="Lucida Sans Unicode"/>
              </a:rPr>
              <a:t>take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item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dirty="0">
                <a:latin typeface="Times New Roman"/>
                <a:cs typeface="Times New Roman"/>
              </a:rPr>
              <a:t>]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 </a:t>
            </a:r>
            <a:r>
              <a:rPr sz="1800" i="1" spc="-25" dirty="0">
                <a:latin typeface="Times New Roman"/>
                <a:cs typeface="Times New Roman"/>
              </a:rPr>
              <a:t>w</a:t>
            </a:r>
            <a:r>
              <a:rPr sz="1800" spc="-25" dirty="0">
                <a:latin typeface="Times New Roman"/>
                <a:cs typeface="Times New Roman"/>
              </a:rPr>
              <a:t>]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spc="-50" dirty="0">
                <a:latin typeface="Lucida Sans Unicode"/>
                <a:cs typeface="Lucida Sans Unicode"/>
              </a:rPr>
              <a:t>▪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267" y="4843204"/>
            <a:ext cx="10547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241" y="5068287"/>
            <a:ext cx="3639820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Not polynomial in input </a:t>
            </a:r>
            <a:r>
              <a:rPr sz="1800" spc="-10" dirty="0">
                <a:latin typeface="Lucida Sans Unicode"/>
                <a:cs typeface="Lucida Sans Unicode"/>
              </a:rPr>
              <a:t>size!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5241" y="5430708"/>
            <a:ext cx="7924800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6538595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Decision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version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knapsack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problem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20" dirty="0">
                <a:latin typeface="Lucida Sans Unicode"/>
                <a:cs typeface="Lucida Sans Unicode"/>
              </a:rPr>
              <a:t>NP-</a:t>
            </a:r>
            <a:r>
              <a:rPr sz="1800" spc="-10" dirty="0">
                <a:latin typeface="Lucida Sans Unicode"/>
                <a:cs typeface="Lucida Sans Unicode"/>
              </a:rPr>
              <a:t>C</a:t>
            </a:r>
            <a:r>
              <a:rPr sz="1450" spc="-10" dirty="0">
                <a:latin typeface="Lucida Sans Unicode"/>
                <a:cs typeface="Lucida Sans Unicode"/>
              </a:rPr>
              <a:t>OMPLETE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[</a:t>
            </a:r>
            <a:r>
              <a:rPr sz="1800" spc="-3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C</a:t>
            </a:r>
            <a:r>
              <a:rPr sz="1450" dirty="0">
                <a:solidFill>
                  <a:srgbClr val="606060"/>
                </a:solidFill>
                <a:latin typeface="Lucida Sans Unicode"/>
                <a:cs typeface="Lucida Sans Unicode"/>
              </a:rPr>
              <a:t>HAPTER</a:t>
            </a:r>
            <a:r>
              <a:rPr sz="145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8</a:t>
            </a:r>
            <a:r>
              <a:rPr sz="18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]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5241" y="5696687"/>
            <a:ext cx="8487410" cy="89661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81000" marR="30480" indent="-343535">
              <a:lnSpc>
                <a:spcPct val="114100"/>
              </a:lnSpc>
              <a:spcBef>
                <a:spcPts val="409"/>
              </a:spcBef>
              <a:tabLst>
                <a:tab pos="4159885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There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exists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-55" dirty="0">
                <a:latin typeface="Lucida Sans Unicode"/>
                <a:cs typeface="Lucida Sans Unicode"/>
              </a:rPr>
              <a:t>poly-</a:t>
            </a:r>
            <a:r>
              <a:rPr sz="1800" spc="-20" dirty="0">
                <a:latin typeface="Lucida Sans Unicode"/>
                <a:cs typeface="Lucida Sans Unicode"/>
              </a:rPr>
              <a:t>time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produces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feasible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solution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that </a:t>
            </a:r>
            <a:r>
              <a:rPr sz="1800" dirty="0">
                <a:latin typeface="Lucida Sans Unicode"/>
                <a:cs typeface="Lucida Sans Unicode"/>
              </a:rPr>
              <a:t>has</a:t>
            </a:r>
            <a:r>
              <a:rPr sz="1800" spc="3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value</a:t>
            </a:r>
            <a:r>
              <a:rPr sz="1800" spc="4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within</a:t>
            </a:r>
            <a:r>
              <a:rPr sz="1800" spc="4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1%</a:t>
            </a:r>
            <a:r>
              <a:rPr sz="1800" spc="4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4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optimum.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[</a:t>
            </a:r>
            <a:r>
              <a:rPr sz="1800" spc="-3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S</a:t>
            </a:r>
            <a:r>
              <a:rPr sz="1450" dirty="0">
                <a:solidFill>
                  <a:srgbClr val="606060"/>
                </a:solidFill>
                <a:latin typeface="Lucida Sans Unicode"/>
                <a:cs typeface="Lucida Sans Unicode"/>
              </a:rPr>
              <a:t>ECTION</a:t>
            </a:r>
            <a:r>
              <a:rPr sz="145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11.8</a:t>
            </a:r>
            <a:r>
              <a:rPr sz="1800" spc="-13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]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66015" y="2039207"/>
            <a:ext cx="1533525" cy="3994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635" marR="5080" indent="-115570">
              <a:lnSpc>
                <a:spcPct val="104299"/>
              </a:lnSpc>
              <a:spcBef>
                <a:spcPts val="4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weights</a:t>
            </a:r>
            <a:r>
              <a:rPr sz="12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are</a:t>
            </a:r>
            <a:r>
              <a:rPr sz="1200" spc="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integers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between</a:t>
            </a:r>
            <a:r>
              <a:rPr sz="12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r>
              <a:rPr sz="1200" spc="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and</a:t>
            </a:r>
            <a:r>
              <a:rPr sz="1200" spc="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W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059335" y="1927920"/>
            <a:ext cx="321310" cy="201930"/>
            <a:chOff x="5059335" y="1927920"/>
            <a:chExt cx="321310" cy="201930"/>
          </a:xfrm>
        </p:grpSpPr>
        <p:sp>
          <p:nvSpPr>
            <p:cNvPr id="15" name="object 15"/>
            <p:cNvSpPr/>
            <p:nvPr/>
          </p:nvSpPr>
          <p:spPr>
            <a:xfrm>
              <a:off x="5109650" y="1958987"/>
              <a:ext cx="260985" cy="161290"/>
            </a:xfrm>
            <a:custGeom>
              <a:avLst/>
              <a:gdLst/>
              <a:ahLst/>
              <a:cxnLst/>
              <a:rect l="l" t="t" r="r" b="b"/>
              <a:pathLst>
                <a:path w="260985" h="161289">
                  <a:moveTo>
                    <a:pt x="0" y="0"/>
                  </a:moveTo>
                  <a:lnTo>
                    <a:pt x="8115" y="5010"/>
                  </a:lnTo>
                  <a:lnTo>
                    <a:pt x="260913" y="161103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59335" y="1927920"/>
              <a:ext cx="102235" cy="87630"/>
            </a:xfrm>
            <a:custGeom>
              <a:avLst/>
              <a:gdLst/>
              <a:ahLst/>
              <a:cxnLst/>
              <a:rect l="l" t="t" r="r" b="b"/>
              <a:pathLst>
                <a:path w="102235" h="87630">
                  <a:moveTo>
                    <a:pt x="0" y="0"/>
                  </a:moveTo>
                  <a:lnTo>
                    <a:pt x="53854" y="87054"/>
                  </a:lnTo>
                  <a:lnTo>
                    <a:pt x="58428" y="36076"/>
                  </a:lnTo>
                  <a:lnTo>
                    <a:pt x="101956" y="9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164021" y="5243774"/>
            <a:ext cx="15563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"pseudo-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polynomial"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11076" y="5326566"/>
            <a:ext cx="407034" cy="92075"/>
            <a:chOff x="4611076" y="5326566"/>
            <a:chExt cx="407034" cy="92075"/>
          </a:xfrm>
        </p:grpSpPr>
        <p:sp>
          <p:nvSpPr>
            <p:cNvPr id="19" name="object 19"/>
            <p:cNvSpPr/>
            <p:nvPr/>
          </p:nvSpPr>
          <p:spPr>
            <a:xfrm>
              <a:off x="4670209" y="5372346"/>
              <a:ext cx="347980" cy="0"/>
            </a:xfrm>
            <a:custGeom>
              <a:avLst/>
              <a:gdLst/>
              <a:ahLst/>
              <a:cxnLst/>
              <a:rect l="l" t="t" r="r" b="b"/>
              <a:pathLst>
                <a:path w="347979">
                  <a:moveTo>
                    <a:pt x="0" y="0"/>
                  </a:moveTo>
                  <a:lnTo>
                    <a:pt x="9537" y="0"/>
                  </a:lnTo>
                  <a:lnTo>
                    <a:pt x="347470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11076" y="5326566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9"/>
                  </a:lnTo>
                  <a:lnTo>
                    <a:pt x="91559" y="91559"/>
                  </a:lnTo>
                  <a:lnTo>
                    <a:pt x="68670" y="45779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936" y="1527350"/>
            <a:ext cx="3337560" cy="3832225"/>
            <a:chOff x="640936" y="1527350"/>
            <a:chExt cx="3337560" cy="3832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6" y="1527350"/>
              <a:ext cx="3337527" cy="38320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8"/>
              <a:ext cx="552411" cy="60610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>
                <a:moveTo>
                  <a:pt x="0" y="0"/>
                </a:moveTo>
                <a:lnTo>
                  <a:pt x="4892688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73707" y="5444059"/>
            <a:ext cx="10826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cap="small" spc="85" dirty="0">
                <a:latin typeface="Trebuchet MS"/>
                <a:cs typeface="Trebuchet MS"/>
              </a:rPr>
              <a:t>Section</a:t>
            </a:r>
            <a:r>
              <a:rPr sz="1500" b="1" cap="small" spc="65" dirty="0">
                <a:latin typeface="Trebuchet MS"/>
                <a:cs typeface="Trebuchet MS"/>
              </a:rPr>
              <a:t> </a:t>
            </a:r>
            <a:r>
              <a:rPr sz="1500" b="1" cap="small" spc="-45" dirty="0">
                <a:latin typeface="Trebuchet MS"/>
                <a:cs typeface="Trebuchet MS"/>
              </a:rPr>
              <a:t>6.5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478385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latin typeface="Tahoma"/>
                <a:cs typeface="Tahoma"/>
              </a:rPr>
              <a:t>6.</a:t>
            </a:r>
            <a:r>
              <a:rPr sz="2700" b="1" cap="small" dirty="0">
                <a:latin typeface="Tahoma"/>
                <a:cs typeface="Tahoma"/>
              </a:rPr>
              <a:t>	</a:t>
            </a:r>
            <a:r>
              <a:rPr sz="2700" b="1" cap="small" spc="-60" dirty="0">
                <a:latin typeface="Tahoma"/>
                <a:cs typeface="Tahoma"/>
              </a:rPr>
              <a:t>Dynamic</a:t>
            </a:r>
            <a:r>
              <a:rPr sz="2700" b="1" cap="small" spc="-10" dirty="0">
                <a:latin typeface="Tahoma"/>
                <a:cs typeface="Tahoma"/>
              </a:rPr>
              <a:t> </a:t>
            </a:r>
            <a:r>
              <a:rPr sz="2700" b="1" cap="small" spc="-50" dirty="0">
                <a:latin typeface="Tahoma"/>
                <a:cs typeface="Tahoma"/>
              </a:rPr>
              <a:t>Programming</a:t>
            </a:r>
            <a:r>
              <a:rPr sz="2700" b="1" cap="small" spc="-10" dirty="0">
                <a:latin typeface="Tahoma"/>
                <a:cs typeface="Tahoma"/>
              </a:rPr>
              <a:t> </a:t>
            </a:r>
            <a:r>
              <a:rPr sz="2700" b="1" cap="small" spc="-940" dirty="0">
                <a:latin typeface="Tahoma"/>
                <a:cs typeface="Tahoma"/>
              </a:rPr>
              <a:t>I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541" y="2115505"/>
            <a:ext cx="3691254" cy="193293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04" dirty="0">
                <a:solidFill>
                  <a:srgbClr val="D5D5D5"/>
                </a:solidFill>
                <a:latin typeface="Verdana"/>
                <a:cs typeface="Verdana"/>
              </a:rPr>
              <a:t>weighted</a:t>
            </a:r>
            <a:r>
              <a:rPr sz="2250" i="1" spc="-14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D5D5D5"/>
                </a:solidFill>
                <a:latin typeface="Verdana"/>
                <a:cs typeface="Verdana"/>
              </a:rPr>
              <a:t>interval</a:t>
            </a:r>
            <a:r>
              <a:rPr sz="2250" i="1" spc="-13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D5D5D5"/>
                </a:solidFill>
                <a:latin typeface="Verdana"/>
                <a:cs typeface="Verdana"/>
              </a:rPr>
              <a:t>scheduling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80" dirty="0">
                <a:solidFill>
                  <a:srgbClr val="D5D5D5"/>
                </a:solidFill>
                <a:latin typeface="Verdana"/>
                <a:cs typeface="Verdana"/>
              </a:rPr>
              <a:t>segmented</a:t>
            </a:r>
            <a:r>
              <a:rPr sz="2250" i="1" spc="-10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35" dirty="0">
                <a:solidFill>
                  <a:srgbClr val="D5D5D5"/>
                </a:solidFill>
                <a:latin typeface="Verdana"/>
                <a:cs typeface="Verdana"/>
              </a:rPr>
              <a:t>least</a:t>
            </a:r>
            <a:r>
              <a:rPr sz="2250" i="1" spc="-10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70" dirty="0">
                <a:solidFill>
                  <a:srgbClr val="D5D5D5"/>
                </a:solidFill>
                <a:latin typeface="Verdana"/>
                <a:cs typeface="Verdana"/>
              </a:rPr>
              <a:t>squares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220" dirty="0">
                <a:solidFill>
                  <a:srgbClr val="D5D5D5"/>
                </a:solidFill>
                <a:latin typeface="Verdana"/>
                <a:cs typeface="Verdana"/>
              </a:rPr>
              <a:t>knapsack</a:t>
            </a:r>
            <a:r>
              <a:rPr sz="2250" i="1" spc="-6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70" dirty="0">
                <a:solidFill>
                  <a:srgbClr val="D5D5D5"/>
                </a:solidFill>
                <a:latin typeface="Verdana"/>
                <a:cs typeface="Verdana"/>
              </a:rPr>
              <a:t>problem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0"/>
              </a:spcBef>
              <a:buFont typeface="Lucida Sans Unicode"/>
              <a:buChar char="‣"/>
              <a:tabLst>
                <a:tab pos="250825" algn="l"/>
              </a:tabLst>
            </a:pPr>
            <a:r>
              <a:rPr sz="2250" i="1" spc="-85" dirty="0">
                <a:latin typeface="Verdana"/>
                <a:cs typeface="Verdana"/>
              </a:rPr>
              <a:t>RNA</a:t>
            </a:r>
            <a:r>
              <a:rPr sz="2250" i="1" spc="-125" dirty="0">
                <a:latin typeface="Verdana"/>
                <a:cs typeface="Verdana"/>
              </a:rPr>
              <a:t> </a:t>
            </a:r>
            <a:r>
              <a:rPr sz="2250" i="1" spc="-200" dirty="0">
                <a:latin typeface="Verdana"/>
                <a:cs typeface="Verdana"/>
              </a:rPr>
              <a:t>secondary</a:t>
            </a:r>
            <a:r>
              <a:rPr sz="2250" i="1" spc="-120" dirty="0">
                <a:latin typeface="Verdana"/>
                <a:cs typeface="Verdana"/>
              </a:rPr>
              <a:t> </a:t>
            </a:r>
            <a:r>
              <a:rPr sz="2250" i="1" spc="-275" dirty="0">
                <a:latin typeface="Verdana"/>
                <a:cs typeface="Verdana"/>
              </a:rPr>
              <a:t>structure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RNA</a:t>
            </a:r>
            <a:r>
              <a:rPr spc="190" dirty="0"/>
              <a:t> </a:t>
            </a:r>
            <a:r>
              <a:rPr dirty="0"/>
              <a:t>secondary</a:t>
            </a:r>
            <a:r>
              <a:rPr spc="19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167" y="1218991"/>
            <a:ext cx="8212455" cy="1750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39775" algn="l"/>
              </a:tabLst>
            </a:pP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RNA.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String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baseline="-18518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…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baseline="-18518" dirty="0">
                <a:latin typeface="Times New Roman"/>
                <a:cs typeface="Times New Roman"/>
              </a:rPr>
              <a:t>n</a:t>
            </a:r>
            <a:r>
              <a:rPr sz="1800" spc="390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over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alphabet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}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94615" marR="17780" indent="-44450">
              <a:lnSpc>
                <a:spcPct val="132100"/>
              </a:lnSpc>
              <a:tabLst>
                <a:tab pos="248666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Secondary</a:t>
            </a:r>
            <a:r>
              <a:rPr sz="1800" spc="8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structure.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RNA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 </a:t>
            </a:r>
            <a:r>
              <a:rPr sz="1800" spc="-45" dirty="0">
                <a:latin typeface="Lucida Sans Unicode"/>
                <a:cs typeface="Lucida Sans Unicode"/>
              </a:rPr>
              <a:t>single-</a:t>
            </a:r>
            <a:r>
              <a:rPr sz="1800" spc="-30" dirty="0">
                <a:latin typeface="Lucida Sans Unicode"/>
                <a:cs typeface="Lucida Sans Unicode"/>
              </a:rPr>
              <a:t>stranded</a:t>
            </a:r>
            <a:r>
              <a:rPr sz="1800" dirty="0">
                <a:latin typeface="Lucida Sans Unicode"/>
                <a:cs typeface="Lucida Sans Unicode"/>
              </a:rPr>
              <a:t> so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it tends to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loop back </a:t>
            </a:r>
            <a:r>
              <a:rPr sz="1800" spc="-25" dirty="0">
                <a:latin typeface="Lucida Sans Unicode"/>
                <a:cs typeface="Lucida Sans Unicode"/>
              </a:rPr>
              <a:t>and </a:t>
            </a:r>
            <a:r>
              <a:rPr sz="1800" dirty="0">
                <a:latin typeface="Lucida Sans Unicode"/>
                <a:cs typeface="Lucida Sans Unicode"/>
              </a:rPr>
              <a:t>form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base pairs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 itself.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This structure 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essential for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understanding </a:t>
            </a:r>
            <a:r>
              <a:rPr sz="1800" dirty="0">
                <a:latin typeface="Lucida Sans Unicode"/>
                <a:cs typeface="Lucida Sans Unicode"/>
              </a:rPr>
              <a:t>behavior</a:t>
            </a:r>
            <a:r>
              <a:rPr sz="1800" spc="3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4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molecule.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96528" y="6243612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40482" y="6466007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3"/>
                </a:moveTo>
                <a:lnTo>
                  <a:pt x="0" y="219651"/>
                </a:lnTo>
                <a:lnTo>
                  <a:pt x="0" y="164738"/>
                </a:lnTo>
                <a:lnTo>
                  <a:pt x="0" y="109825"/>
                </a:lnTo>
                <a:lnTo>
                  <a:pt x="0" y="54912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96606" y="5768861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40482" y="5991256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3"/>
                </a:moveTo>
                <a:lnTo>
                  <a:pt x="0" y="219651"/>
                </a:lnTo>
                <a:lnTo>
                  <a:pt x="0" y="164738"/>
                </a:lnTo>
                <a:lnTo>
                  <a:pt x="0" y="109825"/>
                </a:lnTo>
                <a:lnTo>
                  <a:pt x="0" y="54913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22007" y="6243612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9490" y="5768861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65731" y="5991256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3"/>
                </a:moveTo>
                <a:lnTo>
                  <a:pt x="0" y="219651"/>
                </a:lnTo>
                <a:lnTo>
                  <a:pt x="0" y="164738"/>
                </a:lnTo>
                <a:lnTo>
                  <a:pt x="0" y="109825"/>
                </a:lnTo>
                <a:lnTo>
                  <a:pt x="0" y="54913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79435" y="5768861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30836" y="5891241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>
                <a:moveTo>
                  <a:pt x="324752" y="0"/>
                </a:moveTo>
                <a:lnTo>
                  <a:pt x="324752" y="0"/>
                </a:lnTo>
                <a:lnTo>
                  <a:pt x="54125" y="0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73499" y="6365993"/>
            <a:ext cx="259715" cy="0"/>
          </a:xfrm>
          <a:custGeom>
            <a:avLst/>
            <a:gdLst/>
            <a:ahLst/>
            <a:cxnLst/>
            <a:rect l="l" t="t" r="r" b="b"/>
            <a:pathLst>
              <a:path w="259714">
                <a:moveTo>
                  <a:pt x="0" y="0"/>
                </a:moveTo>
                <a:lnTo>
                  <a:pt x="51817" y="0"/>
                </a:lnTo>
                <a:lnTo>
                  <a:pt x="103634" y="0"/>
                </a:lnTo>
                <a:lnTo>
                  <a:pt x="155452" y="0"/>
                </a:lnTo>
                <a:lnTo>
                  <a:pt x="207269" y="0"/>
                </a:lnTo>
                <a:lnTo>
                  <a:pt x="259087" y="0"/>
                </a:lnTo>
              </a:path>
            </a:pathLst>
          </a:custGeom>
          <a:ln w="11921">
            <a:solidFill>
              <a:srgbClr val="003F8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75873" y="5891241"/>
            <a:ext cx="257175" cy="0"/>
          </a:xfrm>
          <a:custGeom>
            <a:avLst/>
            <a:gdLst/>
            <a:ahLst/>
            <a:cxnLst/>
            <a:rect l="l" t="t" r="r" b="b"/>
            <a:pathLst>
              <a:path w="257175">
                <a:moveTo>
                  <a:pt x="0" y="0"/>
                </a:moveTo>
                <a:lnTo>
                  <a:pt x="51336" y="0"/>
                </a:lnTo>
                <a:lnTo>
                  <a:pt x="102673" y="0"/>
                </a:lnTo>
                <a:lnTo>
                  <a:pt x="154009" y="0"/>
                </a:lnTo>
                <a:lnTo>
                  <a:pt x="205345" y="0"/>
                </a:lnTo>
                <a:lnTo>
                  <a:pt x="256682" y="0"/>
                </a:lnTo>
              </a:path>
            </a:pathLst>
          </a:custGeom>
          <a:ln w="11921">
            <a:solidFill>
              <a:srgbClr val="003F8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970511" y="4955002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649627" y="5123480"/>
            <a:ext cx="257175" cy="110489"/>
          </a:xfrm>
          <a:custGeom>
            <a:avLst/>
            <a:gdLst/>
            <a:ahLst/>
            <a:cxnLst/>
            <a:rect l="l" t="t" r="r" b="b"/>
            <a:pathLst>
              <a:path w="257175" h="110489">
                <a:moveTo>
                  <a:pt x="0" y="110163"/>
                </a:moveTo>
                <a:lnTo>
                  <a:pt x="42841" y="91803"/>
                </a:lnTo>
                <a:lnTo>
                  <a:pt x="85682" y="73442"/>
                </a:lnTo>
                <a:lnTo>
                  <a:pt x="128524" y="55082"/>
                </a:lnTo>
                <a:lnTo>
                  <a:pt x="171365" y="36721"/>
                </a:lnTo>
                <a:lnTo>
                  <a:pt x="214206" y="18360"/>
                </a:lnTo>
                <a:lnTo>
                  <a:pt x="257047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967995" y="4480252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014236" y="4702647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3"/>
                </a:moveTo>
                <a:lnTo>
                  <a:pt x="0" y="219650"/>
                </a:lnTo>
                <a:lnTo>
                  <a:pt x="0" y="164737"/>
                </a:lnTo>
                <a:lnTo>
                  <a:pt x="0" y="109825"/>
                </a:lnTo>
                <a:lnTo>
                  <a:pt x="0" y="54912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766895" y="4073323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60784" y="4295730"/>
            <a:ext cx="103505" cy="207010"/>
          </a:xfrm>
          <a:custGeom>
            <a:avLst/>
            <a:gdLst/>
            <a:ahLst/>
            <a:cxnLst/>
            <a:rect l="l" t="t" r="r" b="b"/>
            <a:pathLst>
              <a:path w="103504" h="207010">
                <a:moveTo>
                  <a:pt x="103399" y="206798"/>
                </a:moveTo>
                <a:lnTo>
                  <a:pt x="82719" y="165438"/>
                </a:lnTo>
                <a:lnTo>
                  <a:pt x="62039" y="124079"/>
                </a:lnTo>
                <a:lnTo>
                  <a:pt x="41359" y="82719"/>
                </a:lnTo>
                <a:lnTo>
                  <a:pt x="20679" y="41359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89779" y="4073323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46118" y="4195703"/>
            <a:ext cx="257175" cy="0"/>
          </a:xfrm>
          <a:custGeom>
            <a:avLst/>
            <a:gdLst/>
            <a:ahLst/>
            <a:cxnLst/>
            <a:rect l="l" t="t" r="r" b="b"/>
            <a:pathLst>
              <a:path w="257175">
                <a:moveTo>
                  <a:pt x="256885" y="0"/>
                </a:moveTo>
                <a:lnTo>
                  <a:pt x="205507" y="0"/>
                </a:lnTo>
                <a:lnTo>
                  <a:pt x="154130" y="0"/>
                </a:lnTo>
                <a:lnTo>
                  <a:pt x="102753" y="0"/>
                </a:lnTo>
                <a:lnTo>
                  <a:pt x="51376" y="0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049835" y="4480252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53157" y="4295808"/>
            <a:ext cx="123825" cy="207010"/>
          </a:xfrm>
          <a:custGeom>
            <a:avLst/>
            <a:gdLst/>
            <a:ahLst/>
            <a:cxnLst/>
            <a:rect l="l" t="t" r="r" b="b"/>
            <a:pathLst>
              <a:path w="123825" h="207010">
                <a:moveTo>
                  <a:pt x="123218" y="0"/>
                </a:moveTo>
                <a:lnTo>
                  <a:pt x="98574" y="41359"/>
                </a:lnTo>
                <a:lnTo>
                  <a:pt x="73931" y="82719"/>
                </a:lnTo>
                <a:lnTo>
                  <a:pt x="49287" y="124078"/>
                </a:lnTo>
                <a:lnTo>
                  <a:pt x="24644" y="165438"/>
                </a:lnTo>
                <a:lnTo>
                  <a:pt x="0" y="206797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049606" y="4955002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93558" y="4702647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3"/>
                </a:moveTo>
                <a:lnTo>
                  <a:pt x="0" y="219650"/>
                </a:lnTo>
                <a:lnTo>
                  <a:pt x="0" y="164737"/>
                </a:lnTo>
                <a:lnTo>
                  <a:pt x="0" y="109825"/>
                </a:lnTo>
                <a:lnTo>
                  <a:pt x="0" y="54912"/>
                </a:lnTo>
                <a:lnTo>
                  <a:pt x="0" y="0"/>
                </a:lnTo>
              </a:path>
            </a:pathLst>
          </a:custGeom>
          <a:ln w="11921">
            <a:solidFill>
              <a:srgbClr val="003F8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493243" y="5158467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201472" y="5126621"/>
            <a:ext cx="227965" cy="104139"/>
          </a:xfrm>
          <a:custGeom>
            <a:avLst/>
            <a:gdLst/>
            <a:ahLst/>
            <a:cxnLst/>
            <a:rect l="l" t="t" r="r" b="b"/>
            <a:pathLst>
              <a:path w="227965" h="104139">
                <a:moveTo>
                  <a:pt x="0" y="0"/>
                </a:moveTo>
                <a:lnTo>
                  <a:pt x="45563" y="20789"/>
                </a:lnTo>
                <a:lnTo>
                  <a:pt x="91127" y="41579"/>
                </a:lnTo>
                <a:lnTo>
                  <a:pt x="136691" y="62368"/>
                </a:lnTo>
                <a:lnTo>
                  <a:pt x="182254" y="83158"/>
                </a:lnTo>
                <a:lnTo>
                  <a:pt x="227818" y="103948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507263" y="4480252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07033" y="4955002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550986" y="4702647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3"/>
                </a:moveTo>
                <a:lnTo>
                  <a:pt x="0" y="219650"/>
                </a:lnTo>
                <a:lnTo>
                  <a:pt x="0" y="164737"/>
                </a:lnTo>
                <a:lnTo>
                  <a:pt x="0" y="109825"/>
                </a:lnTo>
                <a:lnTo>
                  <a:pt x="0" y="54912"/>
                </a:lnTo>
                <a:lnTo>
                  <a:pt x="0" y="0"/>
                </a:lnTo>
              </a:path>
            </a:pathLst>
          </a:custGeom>
          <a:ln w="11921">
            <a:solidFill>
              <a:srgbClr val="003F8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658470" y="4602632"/>
            <a:ext cx="327660" cy="0"/>
          </a:xfrm>
          <a:custGeom>
            <a:avLst/>
            <a:gdLst/>
            <a:ahLst/>
            <a:cxnLst/>
            <a:rect l="l" t="t" r="r" b="b"/>
            <a:pathLst>
              <a:path w="327659">
                <a:moveTo>
                  <a:pt x="327660" y="0"/>
                </a:moveTo>
                <a:lnTo>
                  <a:pt x="327660" y="0"/>
                </a:lnTo>
                <a:lnTo>
                  <a:pt x="54609" y="0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658770" y="5077383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326816" y="0"/>
                </a:moveTo>
                <a:lnTo>
                  <a:pt x="326816" y="0"/>
                </a:lnTo>
                <a:lnTo>
                  <a:pt x="54469" y="0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003459" y="4480252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03688" y="4955002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047411" y="4702647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3"/>
                </a:moveTo>
                <a:lnTo>
                  <a:pt x="0" y="219650"/>
                </a:lnTo>
                <a:lnTo>
                  <a:pt x="0" y="164737"/>
                </a:lnTo>
                <a:lnTo>
                  <a:pt x="0" y="109825"/>
                </a:lnTo>
                <a:lnTo>
                  <a:pt x="0" y="54912"/>
                </a:lnTo>
                <a:lnTo>
                  <a:pt x="0" y="0"/>
                </a:lnTo>
              </a:path>
            </a:pathLst>
          </a:custGeom>
          <a:ln w="11921">
            <a:solidFill>
              <a:srgbClr val="003F8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55471" y="4602632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7750" y="0"/>
                </a:moveTo>
                <a:lnTo>
                  <a:pt x="287750" y="0"/>
                </a:lnTo>
                <a:lnTo>
                  <a:pt x="47958" y="0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155073" y="5077384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147" y="0"/>
                </a:moveTo>
                <a:lnTo>
                  <a:pt x="288147" y="0"/>
                </a:lnTo>
                <a:lnTo>
                  <a:pt x="48024" y="0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001171" y="5429753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748319" y="5643857"/>
            <a:ext cx="189230" cy="158115"/>
          </a:xfrm>
          <a:custGeom>
            <a:avLst/>
            <a:gdLst/>
            <a:ahLst/>
            <a:cxnLst/>
            <a:rect l="l" t="t" r="r" b="b"/>
            <a:pathLst>
              <a:path w="189229" h="158114">
                <a:moveTo>
                  <a:pt x="0" y="157520"/>
                </a:moveTo>
                <a:lnTo>
                  <a:pt x="37805" y="126016"/>
                </a:lnTo>
                <a:lnTo>
                  <a:pt x="75609" y="94512"/>
                </a:lnTo>
                <a:lnTo>
                  <a:pt x="113414" y="63008"/>
                </a:lnTo>
                <a:lnTo>
                  <a:pt x="151219" y="31504"/>
                </a:lnTo>
                <a:lnTo>
                  <a:pt x="189024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047411" y="5177398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1" y="274563"/>
                </a:moveTo>
                <a:lnTo>
                  <a:pt x="0" y="219651"/>
                </a:lnTo>
                <a:lnTo>
                  <a:pt x="0" y="164738"/>
                </a:lnTo>
                <a:lnTo>
                  <a:pt x="0" y="109825"/>
                </a:lnTo>
                <a:lnTo>
                  <a:pt x="0" y="54913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579435" y="3666393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723331" y="3888946"/>
            <a:ext cx="139065" cy="139065"/>
          </a:xfrm>
          <a:custGeom>
            <a:avLst/>
            <a:gdLst/>
            <a:ahLst/>
            <a:cxnLst/>
            <a:rect l="l" t="t" r="r" b="b"/>
            <a:pathLst>
              <a:path w="139064" h="139064">
                <a:moveTo>
                  <a:pt x="138899" y="138899"/>
                </a:moveTo>
                <a:lnTo>
                  <a:pt x="104174" y="104174"/>
                </a:lnTo>
                <a:lnTo>
                  <a:pt x="69449" y="69449"/>
                </a:lnTo>
                <a:lnTo>
                  <a:pt x="34725" y="34724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918390" y="3327287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723195" y="3549838"/>
            <a:ext cx="139065" cy="139065"/>
          </a:xfrm>
          <a:custGeom>
            <a:avLst/>
            <a:gdLst/>
            <a:ahLst/>
            <a:cxnLst/>
            <a:rect l="l" t="t" r="r" b="b"/>
            <a:pathLst>
              <a:path w="139064" h="139064">
                <a:moveTo>
                  <a:pt x="0" y="138899"/>
                </a:moveTo>
                <a:lnTo>
                  <a:pt x="34725" y="104174"/>
                </a:lnTo>
                <a:lnTo>
                  <a:pt x="69449" y="69449"/>
                </a:lnTo>
                <a:lnTo>
                  <a:pt x="104174" y="34724"/>
                </a:lnTo>
                <a:lnTo>
                  <a:pt x="138898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461115" y="3327287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070237" y="3449666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54469" y="0"/>
                </a:lnTo>
                <a:lnTo>
                  <a:pt x="108939" y="0"/>
                </a:lnTo>
                <a:lnTo>
                  <a:pt x="163409" y="0"/>
                </a:lnTo>
                <a:lnTo>
                  <a:pt x="217878" y="0"/>
                </a:lnTo>
                <a:lnTo>
                  <a:pt x="272348" y="0"/>
                </a:lnTo>
                <a:lnTo>
                  <a:pt x="326818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918543" y="4005501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605010" y="3888811"/>
            <a:ext cx="139065" cy="139065"/>
          </a:xfrm>
          <a:custGeom>
            <a:avLst/>
            <a:gdLst/>
            <a:ahLst/>
            <a:cxnLst/>
            <a:rect l="l" t="t" r="r" b="b"/>
            <a:pathLst>
              <a:path w="139064" h="139064">
                <a:moveTo>
                  <a:pt x="138900" y="0"/>
                </a:moveTo>
                <a:lnTo>
                  <a:pt x="104176" y="34725"/>
                </a:lnTo>
                <a:lnTo>
                  <a:pt x="69451" y="69449"/>
                </a:lnTo>
                <a:lnTo>
                  <a:pt x="34725" y="104174"/>
                </a:lnTo>
                <a:lnTo>
                  <a:pt x="0" y="138898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918390" y="4480252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60886" y="4005501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458597" y="4480252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69697" y="4127882"/>
            <a:ext cx="327660" cy="0"/>
          </a:xfrm>
          <a:custGeom>
            <a:avLst/>
            <a:gdLst/>
            <a:ahLst/>
            <a:cxnLst/>
            <a:rect l="l" t="t" r="r" b="b"/>
            <a:pathLst>
              <a:path w="327660">
                <a:moveTo>
                  <a:pt x="0" y="0"/>
                </a:moveTo>
                <a:lnTo>
                  <a:pt x="0" y="0"/>
                </a:lnTo>
                <a:lnTo>
                  <a:pt x="272687" y="0"/>
                </a:lnTo>
                <a:lnTo>
                  <a:pt x="327224" y="0"/>
                </a:lnTo>
              </a:path>
            </a:pathLst>
          </a:custGeom>
          <a:ln w="11921">
            <a:solidFill>
              <a:srgbClr val="003F8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504839" y="4227896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3"/>
                </a:moveTo>
                <a:lnTo>
                  <a:pt x="0" y="219651"/>
                </a:lnTo>
                <a:lnTo>
                  <a:pt x="0" y="164738"/>
                </a:lnTo>
                <a:lnTo>
                  <a:pt x="0" y="109825"/>
                </a:lnTo>
                <a:lnTo>
                  <a:pt x="0" y="54912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962266" y="4227896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3"/>
                </a:moveTo>
                <a:lnTo>
                  <a:pt x="0" y="219651"/>
                </a:lnTo>
                <a:lnTo>
                  <a:pt x="0" y="164738"/>
                </a:lnTo>
                <a:lnTo>
                  <a:pt x="0" y="109825"/>
                </a:lnTo>
                <a:lnTo>
                  <a:pt x="0" y="54912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070238" y="4602632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>
                <a:moveTo>
                  <a:pt x="0" y="0"/>
                </a:moveTo>
                <a:lnTo>
                  <a:pt x="0" y="0"/>
                </a:lnTo>
                <a:lnTo>
                  <a:pt x="270537" y="0"/>
                </a:lnTo>
                <a:lnTo>
                  <a:pt x="324644" y="0"/>
                </a:lnTo>
              </a:path>
            </a:pathLst>
          </a:custGeom>
          <a:ln w="11921">
            <a:solidFill>
              <a:srgbClr val="003F8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210507" y="5885943"/>
            <a:ext cx="267335" cy="1905"/>
          </a:xfrm>
          <a:custGeom>
            <a:avLst/>
            <a:gdLst/>
            <a:ahLst/>
            <a:cxnLst/>
            <a:rect l="l" t="t" r="r" b="b"/>
            <a:pathLst>
              <a:path w="267335" h="1904">
                <a:moveTo>
                  <a:pt x="267047" y="0"/>
                </a:moveTo>
                <a:lnTo>
                  <a:pt x="0" y="1695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614982" y="4602632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>
                <a:moveTo>
                  <a:pt x="0" y="0"/>
                </a:moveTo>
                <a:lnTo>
                  <a:pt x="0" y="0"/>
                </a:lnTo>
                <a:lnTo>
                  <a:pt x="270626" y="0"/>
                </a:lnTo>
                <a:lnTo>
                  <a:pt x="324751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5800222" y="3666393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604876" y="3549703"/>
            <a:ext cx="139065" cy="139065"/>
          </a:xfrm>
          <a:custGeom>
            <a:avLst/>
            <a:gdLst/>
            <a:ahLst/>
            <a:cxnLst/>
            <a:rect l="l" t="t" r="r" b="b"/>
            <a:pathLst>
              <a:path w="139064" h="139064">
                <a:moveTo>
                  <a:pt x="0" y="0"/>
                </a:moveTo>
                <a:lnTo>
                  <a:pt x="34724" y="34725"/>
                </a:lnTo>
                <a:lnTo>
                  <a:pt x="69449" y="69449"/>
                </a:lnTo>
                <a:lnTo>
                  <a:pt x="104173" y="104174"/>
                </a:lnTo>
                <a:lnTo>
                  <a:pt x="138898" y="138899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576918" y="4819359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723331" y="4702669"/>
            <a:ext cx="139065" cy="139065"/>
          </a:xfrm>
          <a:custGeom>
            <a:avLst/>
            <a:gdLst/>
            <a:ahLst/>
            <a:cxnLst/>
            <a:rect l="l" t="t" r="r" b="b"/>
            <a:pathLst>
              <a:path w="139064" h="139064">
                <a:moveTo>
                  <a:pt x="138899" y="0"/>
                </a:moveTo>
                <a:lnTo>
                  <a:pt x="104175" y="34724"/>
                </a:lnTo>
                <a:lnTo>
                  <a:pt x="69450" y="69449"/>
                </a:lnTo>
                <a:lnTo>
                  <a:pt x="34725" y="104174"/>
                </a:lnTo>
                <a:lnTo>
                  <a:pt x="0" y="138898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4579206" y="5294110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623159" y="5041754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4"/>
                </a:moveTo>
                <a:lnTo>
                  <a:pt x="0" y="219651"/>
                </a:lnTo>
                <a:lnTo>
                  <a:pt x="0" y="164738"/>
                </a:lnTo>
                <a:lnTo>
                  <a:pt x="0" y="109825"/>
                </a:lnTo>
                <a:lnTo>
                  <a:pt x="0" y="54913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210507" y="5418610"/>
            <a:ext cx="267335" cy="1905"/>
          </a:xfrm>
          <a:custGeom>
            <a:avLst/>
            <a:gdLst/>
            <a:ahLst/>
            <a:cxnLst/>
            <a:rect l="l" t="t" r="r" b="b"/>
            <a:pathLst>
              <a:path w="267335" h="1904">
                <a:moveTo>
                  <a:pt x="267047" y="0"/>
                </a:moveTo>
                <a:lnTo>
                  <a:pt x="0" y="1695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623159" y="5516506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2"/>
                </a:moveTo>
                <a:lnTo>
                  <a:pt x="0" y="219650"/>
                </a:lnTo>
                <a:lnTo>
                  <a:pt x="0" y="164737"/>
                </a:lnTo>
                <a:lnTo>
                  <a:pt x="0" y="109825"/>
                </a:lnTo>
                <a:lnTo>
                  <a:pt x="0" y="54912"/>
                </a:lnTo>
                <a:lnTo>
                  <a:pt x="0" y="0"/>
                </a:lnTo>
              </a:path>
            </a:pathLst>
          </a:custGeom>
          <a:ln w="11921">
            <a:solidFill>
              <a:srgbClr val="003F8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2137709" y="5768861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289387" y="5979603"/>
            <a:ext cx="196215" cy="160655"/>
          </a:xfrm>
          <a:custGeom>
            <a:avLst/>
            <a:gdLst/>
            <a:ahLst/>
            <a:cxnLst/>
            <a:rect l="l" t="t" r="r" b="b"/>
            <a:pathLst>
              <a:path w="196214" h="160654">
                <a:moveTo>
                  <a:pt x="195860" y="160543"/>
                </a:moveTo>
                <a:lnTo>
                  <a:pt x="156688" y="128434"/>
                </a:lnTo>
                <a:lnTo>
                  <a:pt x="117516" y="96326"/>
                </a:lnTo>
                <a:lnTo>
                  <a:pt x="78343" y="64217"/>
                </a:lnTo>
                <a:lnTo>
                  <a:pt x="39171" y="32108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2144643" y="5294110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2183015" y="5516506"/>
            <a:ext cx="4445" cy="274955"/>
          </a:xfrm>
          <a:custGeom>
            <a:avLst/>
            <a:gdLst/>
            <a:ahLst/>
            <a:cxnLst/>
            <a:rect l="l" t="t" r="r" b="b"/>
            <a:pathLst>
              <a:path w="4444" h="274954">
                <a:moveTo>
                  <a:pt x="0" y="274562"/>
                </a:moveTo>
                <a:lnTo>
                  <a:pt x="784" y="219650"/>
                </a:lnTo>
                <a:lnTo>
                  <a:pt x="1569" y="164737"/>
                </a:lnTo>
                <a:lnTo>
                  <a:pt x="2353" y="109825"/>
                </a:lnTo>
                <a:lnTo>
                  <a:pt x="3138" y="54912"/>
                </a:lnTo>
                <a:lnTo>
                  <a:pt x="3922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2551343" y="4955002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296202" y="5167362"/>
            <a:ext cx="191135" cy="159385"/>
          </a:xfrm>
          <a:custGeom>
            <a:avLst/>
            <a:gdLst/>
            <a:ahLst/>
            <a:cxnLst/>
            <a:rect l="l" t="t" r="r" b="b"/>
            <a:pathLst>
              <a:path w="191135" h="159385">
                <a:moveTo>
                  <a:pt x="0" y="159265"/>
                </a:moveTo>
                <a:lnTo>
                  <a:pt x="38223" y="127411"/>
                </a:lnTo>
                <a:lnTo>
                  <a:pt x="76447" y="95558"/>
                </a:lnTo>
                <a:lnTo>
                  <a:pt x="114671" y="63705"/>
                </a:lnTo>
                <a:lnTo>
                  <a:pt x="152894" y="31852"/>
                </a:lnTo>
                <a:lnTo>
                  <a:pt x="191119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2958348" y="5294110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703131" y="5167247"/>
            <a:ext cx="191770" cy="160020"/>
          </a:xfrm>
          <a:custGeom>
            <a:avLst/>
            <a:gdLst/>
            <a:ahLst/>
            <a:cxnLst/>
            <a:rect l="l" t="t" r="r" b="b"/>
            <a:pathLst>
              <a:path w="191769" h="160020">
                <a:moveTo>
                  <a:pt x="0" y="0"/>
                </a:moveTo>
                <a:lnTo>
                  <a:pt x="38283" y="31902"/>
                </a:lnTo>
                <a:lnTo>
                  <a:pt x="76567" y="63805"/>
                </a:lnTo>
                <a:lnTo>
                  <a:pt x="114851" y="95709"/>
                </a:lnTo>
                <a:lnTo>
                  <a:pt x="153135" y="127612"/>
                </a:lnTo>
                <a:lnTo>
                  <a:pt x="191419" y="159514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2955982" y="5768861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002224" y="5516506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2"/>
                </a:moveTo>
                <a:lnTo>
                  <a:pt x="0" y="219650"/>
                </a:lnTo>
                <a:lnTo>
                  <a:pt x="0" y="164737"/>
                </a:lnTo>
                <a:lnTo>
                  <a:pt x="0" y="109825"/>
                </a:lnTo>
                <a:lnTo>
                  <a:pt x="0" y="54912"/>
                </a:lnTo>
                <a:lnTo>
                  <a:pt x="0" y="0"/>
                </a:lnTo>
              </a:path>
            </a:pathLst>
          </a:custGeom>
          <a:ln w="11921">
            <a:solidFill>
              <a:srgbClr val="003F8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2549054" y="6107970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2705354" y="5983140"/>
            <a:ext cx="186690" cy="155575"/>
          </a:xfrm>
          <a:custGeom>
            <a:avLst/>
            <a:gdLst/>
            <a:ahLst/>
            <a:cxnLst/>
            <a:rect l="l" t="t" r="r" b="b"/>
            <a:pathLst>
              <a:path w="186689" h="155575">
                <a:moveTo>
                  <a:pt x="186591" y="0"/>
                </a:moveTo>
                <a:lnTo>
                  <a:pt x="149273" y="31098"/>
                </a:lnTo>
                <a:lnTo>
                  <a:pt x="111954" y="62197"/>
                </a:lnTo>
                <a:lnTo>
                  <a:pt x="74636" y="93296"/>
                </a:lnTo>
                <a:lnTo>
                  <a:pt x="37318" y="124394"/>
                </a:lnTo>
                <a:lnTo>
                  <a:pt x="0" y="155494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3498555" y="5294110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500920" y="5768861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3544796" y="5516506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2"/>
                </a:moveTo>
                <a:lnTo>
                  <a:pt x="0" y="219650"/>
                </a:lnTo>
                <a:lnTo>
                  <a:pt x="0" y="164737"/>
                </a:lnTo>
                <a:lnTo>
                  <a:pt x="0" y="109825"/>
                </a:lnTo>
                <a:lnTo>
                  <a:pt x="0" y="54912"/>
                </a:lnTo>
                <a:lnTo>
                  <a:pt x="0" y="0"/>
                </a:lnTo>
              </a:path>
            </a:pathLst>
          </a:custGeom>
          <a:ln w="11921">
            <a:solidFill>
              <a:srgbClr val="003F8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110196" y="5416491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>
                <a:moveTo>
                  <a:pt x="0" y="0"/>
                </a:moveTo>
                <a:lnTo>
                  <a:pt x="0" y="0"/>
                </a:lnTo>
                <a:lnTo>
                  <a:pt x="270536" y="0"/>
                </a:lnTo>
                <a:lnTo>
                  <a:pt x="324643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112367" y="5891241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>
                <a:moveTo>
                  <a:pt x="0" y="0"/>
                </a:moveTo>
                <a:lnTo>
                  <a:pt x="0" y="0"/>
                </a:lnTo>
                <a:lnTo>
                  <a:pt x="270626" y="0"/>
                </a:lnTo>
                <a:lnTo>
                  <a:pt x="324751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036710" y="5294110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034346" y="5768861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3655169" y="5416491"/>
            <a:ext cx="318135" cy="0"/>
          </a:xfrm>
          <a:custGeom>
            <a:avLst/>
            <a:gdLst/>
            <a:ahLst/>
            <a:cxnLst/>
            <a:rect l="l" t="t" r="r" b="b"/>
            <a:pathLst>
              <a:path w="318135">
                <a:moveTo>
                  <a:pt x="0" y="0"/>
                </a:moveTo>
                <a:lnTo>
                  <a:pt x="0" y="0"/>
                </a:lnTo>
                <a:lnTo>
                  <a:pt x="264820" y="0"/>
                </a:lnTo>
                <a:lnTo>
                  <a:pt x="317784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652491" y="5891241"/>
            <a:ext cx="318135" cy="0"/>
          </a:xfrm>
          <a:custGeom>
            <a:avLst/>
            <a:gdLst/>
            <a:ahLst/>
            <a:cxnLst/>
            <a:rect l="l" t="t" r="r" b="b"/>
            <a:pathLst>
              <a:path w="318135">
                <a:moveTo>
                  <a:pt x="0" y="0"/>
                </a:moveTo>
                <a:lnTo>
                  <a:pt x="0" y="0"/>
                </a:lnTo>
                <a:lnTo>
                  <a:pt x="265060" y="0"/>
                </a:lnTo>
                <a:lnTo>
                  <a:pt x="318072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2031427" y="6718362"/>
            <a:ext cx="65779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3260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200" b="1" spc="110" dirty="0">
                <a:latin typeface="Trebuchet MS"/>
                <a:cs typeface="Trebuchet MS"/>
              </a:rPr>
              <a:t>RNA</a:t>
            </a:r>
            <a:r>
              <a:rPr sz="1200" b="1" spc="40" dirty="0">
                <a:latin typeface="Trebuchet MS"/>
                <a:cs typeface="Trebuchet MS"/>
              </a:rPr>
              <a:t> </a:t>
            </a:r>
            <a:r>
              <a:rPr sz="1200" b="1" spc="65" dirty="0">
                <a:latin typeface="Trebuchet MS"/>
                <a:cs typeface="Trebuchet MS"/>
              </a:rPr>
              <a:t>secondary</a:t>
            </a:r>
            <a:r>
              <a:rPr sz="1200" b="1" spc="45" dirty="0">
                <a:latin typeface="Trebuchet MS"/>
                <a:cs typeface="Trebuchet MS"/>
              </a:rPr>
              <a:t> structure</a:t>
            </a:r>
            <a:r>
              <a:rPr sz="1200" b="1" spc="40" dirty="0">
                <a:latin typeface="Trebuchet MS"/>
                <a:cs typeface="Trebuchet MS"/>
              </a:rPr>
              <a:t> </a:t>
            </a:r>
            <a:r>
              <a:rPr sz="1200" b="1" spc="55" dirty="0">
                <a:latin typeface="Trebuchet MS"/>
                <a:cs typeface="Trebuchet MS"/>
              </a:rPr>
              <a:t>for</a:t>
            </a:r>
            <a:r>
              <a:rPr sz="1200" b="1" spc="45" dirty="0">
                <a:latin typeface="Trebuchet MS"/>
                <a:cs typeface="Trebuchet MS"/>
              </a:rPr>
              <a:t> </a:t>
            </a:r>
            <a:r>
              <a:rPr sz="1200" b="1" spc="85" dirty="0">
                <a:latin typeface="Trebuchet MS"/>
                <a:cs typeface="Trebuchet MS"/>
              </a:rPr>
              <a:t>GUCGAUUGAGCGAAUGUAACAACGUGGCUACGGCGAGA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080586" y="5516506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4">
                <a:moveTo>
                  <a:pt x="0" y="274562"/>
                </a:moveTo>
                <a:lnTo>
                  <a:pt x="0" y="219650"/>
                </a:lnTo>
                <a:lnTo>
                  <a:pt x="0" y="164737"/>
                </a:lnTo>
                <a:lnTo>
                  <a:pt x="0" y="109825"/>
                </a:lnTo>
                <a:lnTo>
                  <a:pt x="0" y="54912"/>
                </a:lnTo>
                <a:lnTo>
                  <a:pt x="0" y="0"/>
                </a:lnTo>
              </a:path>
            </a:pathLst>
          </a:custGeom>
          <a:ln w="11921">
            <a:solidFill>
              <a:srgbClr val="003F8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RNA</a:t>
            </a:r>
            <a:r>
              <a:rPr spc="190" dirty="0"/>
              <a:t> </a:t>
            </a:r>
            <a:r>
              <a:rPr dirty="0"/>
              <a:t>secondary</a:t>
            </a:r>
            <a:r>
              <a:rPr spc="19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867" y="1218991"/>
            <a:ext cx="67621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47396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Secondary</a:t>
            </a:r>
            <a:r>
              <a:rPr sz="1800" spc="8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structure.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1800" spc="-285" dirty="0">
                <a:latin typeface="Lucida Sans Unicode"/>
                <a:cs typeface="Lucida Sans Unicode"/>
              </a:rPr>
              <a:t>=</a:t>
            </a:r>
            <a:r>
              <a:rPr sz="180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18518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18518" dirty="0">
                <a:latin typeface="Times New Roman"/>
                <a:cs typeface="Times New Roman"/>
              </a:rPr>
              <a:t>j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}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10" dirty="0">
                <a:latin typeface="Lucida Sans Unicode"/>
                <a:cs typeface="Lucida Sans Unicode"/>
              </a:rPr>
              <a:t> satisfy: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241" y="1347631"/>
            <a:ext cx="7868284" cy="89661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81000" marR="30480" indent="-343535">
              <a:lnSpc>
                <a:spcPct val="114100"/>
              </a:lnSpc>
              <a:spcBef>
                <a:spcPts val="409"/>
              </a:spcBef>
              <a:tabLst>
                <a:tab pos="2140585" algn="l"/>
              </a:tabLst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spc="-45" dirty="0">
                <a:solidFill>
                  <a:srgbClr val="606060"/>
                </a:solidFill>
                <a:latin typeface="Lucida Sans Unicode"/>
                <a:cs typeface="Lucida Sans Unicode"/>
              </a:rPr>
              <a:t>[Watson-</a:t>
            </a:r>
            <a:r>
              <a:rPr sz="18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Crick]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 matching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 each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 in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i="1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 </a:t>
            </a:r>
            <a:r>
              <a:rPr sz="1800" spc="-60" dirty="0">
                <a:latin typeface="Lucida Sans Unicode"/>
                <a:cs typeface="Lucida Sans Unicode"/>
              </a:rPr>
              <a:t>Watson-</a:t>
            </a:r>
            <a:r>
              <a:rPr sz="1800" spc="-30" dirty="0">
                <a:latin typeface="Lucida Sans Unicode"/>
                <a:cs typeface="Lucida Sans Unicode"/>
              </a:rPr>
              <a:t>Crick </a:t>
            </a:r>
            <a:r>
              <a:rPr sz="1800" dirty="0">
                <a:latin typeface="Lucida Sans Unicode"/>
                <a:cs typeface="Lucida Sans Unicode"/>
              </a:rPr>
              <a:t>complement: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A–U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U–A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C–G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or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G–C</a:t>
            </a:r>
            <a:r>
              <a:rPr sz="1800" spc="-2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541" y="2072474"/>
            <a:ext cx="7814309" cy="89661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890"/>
              </a:spcBef>
              <a:tabLst>
                <a:tab pos="2367280" algn="l"/>
              </a:tabLst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[No sharp </a:t>
            </a:r>
            <a:r>
              <a:rPr sz="18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turns]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ends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each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separated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least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484"/>
              </a:spcBef>
              <a:tabLst>
                <a:tab pos="2580640" algn="l"/>
              </a:tabLst>
            </a:pPr>
            <a:r>
              <a:rPr sz="1800" dirty="0">
                <a:latin typeface="Lucida Sans Unicode"/>
                <a:cs typeface="Lucida Sans Unicode"/>
              </a:rPr>
              <a:t>intervening</a:t>
            </a:r>
            <a:r>
              <a:rPr sz="1800" spc="9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bases.</a:t>
            </a:r>
            <a:r>
              <a:rPr sz="1800" dirty="0">
                <a:latin typeface="Lucida Sans Unicode"/>
                <a:cs typeface="Lucida Sans Unicode"/>
              </a:rPr>
              <a:t>	If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18518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18518" dirty="0">
                <a:latin typeface="Times New Roman"/>
                <a:cs typeface="Times New Roman"/>
              </a:rPr>
              <a:t>j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then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4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2541" y="2797317"/>
            <a:ext cx="8183880" cy="89661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93700" marR="43180" indent="-343535">
              <a:lnSpc>
                <a:spcPct val="114100"/>
              </a:lnSpc>
              <a:spcBef>
                <a:spcPts val="409"/>
              </a:spcBef>
              <a:tabLst>
                <a:tab pos="2169160" algn="l"/>
                <a:tab pos="3116580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spc="-80" dirty="0">
                <a:solidFill>
                  <a:srgbClr val="606060"/>
                </a:solidFill>
                <a:latin typeface="Lucida Sans Unicode"/>
                <a:cs typeface="Lucida Sans Unicode"/>
              </a:rPr>
              <a:t>[Non-</a:t>
            </a:r>
            <a:r>
              <a:rPr sz="18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crossing]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18518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b</a:t>
            </a:r>
            <a:r>
              <a:rPr sz="1800" i="1" spc="-37" baseline="-18518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18518" dirty="0">
                <a:latin typeface="Times New Roman"/>
                <a:cs typeface="Times New Roman"/>
              </a:rPr>
              <a:t>k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spc="55" dirty="0">
                <a:latin typeface="Times New Roman"/>
                <a:cs typeface="Times New Roman"/>
              </a:rPr>
              <a:t>b</a:t>
            </a:r>
            <a:r>
              <a:rPr sz="1800" spc="82" baseline="-6944" dirty="0">
                <a:latin typeface="Lucida Sans Unicode"/>
                <a:cs typeface="Lucida Sans Unicode"/>
              </a:rPr>
              <a:t>ℓ</a:t>
            </a:r>
            <a:r>
              <a:rPr sz="1800" spc="55" dirty="0">
                <a:latin typeface="Times New Roman"/>
                <a:cs typeface="Times New Roman"/>
              </a:rPr>
              <a:t>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 two pairs in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then </a:t>
            </a:r>
            <a:r>
              <a:rPr sz="1800" spc="55" dirty="0">
                <a:latin typeface="Lucida Sans Unicode"/>
                <a:cs typeface="Lucida Sans Unicode"/>
              </a:rPr>
              <a:t>we</a:t>
            </a:r>
            <a:r>
              <a:rPr sz="180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cannot </a:t>
            </a:r>
            <a:r>
              <a:rPr sz="1800" dirty="0">
                <a:latin typeface="Lucida Sans Unicode"/>
                <a:cs typeface="Lucida Sans Unicode"/>
              </a:rPr>
              <a:t>have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15" dirty="0">
                <a:latin typeface="Times New Roman"/>
                <a:cs typeface="Times New Roman"/>
              </a:rPr>
              <a:t> </a:t>
            </a:r>
            <a:r>
              <a:rPr sz="1800" spc="65" dirty="0">
                <a:latin typeface="Times New Roman"/>
                <a:cs typeface="Times New Roman"/>
              </a:rPr>
              <a:t>&lt;</a:t>
            </a:r>
            <a:r>
              <a:rPr sz="1800" spc="65" dirty="0">
                <a:latin typeface="Lucida Sans Unicode"/>
                <a:cs typeface="Lucida Sans Unicode"/>
              </a:rPr>
              <a:t>ℓ.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9351" y="4393038"/>
            <a:ext cx="7632700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150431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Free</a:t>
            </a:r>
            <a:r>
              <a:rPr sz="18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energy.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Usual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hypothesis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RNA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molecule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will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form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the </a:t>
            </a:r>
            <a:r>
              <a:rPr sz="1800" dirty="0">
                <a:latin typeface="Lucida Sans Unicode"/>
                <a:cs typeface="Lucida Sans Unicode"/>
              </a:rPr>
              <a:t>secondary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structure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minimum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total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free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energy.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15221" y="5191687"/>
            <a:ext cx="180975" cy="375285"/>
            <a:chOff x="6715221" y="5191687"/>
            <a:chExt cx="180975" cy="375285"/>
          </a:xfrm>
        </p:grpSpPr>
        <p:sp>
          <p:nvSpPr>
            <p:cNvPr id="10" name="object 10"/>
            <p:cNvSpPr/>
            <p:nvPr/>
          </p:nvSpPr>
          <p:spPr>
            <a:xfrm>
              <a:off x="6743364" y="5245462"/>
              <a:ext cx="142875" cy="312420"/>
            </a:xfrm>
            <a:custGeom>
              <a:avLst/>
              <a:gdLst/>
              <a:ahLst/>
              <a:cxnLst/>
              <a:rect l="l" t="t" r="r" b="b"/>
              <a:pathLst>
                <a:path w="142875" h="312420">
                  <a:moveTo>
                    <a:pt x="0" y="0"/>
                  </a:moveTo>
                  <a:lnTo>
                    <a:pt x="3967" y="8672"/>
                  </a:lnTo>
                  <a:lnTo>
                    <a:pt x="142702" y="31197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15221" y="5191687"/>
              <a:ext cx="83262" cy="10230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51251" y="5566351"/>
            <a:ext cx="8599805" cy="138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approximate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by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number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of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base</a:t>
            </a:r>
            <a:r>
              <a:rPr sz="12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pairs</a:t>
            </a: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2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76581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RNA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molecule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baseline="-18518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…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18518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secondary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structure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90"/>
              </a:spcBef>
            </a:pP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maximizes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base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pairs.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RNA</a:t>
            </a:r>
            <a:r>
              <a:rPr spc="190" dirty="0"/>
              <a:t> </a:t>
            </a:r>
            <a:r>
              <a:rPr dirty="0"/>
              <a:t>secondary</a:t>
            </a:r>
            <a:r>
              <a:rPr spc="19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5267" y="1218991"/>
            <a:ext cx="11569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Examples.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9309" y="2282835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38944" y="2505435"/>
            <a:ext cx="142240" cy="149225"/>
          </a:xfrm>
          <a:custGeom>
            <a:avLst/>
            <a:gdLst/>
            <a:ahLst/>
            <a:cxnLst/>
            <a:rect l="l" t="t" r="r" b="b"/>
            <a:pathLst>
              <a:path w="142239" h="149225">
                <a:moveTo>
                  <a:pt x="141854" y="149091"/>
                </a:moveTo>
                <a:lnTo>
                  <a:pt x="106391" y="111818"/>
                </a:lnTo>
                <a:lnTo>
                  <a:pt x="70927" y="74545"/>
                </a:lnTo>
                <a:lnTo>
                  <a:pt x="35463" y="37272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36052" y="1943727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38814" y="2166141"/>
            <a:ext cx="139065" cy="139065"/>
          </a:xfrm>
          <a:custGeom>
            <a:avLst/>
            <a:gdLst/>
            <a:ahLst/>
            <a:cxnLst/>
            <a:rect l="l" t="t" r="r" b="b"/>
            <a:pathLst>
              <a:path w="139064" h="139064">
                <a:moveTo>
                  <a:pt x="0" y="138782"/>
                </a:moveTo>
                <a:lnTo>
                  <a:pt x="34695" y="104086"/>
                </a:lnTo>
                <a:lnTo>
                  <a:pt x="69390" y="69391"/>
                </a:lnTo>
                <a:lnTo>
                  <a:pt x="104086" y="34695"/>
                </a:lnTo>
                <a:lnTo>
                  <a:pt x="138782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78624" y="1943727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92650" y="2061444"/>
            <a:ext cx="321945" cy="0"/>
          </a:xfrm>
          <a:custGeom>
            <a:avLst/>
            <a:gdLst/>
            <a:ahLst/>
            <a:cxnLst/>
            <a:rect l="l" t="t" r="r" b="b"/>
            <a:pathLst>
              <a:path w="321944">
                <a:moveTo>
                  <a:pt x="0" y="0"/>
                </a:moveTo>
                <a:lnTo>
                  <a:pt x="0" y="0"/>
                </a:lnTo>
                <a:lnTo>
                  <a:pt x="268267" y="0"/>
                </a:lnTo>
                <a:lnTo>
                  <a:pt x="32192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27335" y="2632116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16133" y="2505506"/>
            <a:ext cx="144145" cy="139065"/>
          </a:xfrm>
          <a:custGeom>
            <a:avLst/>
            <a:gdLst/>
            <a:ahLst/>
            <a:cxnLst/>
            <a:rect l="l" t="t" r="r" b="b"/>
            <a:pathLst>
              <a:path w="144144" h="139064">
                <a:moveTo>
                  <a:pt x="143599" y="0"/>
                </a:moveTo>
                <a:lnTo>
                  <a:pt x="107699" y="34685"/>
                </a:lnTo>
                <a:lnTo>
                  <a:pt x="71799" y="69371"/>
                </a:lnTo>
                <a:lnTo>
                  <a:pt x="35899" y="104057"/>
                </a:lnTo>
                <a:lnTo>
                  <a:pt x="0" y="138743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31788" y="3096693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66755" y="2621943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70970" y="3096693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79246" y="2750222"/>
            <a:ext cx="323850" cy="6350"/>
          </a:xfrm>
          <a:custGeom>
            <a:avLst/>
            <a:gdLst/>
            <a:ahLst/>
            <a:cxnLst/>
            <a:rect l="l" t="t" r="r" b="b"/>
            <a:pathLst>
              <a:path w="323850" h="6350">
                <a:moveTo>
                  <a:pt x="0" y="6123"/>
                </a:moveTo>
                <a:lnTo>
                  <a:pt x="53928" y="5103"/>
                </a:lnTo>
                <a:lnTo>
                  <a:pt x="107857" y="4082"/>
                </a:lnTo>
                <a:lnTo>
                  <a:pt x="161786" y="3062"/>
                </a:lnTo>
                <a:lnTo>
                  <a:pt x="215716" y="2041"/>
                </a:lnTo>
                <a:lnTo>
                  <a:pt x="269645" y="1020"/>
                </a:lnTo>
                <a:lnTo>
                  <a:pt x="323574" y="0"/>
                </a:lnTo>
              </a:path>
            </a:pathLst>
          </a:custGeom>
          <a:ln w="14306">
            <a:solidFill>
              <a:srgbClr val="003F8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14030" y="2844595"/>
            <a:ext cx="3175" cy="274955"/>
          </a:xfrm>
          <a:custGeom>
            <a:avLst/>
            <a:gdLst/>
            <a:ahLst/>
            <a:cxnLst/>
            <a:rect l="l" t="t" r="r" b="b"/>
            <a:pathLst>
              <a:path w="3175" h="274955">
                <a:moveTo>
                  <a:pt x="2941" y="274526"/>
                </a:moveTo>
                <a:lnTo>
                  <a:pt x="2353" y="219620"/>
                </a:lnTo>
                <a:lnTo>
                  <a:pt x="1764" y="164715"/>
                </a:lnTo>
                <a:lnTo>
                  <a:pt x="1176" y="109810"/>
                </a:lnTo>
                <a:lnTo>
                  <a:pt x="588" y="54905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75511" y="2854645"/>
            <a:ext cx="0" cy="264795"/>
          </a:xfrm>
          <a:custGeom>
            <a:avLst/>
            <a:gdLst/>
            <a:ahLst/>
            <a:cxnLst/>
            <a:rect l="l" t="t" r="r" b="b"/>
            <a:pathLst>
              <a:path h="264794">
                <a:moveTo>
                  <a:pt x="0" y="264372"/>
                </a:moveTo>
                <a:lnTo>
                  <a:pt x="0" y="211497"/>
                </a:lnTo>
                <a:lnTo>
                  <a:pt x="0" y="158623"/>
                </a:lnTo>
                <a:lnTo>
                  <a:pt x="0" y="105749"/>
                </a:lnTo>
                <a:lnTo>
                  <a:pt x="0" y="52874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83150" y="3215470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5">
                <a:moveTo>
                  <a:pt x="0" y="0"/>
                </a:moveTo>
                <a:lnTo>
                  <a:pt x="0" y="0"/>
                </a:lnTo>
                <a:lnTo>
                  <a:pt x="269950" y="0"/>
                </a:lnTo>
                <a:lnTo>
                  <a:pt x="323940" y="0"/>
                </a:lnTo>
              </a:path>
            </a:pathLst>
          </a:custGeom>
          <a:ln w="14306">
            <a:solidFill>
              <a:srgbClr val="003F8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220021" y="2282835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29650" y="2166228"/>
            <a:ext cx="139065" cy="139065"/>
          </a:xfrm>
          <a:custGeom>
            <a:avLst/>
            <a:gdLst/>
            <a:ahLst/>
            <a:cxnLst/>
            <a:rect l="l" t="t" r="r" b="b"/>
            <a:pathLst>
              <a:path w="139064" h="139064">
                <a:moveTo>
                  <a:pt x="0" y="0"/>
                </a:moveTo>
                <a:lnTo>
                  <a:pt x="34738" y="34738"/>
                </a:lnTo>
                <a:lnTo>
                  <a:pt x="69476" y="69476"/>
                </a:lnTo>
                <a:lnTo>
                  <a:pt x="104214" y="104215"/>
                </a:lnTo>
                <a:lnTo>
                  <a:pt x="138953" y="138953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27339" y="3544315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74360" y="3544315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18083" y="3319364"/>
            <a:ext cx="0" cy="247650"/>
          </a:xfrm>
          <a:custGeom>
            <a:avLst/>
            <a:gdLst/>
            <a:ahLst/>
            <a:cxnLst/>
            <a:rect l="l" t="t" r="r" b="b"/>
            <a:pathLst>
              <a:path h="247650">
                <a:moveTo>
                  <a:pt x="0" y="247092"/>
                </a:moveTo>
                <a:lnTo>
                  <a:pt x="0" y="197673"/>
                </a:lnTo>
                <a:lnTo>
                  <a:pt x="0" y="148255"/>
                </a:lnTo>
                <a:lnTo>
                  <a:pt x="0" y="98836"/>
                </a:lnTo>
                <a:lnTo>
                  <a:pt x="0" y="49418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75511" y="3319364"/>
            <a:ext cx="0" cy="247650"/>
          </a:xfrm>
          <a:custGeom>
            <a:avLst/>
            <a:gdLst/>
            <a:ahLst/>
            <a:cxnLst/>
            <a:rect l="l" t="t" r="r" b="b"/>
            <a:pathLst>
              <a:path h="247650">
                <a:moveTo>
                  <a:pt x="0" y="247092"/>
                </a:moveTo>
                <a:lnTo>
                  <a:pt x="0" y="197673"/>
                </a:lnTo>
                <a:lnTo>
                  <a:pt x="0" y="148255"/>
                </a:lnTo>
                <a:lnTo>
                  <a:pt x="0" y="98836"/>
                </a:lnTo>
                <a:lnTo>
                  <a:pt x="0" y="49418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79344" y="3663728"/>
            <a:ext cx="331470" cy="0"/>
          </a:xfrm>
          <a:custGeom>
            <a:avLst/>
            <a:gdLst/>
            <a:ahLst/>
            <a:cxnLst/>
            <a:rect l="l" t="t" r="r" b="b"/>
            <a:pathLst>
              <a:path w="331469">
                <a:moveTo>
                  <a:pt x="0" y="0"/>
                </a:moveTo>
                <a:lnTo>
                  <a:pt x="0" y="0"/>
                </a:lnTo>
                <a:lnTo>
                  <a:pt x="283856" y="0"/>
                </a:lnTo>
                <a:lnTo>
                  <a:pt x="331165" y="0"/>
                </a:lnTo>
              </a:path>
            </a:pathLst>
          </a:custGeom>
          <a:ln w="14306">
            <a:solidFill>
              <a:srgbClr val="003F8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1483658" y="4827127"/>
            <a:ext cx="2246630" cy="812800"/>
            <a:chOff x="1483658" y="4827127"/>
            <a:chExt cx="2246630" cy="812800"/>
          </a:xfrm>
        </p:grpSpPr>
        <p:sp>
          <p:nvSpPr>
            <p:cNvPr id="28" name="object 28"/>
            <p:cNvSpPr/>
            <p:nvPr/>
          </p:nvSpPr>
          <p:spPr>
            <a:xfrm>
              <a:off x="1483652" y="5590286"/>
              <a:ext cx="293370" cy="49530"/>
            </a:xfrm>
            <a:custGeom>
              <a:avLst/>
              <a:gdLst/>
              <a:ahLst/>
              <a:cxnLst/>
              <a:rect l="l" t="t" r="r" b="b"/>
              <a:pathLst>
                <a:path w="293369" h="49529">
                  <a:moveTo>
                    <a:pt x="49174" y="24587"/>
                  </a:moveTo>
                  <a:lnTo>
                    <a:pt x="47371" y="15341"/>
                  </a:lnTo>
                  <a:lnTo>
                    <a:pt x="41973" y="7200"/>
                  </a:lnTo>
                  <a:lnTo>
                    <a:pt x="33832" y="1803"/>
                  </a:lnTo>
                  <a:lnTo>
                    <a:pt x="24587" y="0"/>
                  </a:lnTo>
                  <a:lnTo>
                    <a:pt x="15328" y="1803"/>
                  </a:lnTo>
                  <a:lnTo>
                    <a:pt x="7200" y="7200"/>
                  </a:lnTo>
                  <a:lnTo>
                    <a:pt x="1803" y="15341"/>
                  </a:lnTo>
                  <a:lnTo>
                    <a:pt x="0" y="24587"/>
                  </a:lnTo>
                  <a:lnTo>
                    <a:pt x="1803" y="33845"/>
                  </a:lnTo>
                  <a:lnTo>
                    <a:pt x="7200" y="41973"/>
                  </a:lnTo>
                  <a:lnTo>
                    <a:pt x="15328" y="47371"/>
                  </a:lnTo>
                  <a:lnTo>
                    <a:pt x="24587" y="49174"/>
                  </a:lnTo>
                  <a:lnTo>
                    <a:pt x="33832" y="47371"/>
                  </a:lnTo>
                  <a:lnTo>
                    <a:pt x="41973" y="41973"/>
                  </a:lnTo>
                  <a:lnTo>
                    <a:pt x="47371" y="33845"/>
                  </a:lnTo>
                  <a:lnTo>
                    <a:pt x="49174" y="24587"/>
                  </a:lnTo>
                  <a:close/>
                </a:path>
                <a:path w="293369" h="49529">
                  <a:moveTo>
                    <a:pt x="293331" y="24587"/>
                  </a:moveTo>
                  <a:lnTo>
                    <a:pt x="291528" y="15341"/>
                  </a:lnTo>
                  <a:lnTo>
                    <a:pt x="286131" y="7200"/>
                  </a:lnTo>
                  <a:lnTo>
                    <a:pt x="277990" y="1803"/>
                  </a:lnTo>
                  <a:lnTo>
                    <a:pt x="268744" y="0"/>
                  </a:lnTo>
                  <a:lnTo>
                    <a:pt x="259486" y="1803"/>
                  </a:lnTo>
                  <a:lnTo>
                    <a:pt x="251358" y="7200"/>
                  </a:lnTo>
                  <a:lnTo>
                    <a:pt x="245960" y="15341"/>
                  </a:lnTo>
                  <a:lnTo>
                    <a:pt x="244157" y="24587"/>
                  </a:lnTo>
                  <a:lnTo>
                    <a:pt x="245960" y="33845"/>
                  </a:lnTo>
                  <a:lnTo>
                    <a:pt x="251358" y="41973"/>
                  </a:lnTo>
                  <a:lnTo>
                    <a:pt x="259486" y="47371"/>
                  </a:lnTo>
                  <a:lnTo>
                    <a:pt x="268744" y="49174"/>
                  </a:lnTo>
                  <a:lnTo>
                    <a:pt x="277990" y="47371"/>
                  </a:lnTo>
                  <a:lnTo>
                    <a:pt x="286131" y="41973"/>
                  </a:lnTo>
                  <a:lnTo>
                    <a:pt x="291528" y="33845"/>
                  </a:lnTo>
                  <a:lnTo>
                    <a:pt x="293331" y="245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32903" y="5614869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4">
                  <a:moveTo>
                    <a:pt x="0" y="0"/>
                  </a:moveTo>
                  <a:lnTo>
                    <a:pt x="48728" y="0"/>
                  </a:lnTo>
                  <a:lnTo>
                    <a:pt x="97456" y="0"/>
                  </a:lnTo>
                  <a:lnTo>
                    <a:pt x="146184" y="0"/>
                  </a:lnTo>
                  <a:lnTo>
                    <a:pt x="19491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71973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30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77061" y="5614869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4">
                  <a:moveTo>
                    <a:pt x="0" y="0"/>
                  </a:moveTo>
                  <a:lnTo>
                    <a:pt x="48728" y="0"/>
                  </a:lnTo>
                  <a:lnTo>
                    <a:pt x="97456" y="0"/>
                  </a:lnTo>
                  <a:lnTo>
                    <a:pt x="146184" y="0"/>
                  </a:lnTo>
                  <a:lnTo>
                    <a:pt x="19491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16130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30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20364" y="5616777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7" y="0"/>
                  </a:lnTo>
                  <a:lnTo>
                    <a:pt x="98295" y="0"/>
                  </a:lnTo>
                  <a:lnTo>
                    <a:pt x="147444" y="0"/>
                  </a:lnTo>
                  <a:lnTo>
                    <a:pt x="19659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60288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30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4521" y="5616777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7" y="0"/>
                  </a:lnTo>
                  <a:lnTo>
                    <a:pt x="98295" y="0"/>
                  </a:lnTo>
                  <a:lnTo>
                    <a:pt x="147444" y="0"/>
                  </a:lnTo>
                  <a:lnTo>
                    <a:pt x="19659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04445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30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08679" y="5616777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8" y="0"/>
                  </a:lnTo>
                  <a:lnTo>
                    <a:pt x="98296" y="0"/>
                  </a:lnTo>
                  <a:lnTo>
                    <a:pt x="147444" y="0"/>
                  </a:lnTo>
                  <a:lnTo>
                    <a:pt x="19659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48603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30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52836" y="5616777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8" y="0"/>
                  </a:lnTo>
                  <a:lnTo>
                    <a:pt x="98296" y="0"/>
                  </a:lnTo>
                  <a:lnTo>
                    <a:pt x="147444" y="0"/>
                  </a:lnTo>
                  <a:lnTo>
                    <a:pt x="19659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92760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30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96994" y="5616777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8" y="0"/>
                  </a:lnTo>
                  <a:lnTo>
                    <a:pt x="98296" y="0"/>
                  </a:lnTo>
                  <a:lnTo>
                    <a:pt x="147444" y="0"/>
                  </a:lnTo>
                  <a:lnTo>
                    <a:pt x="19659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436917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4" y="1800"/>
                  </a:lnTo>
                  <a:lnTo>
                    <a:pt x="7201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1" y="41969"/>
                  </a:lnTo>
                  <a:lnTo>
                    <a:pt x="15334" y="47370"/>
                  </a:lnTo>
                  <a:lnTo>
                    <a:pt x="24585" y="49170"/>
                  </a:lnTo>
                  <a:lnTo>
                    <a:pt x="33837" y="47370"/>
                  </a:lnTo>
                  <a:lnTo>
                    <a:pt x="41970" y="41969"/>
                  </a:lnTo>
                  <a:lnTo>
                    <a:pt x="47371" y="33836"/>
                  </a:lnTo>
                  <a:lnTo>
                    <a:pt x="49171" y="24585"/>
                  </a:lnTo>
                  <a:lnTo>
                    <a:pt x="47371" y="15333"/>
                  </a:lnTo>
                  <a:lnTo>
                    <a:pt x="41970" y="7200"/>
                  </a:lnTo>
                  <a:lnTo>
                    <a:pt x="33837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42006" y="5614869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5">
                  <a:moveTo>
                    <a:pt x="0" y="0"/>
                  </a:moveTo>
                  <a:lnTo>
                    <a:pt x="48728" y="0"/>
                  </a:lnTo>
                  <a:lnTo>
                    <a:pt x="97456" y="0"/>
                  </a:lnTo>
                  <a:lnTo>
                    <a:pt x="146184" y="0"/>
                  </a:lnTo>
                  <a:lnTo>
                    <a:pt x="19491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81075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4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4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20485" y="4836665"/>
              <a:ext cx="2171700" cy="778510"/>
            </a:xfrm>
            <a:custGeom>
              <a:avLst/>
              <a:gdLst/>
              <a:ahLst/>
              <a:cxnLst/>
              <a:rect l="l" t="t" r="r" b="b"/>
              <a:pathLst>
                <a:path w="2171700" h="778510">
                  <a:moveTo>
                    <a:pt x="1965677" y="778204"/>
                  </a:moveTo>
                  <a:lnTo>
                    <a:pt x="2014406" y="778204"/>
                  </a:lnTo>
                  <a:lnTo>
                    <a:pt x="2063134" y="778204"/>
                  </a:lnTo>
                  <a:lnTo>
                    <a:pt x="2111862" y="778204"/>
                  </a:lnTo>
                  <a:lnTo>
                    <a:pt x="2160590" y="778204"/>
                  </a:lnTo>
                </a:path>
                <a:path w="2171700" h="778510">
                  <a:moveTo>
                    <a:pt x="0" y="759635"/>
                  </a:moveTo>
                  <a:lnTo>
                    <a:pt x="32050" y="712157"/>
                  </a:lnTo>
                  <a:lnTo>
                    <a:pt x="64178" y="666210"/>
                  </a:lnTo>
                  <a:lnTo>
                    <a:pt x="96385" y="621795"/>
                  </a:lnTo>
                  <a:lnTo>
                    <a:pt x="128669" y="578911"/>
                  </a:lnTo>
                  <a:lnTo>
                    <a:pt x="161030" y="537559"/>
                  </a:lnTo>
                  <a:lnTo>
                    <a:pt x="193470" y="497739"/>
                  </a:lnTo>
                  <a:lnTo>
                    <a:pt x="225987" y="459450"/>
                  </a:lnTo>
                  <a:lnTo>
                    <a:pt x="258582" y="422693"/>
                  </a:lnTo>
                  <a:lnTo>
                    <a:pt x="291255" y="387467"/>
                  </a:lnTo>
                  <a:lnTo>
                    <a:pt x="324006" y="353773"/>
                  </a:lnTo>
                  <a:lnTo>
                    <a:pt x="356835" y="321611"/>
                  </a:lnTo>
                  <a:lnTo>
                    <a:pt x="389741" y="290980"/>
                  </a:lnTo>
                  <a:lnTo>
                    <a:pt x="422725" y="261881"/>
                  </a:lnTo>
                  <a:lnTo>
                    <a:pt x="455787" y="234313"/>
                  </a:lnTo>
                  <a:lnTo>
                    <a:pt x="488926" y="208277"/>
                  </a:lnTo>
                  <a:lnTo>
                    <a:pt x="522144" y="183773"/>
                  </a:lnTo>
                  <a:lnTo>
                    <a:pt x="555439" y="160800"/>
                  </a:lnTo>
                  <a:lnTo>
                    <a:pt x="588812" y="139359"/>
                  </a:lnTo>
                  <a:lnTo>
                    <a:pt x="622263" y="119449"/>
                  </a:lnTo>
                  <a:lnTo>
                    <a:pt x="655792" y="101071"/>
                  </a:lnTo>
                  <a:lnTo>
                    <a:pt x="723082" y="68910"/>
                  </a:lnTo>
                  <a:lnTo>
                    <a:pt x="790684" y="42875"/>
                  </a:lnTo>
                  <a:lnTo>
                    <a:pt x="858597" y="22967"/>
                  </a:lnTo>
                  <a:lnTo>
                    <a:pt x="926821" y="9185"/>
                  </a:lnTo>
                  <a:lnTo>
                    <a:pt x="995356" y="1530"/>
                  </a:lnTo>
                  <a:lnTo>
                    <a:pt x="1029740" y="0"/>
                  </a:lnTo>
                  <a:lnTo>
                    <a:pt x="1064202" y="1"/>
                  </a:lnTo>
                  <a:lnTo>
                    <a:pt x="1133360" y="4598"/>
                  </a:lnTo>
                  <a:lnTo>
                    <a:pt x="1202829" y="15322"/>
                  </a:lnTo>
                  <a:lnTo>
                    <a:pt x="1272608" y="32172"/>
                  </a:lnTo>
                  <a:lnTo>
                    <a:pt x="1342699" y="55149"/>
                  </a:lnTo>
                  <a:lnTo>
                    <a:pt x="1413102" y="84252"/>
                  </a:lnTo>
                  <a:lnTo>
                    <a:pt x="1448419" y="101101"/>
                  </a:lnTo>
                  <a:lnTo>
                    <a:pt x="1483815" y="119481"/>
                  </a:lnTo>
                  <a:lnTo>
                    <a:pt x="1519288" y="139394"/>
                  </a:lnTo>
                  <a:lnTo>
                    <a:pt x="1554839" y="160837"/>
                  </a:lnTo>
                  <a:lnTo>
                    <a:pt x="1590468" y="183813"/>
                  </a:lnTo>
                  <a:lnTo>
                    <a:pt x="1626175" y="208320"/>
                  </a:lnTo>
                  <a:lnTo>
                    <a:pt x="1661959" y="234358"/>
                  </a:lnTo>
                  <a:lnTo>
                    <a:pt x="1697822" y="261928"/>
                  </a:lnTo>
                  <a:lnTo>
                    <a:pt x="1733762" y="291030"/>
                  </a:lnTo>
                  <a:lnTo>
                    <a:pt x="1769780" y="321664"/>
                  </a:lnTo>
                  <a:lnTo>
                    <a:pt x="1805875" y="353829"/>
                  </a:lnTo>
                  <a:lnTo>
                    <a:pt x="1842049" y="387525"/>
                  </a:lnTo>
                  <a:lnTo>
                    <a:pt x="1878300" y="422753"/>
                  </a:lnTo>
                  <a:lnTo>
                    <a:pt x="1914629" y="459513"/>
                  </a:lnTo>
                  <a:lnTo>
                    <a:pt x="1951036" y="497805"/>
                  </a:lnTo>
                  <a:lnTo>
                    <a:pt x="1987520" y="537628"/>
                  </a:lnTo>
                  <a:lnTo>
                    <a:pt x="2024083" y="578982"/>
                  </a:lnTo>
                  <a:lnTo>
                    <a:pt x="2060723" y="621868"/>
                  </a:lnTo>
                  <a:lnTo>
                    <a:pt x="2097441" y="666286"/>
                  </a:lnTo>
                  <a:lnTo>
                    <a:pt x="2134237" y="712236"/>
                  </a:lnTo>
                  <a:lnTo>
                    <a:pt x="2171110" y="759717"/>
                  </a:lnTo>
                </a:path>
                <a:path w="2171700" h="778510">
                  <a:moveTo>
                    <a:pt x="247040" y="759084"/>
                  </a:moveTo>
                  <a:lnTo>
                    <a:pt x="282937" y="715120"/>
                  </a:lnTo>
                  <a:lnTo>
                    <a:pt x="318860" y="673110"/>
                  </a:lnTo>
                  <a:lnTo>
                    <a:pt x="354809" y="633054"/>
                  </a:lnTo>
                  <a:lnTo>
                    <a:pt x="390784" y="594952"/>
                  </a:lnTo>
                  <a:lnTo>
                    <a:pt x="426786" y="558804"/>
                  </a:lnTo>
                  <a:lnTo>
                    <a:pt x="462814" y="524610"/>
                  </a:lnTo>
                  <a:lnTo>
                    <a:pt x="498868" y="492370"/>
                  </a:lnTo>
                  <a:lnTo>
                    <a:pt x="534949" y="462085"/>
                  </a:lnTo>
                  <a:lnTo>
                    <a:pt x="571056" y="433753"/>
                  </a:lnTo>
                  <a:lnTo>
                    <a:pt x="607189" y="407376"/>
                  </a:lnTo>
                  <a:lnTo>
                    <a:pt x="643349" y="382953"/>
                  </a:lnTo>
                  <a:lnTo>
                    <a:pt x="679535" y="360484"/>
                  </a:lnTo>
                  <a:lnTo>
                    <a:pt x="715747" y="339969"/>
                  </a:lnTo>
                  <a:lnTo>
                    <a:pt x="751985" y="321408"/>
                  </a:lnTo>
                  <a:lnTo>
                    <a:pt x="788250" y="304801"/>
                  </a:lnTo>
                  <a:lnTo>
                    <a:pt x="824541" y="290149"/>
                  </a:lnTo>
                  <a:lnTo>
                    <a:pt x="860858" y="277450"/>
                  </a:lnTo>
                  <a:lnTo>
                    <a:pt x="933572" y="257916"/>
                  </a:lnTo>
                  <a:lnTo>
                    <a:pt x="1006391" y="246198"/>
                  </a:lnTo>
                  <a:lnTo>
                    <a:pt x="1079315" y="242296"/>
                  </a:lnTo>
                  <a:lnTo>
                    <a:pt x="1115816" y="243276"/>
                  </a:lnTo>
                  <a:lnTo>
                    <a:pt x="1188898" y="251099"/>
                  </a:lnTo>
                  <a:lnTo>
                    <a:pt x="1262085" y="266739"/>
                  </a:lnTo>
                  <a:lnTo>
                    <a:pt x="1298718" y="277490"/>
                  </a:lnTo>
                  <a:lnTo>
                    <a:pt x="1335378" y="290195"/>
                  </a:lnTo>
                  <a:lnTo>
                    <a:pt x="1372063" y="304854"/>
                  </a:lnTo>
                  <a:lnTo>
                    <a:pt x="1408775" y="321468"/>
                  </a:lnTo>
                  <a:lnTo>
                    <a:pt x="1445514" y="340035"/>
                  </a:lnTo>
                  <a:lnTo>
                    <a:pt x="1482278" y="360557"/>
                  </a:lnTo>
                  <a:lnTo>
                    <a:pt x="1519069" y="383032"/>
                  </a:lnTo>
                  <a:lnTo>
                    <a:pt x="1555886" y="407462"/>
                  </a:lnTo>
                  <a:lnTo>
                    <a:pt x="1592729" y="433846"/>
                  </a:lnTo>
                  <a:lnTo>
                    <a:pt x="1629599" y="462184"/>
                  </a:lnTo>
                  <a:lnTo>
                    <a:pt x="1666495" y="492476"/>
                  </a:lnTo>
                  <a:lnTo>
                    <a:pt x="1703418" y="524722"/>
                  </a:lnTo>
                  <a:lnTo>
                    <a:pt x="1740366" y="558923"/>
                  </a:lnTo>
                  <a:lnTo>
                    <a:pt x="1777341" y="595077"/>
                  </a:lnTo>
                  <a:lnTo>
                    <a:pt x="1814342" y="633186"/>
                  </a:lnTo>
                  <a:lnTo>
                    <a:pt x="1851370" y="673249"/>
                  </a:lnTo>
                  <a:lnTo>
                    <a:pt x="1888424" y="715266"/>
                  </a:lnTo>
                  <a:lnTo>
                    <a:pt x="1925504" y="759237"/>
                  </a:lnTo>
                </a:path>
                <a:path w="2171700" h="778510">
                  <a:moveTo>
                    <a:pt x="492928" y="760244"/>
                  </a:moveTo>
                  <a:lnTo>
                    <a:pt x="528309" y="720661"/>
                  </a:lnTo>
                  <a:lnTo>
                    <a:pt x="563885" y="683723"/>
                  </a:lnTo>
                  <a:lnTo>
                    <a:pt x="599654" y="649431"/>
                  </a:lnTo>
                  <a:lnTo>
                    <a:pt x="635617" y="617783"/>
                  </a:lnTo>
                  <a:lnTo>
                    <a:pt x="671775" y="588780"/>
                  </a:lnTo>
                  <a:lnTo>
                    <a:pt x="708126" y="562422"/>
                  </a:lnTo>
                  <a:lnTo>
                    <a:pt x="744672" y="538709"/>
                  </a:lnTo>
                  <a:lnTo>
                    <a:pt x="781411" y="517642"/>
                  </a:lnTo>
                  <a:lnTo>
                    <a:pt x="818345" y="499219"/>
                  </a:lnTo>
                  <a:lnTo>
                    <a:pt x="855473" y="483441"/>
                  </a:lnTo>
                  <a:lnTo>
                    <a:pt x="892794" y="470308"/>
                  </a:lnTo>
                  <a:lnTo>
                    <a:pt x="930310" y="459820"/>
                  </a:lnTo>
                  <a:lnTo>
                    <a:pt x="968019" y="451977"/>
                  </a:lnTo>
                  <a:lnTo>
                    <a:pt x="1005923" y="446780"/>
                  </a:lnTo>
                  <a:lnTo>
                    <a:pt x="1044021" y="444227"/>
                  </a:lnTo>
                  <a:lnTo>
                    <a:pt x="1082312" y="444319"/>
                  </a:lnTo>
                  <a:lnTo>
                    <a:pt x="1120798" y="447056"/>
                  </a:lnTo>
                  <a:lnTo>
                    <a:pt x="1159478" y="452438"/>
                  </a:lnTo>
                  <a:lnTo>
                    <a:pt x="1198351" y="460466"/>
                  </a:lnTo>
                  <a:lnTo>
                    <a:pt x="1237419" y="471138"/>
                  </a:lnTo>
                  <a:lnTo>
                    <a:pt x="1276681" y="484455"/>
                  </a:lnTo>
                  <a:lnTo>
                    <a:pt x="1316137" y="500417"/>
                  </a:lnTo>
                  <a:lnTo>
                    <a:pt x="1355787" y="519024"/>
                  </a:lnTo>
                  <a:lnTo>
                    <a:pt x="1395630" y="540276"/>
                  </a:lnTo>
                  <a:lnTo>
                    <a:pt x="1435668" y="564174"/>
                  </a:lnTo>
                  <a:lnTo>
                    <a:pt x="1475900" y="590716"/>
                  </a:lnTo>
                  <a:lnTo>
                    <a:pt x="1516326" y="619903"/>
                  </a:lnTo>
                  <a:lnTo>
                    <a:pt x="1556946" y="651735"/>
                  </a:lnTo>
                  <a:lnTo>
                    <a:pt x="1597760" y="686212"/>
                  </a:lnTo>
                  <a:lnTo>
                    <a:pt x="1638768" y="723334"/>
                  </a:lnTo>
                  <a:lnTo>
                    <a:pt x="1679970" y="763101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467064" y="5695953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27947" y="5687475"/>
            <a:ext cx="20847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4000" algn="l"/>
                <a:tab pos="500380" algn="l"/>
                <a:tab pos="742315" algn="l"/>
                <a:tab pos="986790" algn="l"/>
                <a:tab pos="1233170" algn="l"/>
                <a:tab pos="1477645" algn="l"/>
                <a:tab pos="1721485" algn="l"/>
                <a:tab pos="1965325" algn="l"/>
              </a:tabLst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G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U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G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G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C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C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A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997189" y="2383290"/>
            <a:ext cx="35560" cy="260985"/>
          </a:xfrm>
          <a:custGeom>
            <a:avLst/>
            <a:gdLst/>
            <a:ahLst/>
            <a:cxnLst/>
            <a:rect l="l" t="t" r="r" b="b"/>
            <a:pathLst>
              <a:path w="35560" h="260985">
                <a:moveTo>
                  <a:pt x="35494" y="260929"/>
                </a:moveTo>
                <a:lnTo>
                  <a:pt x="28395" y="208744"/>
                </a:lnTo>
                <a:lnTo>
                  <a:pt x="21296" y="156558"/>
                </a:lnTo>
                <a:lnTo>
                  <a:pt x="14197" y="104371"/>
                </a:lnTo>
                <a:lnTo>
                  <a:pt x="7098" y="52185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937007" y="2160756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69480" y="2160756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459682" y="2003374"/>
            <a:ext cx="167005" cy="179705"/>
          </a:xfrm>
          <a:custGeom>
            <a:avLst/>
            <a:gdLst/>
            <a:ahLst/>
            <a:cxnLst/>
            <a:rect l="l" t="t" r="r" b="b"/>
            <a:pathLst>
              <a:path w="167004" h="179705">
                <a:moveTo>
                  <a:pt x="0" y="0"/>
                </a:moveTo>
                <a:lnTo>
                  <a:pt x="33336" y="35900"/>
                </a:lnTo>
                <a:lnTo>
                  <a:pt x="66672" y="71800"/>
                </a:lnTo>
                <a:lnTo>
                  <a:pt x="100008" y="107701"/>
                </a:lnTo>
                <a:lnTo>
                  <a:pt x="133344" y="143601"/>
                </a:lnTo>
                <a:lnTo>
                  <a:pt x="166680" y="179502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5002107" y="2621943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627456" y="2383188"/>
            <a:ext cx="65405" cy="260985"/>
          </a:xfrm>
          <a:custGeom>
            <a:avLst/>
            <a:gdLst/>
            <a:ahLst/>
            <a:cxnLst/>
            <a:rect l="l" t="t" r="r" b="b"/>
            <a:pathLst>
              <a:path w="65404" h="260985">
                <a:moveTo>
                  <a:pt x="65213" y="0"/>
                </a:moveTo>
                <a:lnTo>
                  <a:pt x="52170" y="52169"/>
                </a:lnTo>
                <a:lnTo>
                  <a:pt x="39127" y="104339"/>
                </a:lnTo>
                <a:lnTo>
                  <a:pt x="26084" y="156508"/>
                </a:lnTo>
                <a:lnTo>
                  <a:pt x="13042" y="208678"/>
                </a:lnTo>
                <a:lnTo>
                  <a:pt x="0" y="260847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5002260" y="3096693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554183" y="2621943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556473" y="3096693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153546" y="2748137"/>
            <a:ext cx="336550" cy="0"/>
          </a:xfrm>
          <a:custGeom>
            <a:avLst/>
            <a:gdLst/>
            <a:ahLst/>
            <a:cxnLst/>
            <a:rect l="l" t="t" r="r" b="b"/>
            <a:pathLst>
              <a:path w="336550">
                <a:moveTo>
                  <a:pt x="0" y="0"/>
                </a:moveTo>
                <a:lnTo>
                  <a:pt x="0" y="0"/>
                </a:lnTo>
                <a:lnTo>
                  <a:pt x="288426" y="0"/>
                </a:lnTo>
                <a:lnTo>
                  <a:pt x="336497" y="0"/>
                </a:lnTo>
              </a:path>
            </a:pathLst>
          </a:custGeom>
          <a:ln w="14306">
            <a:solidFill>
              <a:srgbClr val="003F8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602968" y="2844600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5">
                <a:moveTo>
                  <a:pt x="0" y="274541"/>
                </a:moveTo>
                <a:lnTo>
                  <a:pt x="0" y="219633"/>
                </a:lnTo>
                <a:lnTo>
                  <a:pt x="0" y="164725"/>
                </a:lnTo>
                <a:lnTo>
                  <a:pt x="0" y="109816"/>
                </a:lnTo>
                <a:lnTo>
                  <a:pt x="0" y="54908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045984" y="2844600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5">
                <a:moveTo>
                  <a:pt x="0" y="274541"/>
                </a:moveTo>
                <a:lnTo>
                  <a:pt x="0" y="219633"/>
                </a:lnTo>
                <a:lnTo>
                  <a:pt x="0" y="164725"/>
                </a:lnTo>
                <a:lnTo>
                  <a:pt x="0" y="109816"/>
                </a:lnTo>
                <a:lnTo>
                  <a:pt x="0" y="54908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153546" y="3215470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0" y="0"/>
                </a:moveTo>
                <a:lnTo>
                  <a:pt x="0" y="0"/>
                </a:lnTo>
                <a:lnTo>
                  <a:pt x="290724" y="0"/>
                </a:lnTo>
                <a:lnTo>
                  <a:pt x="339178" y="0"/>
                </a:lnTo>
              </a:path>
            </a:pathLst>
          </a:custGeom>
          <a:ln w="14306">
            <a:solidFill>
              <a:srgbClr val="003F8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000336" y="3544315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555006" y="3544315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599098" y="3319363"/>
            <a:ext cx="1270" cy="247650"/>
          </a:xfrm>
          <a:custGeom>
            <a:avLst/>
            <a:gdLst/>
            <a:ahLst/>
            <a:cxnLst/>
            <a:rect l="l" t="t" r="r" b="b"/>
            <a:pathLst>
              <a:path w="1270" h="247650">
                <a:moveTo>
                  <a:pt x="0" y="247091"/>
                </a:moveTo>
                <a:lnTo>
                  <a:pt x="186" y="197672"/>
                </a:lnTo>
                <a:lnTo>
                  <a:pt x="373" y="148254"/>
                </a:lnTo>
                <a:lnTo>
                  <a:pt x="560" y="98836"/>
                </a:lnTo>
                <a:lnTo>
                  <a:pt x="748" y="49418"/>
                </a:lnTo>
                <a:lnTo>
                  <a:pt x="935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040629" y="3319363"/>
            <a:ext cx="1270" cy="247650"/>
          </a:xfrm>
          <a:custGeom>
            <a:avLst/>
            <a:gdLst/>
            <a:ahLst/>
            <a:cxnLst/>
            <a:rect l="l" t="t" r="r" b="b"/>
            <a:pathLst>
              <a:path w="1270" h="247650">
                <a:moveTo>
                  <a:pt x="0" y="247091"/>
                </a:moveTo>
                <a:lnTo>
                  <a:pt x="187" y="197672"/>
                </a:lnTo>
                <a:lnTo>
                  <a:pt x="374" y="148254"/>
                </a:lnTo>
                <a:lnTo>
                  <a:pt x="562" y="98836"/>
                </a:lnTo>
                <a:lnTo>
                  <a:pt x="749" y="49418"/>
                </a:lnTo>
                <a:lnTo>
                  <a:pt x="936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152258" y="3663728"/>
            <a:ext cx="339090" cy="0"/>
          </a:xfrm>
          <a:custGeom>
            <a:avLst/>
            <a:gdLst/>
            <a:ahLst/>
            <a:cxnLst/>
            <a:rect l="l" t="t" r="r" b="b"/>
            <a:pathLst>
              <a:path w="339089">
                <a:moveTo>
                  <a:pt x="0" y="0"/>
                </a:moveTo>
                <a:lnTo>
                  <a:pt x="0" y="0"/>
                </a:lnTo>
                <a:lnTo>
                  <a:pt x="290494" y="0"/>
                </a:lnTo>
                <a:lnTo>
                  <a:pt x="338909" y="0"/>
                </a:lnTo>
              </a:path>
            </a:pathLst>
          </a:custGeom>
          <a:ln w="14306">
            <a:solidFill>
              <a:srgbClr val="003F8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6" name="object 66"/>
          <p:cNvGrpSpPr/>
          <p:nvPr/>
        </p:nvGrpSpPr>
        <p:grpSpPr>
          <a:xfrm>
            <a:off x="4369464" y="4685288"/>
            <a:ext cx="2030095" cy="958215"/>
            <a:chOff x="4369464" y="4685288"/>
            <a:chExt cx="2030095" cy="958215"/>
          </a:xfrm>
        </p:grpSpPr>
        <p:sp>
          <p:nvSpPr>
            <p:cNvPr id="67" name="object 67"/>
            <p:cNvSpPr/>
            <p:nvPr/>
          </p:nvSpPr>
          <p:spPr>
            <a:xfrm>
              <a:off x="4369460" y="5590286"/>
              <a:ext cx="293370" cy="49530"/>
            </a:xfrm>
            <a:custGeom>
              <a:avLst/>
              <a:gdLst/>
              <a:ahLst/>
              <a:cxnLst/>
              <a:rect l="l" t="t" r="r" b="b"/>
              <a:pathLst>
                <a:path w="293370" h="49529">
                  <a:moveTo>
                    <a:pt x="49174" y="24587"/>
                  </a:moveTo>
                  <a:lnTo>
                    <a:pt x="47371" y="15341"/>
                  </a:lnTo>
                  <a:lnTo>
                    <a:pt x="41973" y="7200"/>
                  </a:lnTo>
                  <a:lnTo>
                    <a:pt x="33832" y="1803"/>
                  </a:lnTo>
                  <a:lnTo>
                    <a:pt x="24587" y="0"/>
                  </a:lnTo>
                  <a:lnTo>
                    <a:pt x="15328" y="1803"/>
                  </a:lnTo>
                  <a:lnTo>
                    <a:pt x="7200" y="7200"/>
                  </a:lnTo>
                  <a:lnTo>
                    <a:pt x="1803" y="15341"/>
                  </a:lnTo>
                  <a:lnTo>
                    <a:pt x="0" y="24587"/>
                  </a:lnTo>
                  <a:lnTo>
                    <a:pt x="1803" y="33845"/>
                  </a:lnTo>
                  <a:lnTo>
                    <a:pt x="7200" y="41973"/>
                  </a:lnTo>
                  <a:lnTo>
                    <a:pt x="15328" y="47371"/>
                  </a:lnTo>
                  <a:lnTo>
                    <a:pt x="24587" y="49174"/>
                  </a:lnTo>
                  <a:lnTo>
                    <a:pt x="33832" y="47371"/>
                  </a:lnTo>
                  <a:lnTo>
                    <a:pt x="41973" y="41973"/>
                  </a:lnTo>
                  <a:lnTo>
                    <a:pt x="47371" y="33845"/>
                  </a:lnTo>
                  <a:lnTo>
                    <a:pt x="49174" y="24587"/>
                  </a:lnTo>
                  <a:close/>
                </a:path>
                <a:path w="293370" h="49529">
                  <a:moveTo>
                    <a:pt x="293331" y="24587"/>
                  </a:moveTo>
                  <a:lnTo>
                    <a:pt x="291528" y="15341"/>
                  </a:lnTo>
                  <a:lnTo>
                    <a:pt x="286131" y="7200"/>
                  </a:lnTo>
                  <a:lnTo>
                    <a:pt x="277990" y="1803"/>
                  </a:lnTo>
                  <a:lnTo>
                    <a:pt x="268744" y="0"/>
                  </a:lnTo>
                  <a:lnTo>
                    <a:pt x="259486" y="1803"/>
                  </a:lnTo>
                  <a:lnTo>
                    <a:pt x="251358" y="7200"/>
                  </a:lnTo>
                  <a:lnTo>
                    <a:pt x="245960" y="15341"/>
                  </a:lnTo>
                  <a:lnTo>
                    <a:pt x="244157" y="24587"/>
                  </a:lnTo>
                  <a:lnTo>
                    <a:pt x="245960" y="33845"/>
                  </a:lnTo>
                  <a:lnTo>
                    <a:pt x="251358" y="41973"/>
                  </a:lnTo>
                  <a:lnTo>
                    <a:pt x="259486" y="47371"/>
                  </a:lnTo>
                  <a:lnTo>
                    <a:pt x="268744" y="49174"/>
                  </a:lnTo>
                  <a:lnTo>
                    <a:pt x="277990" y="47371"/>
                  </a:lnTo>
                  <a:lnTo>
                    <a:pt x="286131" y="41973"/>
                  </a:lnTo>
                  <a:lnTo>
                    <a:pt x="291528" y="33845"/>
                  </a:lnTo>
                  <a:lnTo>
                    <a:pt x="293331" y="245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17854" y="5616777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8" y="0"/>
                  </a:lnTo>
                  <a:lnTo>
                    <a:pt x="98296" y="0"/>
                  </a:lnTo>
                  <a:lnTo>
                    <a:pt x="147445" y="0"/>
                  </a:lnTo>
                  <a:lnTo>
                    <a:pt x="196593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57779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662867" y="5614869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5">
                  <a:moveTo>
                    <a:pt x="0" y="0"/>
                  </a:moveTo>
                  <a:lnTo>
                    <a:pt x="48727" y="0"/>
                  </a:lnTo>
                  <a:lnTo>
                    <a:pt x="97455" y="0"/>
                  </a:lnTo>
                  <a:lnTo>
                    <a:pt x="146183" y="0"/>
                  </a:lnTo>
                  <a:lnTo>
                    <a:pt x="19491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101936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907025" y="5614869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5">
                  <a:moveTo>
                    <a:pt x="0" y="0"/>
                  </a:moveTo>
                  <a:lnTo>
                    <a:pt x="48728" y="0"/>
                  </a:lnTo>
                  <a:lnTo>
                    <a:pt x="97456" y="0"/>
                  </a:lnTo>
                  <a:lnTo>
                    <a:pt x="146184" y="0"/>
                  </a:lnTo>
                  <a:lnTo>
                    <a:pt x="19491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602968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404162" y="5616948"/>
              <a:ext cx="200025" cy="1905"/>
            </a:xfrm>
            <a:custGeom>
              <a:avLst/>
              <a:gdLst/>
              <a:ahLst/>
              <a:cxnLst/>
              <a:rect l="l" t="t" r="r" b="b"/>
              <a:pathLst>
                <a:path w="200025" h="1904">
                  <a:moveTo>
                    <a:pt x="0" y="1388"/>
                  </a:moveTo>
                  <a:lnTo>
                    <a:pt x="49928" y="1041"/>
                  </a:lnTo>
                  <a:lnTo>
                    <a:pt x="99857" y="694"/>
                  </a:lnTo>
                  <a:lnTo>
                    <a:pt x="149787" y="347"/>
                  </a:lnTo>
                  <a:lnTo>
                    <a:pt x="199717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861538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4" y="0"/>
                  </a:moveTo>
                  <a:lnTo>
                    <a:pt x="15332" y="1800"/>
                  </a:lnTo>
                  <a:lnTo>
                    <a:pt x="7199" y="7200"/>
                  </a:lnTo>
                  <a:lnTo>
                    <a:pt x="1799" y="15333"/>
                  </a:lnTo>
                  <a:lnTo>
                    <a:pt x="0" y="24585"/>
                  </a:lnTo>
                  <a:lnTo>
                    <a:pt x="1799" y="33836"/>
                  </a:lnTo>
                  <a:lnTo>
                    <a:pt x="7199" y="41969"/>
                  </a:lnTo>
                  <a:lnTo>
                    <a:pt x="15332" y="47370"/>
                  </a:lnTo>
                  <a:lnTo>
                    <a:pt x="24584" y="49170"/>
                  </a:lnTo>
                  <a:lnTo>
                    <a:pt x="33835" y="47370"/>
                  </a:lnTo>
                  <a:lnTo>
                    <a:pt x="41968" y="41969"/>
                  </a:lnTo>
                  <a:lnTo>
                    <a:pt x="47369" y="33836"/>
                  </a:lnTo>
                  <a:lnTo>
                    <a:pt x="49169" y="24585"/>
                  </a:lnTo>
                  <a:lnTo>
                    <a:pt x="47369" y="15333"/>
                  </a:lnTo>
                  <a:lnTo>
                    <a:pt x="41968" y="7200"/>
                  </a:lnTo>
                  <a:lnTo>
                    <a:pt x="33835" y="1800"/>
                  </a:lnTo>
                  <a:lnTo>
                    <a:pt x="245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652117" y="5614869"/>
              <a:ext cx="209550" cy="0"/>
            </a:xfrm>
            <a:custGeom>
              <a:avLst/>
              <a:gdLst/>
              <a:ahLst/>
              <a:cxnLst/>
              <a:rect l="l" t="t" r="r" b="b"/>
              <a:pathLst>
                <a:path w="209550">
                  <a:moveTo>
                    <a:pt x="0" y="0"/>
                  </a:moveTo>
                  <a:lnTo>
                    <a:pt x="52358" y="0"/>
                  </a:lnTo>
                  <a:lnTo>
                    <a:pt x="104716" y="0"/>
                  </a:lnTo>
                  <a:lnTo>
                    <a:pt x="157075" y="0"/>
                  </a:lnTo>
                  <a:lnTo>
                    <a:pt x="209433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105695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910784" y="5614869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5">
                  <a:moveTo>
                    <a:pt x="0" y="0"/>
                  </a:moveTo>
                  <a:lnTo>
                    <a:pt x="48728" y="0"/>
                  </a:lnTo>
                  <a:lnTo>
                    <a:pt x="97456" y="0"/>
                  </a:lnTo>
                  <a:lnTo>
                    <a:pt x="146184" y="0"/>
                  </a:lnTo>
                  <a:lnTo>
                    <a:pt x="19491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349852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154086" y="5616777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8" y="0"/>
                  </a:lnTo>
                  <a:lnTo>
                    <a:pt x="98296" y="0"/>
                  </a:lnTo>
                  <a:lnTo>
                    <a:pt x="147444" y="0"/>
                  </a:lnTo>
                  <a:lnTo>
                    <a:pt x="19659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354995" y="5593887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3" y="1799"/>
                  </a:lnTo>
                  <a:lnTo>
                    <a:pt x="7200" y="7199"/>
                  </a:lnTo>
                  <a:lnTo>
                    <a:pt x="1800" y="15332"/>
                  </a:lnTo>
                  <a:lnTo>
                    <a:pt x="0" y="24584"/>
                  </a:lnTo>
                  <a:lnTo>
                    <a:pt x="1800" y="33835"/>
                  </a:lnTo>
                  <a:lnTo>
                    <a:pt x="7200" y="41968"/>
                  </a:lnTo>
                  <a:lnTo>
                    <a:pt x="15333" y="47369"/>
                  </a:lnTo>
                  <a:lnTo>
                    <a:pt x="24585" y="49169"/>
                  </a:lnTo>
                  <a:lnTo>
                    <a:pt x="33836" y="47369"/>
                  </a:lnTo>
                  <a:lnTo>
                    <a:pt x="41969" y="41968"/>
                  </a:lnTo>
                  <a:lnTo>
                    <a:pt x="47370" y="33835"/>
                  </a:lnTo>
                  <a:lnTo>
                    <a:pt x="49170" y="24584"/>
                  </a:lnTo>
                  <a:lnTo>
                    <a:pt x="47370" y="15332"/>
                  </a:lnTo>
                  <a:lnTo>
                    <a:pt x="41969" y="7199"/>
                  </a:lnTo>
                  <a:lnTo>
                    <a:pt x="33836" y="1799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405562" y="4694825"/>
              <a:ext cx="1960245" cy="923925"/>
            </a:xfrm>
            <a:custGeom>
              <a:avLst/>
              <a:gdLst/>
              <a:ahLst/>
              <a:cxnLst/>
              <a:rect l="l" t="t" r="r" b="b"/>
              <a:pathLst>
                <a:path w="1960245" h="923925">
                  <a:moveTo>
                    <a:pt x="744612" y="922109"/>
                  </a:moveTo>
                  <a:lnTo>
                    <a:pt x="795822" y="922450"/>
                  </a:lnTo>
                  <a:lnTo>
                    <a:pt x="847032" y="922791"/>
                  </a:lnTo>
                  <a:lnTo>
                    <a:pt x="898242" y="923133"/>
                  </a:lnTo>
                  <a:lnTo>
                    <a:pt x="949453" y="923474"/>
                  </a:lnTo>
                </a:path>
                <a:path w="1960245" h="923925">
                  <a:moveTo>
                    <a:pt x="0" y="899953"/>
                  </a:moveTo>
                  <a:lnTo>
                    <a:pt x="28314" y="847013"/>
                  </a:lnTo>
                  <a:lnTo>
                    <a:pt x="56658" y="795678"/>
                  </a:lnTo>
                  <a:lnTo>
                    <a:pt x="85029" y="745947"/>
                  </a:lnTo>
                  <a:lnTo>
                    <a:pt x="113430" y="697820"/>
                  </a:lnTo>
                  <a:lnTo>
                    <a:pt x="141858" y="651297"/>
                  </a:lnTo>
                  <a:lnTo>
                    <a:pt x="170316" y="606378"/>
                  </a:lnTo>
                  <a:lnTo>
                    <a:pt x="198801" y="563064"/>
                  </a:lnTo>
                  <a:lnTo>
                    <a:pt x="227315" y="521354"/>
                  </a:lnTo>
                  <a:lnTo>
                    <a:pt x="255858" y="481249"/>
                  </a:lnTo>
                  <a:lnTo>
                    <a:pt x="284429" y="442748"/>
                  </a:lnTo>
                  <a:lnTo>
                    <a:pt x="313029" y="405851"/>
                  </a:lnTo>
                  <a:lnTo>
                    <a:pt x="341657" y="370558"/>
                  </a:lnTo>
                  <a:lnTo>
                    <a:pt x="370313" y="336869"/>
                  </a:lnTo>
                  <a:lnTo>
                    <a:pt x="398998" y="304785"/>
                  </a:lnTo>
                  <a:lnTo>
                    <a:pt x="427711" y="274305"/>
                  </a:lnTo>
                  <a:lnTo>
                    <a:pt x="456453" y="245430"/>
                  </a:lnTo>
                  <a:lnTo>
                    <a:pt x="485223" y="218158"/>
                  </a:lnTo>
                  <a:lnTo>
                    <a:pt x="514022" y="192491"/>
                  </a:lnTo>
                  <a:lnTo>
                    <a:pt x="571705" y="145970"/>
                  </a:lnTo>
                  <a:lnTo>
                    <a:pt x="629502" y="105866"/>
                  </a:lnTo>
                  <a:lnTo>
                    <a:pt x="687412" y="72179"/>
                  </a:lnTo>
                  <a:lnTo>
                    <a:pt x="745437" y="44909"/>
                  </a:lnTo>
                  <a:lnTo>
                    <a:pt x="803575" y="24056"/>
                  </a:lnTo>
                  <a:lnTo>
                    <a:pt x="861827" y="9621"/>
                  </a:lnTo>
                  <a:lnTo>
                    <a:pt x="920193" y="1602"/>
                  </a:lnTo>
                  <a:lnTo>
                    <a:pt x="949419" y="0"/>
                  </a:lnTo>
                  <a:lnTo>
                    <a:pt x="978673" y="1"/>
                  </a:lnTo>
                  <a:lnTo>
                    <a:pt x="1037267" y="4817"/>
                  </a:lnTo>
                  <a:lnTo>
                    <a:pt x="1095975" y="16050"/>
                  </a:lnTo>
                  <a:lnTo>
                    <a:pt x="1154796" y="33700"/>
                  </a:lnTo>
                  <a:lnTo>
                    <a:pt x="1213731" y="57767"/>
                  </a:lnTo>
                  <a:lnTo>
                    <a:pt x="1272781" y="88251"/>
                  </a:lnTo>
                  <a:lnTo>
                    <a:pt x="1331944" y="125152"/>
                  </a:lnTo>
                  <a:lnTo>
                    <a:pt x="1391221" y="168471"/>
                  </a:lnTo>
                  <a:lnTo>
                    <a:pt x="1420902" y="192536"/>
                  </a:lnTo>
                  <a:lnTo>
                    <a:pt x="1450611" y="218206"/>
                  </a:lnTo>
                  <a:lnTo>
                    <a:pt x="1480349" y="245480"/>
                  </a:lnTo>
                  <a:lnTo>
                    <a:pt x="1510116" y="274359"/>
                  </a:lnTo>
                  <a:lnTo>
                    <a:pt x="1539911" y="304842"/>
                  </a:lnTo>
                  <a:lnTo>
                    <a:pt x="1569734" y="336929"/>
                  </a:lnTo>
                  <a:lnTo>
                    <a:pt x="1599586" y="370620"/>
                  </a:lnTo>
                  <a:lnTo>
                    <a:pt x="1629467" y="405916"/>
                  </a:lnTo>
                  <a:lnTo>
                    <a:pt x="1659375" y="442815"/>
                  </a:lnTo>
                  <a:lnTo>
                    <a:pt x="1689313" y="481320"/>
                  </a:lnTo>
                  <a:lnTo>
                    <a:pt x="1719278" y="521428"/>
                  </a:lnTo>
                  <a:lnTo>
                    <a:pt x="1749273" y="563141"/>
                  </a:lnTo>
                  <a:lnTo>
                    <a:pt x="1779295" y="606458"/>
                  </a:lnTo>
                  <a:lnTo>
                    <a:pt x="1809347" y="651379"/>
                  </a:lnTo>
                  <a:lnTo>
                    <a:pt x="1839426" y="697905"/>
                  </a:lnTo>
                  <a:lnTo>
                    <a:pt x="1869534" y="746034"/>
                  </a:lnTo>
                  <a:lnTo>
                    <a:pt x="1899671" y="795768"/>
                  </a:lnTo>
                  <a:lnTo>
                    <a:pt x="1929836" y="847107"/>
                  </a:lnTo>
                  <a:lnTo>
                    <a:pt x="1960029" y="900049"/>
                  </a:lnTo>
                </a:path>
                <a:path w="1960245" h="923925">
                  <a:moveTo>
                    <a:pt x="243928" y="899583"/>
                  </a:moveTo>
                  <a:lnTo>
                    <a:pt x="271759" y="846037"/>
                  </a:lnTo>
                  <a:lnTo>
                    <a:pt x="299650" y="794679"/>
                  </a:lnTo>
                  <a:lnTo>
                    <a:pt x="327602" y="745509"/>
                  </a:lnTo>
                  <a:lnTo>
                    <a:pt x="355614" y="698527"/>
                  </a:lnTo>
                  <a:lnTo>
                    <a:pt x="383687" y="653733"/>
                  </a:lnTo>
                  <a:lnTo>
                    <a:pt x="411821" y="611127"/>
                  </a:lnTo>
                  <a:lnTo>
                    <a:pt x="440015" y="570708"/>
                  </a:lnTo>
                  <a:lnTo>
                    <a:pt x="468269" y="532478"/>
                  </a:lnTo>
                  <a:lnTo>
                    <a:pt x="496584" y="496435"/>
                  </a:lnTo>
                  <a:lnTo>
                    <a:pt x="524959" y="462581"/>
                  </a:lnTo>
                  <a:lnTo>
                    <a:pt x="553395" y="430914"/>
                  </a:lnTo>
                  <a:lnTo>
                    <a:pt x="581892" y="401435"/>
                  </a:lnTo>
                  <a:lnTo>
                    <a:pt x="610449" y="374145"/>
                  </a:lnTo>
                  <a:lnTo>
                    <a:pt x="667744" y="326127"/>
                  </a:lnTo>
                  <a:lnTo>
                    <a:pt x="725282" y="286860"/>
                  </a:lnTo>
                  <a:lnTo>
                    <a:pt x="783061" y="256346"/>
                  </a:lnTo>
                  <a:lnTo>
                    <a:pt x="841083" y="234583"/>
                  </a:lnTo>
                  <a:lnTo>
                    <a:pt x="899347" y="221571"/>
                  </a:lnTo>
                  <a:lnTo>
                    <a:pt x="957852" y="217312"/>
                  </a:lnTo>
                  <a:lnTo>
                    <a:pt x="987196" y="218464"/>
                  </a:lnTo>
                  <a:lnTo>
                    <a:pt x="1046065" y="227332"/>
                  </a:lnTo>
                  <a:lnTo>
                    <a:pt x="1105176" y="244951"/>
                  </a:lnTo>
                  <a:lnTo>
                    <a:pt x="1164529" y="271323"/>
                  </a:lnTo>
                  <a:lnTo>
                    <a:pt x="1224124" y="306445"/>
                  </a:lnTo>
                  <a:lnTo>
                    <a:pt x="1283961" y="350320"/>
                  </a:lnTo>
                  <a:lnTo>
                    <a:pt x="1313970" y="375539"/>
                  </a:lnTo>
                  <a:lnTo>
                    <a:pt x="1344040" y="402946"/>
                  </a:lnTo>
                  <a:lnTo>
                    <a:pt x="1374170" y="432541"/>
                  </a:lnTo>
                  <a:lnTo>
                    <a:pt x="1404361" y="464324"/>
                  </a:lnTo>
                  <a:lnTo>
                    <a:pt x="1434612" y="498295"/>
                  </a:lnTo>
                  <a:lnTo>
                    <a:pt x="1464924" y="534454"/>
                  </a:lnTo>
                  <a:lnTo>
                    <a:pt x="1495296" y="572800"/>
                  </a:lnTo>
                  <a:lnTo>
                    <a:pt x="1525729" y="613335"/>
                  </a:lnTo>
                  <a:lnTo>
                    <a:pt x="1556223" y="656057"/>
                  </a:lnTo>
                  <a:lnTo>
                    <a:pt x="1586777" y="700968"/>
                  </a:lnTo>
                  <a:lnTo>
                    <a:pt x="1617391" y="748066"/>
                  </a:lnTo>
                  <a:lnTo>
                    <a:pt x="1648066" y="797352"/>
                  </a:lnTo>
                  <a:lnTo>
                    <a:pt x="1678801" y="848826"/>
                  </a:lnTo>
                  <a:lnTo>
                    <a:pt x="1709597" y="902488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892005" y="5105620"/>
              <a:ext cx="984250" cy="489584"/>
            </a:xfrm>
            <a:custGeom>
              <a:avLst/>
              <a:gdLst/>
              <a:ahLst/>
              <a:cxnLst/>
              <a:rect l="l" t="t" r="r" b="b"/>
              <a:pathLst>
                <a:path w="984250" h="489585">
                  <a:moveTo>
                    <a:pt x="0" y="489067"/>
                  </a:moveTo>
                  <a:lnTo>
                    <a:pt x="27037" y="434721"/>
                  </a:lnTo>
                  <a:lnTo>
                    <a:pt x="54137" y="383573"/>
                  </a:lnTo>
                  <a:lnTo>
                    <a:pt x="81300" y="335622"/>
                  </a:lnTo>
                  <a:lnTo>
                    <a:pt x="108527" y="290868"/>
                  </a:lnTo>
                  <a:lnTo>
                    <a:pt x="135816" y="249310"/>
                  </a:lnTo>
                  <a:lnTo>
                    <a:pt x="163168" y="210951"/>
                  </a:lnTo>
                  <a:lnTo>
                    <a:pt x="190583" y="175788"/>
                  </a:lnTo>
                  <a:lnTo>
                    <a:pt x="218062" y="143822"/>
                  </a:lnTo>
                  <a:lnTo>
                    <a:pt x="245603" y="115053"/>
                  </a:lnTo>
                  <a:lnTo>
                    <a:pt x="300874" y="67107"/>
                  </a:lnTo>
                  <a:lnTo>
                    <a:pt x="356397" y="31950"/>
                  </a:lnTo>
                  <a:lnTo>
                    <a:pt x="412172" y="9580"/>
                  </a:lnTo>
                  <a:lnTo>
                    <a:pt x="468199" y="0"/>
                  </a:lnTo>
                  <a:lnTo>
                    <a:pt x="496307" y="5"/>
                  </a:lnTo>
                  <a:lnTo>
                    <a:pt x="552712" y="9606"/>
                  </a:lnTo>
                  <a:lnTo>
                    <a:pt x="609369" y="31997"/>
                  </a:lnTo>
                  <a:lnTo>
                    <a:pt x="666278" y="67175"/>
                  </a:lnTo>
                  <a:lnTo>
                    <a:pt x="723438" y="115142"/>
                  </a:lnTo>
                  <a:lnTo>
                    <a:pt x="752113" y="143921"/>
                  </a:lnTo>
                  <a:lnTo>
                    <a:pt x="780851" y="175897"/>
                  </a:lnTo>
                  <a:lnTo>
                    <a:pt x="809652" y="211070"/>
                  </a:lnTo>
                  <a:lnTo>
                    <a:pt x="838515" y="249441"/>
                  </a:lnTo>
                  <a:lnTo>
                    <a:pt x="867442" y="291008"/>
                  </a:lnTo>
                  <a:lnTo>
                    <a:pt x="896432" y="335773"/>
                  </a:lnTo>
                  <a:lnTo>
                    <a:pt x="925485" y="383734"/>
                  </a:lnTo>
                  <a:lnTo>
                    <a:pt x="954600" y="434893"/>
                  </a:lnTo>
                  <a:lnTo>
                    <a:pt x="983779" y="489249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4352868" y="5695953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574240" y="2282835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7718667" y="2505344"/>
            <a:ext cx="139065" cy="139065"/>
          </a:xfrm>
          <a:custGeom>
            <a:avLst/>
            <a:gdLst/>
            <a:ahLst/>
            <a:cxnLst/>
            <a:rect l="l" t="t" r="r" b="b"/>
            <a:pathLst>
              <a:path w="139065" h="139064">
                <a:moveTo>
                  <a:pt x="138857" y="138856"/>
                </a:moveTo>
                <a:lnTo>
                  <a:pt x="104143" y="104142"/>
                </a:lnTo>
                <a:lnTo>
                  <a:pt x="69428" y="69428"/>
                </a:lnTo>
                <a:lnTo>
                  <a:pt x="34714" y="34714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910983" y="1943727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7713743" y="2166141"/>
            <a:ext cx="139065" cy="139065"/>
          </a:xfrm>
          <a:custGeom>
            <a:avLst/>
            <a:gdLst/>
            <a:ahLst/>
            <a:cxnLst/>
            <a:rect l="l" t="t" r="r" b="b"/>
            <a:pathLst>
              <a:path w="139065" h="139064">
                <a:moveTo>
                  <a:pt x="0" y="138782"/>
                </a:moveTo>
                <a:lnTo>
                  <a:pt x="34695" y="104086"/>
                </a:lnTo>
                <a:lnTo>
                  <a:pt x="69391" y="69391"/>
                </a:lnTo>
                <a:lnTo>
                  <a:pt x="104086" y="34695"/>
                </a:lnTo>
                <a:lnTo>
                  <a:pt x="138781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8453555" y="1943727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8067581" y="2061444"/>
            <a:ext cx="321945" cy="0"/>
          </a:xfrm>
          <a:custGeom>
            <a:avLst/>
            <a:gdLst/>
            <a:ahLst/>
            <a:cxnLst/>
            <a:rect l="l" t="t" r="r" b="b"/>
            <a:pathLst>
              <a:path w="321945">
                <a:moveTo>
                  <a:pt x="0" y="0"/>
                </a:moveTo>
                <a:lnTo>
                  <a:pt x="0" y="0"/>
                </a:lnTo>
                <a:lnTo>
                  <a:pt x="268266" y="0"/>
                </a:lnTo>
                <a:lnTo>
                  <a:pt x="321919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913347" y="2621943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C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8599444" y="2505506"/>
            <a:ext cx="139065" cy="139065"/>
          </a:xfrm>
          <a:custGeom>
            <a:avLst/>
            <a:gdLst/>
            <a:ahLst/>
            <a:cxnLst/>
            <a:rect l="l" t="t" r="r" b="b"/>
            <a:pathLst>
              <a:path w="139065" h="139064">
                <a:moveTo>
                  <a:pt x="138743" y="0"/>
                </a:moveTo>
                <a:lnTo>
                  <a:pt x="104058" y="34685"/>
                </a:lnTo>
                <a:lnTo>
                  <a:pt x="69372" y="69371"/>
                </a:lnTo>
                <a:lnTo>
                  <a:pt x="34686" y="104057"/>
                </a:lnTo>
                <a:lnTo>
                  <a:pt x="0" y="138743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7913499" y="3096693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8455843" y="2621943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453555" y="3096693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8499795" y="2844600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5">
                <a:moveTo>
                  <a:pt x="0" y="274541"/>
                </a:moveTo>
                <a:lnTo>
                  <a:pt x="0" y="219633"/>
                </a:lnTo>
                <a:lnTo>
                  <a:pt x="0" y="164725"/>
                </a:lnTo>
                <a:lnTo>
                  <a:pt x="0" y="109816"/>
                </a:lnTo>
                <a:lnTo>
                  <a:pt x="0" y="54908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957224" y="2844600"/>
            <a:ext cx="0" cy="274955"/>
          </a:xfrm>
          <a:custGeom>
            <a:avLst/>
            <a:gdLst/>
            <a:ahLst/>
            <a:cxnLst/>
            <a:rect l="l" t="t" r="r" b="b"/>
            <a:pathLst>
              <a:path h="274955">
                <a:moveTo>
                  <a:pt x="0" y="274541"/>
                </a:moveTo>
                <a:lnTo>
                  <a:pt x="0" y="219633"/>
                </a:lnTo>
                <a:lnTo>
                  <a:pt x="0" y="164725"/>
                </a:lnTo>
                <a:lnTo>
                  <a:pt x="0" y="109816"/>
                </a:lnTo>
                <a:lnTo>
                  <a:pt x="0" y="54908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064653" y="2842565"/>
            <a:ext cx="327660" cy="286385"/>
          </a:xfrm>
          <a:custGeom>
            <a:avLst/>
            <a:gdLst/>
            <a:ahLst/>
            <a:cxnLst/>
            <a:rect l="l" t="t" r="r" b="b"/>
            <a:pathLst>
              <a:path w="327659" h="286385">
                <a:moveTo>
                  <a:pt x="541" y="47"/>
                </a:moveTo>
                <a:lnTo>
                  <a:pt x="41122" y="35555"/>
                </a:lnTo>
                <a:lnTo>
                  <a:pt x="81702" y="71063"/>
                </a:lnTo>
                <a:lnTo>
                  <a:pt x="122282" y="106570"/>
                </a:lnTo>
                <a:lnTo>
                  <a:pt x="162863" y="142078"/>
                </a:lnTo>
                <a:lnTo>
                  <a:pt x="203443" y="177586"/>
                </a:lnTo>
                <a:lnTo>
                  <a:pt x="244024" y="213094"/>
                </a:lnTo>
                <a:lnTo>
                  <a:pt x="284605" y="248602"/>
                </a:lnTo>
                <a:lnTo>
                  <a:pt x="325186" y="284110"/>
                </a:lnTo>
              </a:path>
              <a:path w="327659" h="286385">
                <a:moveTo>
                  <a:pt x="0" y="286321"/>
                </a:moveTo>
                <a:lnTo>
                  <a:pt x="36358" y="254507"/>
                </a:lnTo>
                <a:lnTo>
                  <a:pt x="72716" y="222694"/>
                </a:lnTo>
                <a:lnTo>
                  <a:pt x="109074" y="190881"/>
                </a:lnTo>
                <a:lnTo>
                  <a:pt x="145432" y="159067"/>
                </a:lnTo>
                <a:lnTo>
                  <a:pt x="181791" y="127254"/>
                </a:lnTo>
                <a:lnTo>
                  <a:pt x="218149" y="95440"/>
                </a:lnTo>
                <a:lnTo>
                  <a:pt x="254507" y="63627"/>
                </a:lnTo>
                <a:lnTo>
                  <a:pt x="290865" y="31813"/>
                </a:lnTo>
                <a:lnTo>
                  <a:pt x="327223" y="0"/>
                </a:lnTo>
              </a:path>
            </a:pathLst>
          </a:custGeom>
          <a:ln w="14306">
            <a:solidFill>
              <a:srgbClr val="003F8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8794951" y="2282835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8604580" y="2166228"/>
            <a:ext cx="139065" cy="139065"/>
          </a:xfrm>
          <a:custGeom>
            <a:avLst/>
            <a:gdLst/>
            <a:ahLst/>
            <a:cxnLst/>
            <a:rect l="l" t="t" r="r" b="b"/>
            <a:pathLst>
              <a:path w="139065" h="139064">
                <a:moveTo>
                  <a:pt x="0" y="0"/>
                </a:moveTo>
                <a:lnTo>
                  <a:pt x="34737" y="34738"/>
                </a:lnTo>
                <a:lnTo>
                  <a:pt x="69475" y="69476"/>
                </a:lnTo>
                <a:lnTo>
                  <a:pt x="104213" y="104215"/>
                </a:lnTo>
                <a:lnTo>
                  <a:pt x="138951" y="138953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7916662" y="3544315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8459463" y="3544315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8500583" y="3319361"/>
            <a:ext cx="1905" cy="247650"/>
          </a:xfrm>
          <a:custGeom>
            <a:avLst/>
            <a:gdLst/>
            <a:ahLst/>
            <a:cxnLst/>
            <a:rect l="l" t="t" r="r" b="b"/>
            <a:pathLst>
              <a:path w="1904" h="247650">
                <a:moveTo>
                  <a:pt x="1872" y="247084"/>
                </a:moveTo>
                <a:lnTo>
                  <a:pt x="1497" y="197667"/>
                </a:lnTo>
                <a:lnTo>
                  <a:pt x="1122" y="148250"/>
                </a:lnTo>
                <a:lnTo>
                  <a:pt x="748" y="98833"/>
                </a:lnTo>
                <a:lnTo>
                  <a:pt x="373" y="49416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958011" y="3319361"/>
            <a:ext cx="1905" cy="247650"/>
          </a:xfrm>
          <a:custGeom>
            <a:avLst/>
            <a:gdLst/>
            <a:ahLst/>
            <a:cxnLst/>
            <a:rect l="l" t="t" r="r" b="b"/>
            <a:pathLst>
              <a:path w="1904" h="247650">
                <a:moveTo>
                  <a:pt x="1871" y="247084"/>
                </a:moveTo>
                <a:lnTo>
                  <a:pt x="1496" y="197667"/>
                </a:lnTo>
                <a:lnTo>
                  <a:pt x="1122" y="148250"/>
                </a:lnTo>
                <a:lnTo>
                  <a:pt x="748" y="98833"/>
                </a:lnTo>
                <a:lnTo>
                  <a:pt x="373" y="49416"/>
                </a:lnTo>
                <a:lnTo>
                  <a:pt x="0" y="0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068519" y="3663728"/>
            <a:ext cx="327660" cy="0"/>
          </a:xfrm>
          <a:custGeom>
            <a:avLst/>
            <a:gdLst/>
            <a:ahLst/>
            <a:cxnLst/>
            <a:rect l="l" t="t" r="r" b="b"/>
            <a:pathLst>
              <a:path w="327659">
                <a:moveTo>
                  <a:pt x="0" y="0"/>
                </a:moveTo>
                <a:lnTo>
                  <a:pt x="0" y="0"/>
                </a:lnTo>
                <a:lnTo>
                  <a:pt x="272581" y="0"/>
                </a:lnTo>
                <a:lnTo>
                  <a:pt x="327097" y="0"/>
                </a:lnTo>
              </a:path>
            </a:pathLst>
          </a:custGeom>
          <a:ln w="14306">
            <a:solidFill>
              <a:srgbClr val="003F8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6" name="object 106"/>
          <p:cNvGrpSpPr/>
          <p:nvPr/>
        </p:nvGrpSpPr>
        <p:grpSpPr>
          <a:xfrm>
            <a:off x="7058587" y="4613242"/>
            <a:ext cx="2246630" cy="1026794"/>
            <a:chOff x="7058587" y="4613242"/>
            <a:chExt cx="2246630" cy="1026794"/>
          </a:xfrm>
        </p:grpSpPr>
        <p:sp>
          <p:nvSpPr>
            <p:cNvPr id="107" name="object 107"/>
            <p:cNvSpPr/>
            <p:nvPr/>
          </p:nvSpPr>
          <p:spPr>
            <a:xfrm>
              <a:off x="7058584" y="5590285"/>
              <a:ext cx="293370" cy="49530"/>
            </a:xfrm>
            <a:custGeom>
              <a:avLst/>
              <a:gdLst/>
              <a:ahLst/>
              <a:cxnLst/>
              <a:rect l="l" t="t" r="r" b="b"/>
              <a:pathLst>
                <a:path w="293370" h="49529">
                  <a:moveTo>
                    <a:pt x="49174" y="24587"/>
                  </a:moveTo>
                  <a:lnTo>
                    <a:pt x="47371" y="15341"/>
                  </a:lnTo>
                  <a:lnTo>
                    <a:pt x="41973" y="7200"/>
                  </a:lnTo>
                  <a:lnTo>
                    <a:pt x="33832" y="1803"/>
                  </a:lnTo>
                  <a:lnTo>
                    <a:pt x="24587" y="0"/>
                  </a:lnTo>
                  <a:lnTo>
                    <a:pt x="15328" y="1803"/>
                  </a:lnTo>
                  <a:lnTo>
                    <a:pt x="7200" y="7200"/>
                  </a:lnTo>
                  <a:lnTo>
                    <a:pt x="1803" y="15341"/>
                  </a:lnTo>
                  <a:lnTo>
                    <a:pt x="0" y="24587"/>
                  </a:lnTo>
                  <a:lnTo>
                    <a:pt x="1803" y="33845"/>
                  </a:lnTo>
                  <a:lnTo>
                    <a:pt x="7200" y="41973"/>
                  </a:lnTo>
                  <a:lnTo>
                    <a:pt x="15328" y="47371"/>
                  </a:lnTo>
                  <a:lnTo>
                    <a:pt x="24587" y="49174"/>
                  </a:lnTo>
                  <a:lnTo>
                    <a:pt x="33832" y="47371"/>
                  </a:lnTo>
                  <a:lnTo>
                    <a:pt x="41973" y="41973"/>
                  </a:lnTo>
                  <a:lnTo>
                    <a:pt x="47371" y="33845"/>
                  </a:lnTo>
                  <a:lnTo>
                    <a:pt x="49174" y="24587"/>
                  </a:lnTo>
                  <a:close/>
                </a:path>
                <a:path w="293370" h="49529">
                  <a:moveTo>
                    <a:pt x="293331" y="24587"/>
                  </a:moveTo>
                  <a:lnTo>
                    <a:pt x="291528" y="15341"/>
                  </a:lnTo>
                  <a:lnTo>
                    <a:pt x="286131" y="7200"/>
                  </a:lnTo>
                  <a:lnTo>
                    <a:pt x="277990" y="1803"/>
                  </a:lnTo>
                  <a:lnTo>
                    <a:pt x="268744" y="0"/>
                  </a:lnTo>
                  <a:lnTo>
                    <a:pt x="259486" y="1803"/>
                  </a:lnTo>
                  <a:lnTo>
                    <a:pt x="251358" y="7200"/>
                  </a:lnTo>
                  <a:lnTo>
                    <a:pt x="245960" y="15341"/>
                  </a:lnTo>
                  <a:lnTo>
                    <a:pt x="244157" y="24587"/>
                  </a:lnTo>
                  <a:lnTo>
                    <a:pt x="245960" y="33845"/>
                  </a:lnTo>
                  <a:lnTo>
                    <a:pt x="251358" y="41973"/>
                  </a:lnTo>
                  <a:lnTo>
                    <a:pt x="259486" y="47371"/>
                  </a:lnTo>
                  <a:lnTo>
                    <a:pt x="268744" y="49174"/>
                  </a:lnTo>
                  <a:lnTo>
                    <a:pt x="277990" y="47371"/>
                  </a:lnTo>
                  <a:lnTo>
                    <a:pt x="286131" y="41973"/>
                  </a:lnTo>
                  <a:lnTo>
                    <a:pt x="291528" y="33845"/>
                  </a:lnTo>
                  <a:lnTo>
                    <a:pt x="293331" y="245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106979" y="5616776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8" y="0"/>
                  </a:lnTo>
                  <a:lnTo>
                    <a:pt x="98296" y="0"/>
                  </a:lnTo>
                  <a:lnTo>
                    <a:pt x="147444" y="0"/>
                  </a:lnTo>
                  <a:lnTo>
                    <a:pt x="19659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546903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4" y="0"/>
                  </a:moveTo>
                  <a:lnTo>
                    <a:pt x="15332" y="1800"/>
                  </a:lnTo>
                  <a:lnTo>
                    <a:pt x="7199" y="7200"/>
                  </a:lnTo>
                  <a:lnTo>
                    <a:pt x="1799" y="15333"/>
                  </a:lnTo>
                  <a:lnTo>
                    <a:pt x="0" y="24585"/>
                  </a:lnTo>
                  <a:lnTo>
                    <a:pt x="1799" y="33836"/>
                  </a:lnTo>
                  <a:lnTo>
                    <a:pt x="7199" y="41969"/>
                  </a:lnTo>
                  <a:lnTo>
                    <a:pt x="15332" y="47370"/>
                  </a:lnTo>
                  <a:lnTo>
                    <a:pt x="24584" y="49170"/>
                  </a:lnTo>
                  <a:lnTo>
                    <a:pt x="33835" y="47370"/>
                  </a:lnTo>
                  <a:lnTo>
                    <a:pt x="41968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8" y="7200"/>
                  </a:lnTo>
                  <a:lnTo>
                    <a:pt x="33835" y="1800"/>
                  </a:lnTo>
                  <a:lnTo>
                    <a:pt x="245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351136" y="5616776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8" y="0"/>
                  </a:lnTo>
                  <a:lnTo>
                    <a:pt x="98296" y="0"/>
                  </a:lnTo>
                  <a:lnTo>
                    <a:pt x="147444" y="0"/>
                  </a:lnTo>
                  <a:lnTo>
                    <a:pt x="19659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791060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595293" y="5616776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8" y="0"/>
                  </a:lnTo>
                  <a:lnTo>
                    <a:pt x="98296" y="0"/>
                  </a:lnTo>
                  <a:lnTo>
                    <a:pt x="147445" y="0"/>
                  </a:lnTo>
                  <a:lnTo>
                    <a:pt x="196594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8035217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839451" y="5616776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8" y="0"/>
                  </a:lnTo>
                  <a:lnTo>
                    <a:pt x="98296" y="0"/>
                  </a:lnTo>
                  <a:lnTo>
                    <a:pt x="147444" y="0"/>
                  </a:lnTo>
                  <a:lnTo>
                    <a:pt x="19659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279375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083610" y="5616776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7" y="0"/>
                  </a:lnTo>
                  <a:lnTo>
                    <a:pt x="98295" y="0"/>
                  </a:lnTo>
                  <a:lnTo>
                    <a:pt x="147443" y="0"/>
                  </a:lnTo>
                  <a:lnTo>
                    <a:pt x="19659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523532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327765" y="5616776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9" y="0"/>
                  </a:lnTo>
                  <a:lnTo>
                    <a:pt x="98297" y="0"/>
                  </a:lnTo>
                  <a:lnTo>
                    <a:pt x="147445" y="0"/>
                  </a:lnTo>
                  <a:lnTo>
                    <a:pt x="196593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767691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4" y="0"/>
                  </a:moveTo>
                  <a:lnTo>
                    <a:pt x="15332" y="1800"/>
                  </a:lnTo>
                  <a:lnTo>
                    <a:pt x="7199" y="7200"/>
                  </a:lnTo>
                  <a:lnTo>
                    <a:pt x="1799" y="15333"/>
                  </a:lnTo>
                  <a:lnTo>
                    <a:pt x="0" y="24585"/>
                  </a:lnTo>
                  <a:lnTo>
                    <a:pt x="1799" y="33836"/>
                  </a:lnTo>
                  <a:lnTo>
                    <a:pt x="7199" y="41969"/>
                  </a:lnTo>
                  <a:lnTo>
                    <a:pt x="15332" y="47370"/>
                  </a:lnTo>
                  <a:lnTo>
                    <a:pt x="24584" y="49170"/>
                  </a:lnTo>
                  <a:lnTo>
                    <a:pt x="33835" y="47370"/>
                  </a:lnTo>
                  <a:lnTo>
                    <a:pt x="41968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8" y="7200"/>
                  </a:lnTo>
                  <a:lnTo>
                    <a:pt x="33835" y="1800"/>
                  </a:lnTo>
                  <a:lnTo>
                    <a:pt x="245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8571925" y="5616776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8" y="0"/>
                  </a:lnTo>
                  <a:lnTo>
                    <a:pt x="98296" y="0"/>
                  </a:lnTo>
                  <a:lnTo>
                    <a:pt x="147444" y="0"/>
                  </a:lnTo>
                  <a:lnTo>
                    <a:pt x="196591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9011847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816082" y="5616776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49147" y="0"/>
                  </a:lnTo>
                  <a:lnTo>
                    <a:pt x="98295" y="0"/>
                  </a:lnTo>
                  <a:lnTo>
                    <a:pt x="147444" y="0"/>
                  </a:lnTo>
                  <a:lnTo>
                    <a:pt x="19659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9256005" y="559028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29">
                  <a:moveTo>
                    <a:pt x="24585" y="0"/>
                  </a:moveTo>
                  <a:lnTo>
                    <a:pt x="15333" y="1800"/>
                  </a:lnTo>
                  <a:lnTo>
                    <a:pt x="7200" y="7200"/>
                  </a:lnTo>
                  <a:lnTo>
                    <a:pt x="1800" y="15333"/>
                  </a:lnTo>
                  <a:lnTo>
                    <a:pt x="0" y="24585"/>
                  </a:lnTo>
                  <a:lnTo>
                    <a:pt x="1800" y="33836"/>
                  </a:lnTo>
                  <a:lnTo>
                    <a:pt x="7200" y="41969"/>
                  </a:lnTo>
                  <a:lnTo>
                    <a:pt x="15333" y="47370"/>
                  </a:lnTo>
                  <a:lnTo>
                    <a:pt x="24585" y="49170"/>
                  </a:lnTo>
                  <a:lnTo>
                    <a:pt x="33836" y="47370"/>
                  </a:lnTo>
                  <a:lnTo>
                    <a:pt x="41969" y="41969"/>
                  </a:lnTo>
                  <a:lnTo>
                    <a:pt x="47370" y="33836"/>
                  </a:lnTo>
                  <a:lnTo>
                    <a:pt x="49170" y="24585"/>
                  </a:lnTo>
                  <a:lnTo>
                    <a:pt x="47370" y="15333"/>
                  </a:lnTo>
                  <a:lnTo>
                    <a:pt x="41969" y="7200"/>
                  </a:lnTo>
                  <a:lnTo>
                    <a:pt x="33836" y="1800"/>
                  </a:lnTo>
                  <a:lnTo>
                    <a:pt x="24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095842" y="4622780"/>
              <a:ext cx="2171700" cy="994410"/>
            </a:xfrm>
            <a:custGeom>
              <a:avLst/>
              <a:gdLst/>
              <a:ahLst/>
              <a:cxnLst/>
              <a:rect l="l" t="t" r="r" b="b"/>
              <a:pathLst>
                <a:path w="2171700" h="994410">
                  <a:moveTo>
                    <a:pt x="1964396" y="993996"/>
                  </a:moveTo>
                  <a:lnTo>
                    <a:pt x="2013545" y="993996"/>
                  </a:lnTo>
                  <a:lnTo>
                    <a:pt x="2062693" y="993996"/>
                  </a:lnTo>
                  <a:lnTo>
                    <a:pt x="2111841" y="993996"/>
                  </a:lnTo>
                  <a:lnTo>
                    <a:pt x="2160989" y="993996"/>
                  </a:lnTo>
                </a:path>
                <a:path w="2171700" h="994410">
                  <a:moveTo>
                    <a:pt x="0" y="974212"/>
                  </a:moveTo>
                  <a:lnTo>
                    <a:pt x="34276" y="921551"/>
                  </a:lnTo>
                  <a:lnTo>
                    <a:pt x="68426" y="870353"/>
                  </a:lnTo>
                  <a:lnTo>
                    <a:pt x="102451" y="820617"/>
                  </a:lnTo>
                  <a:lnTo>
                    <a:pt x="136349" y="772345"/>
                  </a:lnTo>
                  <a:lnTo>
                    <a:pt x="170122" y="725535"/>
                  </a:lnTo>
                  <a:lnTo>
                    <a:pt x="203770" y="680189"/>
                  </a:lnTo>
                  <a:lnTo>
                    <a:pt x="237291" y="636305"/>
                  </a:lnTo>
                  <a:lnTo>
                    <a:pt x="270687" y="593883"/>
                  </a:lnTo>
                  <a:lnTo>
                    <a:pt x="303957" y="552925"/>
                  </a:lnTo>
                  <a:lnTo>
                    <a:pt x="337102" y="513430"/>
                  </a:lnTo>
                  <a:lnTo>
                    <a:pt x="370120" y="475397"/>
                  </a:lnTo>
                  <a:lnTo>
                    <a:pt x="403013" y="438827"/>
                  </a:lnTo>
                  <a:lnTo>
                    <a:pt x="435781" y="403720"/>
                  </a:lnTo>
                  <a:lnTo>
                    <a:pt x="468422" y="370076"/>
                  </a:lnTo>
                  <a:lnTo>
                    <a:pt x="500938" y="337895"/>
                  </a:lnTo>
                  <a:lnTo>
                    <a:pt x="533327" y="307176"/>
                  </a:lnTo>
                  <a:lnTo>
                    <a:pt x="565592" y="277920"/>
                  </a:lnTo>
                  <a:lnTo>
                    <a:pt x="597730" y="250128"/>
                  </a:lnTo>
                  <a:lnTo>
                    <a:pt x="629743" y="223798"/>
                  </a:lnTo>
                  <a:lnTo>
                    <a:pt x="661630" y="198930"/>
                  </a:lnTo>
                  <a:lnTo>
                    <a:pt x="693391" y="175526"/>
                  </a:lnTo>
                  <a:lnTo>
                    <a:pt x="725026" y="153584"/>
                  </a:lnTo>
                  <a:lnTo>
                    <a:pt x="787920" y="114090"/>
                  </a:lnTo>
                  <a:lnTo>
                    <a:pt x="850311" y="80446"/>
                  </a:lnTo>
                  <a:lnTo>
                    <a:pt x="912198" y="52654"/>
                  </a:lnTo>
                  <a:lnTo>
                    <a:pt x="973583" y="30714"/>
                  </a:lnTo>
                  <a:lnTo>
                    <a:pt x="1034465" y="14624"/>
                  </a:lnTo>
                  <a:lnTo>
                    <a:pt x="1094843" y="4386"/>
                  </a:lnTo>
                  <a:lnTo>
                    <a:pt x="1154719" y="0"/>
                  </a:lnTo>
                  <a:lnTo>
                    <a:pt x="1184468" y="0"/>
                  </a:lnTo>
                  <a:lnTo>
                    <a:pt x="1243590" y="4391"/>
                  </a:lnTo>
                  <a:lnTo>
                    <a:pt x="1302208" y="14632"/>
                  </a:lnTo>
                  <a:lnTo>
                    <a:pt x="1360323" y="30725"/>
                  </a:lnTo>
                  <a:lnTo>
                    <a:pt x="1417936" y="52669"/>
                  </a:lnTo>
                  <a:lnTo>
                    <a:pt x="1475045" y="80464"/>
                  </a:lnTo>
                  <a:lnTo>
                    <a:pt x="1531651" y="114111"/>
                  </a:lnTo>
                  <a:lnTo>
                    <a:pt x="1587755" y="153609"/>
                  </a:lnTo>
                  <a:lnTo>
                    <a:pt x="1643355" y="198958"/>
                  </a:lnTo>
                  <a:lnTo>
                    <a:pt x="1698453" y="250159"/>
                  </a:lnTo>
                  <a:lnTo>
                    <a:pt x="1725813" y="277954"/>
                  </a:lnTo>
                  <a:lnTo>
                    <a:pt x="1753047" y="307211"/>
                  </a:lnTo>
                  <a:lnTo>
                    <a:pt x="1780156" y="337931"/>
                  </a:lnTo>
                  <a:lnTo>
                    <a:pt x="1807139" y="370114"/>
                  </a:lnTo>
                  <a:lnTo>
                    <a:pt x="1833996" y="403760"/>
                  </a:lnTo>
                  <a:lnTo>
                    <a:pt x="1860727" y="438869"/>
                  </a:lnTo>
                  <a:lnTo>
                    <a:pt x="1887333" y="475440"/>
                  </a:lnTo>
                  <a:lnTo>
                    <a:pt x="1913813" y="513475"/>
                  </a:lnTo>
                  <a:lnTo>
                    <a:pt x="1940167" y="552972"/>
                  </a:lnTo>
                  <a:lnTo>
                    <a:pt x="1966395" y="593932"/>
                  </a:lnTo>
                  <a:lnTo>
                    <a:pt x="1992498" y="636355"/>
                  </a:lnTo>
                  <a:lnTo>
                    <a:pt x="2018475" y="680240"/>
                  </a:lnTo>
                  <a:lnTo>
                    <a:pt x="2044326" y="725589"/>
                  </a:lnTo>
                  <a:lnTo>
                    <a:pt x="2070051" y="772400"/>
                  </a:lnTo>
                  <a:lnTo>
                    <a:pt x="2095651" y="820674"/>
                  </a:lnTo>
                  <a:lnTo>
                    <a:pt x="2121125" y="870411"/>
                  </a:lnTo>
                  <a:lnTo>
                    <a:pt x="2146473" y="921611"/>
                  </a:lnTo>
                  <a:lnTo>
                    <a:pt x="2171696" y="974274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338821" y="5203712"/>
              <a:ext cx="1699895" cy="401955"/>
            </a:xfrm>
            <a:custGeom>
              <a:avLst/>
              <a:gdLst/>
              <a:ahLst/>
              <a:cxnLst/>
              <a:rect l="l" t="t" r="r" b="b"/>
              <a:pathLst>
                <a:path w="1699895" h="401954">
                  <a:moveTo>
                    <a:pt x="0" y="390454"/>
                  </a:moveTo>
                  <a:lnTo>
                    <a:pt x="21730" y="350677"/>
                  </a:lnTo>
                  <a:lnTo>
                    <a:pt x="44326" y="313058"/>
                  </a:lnTo>
                  <a:lnTo>
                    <a:pt x="67788" y="277596"/>
                  </a:lnTo>
                  <a:lnTo>
                    <a:pt x="92115" y="244291"/>
                  </a:lnTo>
                  <a:lnTo>
                    <a:pt x="117308" y="213143"/>
                  </a:lnTo>
                  <a:lnTo>
                    <a:pt x="143366" y="184153"/>
                  </a:lnTo>
                  <a:lnTo>
                    <a:pt x="198080" y="132643"/>
                  </a:lnTo>
                  <a:lnTo>
                    <a:pt x="256256" y="89763"/>
                  </a:lnTo>
                  <a:lnTo>
                    <a:pt x="317894" y="55512"/>
                  </a:lnTo>
                  <a:lnTo>
                    <a:pt x="382995" y="29889"/>
                  </a:lnTo>
                  <a:lnTo>
                    <a:pt x="451558" y="12896"/>
                  </a:lnTo>
                  <a:lnTo>
                    <a:pt x="523583" y="4531"/>
                  </a:lnTo>
                  <a:lnTo>
                    <a:pt x="560894" y="3585"/>
                  </a:lnTo>
                  <a:lnTo>
                    <a:pt x="599071" y="4796"/>
                  </a:lnTo>
                  <a:lnTo>
                    <a:pt x="638113" y="8164"/>
                  </a:lnTo>
                  <a:lnTo>
                    <a:pt x="678021" y="13689"/>
                  </a:lnTo>
                  <a:lnTo>
                    <a:pt x="718795" y="21372"/>
                  </a:lnTo>
                  <a:lnTo>
                    <a:pt x="760434" y="31211"/>
                  </a:lnTo>
                  <a:lnTo>
                    <a:pt x="802938" y="43208"/>
                  </a:lnTo>
                  <a:lnTo>
                    <a:pt x="846309" y="57363"/>
                  </a:lnTo>
                  <a:lnTo>
                    <a:pt x="890545" y="73674"/>
                  </a:lnTo>
                  <a:lnTo>
                    <a:pt x="935646" y="92143"/>
                  </a:lnTo>
                  <a:lnTo>
                    <a:pt x="981613" y="112769"/>
                  </a:lnTo>
                  <a:lnTo>
                    <a:pt x="1028446" y="135552"/>
                  </a:lnTo>
                  <a:lnTo>
                    <a:pt x="1076144" y="160492"/>
                  </a:lnTo>
                  <a:lnTo>
                    <a:pt x="1124708" y="187590"/>
                  </a:lnTo>
                  <a:lnTo>
                    <a:pt x="1174137" y="216844"/>
                  </a:lnTo>
                  <a:lnTo>
                    <a:pt x="1224432" y="248257"/>
                  </a:lnTo>
                  <a:lnTo>
                    <a:pt x="1275592" y="281826"/>
                  </a:lnTo>
                  <a:lnTo>
                    <a:pt x="1327619" y="317552"/>
                  </a:lnTo>
                  <a:lnTo>
                    <a:pt x="1380510" y="355436"/>
                  </a:lnTo>
                  <a:lnTo>
                    <a:pt x="1434268" y="395477"/>
                  </a:lnTo>
                </a:path>
                <a:path w="1699895" h="401954">
                  <a:moveTo>
                    <a:pt x="252373" y="401576"/>
                  </a:moveTo>
                  <a:lnTo>
                    <a:pt x="318471" y="363681"/>
                  </a:lnTo>
                  <a:lnTo>
                    <a:pt x="383028" y="327663"/>
                  </a:lnTo>
                  <a:lnTo>
                    <a:pt x="446046" y="293523"/>
                  </a:lnTo>
                  <a:lnTo>
                    <a:pt x="507523" y="261260"/>
                  </a:lnTo>
                  <a:lnTo>
                    <a:pt x="567460" y="230874"/>
                  </a:lnTo>
                  <a:lnTo>
                    <a:pt x="625856" y="202365"/>
                  </a:lnTo>
                  <a:lnTo>
                    <a:pt x="682712" y="175733"/>
                  </a:lnTo>
                  <a:lnTo>
                    <a:pt x="738027" y="150979"/>
                  </a:lnTo>
                  <a:lnTo>
                    <a:pt x="791803" y="128102"/>
                  </a:lnTo>
                  <a:lnTo>
                    <a:pt x="844037" y="107102"/>
                  </a:lnTo>
                  <a:lnTo>
                    <a:pt x="894732" y="87979"/>
                  </a:lnTo>
                  <a:lnTo>
                    <a:pt x="943886" y="70733"/>
                  </a:lnTo>
                  <a:lnTo>
                    <a:pt x="991500" y="55365"/>
                  </a:lnTo>
                  <a:lnTo>
                    <a:pt x="1037573" y="41874"/>
                  </a:lnTo>
                  <a:lnTo>
                    <a:pt x="1082106" y="30260"/>
                  </a:lnTo>
                  <a:lnTo>
                    <a:pt x="1125098" y="20524"/>
                  </a:lnTo>
                  <a:lnTo>
                    <a:pt x="1166551" y="12665"/>
                  </a:lnTo>
                  <a:lnTo>
                    <a:pt x="1206462" y="6682"/>
                  </a:lnTo>
                  <a:lnTo>
                    <a:pt x="1244834" y="2578"/>
                  </a:lnTo>
                  <a:lnTo>
                    <a:pt x="1316956" y="0"/>
                  </a:lnTo>
                  <a:lnTo>
                    <a:pt x="1350706" y="1526"/>
                  </a:lnTo>
                  <a:lnTo>
                    <a:pt x="1413586" y="10212"/>
                  </a:lnTo>
                  <a:lnTo>
                    <a:pt x="1470304" y="26406"/>
                  </a:lnTo>
                  <a:lnTo>
                    <a:pt x="1520860" y="50109"/>
                  </a:lnTo>
                  <a:lnTo>
                    <a:pt x="1565255" y="81321"/>
                  </a:lnTo>
                  <a:lnTo>
                    <a:pt x="1603489" y="120042"/>
                  </a:lnTo>
                  <a:lnTo>
                    <a:pt x="1635561" y="166272"/>
                  </a:lnTo>
                  <a:lnTo>
                    <a:pt x="1661472" y="220011"/>
                  </a:lnTo>
                  <a:lnTo>
                    <a:pt x="1681221" y="281258"/>
                  </a:lnTo>
                  <a:lnTo>
                    <a:pt x="1694809" y="350015"/>
                  </a:lnTo>
                  <a:lnTo>
                    <a:pt x="1699292" y="387209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7041993" y="5695953"/>
            <a:ext cx="130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300588" y="5687475"/>
            <a:ext cx="20872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9079" algn="l"/>
                <a:tab pos="502920" algn="l"/>
                <a:tab pos="744855" algn="l"/>
                <a:tab pos="988694" algn="l"/>
                <a:tab pos="1235710" algn="l"/>
                <a:tab pos="1479550" algn="l"/>
                <a:tab pos="1724025" algn="l"/>
                <a:tab pos="1967864" algn="l"/>
              </a:tabLst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U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U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G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G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C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C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A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4447875" y="6364949"/>
            <a:ext cx="1814830" cy="46418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sz="1200" b="1" spc="80" dirty="0">
                <a:latin typeface="Trebuchet MS"/>
                <a:cs typeface="Trebuchet MS"/>
              </a:rPr>
              <a:t>sharp</a:t>
            </a:r>
            <a:r>
              <a:rPr sz="1200" b="1" spc="30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turn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1200" b="1" spc="110" dirty="0">
                <a:latin typeface="Trebuchet MS"/>
                <a:cs typeface="Trebuchet MS"/>
              </a:rPr>
              <a:t>(≤4</a:t>
            </a:r>
            <a:r>
              <a:rPr sz="1200" b="1" spc="35" dirty="0">
                <a:latin typeface="Trebuchet MS"/>
                <a:cs typeface="Trebuchet MS"/>
              </a:rPr>
              <a:t> </a:t>
            </a:r>
            <a:r>
              <a:rPr sz="1200" b="1" spc="50" dirty="0">
                <a:latin typeface="Trebuchet MS"/>
                <a:cs typeface="Trebuchet MS"/>
              </a:rPr>
              <a:t>intervening</a:t>
            </a:r>
            <a:r>
              <a:rPr sz="1200" b="1" spc="40" dirty="0">
                <a:latin typeface="Trebuchet MS"/>
                <a:cs typeface="Trebuchet MS"/>
              </a:rPr>
              <a:t> </a:t>
            </a:r>
            <a:r>
              <a:rPr sz="1200" b="1" spc="70" dirty="0">
                <a:latin typeface="Trebuchet MS"/>
                <a:cs typeface="Trebuchet MS"/>
              </a:rPr>
              <a:t>bases)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4864561" y="6039814"/>
            <a:ext cx="1024890" cy="92075"/>
            <a:chOff x="4864561" y="6039814"/>
            <a:chExt cx="1024890" cy="92075"/>
          </a:xfrm>
        </p:grpSpPr>
        <p:sp>
          <p:nvSpPr>
            <p:cNvPr id="130" name="object 130"/>
            <p:cNvSpPr/>
            <p:nvPr/>
          </p:nvSpPr>
          <p:spPr>
            <a:xfrm>
              <a:off x="4876769" y="6085592"/>
              <a:ext cx="1000125" cy="635"/>
            </a:xfrm>
            <a:custGeom>
              <a:avLst/>
              <a:gdLst/>
              <a:ahLst/>
              <a:cxnLst/>
              <a:rect l="l" t="t" r="r" b="b"/>
              <a:pathLst>
                <a:path w="1000125" h="635">
                  <a:moveTo>
                    <a:pt x="0" y="0"/>
                  </a:moveTo>
                  <a:lnTo>
                    <a:pt x="9537" y="0"/>
                  </a:lnTo>
                  <a:lnTo>
                    <a:pt x="990580" y="8"/>
                  </a:lnTo>
                  <a:lnTo>
                    <a:pt x="1000117" y="8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874099" y="6039814"/>
              <a:ext cx="1005840" cy="92075"/>
            </a:xfrm>
            <a:custGeom>
              <a:avLst/>
              <a:gdLst/>
              <a:ahLst/>
              <a:cxnLst/>
              <a:rect l="l" t="t" r="r" b="b"/>
              <a:pathLst>
                <a:path w="1005839" h="92075">
                  <a:moveTo>
                    <a:pt x="0" y="0"/>
                  </a:moveTo>
                  <a:lnTo>
                    <a:pt x="0" y="91558"/>
                  </a:lnTo>
                </a:path>
                <a:path w="1005839" h="92075">
                  <a:moveTo>
                    <a:pt x="1005457" y="91567"/>
                  </a:moveTo>
                  <a:lnTo>
                    <a:pt x="1005460" y="8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5316808" y="1780955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G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5079482" y="2003374"/>
            <a:ext cx="179705" cy="179705"/>
          </a:xfrm>
          <a:custGeom>
            <a:avLst/>
            <a:gdLst/>
            <a:ahLst/>
            <a:cxnLst/>
            <a:rect l="l" t="t" r="r" b="b"/>
            <a:pathLst>
              <a:path w="179704" h="179705">
                <a:moveTo>
                  <a:pt x="179501" y="0"/>
                </a:moveTo>
                <a:lnTo>
                  <a:pt x="143601" y="35900"/>
                </a:lnTo>
                <a:lnTo>
                  <a:pt x="107700" y="71800"/>
                </a:lnTo>
                <a:lnTo>
                  <a:pt x="71800" y="107700"/>
                </a:lnTo>
                <a:lnTo>
                  <a:pt x="35900" y="143601"/>
                </a:lnTo>
                <a:lnTo>
                  <a:pt x="0" y="179501"/>
                </a:lnTo>
              </a:path>
            </a:pathLst>
          </a:custGeom>
          <a:ln w="14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 txBox="1"/>
          <p:nvPr/>
        </p:nvSpPr>
        <p:spPr>
          <a:xfrm>
            <a:off x="4613753" y="5689170"/>
            <a:ext cx="18675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4000" algn="l"/>
                <a:tab pos="498475" algn="l"/>
                <a:tab pos="742315" algn="l"/>
                <a:tab pos="981710" algn="l"/>
                <a:tab pos="1260475" algn="l"/>
                <a:tab pos="1504315" algn="l"/>
                <a:tab pos="1748789" algn="l"/>
              </a:tabLst>
            </a:pPr>
            <a:r>
              <a:rPr sz="1200" spc="-50" dirty="0">
                <a:latin typeface="Lucida Sans Unicode"/>
                <a:cs typeface="Lucida Sans Unicode"/>
              </a:rPr>
              <a:t>U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G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G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G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G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C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A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U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2838727" y="4169014"/>
            <a:ext cx="7042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3F83"/>
                </a:solidFill>
                <a:latin typeface="Lucida Sans Unicode"/>
                <a:cs typeface="Lucida Sans Unicode"/>
              </a:rPr>
              <a:t>base </a:t>
            </a:r>
            <a:r>
              <a:rPr sz="1200" spc="-20" dirty="0">
                <a:solidFill>
                  <a:srgbClr val="003F83"/>
                </a:solidFill>
                <a:latin typeface="Lucida Sans Unicode"/>
                <a:cs typeface="Lucida Sans Unicode"/>
              </a:rPr>
              <a:t>pair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2665448" y="3775010"/>
            <a:ext cx="221615" cy="387350"/>
            <a:chOff x="2665448" y="3775010"/>
            <a:chExt cx="221615" cy="387350"/>
          </a:xfrm>
        </p:grpSpPr>
        <p:sp>
          <p:nvSpPr>
            <p:cNvPr id="137" name="object 137"/>
            <p:cNvSpPr/>
            <p:nvPr/>
          </p:nvSpPr>
          <p:spPr>
            <a:xfrm>
              <a:off x="2694354" y="3826594"/>
              <a:ext cx="182880" cy="326390"/>
            </a:xfrm>
            <a:custGeom>
              <a:avLst/>
              <a:gdLst/>
              <a:ahLst/>
              <a:cxnLst/>
              <a:rect l="l" t="t" r="r" b="b"/>
              <a:pathLst>
                <a:path w="182880" h="326389">
                  <a:moveTo>
                    <a:pt x="0" y="0"/>
                  </a:moveTo>
                  <a:lnTo>
                    <a:pt x="4662" y="8320"/>
                  </a:lnTo>
                  <a:lnTo>
                    <a:pt x="182612" y="325872"/>
                  </a:lnTo>
                </a:path>
              </a:pathLst>
            </a:custGeom>
            <a:ln w="19074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665448" y="3775010"/>
              <a:ext cx="85090" cy="102870"/>
            </a:xfrm>
            <a:custGeom>
              <a:avLst/>
              <a:gdLst/>
              <a:ahLst/>
              <a:cxnLst/>
              <a:rect l="l" t="t" r="r" b="b"/>
              <a:pathLst>
                <a:path w="85089" h="102870">
                  <a:moveTo>
                    <a:pt x="0" y="0"/>
                  </a:moveTo>
                  <a:lnTo>
                    <a:pt x="4820" y="102252"/>
                  </a:lnTo>
                  <a:lnTo>
                    <a:pt x="33568" y="59905"/>
                  </a:lnTo>
                  <a:lnTo>
                    <a:pt x="84695" y="574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2373965" y="6378724"/>
            <a:ext cx="219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0" dirty="0">
                <a:latin typeface="Trebuchet MS"/>
                <a:cs typeface="Trebuchet MS"/>
              </a:rPr>
              <a:t>ok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1" name="object 1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140" name="object 140"/>
          <p:cNvSpPr txBox="1"/>
          <p:nvPr/>
        </p:nvSpPr>
        <p:spPr>
          <a:xfrm>
            <a:off x="7899623" y="6397800"/>
            <a:ext cx="6972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80" dirty="0">
                <a:latin typeface="Trebuchet MS"/>
                <a:cs typeface="Trebuchet MS"/>
              </a:rPr>
              <a:t>crossing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483933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99460" algn="l"/>
              </a:tabLst>
            </a:pPr>
            <a:r>
              <a:rPr spc="50" dirty="0"/>
              <a:t>RNA</a:t>
            </a:r>
            <a:r>
              <a:rPr spc="204" dirty="0"/>
              <a:t> </a:t>
            </a:r>
            <a:r>
              <a:rPr dirty="0"/>
              <a:t>secondary</a:t>
            </a:r>
            <a:r>
              <a:rPr spc="204" dirty="0"/>
              <a:t> </a:t>
            </a:r>
            <a:r>
              <a:rPr spc="-10" dirty="0"/>
              <a:t>structure:</a:t>
            </a:r>
            <a:r>
              <a:rPr dirty="0"/>
              <a:t>	</a:t>
            </a:r>
            <a:r>
              <a:rPr spc="-10" dirty="0"/>
              <a:t>subproblems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167" y="1131247"/>
            <a:ext cx="7884795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0480">
              <a:lnSpc>
                <a:spcPct val="132100"/>
              </a:lnSpc>
              <a:spcBef>
                <a:spcPts val="100"/>
              </a:spcBef>
              <a:tabLst>
                <a:tab pos="1692910" algn="l"/>
                <a:tab pos="304165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First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attempt.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maximum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base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secondary </a:t>
            </a:r>
            <a:r>
              <a:rPr sz="1800" dirty="0">
                <a:latin typeface="Lucida Sans Unicode"/>
                <a:cs typeface="Lucida Sans Unicode"/>
              </a:rPr>
              <a:t>structure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0" dirty="0">
                <a:latin typeface="Lucida Sans Unicode"/>
                <a:cs typeface="Lucida Sans Unicode"/>
              </a:rPr>
              <a:t> substring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baseline="-18518" dirty="0">
                <a:latin typeface="Times New Roman"/>
                <a:cs typeface="Times New Roman"/>
              </a:rPr>
              <a:t>2 </a:t>
            </a:r>
            <a:r>
              <a:rPr sz="1800" dirty="0">
                <a:latin typeface="Times New Roman"/>
                <a:cs typeface="Times New Roman"/>
              </a:rPr>
              <a:t>… </a:t>
            </a:r>
            <a:r>
              <a:rPr sz="1800" i="1" spc="-25" dirty="0">
                <a:latin typeface="Times New Roman"/>
                <a:cs typeface="Times New Roman"/>
              </a:rPr>
              <a:t>b</a:t>
            </a:r>
            <a:r>
              <a:rPr sz="1800" i="1" spc="-37" baseline="-18518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867" y="3031097"/>
            <a:ext cx="2765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07744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Choice.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Match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18518" dirty="0">
                <a:latin typeface="Times New Roman"/>
                <a:cs typeface="Times New Roman"/>
              </a:rPr>
              <a:t>t</a:t>
            </a:r>
            <a:r>
              <a:rPr sz="1800" i="1" spc="375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b</a:t>
            </a:r>
            <a:r>
              <a:rPr sz="1800" i="1" spc="-37" baseline="-18518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267" y="5568046"/>
            <a:ext cx="6996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602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Difficulty.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Results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two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subproblems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but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one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wrong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form.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5241" y="5793129"/>
            <a:ext cx="4714875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588385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secondary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structure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in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baseline="-18518" dirty="0">
                <a:latin typeface="Times New Roman"/>
                <a:cs typeface="Times New Roman"/>
              </a:rPr>
              <a:t>2</a:t>
            </a:r>
            <a:r>
              <a:rPr sz="1800" spc="-15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 </a:t>
            </a:r>
            <a:r>
              <a:rPr sz="1800" i="1" spc="-10" dirty="0">
                <a:latin typeface="Times New Roman"/>
                <a:cs typeface="Times New Roman"/>
              </a:rPr>
              <a:t>b</a:t>
            </a:r>
            <a:r>
              <a:rPr sz="1800" i="1" spc="-15" baseline="-18518" dirty="0">
                <a:latin typeface="Times New Roman"/>
                <a:cs typeface="Times New Roman"/>
              </a:rPr>
              <a:t>t–</a:t>
            </a:r>
            <a:r>
              <a:rPr sz="1800" spc="-15" baseline="-18518" dirty="0">
                <a:latin typeface="Times New Roman"/>
                <a:cs typeface="Times New Roman"/>
              </a:rPr>
              <a:t>1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5241" y="6155551"/>
            <a:ext cx="3482975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secondary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structure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in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66129" y="6344582"/>
            <a:ext cx="14547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i="1" baseline="12345" dirty="0">
                <a:latin typeface="Times New Roman"/>
                <a:cs typeface="Times New Roman"/>
              </a:rPr>
              <a:t>b</a:t>
            </a:r>
            <a:r>
              <a:rPr sz="1200" i="1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+1</a:t>
            </a:r>
            <a:r>
              <a:rPr sz="2700" i="1" baseline="12345" dirty="0">
                <a:latin typeface="Times New Roman"/>
                <a:cs typeface="Times New Roman"/>
              </a:rPr>
              <a:t>b</a:t>
            </a:r>
            <a:r>
              <a:rPr sz="1200" i="1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+2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2700" baseline="12345" dirty="0">
                <a:latin typeface="Times New Roman"/>
                <a:cs typeface="Times New Roman"/>
              </a:rPr>
              <a:t>…</a:t>
            </a:r>
            <a:r>
              <a:rPr sz="2700" spc="-7" baseline="12345" dirty="0">
                <a:latin typeface="Times New Roman"/>
                <a:cs typeface="Times New Roman"/>
              </a:rPr>
              <a:t> </a:t>
            </a:r>
            <a:r>
              <a:rPr sz="2700" i="1" spc="-30" baseline="12345" dirty="0">
                <a:latin typeface="Times New Roman"/>
                <a:cs typeface="Times New Roman"/>
              </a:rPr>
              <a:t>b</a:t>
            </a:r>
            <a:r>
              <a:rPr sz="1200" i="1" spc="-20" dirty="0">
                <a:latin typeface="Times New Roman"/>
                <a:cs typeface="Times New Roman"/>
              </a:rPr>
              <a:t>n–</a:t>
            </a:r>
            <a:r>
              <a:rPr sz="1200" spc="-20" dirty="0">
                <a:latin typeface="Times New Roman"/>
                <a:cs typeface="Times New Roman"/>
              </a:rPr>
              <a:t>1</a:t>
            </a:r>
            <a:r>
              <a:rPr sz="2700" spc="-30" baseline="12345" dirty="0">
                <a:latin typeface="Lucida Sans Unicode"/>
                <a:cs typeface="Lucida Sans Unicode"/>
              </a:rPr>
              <a:t>.</a:t>
            </a:r>
            <a:endParaRPr sz="2700" baseline="12345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74985" y="3326228"/>
            <a:ext cx="5168265" cy="806450"/>
            <a:chOff x="2674985" y="3326228"/>
            <a:chExt cx="5168265" cy="80645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4985" y="4018519"/>
              <a:ext cx="113601" cy="1136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7904" y="4018519"/>
              <a:ext cx="111905" cy="11360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88556" y="4075319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0" y="0"/>
                  </a:lnTo>
                  <a:lnTo>
                    <a:pt x="399296" y="0"/>
                  </a:lnTo>
                  <a:lnTo>
                    <a:pt x="449208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9127" y="4018519"/>
              <a:ext cx="113601" cy="1136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50064" y="4075319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49911" y="0"/>
                  </a:lnTo>
                  <a:lnTo>
                    <a:pt x="99822" y="0"/>
                  </a:lnTo>
                  <a:lnTo>
                    <a:pt x="149734" y="0"/>
                  </a:lnTo>
                  <a:lnTo>
                    <a:pt x="199645" y="0"/>
                  </a:lnTo>
                  <a:lnTo>
                    <a:pt x="249557" y="0"/>
                  </a:lnTo>
                  <a:lnTo>
                    <a:pt x="299468" y="0"/>
                  </a:lnTo>
                  <a:lnTo>
                    <a:pt x="349380" y="0"/>
                  </a:lnTo>
                  <a:lnTo>
                    <a:pt x="399291" y="0"/>
                  </a:lnTo>
                  <a:lnTo>
                    <a:pt x="449203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3105" y="4018519"/>
              <a:ext cx="113601" cy="11360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912890" y="3335766"/>
              <a:ext cx="3837304" cy="739775"/>
            </a:xfrm>
            <a:custGeom>
              <a:avLst/>
              <a:gdLst/>
              <a:ahLst/>
              <a:cxnLst/>
              <a:rect l="l" t="t" r="r" b="b"/>
              <a:pathLst>
                <a:path w="3837304" h="739775">
                  <a:moveTo>
                    <a:pt x="0" y="739553"/>
                  </a:moveTo>
                  <a:lnTo>
                    <a:pt x="0" y="739553"/>
                  </a:lnTo>
                  <a:lnTo>
                    <a:pt x="400201" y="739553"/>
                  </a:lnTo>
                  <a:lnTo>
                    <a:pt x="450226" y="739553"/>
                  </a:lnTo>
                </a:path>
                <a:path w="3837304" h="739775">
                  <a:moveTo>
                    <a:pt x="3836882" y="698711"/>
                  </a:moveTo>
                  <a:lnTo>
                    <a:pt x="3800153" y="658777"/>
                  </a:lnTo>
                  <a:lnTo>
                    <a:pt x="3763340" y="620018"/>
                  </a:lnTo>
                  <a:lnTo>
                    <a:pt x="3726444" y="582434"/>
                  </a:lnTo>
                  <a:lnTo>
                    <a:pt x="3689465" y="546025"/>
                  </a:lnTo>
                  <a:lnTo>
                    <a:pt x="3652402" y="510790"/>
                  </a:lnTo>
                  <a:lnTo>
                    <a:pt x="3615257" y="476730"/>
                  </a:lnTo>
                  <a:lnTo>
                    <a:pt x="3578027" y="443845"/>
                  </a:lnTo>
                  <a:lnTo>
                    <a:pt x="3540715" y="412134"/>
                  </a:lnTo>
                  <a:lnTo>
                    <a:pt x="3503319" y="381599"/>
                  </a:lnTo>
                  <a:lnTo>
                    <a:pt x="3465840" y="352238"/>
                  </a:lnTo>
                  <a:lnTo>
                    <a:pt x="3428277" y="324051"/>
                  </a:lnTo>
                  <a:lnTo>
                    <a:pt x="3390632" y="297040"/>
                  </a:lnTo>
                  <a:lnTo>
                    <a:pt x="3352903" y="271203"/>
                  </a:lnTo>
                  <a:lnTo>
                    <a:pt x="3315090" y="246541"/>
                  </a:lnTo>
                  <a:lnTo>
                    <a:pt x="3277195" y="223054"/>
                  </a:lnTo>
                  <a:lnTo>
                    <a:pt x="3239216" y="200742"/>
                  </a:lnTo>
                  <a:lnTo>
                    <a:pt x="3201154" y="179604"/>
                  </a:lnTo>
                  <a:lnTo>
                    <a:pt x="3163008" y="159641"/>
                  </a:lnTo>
                  <a:lnTo>
                    <a:pt x="3124779" y="140853"/>
                  </a:lnTo>
                  <a:lnTo>
                    <a:pt x="3086467" y="123239"/>
                  </a:lnTo>
                  <a:lnTo>
                    <a:pt x="3048072" y="106800"/>
                  </a:lnTo>
                  <a:lnTo>
                    <a:pt x="3009593" y="91537"/>
                  </a:lnTo>
                  <a:lnTo>
                    <a:pt x="2971031" y="77447"/>
                  </a:lnTo>
                  <a:lnTo>
                    <a:pt x="2932385" y="64533"/>
                  </a:lnTo>
                  <a:lnTo>
                    <a:pt x="2893657" y="52793"/>
                  </a:lnTo>
                  <a:lnTo>
                    <a:pt x="2854845" y="42228"/>
                  </a:lnTo>
                  <a:lnTo>
                    <a:pt x="2815949" y="32838"/>
                  </a:lnTo>
                  <a:lnTo>
                    <a:pt x="2776971" y="24622"/>
                  </a:lnTo>
                  <a:lnTo>
                    <a:pt x="2737909" y="17582"/>
                  </a:lnTo>
                  <a:lnTo>
                    <a:pt x="2698764" y="11716"/>
                  </a:lnTo>
                  <a:lnTo>
                    <a:pt x="2659535" y="7025"/>
                  </a:lnTo>
                  <a:lnTo>
                    <a:pt x="2620223" y="3508"/>
                  </a:lnTo>
                  <a:lnTo>
                    <a:pt x="2580828" y="1166"/>
                  </a:lnTo>
                  <a:lnTo>
                    <a:pt x="2541350" y="0"/>
                  </a:lnTo>
                  <a:lnTo>
                    <a:pt x="2501788" y="7"/>
                  </a:lnTo>
                  <a:lnTo>
                    <a:pt x="2462143" y="1190"/>
                  </a:lnTo>
                  <a:lnTo>
                    <a:pt x="2422415" y="3547"/>
                  </a:lnTo>
                  <a:lnTo>
                    <a:pt x="2382603" y="7079"/>
                  </a:lnTo>
                  <a:lnTo>
                    <a:pt x="2342708" y="11786"/>
                  </a:lnTo>
                  <a:lnTo>
                    <a:pt x="2302730" y="17668"/>
                  </a:lnTo>
                  <a:lnTo>
                    <a:pt x="2262669" y="24724"/>
                  </a:lnTo>
                  <a:lnTo>
                    <a:pt x="2222524" y="32955"/>
                  </a:lnTo>
                  <a:lnTo>
                    <a:pt x="2182296" y="42361"/>
                  </a:lnTo>
                  <a:lnTo>
                    <a:pt x="2141984" y="52941"/>
                  </a:lnTo>
                  <a:lnTo>
                    <a:pt x="2101590" y="64697"/>
                  </a:lnTo>
                  <a:lnTo>
                    <a:pt x="2061112" y="77627"/>
                  </a:lnTo>
                  <a:lnTo>
                    <a:pt x="2020550" y="91731"/>
                  </a:lnTo>
                  <a:lnTo>
                    <a:pt x="1979906" y="107011"/>
                  </a:lnTo>
                  <a:lnTo>
                    <a:pt x="1939178" y="123465"/>
                  </a:lnTo>
                  <a:lnTo>
                    <a:pt x="1898367" y="141094"/>
                  </a:lnTo>
                  <a:lnTo>
                    <a:pt x="1857472" y="159898"/>
                  </a:lnTo>
                  <a:lnTo>
                    <a:pt x="1816494" y="179877"/>
                  </a:lnTo>
                  <a:lnTo>
                    <a:pt x="1775433" y="201030"/>
                  </a:lnTo>
                  <a:lnTo>
                    <a:pt x="1734289" y="223358"/>
                  </a:lnTo>
                  <a:lnTo>
                    <a:pt x="1693061" y="246861"/>
                  </a:lnTo>
                  <a:lnTo>
                    <a:pt x="1651750" y="271538"/>
                  </a:lnTo>
                  <a:lnTo>
                    <a:pt x="1610356" y="297391"/>
                  </a:lnTo>
                  <a:lnTo>
                    <a:pt x="1568878" y="324418"/>
                  </a:lnTo>
                  <a:lnTo>
                    <a:pt x="1527317" y="352620"/>
                  </a:lnTo>
                  <a:lnTo>
                    <a:pt x="1485673" y="381996"/>
                  </a:lnTo>
                  <a:lnTo>
                    <a:pt x="1443945" y="412548"/>
                  </a:lnTo>
                  <a:lnTo>
                    <a:pt x="1402134" y="444274"/>
                  </a:lnTo>
                  <a:lnTo>
                    <a:pt x="1360240" y="477174"/>
                  </a:lnTo>
                  <a:lnTo>
                    <a:pt x="1318263" y="511250"/>
                  </a:lnTo>
                  <a:lnTo>
                    <a:pt x="1276202" y="546500"/>
                  </a:lnTo>
                  <a:lnTo>
                    <a:pt x="1234058" y="582925"/>
                  </a:lnTo>
                  <a:lnTo>
                    <a:pt x="1191831" y="620525"/>
                  </a:lnTo>
                  <a:lnTo>
                    <a:pt x="1149520" y="659300"/>
                  </a:lnTo>
                  <a:lnTo>
                    <a:pt x="1107126" y="699249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21573" y="4018519"/>
              <a:ext cx="113601" cy="11360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476871" y="4075319"/>
              <a:ext cx="445134" cy="0"/>
            </a:xfrm>
            <a:custGeom>
              <a:avLst/>
              <a:gdLst/>
              <a:ahLst/>
              <a:cxnLst/>
              <a:rect l="l" t="t" r="r" b="b"/>
              <a:pathLst>
                <a:path w="445135">
                  <a:moveTo>
                    <a:pt x="0" y="0"/>
                  </a:moveTo>
                  <a:lnTo>
                    <a:pt x="0" y="0"/>
                  </a:lnTo>
                  <a:lnTo>
                    <a:pt x="395403" y="0"/>
                  </a:lnTo>
                  <a:lnTo>
                    <a:pt x="444829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4492" y="4018519"/>
              <a:ext cx="111905" cy="11360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035144" y="4075319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0" y="0"/>
                  </a:lnTo>
                  <a:lnTo>
                    <a:pt x="399296" y="0"/>
                  </a:lnTo>
                  <a:lnTo>
                    <a:pt x="449208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5716" y="4018519"/>
              <a:ext cx="111905" cy="11360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596567" y="4075319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0" y="0"/>
                  </a:lnTo>
                  <a:lnTo>
                    <a:pt x="399139" y="0"/>
                  </a:lnTo>
                  <a:lnTo>
                    <a:pt x="449031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6937" y="4018519"/>
              <a:ext cx="113601" cy="11360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157876" y="4075319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0" y="0"/>
                  </a:lnTo>
                  <a:lnTo>
                    <a:pt x="399291" y="0"/>
                  </a:lnTo>
                  <a:lnTo>
                    <a:pt x="449203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7101" y="4018519"/>
              <a:ext cx="113600" cy="11360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720317" y="4075319"/>
              <a:ext cx="447040" cy="0"/>
            </a:xfrm>
            <a:custGeom>
              <a:avLst/>
              <a:gdLst/>
              <a:ahLst/>
              <a:cxnLst/>
              <a:rect l="l" t="t" r="r" b="b"/>
              <a:pathLst>
                <a:path w="447040">
                  <a:moveTo>
                    <a:pt x="0" y="0"/>
                  </a:moveTo>
                  <a:lnTo>
                    <a:pt x="0" y="0"/>
                  </a:lnTo>
                  <a:lnTo>
                    <a:pt x="397045" y="0"/>
                  </a:lnTo>
                  <a:lnTo>
                    <a:pt x="446676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9384" y="4018519"/>
              <a:ext cx="113601" cy="11360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280694" y="4075319"/>
              <a:ext cx="448945" cy="0"/>
            </a:xfrm>
            <a:custGeom>
              <a:avLst/>
              <a:gdLst/>
              <a:ahLst/>
              <a:cxnLst/>
              <a:rect l="l" t="t" r="r" b="b"/>
              <a:pathLst>
                <a:path w="448945">
                  <a:moveTo>
                    <a:pt x="0" y="0"/>
                  </a:moveTo>
                  <a:lnTo>
                    <a:pt x="0" y="0"/>
                  </a:lnTo>
                  <a:lnTo>
                    <a:pt x="398997" y="0"/>
                  </a:lnTo>
                  <a:lnTo>
                    <a:pt x="448872" y="0"/>
                  </a:lnTo>
                </a:path>
              </a:pathLst>
            </a:custGeom>
            <a:ln w="19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89868" y="4304340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07895" y="4287173"/>
            <a:ext cx="825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t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84257" y="4287173"/>
            <a:ext cx="12001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n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83896" y="2946453"/>
            <a:ext cx="12585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82" baseline="4629" dirty="0">
                <a:latin typeface="Trebuchet MS"/>
                <a:cs typeface="Trebuchet MS"/>
              </a:rPr>
              <a:t>match</a:t>
            </a:r>
            <a:r>
              <a:rPr sz="1800" b="1" spc="44" baseline="4629" dirty="0">
                <a:latin typeface="Trebuchet MS"/>
                <a:cs typeface="Trebuchet MS"/>
              </a:rPr>
              <a:t> </a:t>
            </a:r>
            <a:r>
              <a:rPr sz="1800" b="1" spc="75" baseline="4629" dirty="0">
                <a:latin typeface="Trebuchet MS"/>
                <a:cs typeface="Trebuchet MS"/>
              </a:rPr>
              <a:t>b</a:t>
            </a:r>
            <a:r>
              <a:rPr sz="800" b="1" spc="50" dirty="0">
                <a:latin typeface="Trebuchet MS"/>
                <a:cs typeface="Trebuchet MS"/>
              </a:rPr>
              <a:t>t</a:t>
            </a:r>
            <a:r>
              <a:rPr sz="800" b="1" spc="145" dirty="0">
                <a:latin typeface="Trebuchet MS"/>
                <a:cs typeface="Trebuchet MS"/>
              </a:rPr>
              <a:t> </a:t>
            </a:r>
            <a:r>
              <a:rPr sz="1800" b="1" spc="112" baseline="4629" dirty="0">
                <a:latin typeface="Trebuchet MS"/>
                <a:cs typeface="Trebuchet MS"/>
              </a:rPr>
              <a:t>and</a:t>
            </a:r>
            <a:r>
              <a:rPr sz="1800" b="1" spc="52" baseline="4629" dirty="0">
                <a:latin typeface="Trebuchet MS"/>
                <a:cs typeface="Trebuchet MS"/>
              </a:rPr>
              <a:t> </a:t>
            </a:r>
            <a:r>
              <a:rPr sz="1800" b="1" spc="60" baseline="4629" dirty="0">
                <a:latin typeface="Trebuchet MS"/>
                <a:cs typeface="Trebuchet MS"/>
              </a:rPr>
              <a:t>b</a:t>
            </a:r>
            <a:r>
              <a:rPr sz="800" b="1" spc="40" dirty="0">
                <a:latin typeface="Trebuchet MS"/>
                <a:cs typeface="Trebuchet MS"/>
              </a:rPr>
              <a:t>n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94133" y="6001679"/>
            <a:ext cx="6546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OPT(t–1)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041688" y="6075421"/>
            <a:ext cx="434975" cy="92075"/>
            <a:chOff x="6041688" y="6075421"/>
            <a:chExt cx="434975" cy="92075"/>
          </a:xfrm>
        </p:grpSpPr>
        <p:sp>
          <p:nvSpPr>
            <p:cNvPr id="36" name="object 36"/>
            <p:cNvSpPr/>
            <p:nvPr/>
          </p:nvSpPr>
          <p:spPr>
            <a:xfrm>
              <a:off x="6123710" y="6121199"/>
              <a:ext cx="352425" cy="0"/>
            </a:xfrm>
            <a:custGeom>
              <a:avLst/>
              <a:gdLst/>
              <a:ahLst/>
              <a:cxnLst/>
              <a:rect l="l" t="t" r="r" b="b"/>
              <a:pathLst>
                <a:path w="352425">
                  <a:moveTo>
                    <a:pt x="352398" y="0"/>
                  </a:moveTo>
                  <a:lnTo>
                    <a:pt x="9537" y="1"/>
                  </a:lnTo>
                  <a:lnTo>
                    <a:pt x="0" y="1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41688" y="6075421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9"/>
                  </a:lnTo>
                  <a:lnTo>
                    <a:pt x="91559" y="91559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645448" y="6378724"/>
            <a:ext cx="18268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need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more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subproblems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041688" y="6460096"/>
            <a:ext cx="434975" cy="92075"/>
            <a:chOff x="6041688" y="6460096"/>
            <a:chExt cx="434975" cy="92075"/>
          </a:xfrm>
        </p:grpSpPr>
        <p:sp>
          <p:nvSpPr>
            <p:cNvPr id="40" name="object 40"/>
            <p:cNvSpPr/>
            <p:nvPr/>
          </p:nvSpPr>
          <p:spPr>
            <a:xfrm>
              <a:off x="6123710" y="6505874"/>
              <a:ext cx="352425" cy="0"/>
            </a:xfrm>
            <a:custGeom>
              <a:avLst/>
              <a:gdLst/>
              <a:ahLst/>
              <a:cxnLst/>
              <a:rect l="l" t="t" r="r" b="b"/>
              <a:pathLst>
                <a:path w="352425">
                  <a:moveTo>
                    <a:pt x="352398" y="0"/>
                  </a:moveTo>
                  <a:lnTo>
                    <a:pt x="9537" y="0"/>
                  </a:lnTo>
                  <a:lnTo>
                    <a:pt x="0" y="1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41688" y="6460096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9"/>
                  </a:lnTo>
                  <a:lnTo>
                    <a:pt x="91559" y="91558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254" dirty="0"/>
              <a:t> </a:t>
            </a:r>
            <a:r>
              <a:rPr dirty="0"/>
              <a:t>programming</a:t>
            </a:r>
            <a:r>
              <a:rPr spc="254" dirty="0"/>
              <a:t> </a:t>
            </a:r>
            <a:r>
              <a:rPr dirty="0"/>
              <a:t>over</a:t>
            </a:r>
            <a:r>
              <a:rPr spc="254" dirty="0"/>
              <a:t> </a:t>
            </a:r>
            <a:r>
              <a:rPr spc="-10" dirty="0"/>
              <a:t>intervals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07935" y="5530115"/>
            <a:ext cx="182245" cy="389255"/>
            <a:chOff x="3107935" y="5530115"/>
            <a:chExt cx="182245" cy="389255"/>
          </a:xfrm>
        </p:grpSpPr>
        <p:sp>
          <p:nvSpPr>
            <p:cNvPr id="5" name="object 5"/>
            <p:cNvSpPr/>
            <p:nvPr/>
          </p:nvSpPr>
          <p:spPr>
            <a:xfrm>
              <a:off x="3136707" y="5584204"/>
              <a:ext cx="144145" cy="325755"/>
            </a:xfrm>
            <a:custGeom>
              <a:avLst/>
              <a:gdLst/>
              <a:ahLst/>
              <a:cxnLst/>
              <a:rect l="l" t="t" r="r" b="b"/>
              <a:pathLst>
                <a:path w="144145" h="325754">
                  <a:moveTo>
                    <a:pt x="0" y="0"/>
                  </a:moveTo>
                  <a:lnTo>
                    <a:pt x="3853" y="8723"/>
                  </a:lnTo>
                  <a:lnTo>
                    <a:pt x="143797" y="325476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7935" y="5530115"/>
              <a:ext cx="83750" cy="1022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30967" y="1131247"/>
            <a:ext cx="7929880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119380">
              <a:lnSpc>
                <a:spcPct val="132100"/>
              </a:lnSpc>
              <a:spcBef>
                <a:spcPts val="100"/>
              </a:spcBef>
              <a:tabLst>
                <a:tab pos="1299845" algn="l"/>
                <a:tab pos="311785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Notation.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) =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maximum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base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secondary </a:t>
            </a:r>
            <a:r>
              <a:rPr sz="1800" dirty="0">
                <a:latin typeface="Lucida Sans Unicode"/>
                <a:cs typeface="Lucida Sans Unicode"/>
              </a:rPr>
              <a:t>structure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0" dirty="0">
                <a:latin typeface="Lucida Sans Unicode"/>
                <a:cs typeface="Lucida Sans Unicode"/>
              </a:rPr>
              <a:t> substring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18518" dirty="0">
                <a:latin typeface="Times New Roman"/>
                <a:cs typeface="Times New Roman"/>
              </a:rPr>
              <a:t>i</a:t>
            </a:r>
            <a:r>
              <a:rPr sz="1800" i="1" spc="-15" baseline="-18518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18518" dirty="0">
                <a:latin typeface="Times New Roman"/>
                <a:cs typeface="Times New Roman"/>
              </a:rPr>
              <a:t>i+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spc="-7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b</a:t>
            </a:r>
            <a:r>
              <a:rPr sz="1800" i="1" spc="-37" baseline="-18518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0">
              <a:lnSpc>
                <a:spcPts val="1980"/>
              </a:lnSpc>
              <a:tabLst>
                <a:tab pos="108966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Case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If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 </a:t>
            </a:r>
            <a:r>
              <a:rPr sz="1800" dirty="0">
                <a:latin typeface="Times New Roman"/>
                <a:cs typeface="Times New Roman"/>
              </a:rPr>
              <a:t>– </a:t>
            </a:r>
            <a:r>
              <a:rPr sz="1800" spc="-25" dirty="0">
                <a:latin typeface="Times New Roman"/>
                <a:cs typeface="Times New Roman"/>
              </a:rPr>
              <a:t>4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222250">
              <a:lnSpc>
                <a:spcPts val="3240"/>
              </a:lnSpc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spc="22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spc="-5" dirty="0">
                <a:latin typeface="Times New Roman"/>
                <a:cs typeface="Times New Roman"/>
              </a:rPr>
              <a:t>) =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 </a:t>
            </a:r>
            <a:r>
              <a:rPr sz="1800" spc="-65" dirty="0">
                <a:latin typeface="Lucida Sans Unicode"/>
                <a:cs typeface="Lucida Sans Unicode"/>
              </a:rPr>
              <a:t>no-</a:t>
            </a:r>
            <a:r>
              <a:rPr sz="1800" spc="-40" dirty="0">
                <a:latin typeface="Lucida Sans Unicode"/>
                <a:cs typeface="Lucida Sans Unicode"/>
              </a:rPr>
              <a:t>sharp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turns </a:t>
            </a:r>
            <a:r>
              <a:rPr sz="1800" spc="-10" dirty="0">
                <a:latin typeface="Lucida Sans Unicode"/>
                <a:cs typeface="Lucida Sans Unicode"/>
              </a:rPr>
              <a:t>condition.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0">
              <a:lnSpc>
                <a:spcPts val="1980"/>
              </a:lnSpc>
              <a:tabLst>
                <a:tab pos="108966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Case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2.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Base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6944" dirty="0">
                <a:latin typeface="Times New Roman"/>
                <a:cs typeface="Times New Roman"/>
              </a:rPr>
              <a:t>j</a:t>
            </a:r>
            <a:r>
              <a:rPr sz="1800" i="1" spc="427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not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involved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pair.</a:t>
            </a:r>
            <a:endParaRPr sz="1800">
              <a:latin typeface="Lucida Sans Unicode"/>
              <a:cs typeface="Lucida Sans Unicode"/>
            </a:endParaRPr>
          </a:p>
          <a:p>
            <a:pPr marL="222250">
              <a:lnSpc>
                <a:spcPts val="3240"/>
              </a:lnSpc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spc="22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spc="-5" dirty="0">
                <a:latin typeface="Times New Roman"/>
                <a:cs typeface="Times New Roman"/>
              </a:rPr>
              <a:t>) = </a:t>
            </a:r>
            <a:r>
              <a:rPr sz="1800" dirty="0">
                <a:latin typeface="Times New Roman"/>
                <a:cs typeface="Times New Roman"/>
              </a:rPr>
              <a:t>OPT(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spc="225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 </a:t>
            </a:r>
            <a:r>
              <a:rPr sz="1800" spc="-25" dirty="0">
                <a:latin typeface="Times New Roman"/>
                <a:cs typeface="Times New Roman"/>
              </a:rPr>
              <a:t>1)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0">
              <a:lnSpc>
                <a:spcPts val="1980"/>
              </a:lnSpc>
              <a:spcBef>
                <a:spcPts val="5"/>
              </a:spcBef>
              <a:tabLst>
                <a:tab pos="108966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Case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3.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Base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6944" dirty="0">
                <a:latin typeface="Times New Roman"/>
                <a:cs typeface="Times New Roman"/>
              </a:rPr>
              <a:t>j</a:t>
            </a:r>
            <a:r>
              <a:rPr sz="1800" i="1" spc="405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pairs with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baseline="-6944" dirty="0">
                <a:latin typeface="Times New Roman"/>
                <a:cs typeface="Times New Roman"/>
              </a:rPr>
              <a:t>t</a:t>
            </a:r>
            <a:r>
              <a:rPr sz="1800" i="1" spc="405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 some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spc="4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45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i="1" spc="4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45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4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4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4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222250">
              <a:lnSpc>
                <a:spcPts val="2960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Noncrossing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constraint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decouples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resulting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subproblems.</a:t>
            </a:r>
            <a:endParaRPr sz="1800">
              <a:latin typeface="Lucida Sans Unicode"/>
              <a:cs typeface="Lucida Sans Unicode"/>
            </a:endParaRPr>
          </a:p>
          <a:p>
            <a:pPr marL="222250">
              <a:lnSpc>
                <a:spcPts val="3135"/>
              </a:lnSpc>
            </a:pPr>
            <a:r>
              <a:rPr sz="4275" spc="2175" baseline="-6822" dirty="0">
                <a:latin typeface="Yu Gothic UI"/>
                <a:cs typeface="Yu Gothic UI"/>
              </a:rPr>
              <a:t>・</a:t>
            </a:r>
            <a:r>
              <a:rPr sz="1800" dirty="0">
                <a:latin typeface="Times New Roman"/>
                <a:cs typeface="Times New Roman"/>
              </a:rPr>
              <a:t>OPT(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spc="-5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dirty="0">
                <a:latin typeface="Times New Roman"/>
                <a:cs typeface="Times New Roman"/>
              </a:rPr>
              <a:t>) = 1 + </a:t>
            </a:r>
            <a:r>
              <a:rPr sz="1800" spc="-10" dirty="0">
                <a:latin typeface="Times New Roman"/>
                <a:cs typeface="Times New Roman"/>
              </a:rPr>
              <a:t>max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baseline="-6944" dirty="0">
                <a:latin typeface="Times New Roman"/>
                <a:cs typeface="Times New Roman"/>
              </a:rPr>
              <a:t>t</a:t>
            </a:r>
            <a:r>
              <a:rPr sz="1800" i="1" spc="225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 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spc="225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t </a:t>
            </a:r>
            <a:r>
              <a:rPr sz="1800" dirty="0">
                <a:latin typeface="Times New Roman"/>
                <a:cs typeface="Times New Roman"/>
              </a:rPr>
              <a:t>– 1) + </a:t>
            </a:r>
            <a:r>
              <a:rPr sz="1800" i="1" dirty="0">
                <a:latin typeface="Times New Roman"/>
                <a:cs typeface="Times New Roman"/>
              </a:rPr>
              <a:t>OPT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t </a:t>
            </a:r>
            <a:r>
              <a:rPr sz="1800" dirty="0">
                <a:latin typeface="Times New Roman"/>
                <a:cs typeface="Times New Roman"/>
              </a:rPr>
              <a:t>+ 1,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 </a:t>
            </a:r>
            <a:r>
              <a:rPr sz="1800" dirty="0">
                <a:latin typeface="Times New Roman"/>
                <a:cs typeface="Times New Roman"/>
              </a:rPr>
              <a:t>– 1)</a:t>
            </a:r>
            <a:r>
              <a:rPr sz="1800" spc="-15" dirty="0">
                <a:latin typeface="Times New Roman"/>
                <a:cs typeface="Times New Roman"/>
              </a:rPr>
              <a:t> }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2066925" marR="2820670" indent="-67310">
              <a:lnSpc>
                <a:spcPct val="114900"/>
              </a:lnSpc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take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max over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t such that i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≤ t </a:t>
            </a:r>
            <a:r>
              <a:rPr sz="1200" spc="-190" dirty="0">
                <a:solidFill>
                  <a:srgbClr val="8D3124"/>
                </a:solidFill>
                <a:latin typeface="Lucida Sans Unicode"/>
                <a:cs typeface="Lucida Sans Unicode"/>
              </a:rPr>
              <a:t>&lt;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 j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– 4 </a:t>
            </a:r>
            <a:r>
              <a:rPr sz="12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and 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b</a:t>
            </a:r>
            <a:r>
              <a:rPr sz="800" dirty="0">
                <a:solidFill>
                  <a:srgbClr val="8D3124"/>
                </a:solidFill>
                <a:latin typeface="Lucida Sans Unicode"/>
                <a:cs typeface="Lucida Sans Unicode"/>
              </a:rPr>
              <a:t>t</a:t>
            </a:r>
            <a:r>
              <a:rPr sz="800" spc="1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and</a:t>
            </a:r>
            <a:r>
              <a:rPr sz="1800" spc="-7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b</a:t>
            </a:r>
            <a:r>
              <a:rPr sz="800" dirty="0">
                <a:solidFill>
                  <a:srgbClr val="8D3124"/>
                </a:solidFill>
                <a:latin typeface="Lucida Sans Unicode"/>
                <a:cs typeface="Lucida Sans Unicode"/>
              </a:rPr>
              <a:t>j</a:t>
            </a:r>
            <a:r>
              <a:rPr sz="800" spc="114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are</a:t>
            </a:r>
            <a:r>
              <a:rPr sz="1800" spc="-7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6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Watson-</a:t>
            </a:r>
            <a:r>
              <a:rPr sz="1800" spc="-3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Crick</a:t>
            </a:r>
            <a:r>
              <a:rPr sz="1800" spc="-7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15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complements</a:t>
            </a:r>
            <a:endParaRPr sz="1800" baseline="4629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575119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Bottom-</a:t>
            </a:r>
            <a:r>
              <a:rPr dirty="0"/>
              <a:t>up</a:t>
            </a:r>
            <a:r>
              <a:rPr spc="254" dirty="0"/>
              <a:t> </a:t>
            </a:r>
            <a:r>
              <a:rPr dirty="0"/>
              <a:t>dynamic</a:t>
            </a:r>
            <a:r>
              <a:rPr spc="260" dirty="0"/>
              <a:t> </a:t>
            </a:r>
            <a:r>
              <a:rPr dirty="0"/>
              <a:t>programming</a:t>
            </a:r>
            <a:r>
              <a:rPr spc="260" dirty="0"/>
              <a:t> </a:t>
            </a:r>
            <a:r>
              <a:rPr dirty="0"/>
              <a:t>over</a:t>
            </a:r>
            <a:r>
              <a:rPr spc="260" dirty="0"/>
              <a:t> </a:t>
            </a:r>
            <a:r>
              <a:rPr spc="-10" dirty="0"/>
              <a:t>intervals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5267" y="1131247"/>
            <a:ext cx="5022850" cy="7505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407034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which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order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solve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subproblems?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87350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A.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Do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shortest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intervals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first.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867" y="5842723"/>
            <a:ext cx="8324850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2100"/>
              </a:lnSpc>
              <a:spcBef>
                <a:spcPts val="100"/>
              </a:spcBef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1800" spc="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dynamic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programming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solves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RNA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secondary </a:t>
            </a:r>
            <a:r>
              <a:rPr sz="1800" dirty="0">
                <a:latin typeface="Lucida Sans Unicode"/>
                <a:cs typeface="Lucida Sans Unicode"/>
              </a:rPr>
              <a:t>substructure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problem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0833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space.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67168" y="3252350"/>
            <a:ext cx="2540000" cy="1452245"/>
            <a:chOff x="6767168" y="3252350"/>
            <a:chExt cx="2540000" cy="1452245"/>
          </a:xfrm>
        </p:grpSpPr>
        <p:sp>
          <p:nvSpPr>
            <p:cNvPr id="7" name="object 7"/>
            <p:cNvSpPr/>
            <p:nvPr/>
          </p:nvSpPr>
          <p:spPr>
            <a:xfrm>
              <a:off x="6768426" y="3253625"/>
              <a:ext cx="2537460" cy="1449705"/>
            </a:xfrm>
            <a:custGeom>
              <a:avLst/>
              <a:gdLst/>
              <a:ahLst/>
              <a:cxnLst/>
              <a:rect l="l" t="t" r="r" b="b"/>
              <a:pathLst>
                <a:path w="2537459" h="1449704">
                  <a:moveTo>
                    <a:pt x="506209" y="1088453"/>
                  </a:moveTo>
                  <a:lnTo>
                    <a:pt x="0" y="1088453"/>
                  </a:lnTo>
                  <a:lnTo>
                    <a:pt x="0" y="1449679"/>
                  </a:lnTo>
                  <a:lnTo>
                    <a:pt x="506209" y="1449679"/>
                  </a:lnTo>
                  <a:lnTo>
                    <a:pt x="506209" y="1088453"/>
                  </a:lnTo>
                  <a:close/>
                </a:path>
                <a:path w="2537459" h="1449704">
                  <a:moveTo>
                    <a:pt x="506209" y="726033"/>
                  </a:moveTo>
                  <a:lnTo>
                    <a:pt x="0" y="726033"/>
                  </a:lnTo>
                  <a:lnTo>
                    <a:pt x="0" y="1086065"/>
                  </a:lnTo>
                  <a:lnTo>
                    <a:pt x="506209" y="1086065"/>
                  </a:lnTo>
                  <a:lnTo>
                    <a:pt x="506209" y="726033"/>
                  </a:lnTo>
                  <a:close/>
                </a:path>
                <a:path w="2537459" h="1449704">
                  <a:moveTo>
                    <a:pt x="506209" y="363613"/>
                  </a:moveTo>
                  <a:lnTo>
                    <a:pt x="0" y="363613"/>
                  </a:lnTo>
                  <a:lnTo>
                    <a:pt x="0" y="723646"/>
                  </a:lnTo>
                  <a:lnTo>
                    <a:pt x="506209" y="723646"/>
                  </a:lnTo>
                  <a:lnTo>
                    <a:pt x="506209" y="363613"/>
                  </a:lnTo>
                  <a:close/>
                </a:path>
                <a:path w="2537459" h="1449704">
                  <a:moveTo>
                    <a:pt x="506209" y="0"/>
                  </a:moveTo>
                  <a:lnTo>
                    <a:pt x="0" y="0"/>
                  </a:lnTo>
                  <a:lnTo>
                    <a:pt x="0" y="361226"/>
                  </a:lnTo>
                  <a:lnTo>
                    <a:pt x="506209" y="361226"/>
                  </a:lnTo>
                  <a:lnTo>
                    <a:pt x="506209" y="0"/>
                  </a:lnTo>
                  <a:close/>
                </a:path>
                <a:path w="2537459" h="1449704">
                  <a:moveTo>
                    <a:pt x="1013587" y="1088453"/>
                  </a:moveTo>
                  <a:lnTo>
                    <a:pt x="508584" y="1088453"/>
                  </a:lnTo>
                  <a:lnTo>
                    <a:pt x="508584" y="1449679"/>
                  </a:lnTo>
                  <a:lnTo>
                    <a:pt x="1013587" y="1449679"/>
                  </a:lnTo>
                  <a:lnTo>
                    <a:pt x="1013587" y="1088453"/>
                  </a:lnTo>
                  <a:close/>
                </a:path>
                <a:path w="2537459" h="1449704">
                  <a:moveTo>
                    <a:pt x="1013587" y="726033"/>
                  </a:moveTo>
                  <a:lnTo>
                    <a:pt x="508584" y="726033"/>
                  </a:lnTo>
                  <a:lnTo>
                    <a:pt x="508584" y="1086065"/>
                  </a:lnTo>
                  <a:lnTo>
                    <a:pt x="1013587" y="1086065"/>
                  </a:lnTo>
                  <a:lnTo>
                    <a:pt x="1013587" y="726033"/>
                  </a:lnTo>
                  <a:close/>
                </a:path>
                <a:path w="2537459" h="1449704">
                  <a:moveTo>
                    <a:pt x="1013587" y="363613"/>
                  </a:moveTo>
                  <a:lnTo>
                    <a:pt x="508584" y="363613"/>
                  </a:lnTo>
                  <a:lnTo>
                    <a:pt x="508584" y="723646"/>
                  </a:lnTo>
                  <a:lnTo>
                    <a:pt x="1013587" y="723646"/>
                  </a:lnTo>
                  <a:lnTo>
                    <a:pt x="1013587" y="363613"/>
                  </a:lnTo>
                  <a:close/>
                </a:path>
                <a:path w="2537459" h="1449704">
                  <a:moveTo>
                    <a:pt x="1013587" y="0"/>
                  </a:moveTo>
                  <a:lnTo>
                    <a:pt x="508584" y="0"/>
                  </a:lnTo>
                  <a:lnTo>
                    <a:pt x="508584" y="361226"/>
                  </a:lnTo>
                  <a:lnTo>
                    <a:pt x="1013587" y="361226"/>
                  </a:lnTo>
                  <a:lnTo>
                    <a:pt x="1013587" y="0"/>
                  </a:lnTo>
                  <a:close/>
                </a:path>
                <a:path w="2537459" h="1449704">
                  <a:moveTo>
                    <a:pt x="1520977" y="1088453"/>
                  </a:moveTo>
                  <a:lnTo>
                    <a:pt x="1015974" y="1088453"/>
                  </a:lnTo>
                  <a:lnTo>
                    <a:pt x="1015974" y="1449679"/>
                  </a:lnTo>
                  <a:lnTo>
                    <a:pt x="1520977" y="1449679"/>
                  </a:lnTo>
                  <a:lnTo>
                    <a:pt x="1520977" y="1088453"/>
                  </a:lnTo>
                  <a:close/>
                </a:path>
                <a:path w="2537459" h="1449704">
                  <a:moveTo>
                    <a:pt x="1520977" y="726033"/>
                  </a:moveTo>
                  <a:lnTo>
                    <a:pt x="1015974" y="726033"/>
                  </a:lnTo>
                  <a:lnTo>
                    <a:pt x="1015974" y="1086065"/>
                  </a:lnTo>
                  <a:lnTo>
                    <a:pt x="1520977" y="1086065"/>
                  </a:lnTo>
                  <a:lnTo>
                    <a:pt x="1520977" y="726033"/>
                  </a:lnTo>
                  <a:close/>
                </a:path>
                <a:path w="2537459" h="1449704">
                  <a:moveTo>
                    <a:pt x="1520977" y="363613"/>
                  </a:moveTo>
                  <a:lnTo>
                    <a:pt x="1015974" y="363613"/>
                  </a:lnTo>
                  <a:lnTo>
                    <a:pt x="1015974" y="723646"/>
                  </a:lnTo>
                  <a:lnTo>
                    <a:pt x="1520977" y="723646"/>
                  </a:lnTo>
                  <a:lnTo>
                    <a:pt x="1520977" y="363613"/>
                  </a:lnTo>
                  <a:close/>
                </a:path>
                <a:path w="2537459" h="1449704">
                  <a:moveTo>
                    <a:pt x="1520977" y="0"/>
                  </a:moveTo>
                  <a:lnTo>
                    <a:pt x="1015974" y="0"/>
                  </a:lnTo>
                  <a:lnTo>
                    <a:pt x="1015974" y="361226"/>
                  </a:lnTo>
                  <a:lnTo>
                    <a:pt x="1520977" y="361226"/>
                  </a:lnTo>
                  <a:lnTo>
                    <a:pt x="1520977" y="0"/>
                  </a:lnTo>
                  <a:close/>
                </a:path>
                <a:path w="2537459" h="1449704">
                  <a:moveTo>
                    <a:pt x="2028367" y="1088453"/>
                  </a:moveTo>
                  <a:lnTo>
                    <a:pt x="1523365" y="1088453"/>
                  </a:lnTo>
                  <a:lnTo>
                    <a:pt x="1523365" y="1449679"/>
                  </a:lnTo>
                  <a:lnTo>
                    <a:pt x="2028367" y="1449679"/>
                  </a:lnTo>
                  <a:lnTo>
                    <a:pt x="2028367" y="1088453"/>
                  </a:lnTo>
                  <a:close/>
                </a:path>
                <a:path w="2537459" h="1449704">
                  <a:moveTo>
                    <a:pt x="2028367" y="726033"/>
                  </a:moveTo>
                  <a:lnTo>
                    <a:pt x="1523365" y="726033"/>
                  </a:lnTo>
                  <a:lnTo>
                    <a:pt x="1523365" y="1086065"/>
                  </a:lnTo>
                  <a:lnTo>
                    <a:pt x="2028367" y="1086065"/>
                  </a:lnTo>
                  <a:lnTo>
                    <a:pt x="2028367" y="726033"/>
                  </a:lnTo>
                  <a:close/>
                </a:path>
                <a:path w="2537459" h="1449704">
                  <a:moveTo>
                    <a:pt x="2028367" y="363613"/>
                  </a:moveTo>
                  <a:lnTo>
                    <a:pt x="1523365" y="363613"/>
                  </a:lnTo>
                  <a:lnTo>
                    <a:pt x="1523365" y="723646"/>
                  </a:lnTo>
                  <a:lnTo>
                    <a:pt x="2028367" y="723646"/>
                  </a:lnTo>
                  <a:lnTo>
                    <a:pt x="2028367" y="363613"/>
                  </a:lnTo>
                  <a:close/>
                </a:path>
                <a:path w="2537459" h="1449704">
                  <a:moveTo>
                    <a:pt x="2028367" y="0"/>
                  </a:moveTo>
                  <a:lnTo>
                    <a:pt x="1523365" y="0"/>
                  </a:lnTo>
                  <a:lnTo>
                    <a:pt x="1523365" y="361226"/>
                  </a:lnTo>
                  <a:lnTo>
                    <a:pt x="2028367" y="361226"/>
                  </a:lnTo>
                  <a:lnTo>
                    <a:pt x="2028367" y="0"/>
                  </a:lnTo>
                  <a:close/>
                </a:path>
                <a:path w="2537459" h="1449704">
                  <a:moveTo>
                    <a:pt x="2536952" y="1088453"/>
                  </a:moveTo>
                  <a:lnTo>
                    <a:pt x="2030755" y="1088453"/>
                  </a:lnTo>
                  <a:lnTo>
                    <a:pt x="2030755" y="1449679"/>
                  </a:lnTo>
                  <a:lnTo>
                    <a:pt x="2536952" y="1449679"/>
                  </a:lnTo>
                  <a:lnTo>
                    <a:pt x="2536952" y="1088453"/>
                  </a:lnTo>
                  <a:close/>
                </a:path>
                <a:path w="2537459" h="1449704">
                  <a:moveTo>
                    <a:pt x="2536952" y="726033"/>
                  </a:moveTo>
                  <a:lnTo>
                    <a:pt x="2030755" y="726033"/>
                  </a:lnTo>
                  <a:lnTo>
                    <a:pt x="2030755" y="1086065"/>
                  </a:lnTo>
                  <a:lnTo>
                    <a:pt x="2536952" y="1086065"/>
                  </a:lnTo>
                  <a:lnTo>
                    <a:pt x="2536952" y="726033"/>
                  </a:lnTo>
                  <a:close/>
                </a:path>
                <a:path w="2537459" h="1449704">
                  <a:moveTo>
                    <a:pt x="2536952" y="363613"/>
                  </a:moveTo>
                  <a:lnTo>
                    <a:pt x="2030755" y="363613"/>
                  </a:lnTo>
                  <a:lnTo>
                    <a:pt x="2030755" y="723646"/>
                  </a:lnTo>
                  <a:lnTo>
                    <a:pt x="2536952" y="723646"/>
                  </a:lnTo>
                  <a:lnTo>
                    <a:pt x="2536952" y="363613"/>
                  </a:lnTo>
                  <a:close/>
                </a:path>
                <a:path w="2537459" h="1449704">
                  <a:moveTo>
                    <a:pt x="2536952" y="0"/>
                  </a:moveTo>
                  <a:lnTo>
                    <a:pt x="2030755" y="0"/>
                  </a:lnTo>
                  <a:lnTo>
                    <a:pt x="2030755" y="361226"/>
                  </a:lnTo>
                  <a:lnTo>
                    <a:pt x="2536952" y="361226"/>
                  </a:lnTo>
                  <a:lnTo>
                    <a:pt x="2536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68438" y="3253620"/>
              <a:ext cx="2537460" cy="1449705"/>
            </a:xfrm>
            <a:custGeom>
              <a:avLst/>
              <a:gdLst/>
              <a:ahLst/>
              <a:cxnLst/>
              <a:rect l="l" t="t" r="r" b="b"/>
              <a:pathLst>
                <a:path w="2537459" h="1449704">
                  <a:moveTo>
                    <a:pt x="2029559" y="0"/>
                  </a:moveTo>
                  <a:lnTo>
                    <a:pt x="2029559" y="1449685"/>
                  </a:lnTo>
                </a:path>
                <a:path w="2537459" h="1449704">
                  <a:moveTo>
                    <a:pt x="1522169" y="0"/>
                  </a:moveTo>
                  <a:lnTo>
                    <a:pt x="1522169" y="1449685"/>
                  </a:lnTo>
                </a:path>
                <a:path w="2537459" h="1449704">
                  <a:moveTo>
                    <a:pt x="1014778" y="0"/>
                  </a:moveTo>
                  <a:lnTo>
                    <a:pt x="1014778" y="1449685"/>
                  </a:lnTo>
                </a:path>
                <a:path w="2537459" h="1449704">
                  <a:moveTo>
                    <a:pt x="507389" y="0"/>
                  </a:moveTo>
                  <a:lnTo>
                    <a:pt x="507389" y="1449685"/>
                  </a:lnTo>
                </a:path>
                <a:path w="2537459" h="1449704">
                  <a:moveTo>
                    <a:pt x="0" y="1087263"/>
                  </a:moveTo>
                  <a:lnTo>
                    <a:pt x="2536949" y="1087263"/>
                  </a:lnTo>
                </a:path>
                <a:path w="2537459" h="1449704">
                  <a:moveTo>
                    <a:pt x="0" y="724842"/>
                  </a:moveTo>
                  <a:lnTo>
                    <a:pt x="2536949" y="724842"/>
                  </a:lnTo>
                </a:path>
                <a:path w="2537459" h="1449704">
                  <a:moveTo>
                    <a:pt x="0" y="362421"/>
                  </a:moveTo>
                  <a:lnTo>
                    <a:pt x="2536949" y="362421"/>
                  </a:lnTo>
                </a:path>
              </a:pathLst>
            </a:custGeom>
            <a:ln w="3175">
              <a:solidFill>
                <a:srgbClr val="E7EA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89215" y="3021560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6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6605" y="3021560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7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03994" y="3021560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8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11385" y="3021560"/>
            <a:ext cx="11048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9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76514" y="302156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003F83"/>
                </a:solidFill>
                <a:latin typeface="Lucida Sans Unicode"/>
                <a:cs typeface="Lucida Sans Unicode"/>
              </a:rPr>
              <a:t>10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51748" y="3307682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4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51748" y="4032524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2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51748" y="4394945"/>
            <a:ext cx="1225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68438" y="3298145"/>
            <a:ext cx="50673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 algn="ctr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Lucida Sans Unicode"/>
                <a:cs typeface="Lucida Sans Unicode"/>
              </a:rPr>
              <a:t>0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77020" y="3298145"/>
            <a:ext cx="50545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 algn="ctr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Lucida Sans Unicode"/>
                <a:cs typeface="Lucida Sans Unicode"/>
              </a:rPr>
              <a:t>0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84409" y="3298145"/>
            <a:ext cx="50545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 algn="ctr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Lucida Sans Unicode"/>
                <a:cs typeface="Lucida Sans Unicode"/>
              </a:rPr>
              <a:t>0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51748" y="3661757"/>
            <a:ext cx="72326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880" algn="l"/>
              </a:tabLst>
            </a:pPr>
            <a:r>
              <a:rPr sz="1800" spc="-75" baseline="4629" dirty="0">
                <a:solidFill>
                  <a:srgbClr val="003F83"/>
                </a:solidFill>
                <a:latin typeface="Lucida Sans Unicode"/>
                <a:cs typeface="Lucida Sans Unicode"/>
              </a:rPr>
              <a:t>3</a:t>
            </a:r>
            <a:r>
              <a:rPr sz="1800" baseline="4629" dirty="0">
                <a:solidFill>
                  <a:srgbClr val="003F83"/>
                </a:solidFill>
                <a:latin typeface="Lucida Sans Unicode"/>
                <a:cs typeface="Lucida Sans Unicode"/>
              </a:rPr>
              <a:t>	</a:t>
            </a:r>
            <a:r>
              <a:rPr sz="1350" spc="-50" dirty="0">
                <a:latin typeface="Lucida Sans Unicode"/>
                <a:cs typeface="Lucida Sans Unicode"/>
              </a:rPr>
              <a:t>0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77020" y="3661757"/>
            <a:ext cx="50545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 algn="ctr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Lucida Sans Unicode"/>
                <a:cs typeface="Lucida Sans Unicode"/>
              </a:rPr>
              <a:t>0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68438" y="4024178"/>
            <a:ext cx="50673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 algn="ctr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Lucida Sans Unicode"/>
                <a:cs typeface="Lucida Sans Unicode"/>
              </a:rPr>
              <a:t>0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66578" y="3832239"/>
            <a:ext cx="755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Trebuchet MS"/>
                <a:cs typeface="Trebuchet MS"/>
              </a:rPr>
              <a:t>i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26478" y="2659138"/>
            <a:ext cx="768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Trebuchet MS"/>
                <a:cs typeface="Trebuchet MS"/>
              </a:rPr>
              <a:t>j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985515" y="3406219"/>
            <a:ext cx="2206625" cy="1146175"/>
            <a:chOff x="6985515" y="3406219"/>
            <a:chExt cx="2206625" cy="1146175"/>
          </a:xfrm>
        </p:grpSpPr>
        <p:sp>
          <p:nvSpPr>
            <p:cNvPr id="26" name="object 26"/>
            <p:cNvSpPr/>
            <p:nvPr/>
          </p:nvSpPr>
          <p:spPr>
            <a:xfrm>
              <a:off x="7046423" y="3453906"/>
              <a:ext cx="1456055" cy="1041400"/>
            </a:xfrm>
            <a:custGeom>
              <a:avLst/>
              <a:gdLst/>
              <a:ahLst/>
              <a:cxnLst/>
              <a:rect l="l" t="t" r="r" b="b"/>
              <a:pathLst>
                <a:path w="1456054" h="1041400">
                  <a:moveTo>
                    <a:pt x="0" y="1041204"/>
                  </a:moveTo>
                  <a:lnTo>
                    <a:pt x="7757" y="1035656"/>
                  </a:lnTo>
                  <a:lnTo>
                    <a:pt x="1455916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5515" y="4474119"/>
              <a:ext cx="75269" cy="7526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555222" y="3415757"/>
              <a:ext cx="1510030" cy="1079500"/>
            </a:xfrm>
            <a:custGeom>
              <a:avLst/>
              <a:gdLst/>
              <a:ahLst/>
              <a:cxnLst/>
              <a:rect l="l" t="t" r="r" b="b"/>
              <a:pathLst>
                <a:path w="1510029" h="1079500">
                  <a:moveTo>
                    <a:pt x="0" y="1079363"/>
                  </a:moveTo>
                  <a:lnTo>
                    <a:pt x="7759" y="1073816"/>
                  </a:lnTo>
                  <a:lnTo>
                    <a:pt x="1509823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4313" y="4474126"/>
              <a:ext cx="75265" cy="7526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071696" y="3766563"/>
              <a:ext cx="1021080" cy="730885"/>
            </a:xfrm>
            <a:custGeom>
              <a:avLst/>
              <a:gdLst/>
              <a:ahLst/>
              <a:cxnLst/>
              <a:rect l="l" t="t" r="r" b="b"/>
              <a:pathLst>
                <a:path w="1021079" h="730885">
                  <a:moveTo>
                    <a:pt x="0" y="730594"/>
                  </a:moveTo>
                  <a:lnTo>
                    <a:pt x="7753" y="725042"/>
                  </a:lnTo>
                  <a:lnTo>
                    <a:pt x="1020481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0792" y="4476176"/>
              <a:ext cx="75274" cy="7527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575765" y="4084959"/>
              <a:ext cx="573405" cy="408940"/>
            </a:xfrm>
            <a:custGeom>
              <a:avLst/>
              <a:gdLst/>
              <a:ahLst/>
              <a:cxnLst/>
              <a:rect l="l" t="t" r="r" b="b"/>
              <a:pathLst>
                <a:path w="573404" h="408939">
                  <a:moveTo>
                    <a:pt x="0" y="408631"/>
                  </a:moveTo>
                  <a:lnTo>
                    <a:pt x="7763" y="403093"/>
                  </a:lnTo>
                  <a:lnTo>
                    <a:pt x="572845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4845" y="4472580"/>
              <a:ext cx="75252" cy="7525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89050" y="4393362"/>
              <a:ext cx="202595" cy="158445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6405417" y="4957652"/>
            <a:ext cx="29190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rebuchet MS"/>
                <a:cs typeface="Trebuchet MS"/>
              </a:rPr>
              <a:t>order</a:t>
            </a:r>
            <a:r>
              <a:rPr sz="1200" b="1" spc="12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in</a:t>
            </a:r>
            <a:r>
              <a:rPr sz="1200" b="1" spc="125" dirty="0">
                <a:latin typeface="Trebuchet MS"/>
                <a:cs typeface="Trebuchet MS"/>
              </a:rPr>
              <a:t> </a:t>
            </a:r>
            <a:r>
              <a:rPr sz="1200" b="1" spc="55" dirty="0">
                <a:latin typeface="Trebuchet MS"/>
                <a:cs typeface="Trebuchet MS"/>
              </a:rPr>
              <a:t>which</a:t>
            </a:r>
            <a:r>
              <a:rPr sz="1200" b="1" spc="12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to</a:t>
            </a:r>
            <a:r>
              <a:rPr sz="1200" b="1" spc="125" dirty="0">
                <a:latin typeface="Trebuchet MS"/>
                <a:cs typeface="Trebuchet MS"/>
              </a:rPr>
              <a:t> </a:t>
            </a:r>
            <a:r>
              <a:rPr sz="1200" b="1" spc="70" dirty="0">
                <a:latin typeface="Trebuchet MS"/>
                <a:cs typeface="Trebuchet MS"/>
              </a:rPr>
              <a:t>solve</a:t>
            </a:r>
            <a:r>
              <a:rPr sz="1200" b="1" spc="120" dirty="0">
                <a:latin typeface="Trebuchet MS"/>
                <a:cs typeface="Trebuchet MS"/>
              </a:rPr>
              <a:t> </a:t>
            </a:r>
            <a:r>
              <a:rPr sz="1200" b="1" spc="70" dirty="0">
                <a:latin typeface="Trebuchet MS"/>
                <a:cs typeface="Trebuchet MS"/>
              </a:rPr>
              <a:t>subproblems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177613" y="2481090"/>
            <a:ext cx="4330065" cy="2804160"/>
            <a:chOff x="1177613" y="2481090"/>
            <a:chExt cx="4330065" cy="2804160"/>
          </a:xfrm>
        </p:grpSpPr>
        <p:sp>
          <p:nvSpPr>
            <p:cNvPr id="37" name="object 37"/>
            <p:cNvSpPr/>
            <p:nvPr/>
          </p:nvSpPr>
          <p:spPr>
            <a:xfrm>
              <a:off x="1177613" y="2481090"/>
              <a:ext cx="4330065" cy="2804160"/>
            </a:xfrm>
            <a:custGeom>
              <a:avLst/>
              <a:gdLst/>
              <a:ahLst/>
              <a:cxnLst/>
              <a:rect l="l" t="t" r="r" b="b"/>
              <a:pathLst>
                <a:path w="4330065" h="2804160">
                  <a:moveTo>
                    <a:pt x="0" y="0"/>
                  </a:moveTo>
                  <a:lnTo>
                    <a:pt x="4329980" y="0"/>
                  </a:lnTo>
                  <a:lnTo>
                    <a:pt x="4329980" y="2803996"/>
                  </a:lnTo>
                  <a:lnTo>
                    <a:pt x="0" y="2803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96973" y="3083816"/>
              <a:ext cx="3672204" cy="0"/>
            </a:xfrm>
            <a:custGeom>
              <a:avLst/>
              <a:gdLst/>
              <a:ahLst/>
              <a:cxnLst/>
              <a:rect l="l" t="t" r="r" b="b"/>
              <a:pathLst>
                <a:path w="3672204">
                  <a:moveTo>
                    <a:pt x="0" y="0"/>
                  </a:moveTo>
                  <a:lnTo>
                    <a:pt x="36719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19075" marR="2376170">
              <a:lnSpc>
                <a:spcPts val="3910"/>
              </a:lnSpc>
              <a:spcBef>
                <a:spcPts val="175"/>
              </a:spcBef>
            </a:pPr>
            <a:r>
              <a:rPr spc="-10" dirty="0">
                <a:solidFill>
                  <a:srgbClr val="003F83"/>
                </a:solidFill>
              </a:rPr>
              <a:t>R</a:t>
            </a:r>
            <a:r>
              <a:rPr sz="1450" spc="-10" dirty="0">
                <a:solidFill>
                  <a:srgbClr val="003F83"/>
                </a:solidFill>
              </a:rPr>
              <a:t>NA</a:t>
            </a:r>
            <a:r>
              <a:rPr sz="1450" spc="-85" dirty="0">
                <a:solidFill>
                  <a:srgbClr val="003F83"/>
                </a:solidFill>
              </a:rPr>
              <a:t> </a:t>
            </a:r>
            <a:r>
              <a:rPr dirty="0"/>
              <a:t>(</a:t>
            </a:r>
            <a:r>
              <a:rPr i="1" dirty="0">
                <a:latin typeface="Times New Roman"/>
                <a:cs typeface="Times New Roman"/>
              </a:rPr>
              <a:t>n</a:t>
            </a:r>
            <a:r>
              <a:rPr dirty="0"/>
              <a:t>, </a:t>
            </a:r>
            <a:r>
              <a:rPr i="1" dirty="0">
                <a:latin typeface="Times New Roman"/>
                <a:cs typeface="Times New Roman"/>
              </a:rPr>
              <a:t>b</a:t>
            </a:r>
            <a:r>
              <a:rPr sz="1800" baseline="-6944" dirty="0"/>
              <a:t>1</a:t>
            </a:r>
            <a:r>
              <a:rPr sz="1800" i="1" dirty="0">
                <a:latin typeface="Times New Roman"/>
                <a:cs typeface="Times New Roman"/>
              </a:rPr>
              <a:t>, …, b</a:t>
            </a:r>
            <a:r>
              <a:rPr sz="1800" i="1" baseline="-6944" dirty="0">
                <a:latin typeface="Times New Roman"/>
                <a:cs typeface="Times New Roman"/>
              </a:rPr>
              <a:t>n</a:t>
            </a:r>
            <a:r>
              <a:rPr sz="1800" i="1" spc="225" baseline="-6944" dirty="0">
                <a:latin typeface="Times New Roman"/>
                <a:cs typeface="Times New Roman"/>
              </a:rPr>
              <a:t> </a:t>
            </a:r>
            <a:r>
              <a:rPr sz="1800" spc="-50" dirty="0"/>
              <a:t>) </a:t>
            </a:r>
            <a:r>
              <a:rPr sz="1800" dirty="0">
                <a:solidFill>
                  <a:srgbClr val="003F83"/>
                </a:solidFill>
              </a:rPr>
              <a:t>F</a:t>
            </a:r>
            <a:r>
              <a:rPr sz="1450" dirty="0">
                <a:solidFill>
                  <a:srgbClr val="003F83"/>
                </a:solidFill>
              </a:rPr>
              <a:t>OR</a:t>
            </a:r>
            <a:r>
              <a:rPr sz="1450" spc="330" dirty="0">
                <a:solidFill>
                  <a:srgbClr val="003F83"/>
                </a:solidFill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dirty="0"/>
              <a:t>=</a:t>
            </a:r>
            <a:r>
              <a:rPr sz="1800" spc="-10" dirty="0"/>
              <a:t> </a:t>
            </a:r>
            <a:r>
              <a:rPr sz="1800" dirty="0"/>
              <a:t>5</a:t>
            </a:r>
            <a:r>
              <a:rPr sz="1800" spc="-10" dirty="0"/>
              <a:t> </a:t>
            </a:r>
            <a:r>
              <a:rPr sz="1450" dirty="0">
                <a:solidFill>
                  <a:srgbClr val="003F83"/>
                </a:solidFill>
              </a:rPr>
              <a:t>TO</a:t>
            </a:r>
            <a:r>
              <a:rPr sz="1450" spc="80" dirty="0">
                <a:solidFill>
                  <a:srgbClr val="003F83"/>
                </a:solidFill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dirty="0"/>
              <a:t>–</a:t>
            </a:r>
            <a:r>
              <a:rPr sz="1800" spc="-150" dirty="0"/>
              <a:t> </a:t>
            </a:r>
            <a:r>
              <a:rPr sz="1800" spc="-50" dirty="0"/>
              <a:t>1</a:t>
            </a:r>
            <a:endParaRPr sz="1800">
              <a:latin typeface="Times New Roman"/>
              <a:cs typeface="Times New Roman"/>
            </a:endParaRPr>
          </a:p>
          <a:p>
            <a:pPr marL="476250">
              <a:lnSpc>
                <a:spcPct val="100000"/>
              </a:lnSpc>
              <a:spcBef>
                <a:spcPts val="340"/>
              </a:spcBef>
            </a:pPr>
            <a:r>
              <a:rPr cap="small" dirty="0">
                <a:solidFill>
                  <a:srgbClr val="003F83"/>
                </a:solidFill>
              </a:rPr>
              <a:t>For</a:t>
            </a:r>
            <a:r>
              <a:rPr cap="small" spc="420" dirty="0">
                <a:solidFill>
                  <a:srgbClr val="003F83"/>
                </a:solidFill>
              </a:rPr>
              <a:t> </a:t>
            </a:r>
            <a:r>
              <a:rPr i="1" dirty="0">
                <a:latin typeface="Times New Roman"/>
                <a:cs typeface="Times New Roman"/>
              </a:rPr>
              <a:t>i</a:t>
            </a:r>
            <a:r>
              <a:rPr i="1" spc="-10" dirty="0">
                <a:latin typeface="Times New Roman"/>
                <a:cs typeface="Times New Roman"/>
              </a:rPr>
              <a:t> </a:t>
            </a:r>
            <a:r>
              <a:rPr cap="small" dirty="0"/>
              <a:t>=</a:t>
            </a:r>
            <a:r>
              <a:rPr cap="small" spc="-10" dirty="0"/>
              <a:t> </a:t>
            </a:r>
            <a:r>
              <a:rPr cap="small" dirty="0"/>
              <a:t>1</a:t>
            </a:r>
            <a:r>
              <a:rPr cap="small" spc="-5" dirty="0"/>
              <a:t> </a:t>
            </a:r>
            <a:r>
              <a:rPr cap="small" dirty="0">
                <a:solidFill>
                  <a:srgbClr val="003F83"/>
                </a:solidFill>
              </a:rPr>
              <a:t>to</a:t>
            </a:r>
            <a:r>
              <a:rPr cap="small" spc="75" dirty="0">
                <a:solidFill>
                  <a:srgbClr val="003F83"/>
                </a:solidFill>
              </a:rPr>
              <a:t> </a:t>
            </a:r>
            <a:r>
              <a:rPr i="1" dirty="0">
                <a:latin typeface="Times New Roman"/>
                <a:cs typeface="Times New Roman"/>
              </a:rPr>
              <a:t>n</a:t>
            </a:r>
            <a:r>
              <a:rPr i="1" spc="-10" dirty="0">
                <a:latin typeface="Times New Roman"/>
                <a:cs typeface="Times New Roman"/>
              </a:rPr>
              <a:t> </a:t>
            </a:r>
            <a:r>
              <a:rPr cap="small" dirty="0"/>
              <a:t>–</a:t>
            </a:r>
            <a:r>
              <a:rPr cap="small" spc="-150" dirty="0"/>
              <a:t> </a:t>
            </a:r>
            <a:r>
              <a:rPr i="1" spc="-50" dirty="0">
                <a:latin typeface="Times New Roman"/>
                <a:cs typeface="Times New Roman"/>
              </a:rPr>
              <a:t>k</a:t>
            </a:r>
          </a:p>
          <a:p>
            <a:pPr marL="734060">
              <a:lnSpc>
                <a:spcPct val="100000"/>
              </a:lnSpc>
              <a:spcBef>
                <a:spcPts val="770"/>
              </a:spcBef>
              <a:tabLst>
                <a:tab pos="1274445" algn="l"/>
              </a:tabLst>
            </a:pPr>
            <a:r>
              <a:rPr i="1" dirty="0">
                <a:latin typeface="Times New Roman"/>
                <a:cs typeface="Times New Roman"/>
              </a:rPr>
              <a:t>j</a:t>
            </a:r>
            <a:r>
              <a:rPr i="1" spc="300" dirty="0">
                <a:latin typeface="Times New Roman"/>
                <a:cs typeface="Times New Roman"/>
              </a:rPr>
              <a:t> </a:t>
            </a:r>
            <a:r>
              <a:rPr spc="-50" dirty="0"/>
              <a:t>←</a:t>
            </a:r>
            <a:r>
              <a:rPr dirty="0"/>
              <a:t>	</a:t>
            </a:r>
            <a:r>
              <a:rPr i="1" dirty="0">
                <a:latin typeface="Times New Roman"/>
                <a:cs typeface="Times New Roman"/>
              </a:rPr>
              <a:t>i</a:t>
            </a:r>
            <a:r>
              <a:rPr i="1" spc="-150" dirty="0">
                <a:latin typeface="Times New Roman"/>
                <a:cs typeface="Times New Roman"/>
              </a:rPr>
              <a:t> </a:t>
            </a:r>
            <a:r>
              <a:rPr dirty="0"/>
              <a:t>+ </a:t>
            </a:r>
            <a:r>
              <a:rPr i="1" spc="-25" dirty="0">
                <a:latin typeface="Times New Roman"/>
                <a:cs typeface="Times New Roman"/>
              </a:rPr>
              <a:t>k</a:t>
            </a:r>
            <a:r>
              <a:rPr spc="-25" dirty="0"/>
              <a:t>.</a:t>
            </a:r>
          </a:p>
          <a:p>
            <a:pPr marL="734060">
              <a:lnSpc>
                <a:spcPct val="100000"/>
              </a:lnSpc>
              <a:spcBef>
                <a:spcPts val="770"/>
              </a:spcBef>
            </a:pPr>
            <a:r>
              <a:rPr dirty="0"/>
              <a:t>Compute</a:t>
            </a:r>
            <a:r>
              <a:rPr spc="-20" dirty="0"/>
              <a:t> </a:t>
            </a:r>
            <a:r>
              <a:rPr i="1" dirty="0">
                <a:latin typeface="Times New Roman"/>
                <a:cs typeface="Times New Roman"/>
              </a:rPr>
              <a:t>M</a:t>
            </a:r>
            <a:r>
              <a:rPr dirty="0"/>
              <a:t>[</a:t>
            </a:r>
            <a:r>
              <a:rPr i="1" dirty="0">
                <a:latin typeface="Times New Roman"/>
                <a:cs typeface="Times New Roman"/>
              </a:rPr>
              <a:t>i</a:t>
            </a:r>
            <a:r>
              <a:rPr dirty="0"/>
              <a:t>,</a:t>
            </a:r>
            <a:r>
              <a:rPr spc="-5" dirty="0"/>
              <a:t> </a:t>
            </a:r>
            <a:r>
              <a:rPr i="1" dirty="0">
                <a:latin typeface="Times New Roman"/>
                <a:cs typeface="Times New Roman"/>
              </a:rPr>
              <a:t>j</a:t>
            </a:r>
            <a:r>
              <a:rPr dirty="0"/>
              <a:t>]</a:t>
            </a:r>
            <a:r>
              <a:rPr spc="-10" dirty="0"/>
              <a:t> </a:t>
            </a:r>
            <a:r>
              <a:rPr dirty="0"/>
              <a:t>using</a:t>
            </a:r>
            <a:r>
              <a:rPr spc="-5" dirty="0"/>
              <a:t> </a:t>
            </a:r>
            <a:r>
              <a:rPr spc="-10" dirty="0"/>
              <a:t>formula.</a:t>
            </a:r>
          </a:p>
          <a:p>
            <a:pPr marL="219075">
              <a:lnSpc>
                <a:spcPct val="100000"/>
              </a:lnSpc>
              <a:spcBef>
                <a:spcPts val="770"/>
              </a:spcBef>
            </a:pPr>
            <a:r>
              <a:rPr cap="small" dirty="0">
                <a:solidFill>
                  <a:srgbClr val="003F83"/>
                </a:solidFill>
              </a:rPr>
              <a:t>Return</a:t>
            </a:r>
            <a:r>
              <a:rPr cap="small" spc="400" dirty="0">
                <a:solidFill>
                  <a:srgbClr val="003F83"/>
                </a:solidFill>
              </a:rPr>
              <a:t> </a:t>
            </a:r>
            <a:r>
              <a:rPr i="1" dirty="0">
                <a:latin typeface="Times New Roman"/>
                <a:cs typeface="Times New Roman"/>
              </a:rPr>
              <a:t>M</a:t>
            </a:r>
            <a:r>
              <a:rPr cap="small" dirty="0"/>
              <a:t>[1,</a:t>
            </a:r>
            <a:r>
              <a:rPr cap="small" spc="-20" dirty="0"/>
              <a:t> </a:t>
            </a:r>
            <a:r>
              <a:rPr i="1" spc="-25" dirty="0">
                <a:latin typeface="Times New Roman"/>
                <a:cs typeface="Times New Roman"/>
              </a:rPr>
              <a:t>n</a:t>
            </a:r>
            <a:r>
              <a:rPr cap="small" spc="-25" dirty="0"/>
              <a:t>].</a:t>
            </a:r>
          </a:p>
        </p:txBody>
      </p:sp>
      <p:sp>
        <p:nvSpPr>
          <p:cNvPr id="40" name="object 40"/>
          <p:cNvSpPr/>
          <p:nvPr/>
        </p:nvSpPr>
        <p:spPr>
          <a:xfrm>
            <a:off x="1396973" y="5067596"/>
            <a:ext cx="3672204" cy="0"/>
          </a:xfrm>
          <a:custGeom>
            <a:avLst/>
            <a:gdLst/>
            <a:ahLst/>
            <a:cxnLst/>
            <a:rect l="l" t="t" r="r" b="b"/>
            <a:pathLst>
              <a:path w="3672204">
                <a:moveTo>
                  <a:pt x="0" y="0"/>
                </a:moveTo>
                <a:lnTo>
                  <a:pt x="36719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305" dirty="0"/>
              <a:t> </a:t>
            </a:r>
            <a:r>
              <a:rPr dirty="0"/>
              <a:t>programming</a:t>
            </a:r>
            <a:r>
              <a:rPr spc="30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32567" y="1218991"/>
            <a:ext cx="4578350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1980"/>
              </a:lnSpc>
              <a:spcBef>
                <a:spcPts val="100"/>
              </a:spcBef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Outline.</a:t>
            </a:r>
            <a:endParaRPr sz="1800">
              <a:latin typeface="Lucida Sans Unicode"/>
              <a:cs typeface="Lucida Sans Unicode"/>
            </a:endParaRPr>
          </a:p>
          <a:p>
            <a:pPr marL="120650">
              <a:lnSpc>
                <a:spcPts val="3240"/>
              </a:lnSpc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Polynomial number of </a:t>
            </a:r>
            <a:r>
              <a:rPr sz="1800" spc="-10" dirty="0">
                <a:latin typeface="Lucida Sans Unicode"/>
                <a:cs typeface="Lucida Sans Unicode"/>
              </a:rPr>
              <a:t>subproblems.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241" y="1806495"/>
            <a:ext cx="7742555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Solution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original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problem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can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be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computed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from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subproblems.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241" y="2072474"/>
            <a:ext cx="8418830" cy="1259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30480" indent="-343535">
              <a:lnSpc>
                <a:spcPct val="123100"/>
              </a:lnSpc>
              <a:spcBef>
                <a:spcPts val="100"/>
              </a:spcBef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Natural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ordering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subproblems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from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smallest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largest,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55" dirty="0">
                <a:latin typeface="Lucida Sans Unicode"/>
                <a:cs typeface="Lucida Sans Unicode"/>
              </a:rPr>
              <a:t>easy- </a:t>
            </a:r>
            <a:r>
              <a:rPr sz="1800" spc="-45" dirty="0">
                <a:latin typeface="Lucida Sans Unicode"/>
                <a:cs typeface="Lucida Sans Unicode"/>
              </a:rPr>
              <a:t>to-</a:t>
            </a:r>
            <a:r>
              <a:rPr sz="1800" spc="-30" dirty="0">
                <a:latin typeface="Lucida Sans Unicode"/>
                <a:cs typeface="Lucida Sans Unicode"/>
              </a:rPr>
              <a:t>compute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recurrence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allows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one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determine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solution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a </a:t>
            </a:r>
            <a:r>
              <a:rPr sz="1800" dirty="0">
                <a:latin typeface="Lucida Sans Unicode"/>
                <a:cs typeface="Lucida Sans Unicode"/>
              </a:rPr>
              <a:t>subproblem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from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solution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smaller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subproblems.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4467" y="3755940"/>
            <a:ext cx="7769859" cy="1777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1980"/>
              </a:lnSpc>
              <a:spcBef>
                <a:spcPts val="100"/>
              </a:spcBef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Techniques.</a:t>
            </a:r>
            <a:endParaRPr sz="1800">
              <a:latin typeface="Lucida Sans Unicode"/>
              <a:cs typeface="Lucida Sans Unicode"/>
            </a:endParaRPr>
          </a:p>
          <a:p>
            <a:pPr marL="158750">
              <a:lnSpc>
                <a:spcPts val="2960"/>
              </a:lnSpc>
              <a:tabLst>
                <a:tab pos="2216785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Binary</a:t>
            </a:r>
            <a:r>
              <a:rPr sz="1800" spc="5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choice:</a:t>
            </a:r>
            <a:r>
              <a:rPr sz="1800" dirty="0">
                <a:latin typeface="Lucida Sans Unicode"/>
                <a:cs typeface="Lucida Sans Unicode"/>
              </a:rPr>
              <a:t>	weighted</a:t>
            </a:r>
            <a:r>
              <a:rPr sz="1800" spc="7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interval</a:t>
            </a:r>
            <a:r>
              <a:rPr sz="1800" spc="7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scheduling.</a:t>
            </a:r>
            <a:endParaRPr sz="1800">
              <a:latin typeface="Lucida Sans Unicode"/>
              <a:cs typeface="Lucida Sans Unicode"/>
            </a:endParaRPr>
          </a:p>
          <a:p>
            <a:pPr marL="158750">
              <a:lnSpc>
                <a:spcPts val="2855"/>
              </a:lnSpc>
              <a:tabLst>
                <a:tab pos="2533015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Multiway</a:t>
            </a:r>
            <a:r>
              <a:rPr sz="1800" spc="15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choice:</a:t>
            </a:r>
            <a:r>
              <a:rPr sz="1800" dirty="0">
                <a:latin typeface="Lucida Sans Unicode"/>
                <a:cs typeface="Lucida Sans Unicode"/>
              </a:rPr>
              <a:t>	segmented least </a:t>
            </a:r>
            <a:r>
              <a:rPr sz="1800" spc="-10" dirty="0">
                <a:latin typeface="Lucida Sans Unicode"/>
                <a:cs typeface="Lucida Sans Unicode"/>
              </a:rPr>
              <a:t>squares.</a:t>
            </a:r>
            <a:endParaRPr sz="1800">
              <a:latin typeface="Lucida Sans Unicode"/>
              <a:cs typeface="Lucida Sans Unicode"/>
            </a:endParaRPr>
          </a:p>
          <a:p>
            <a:pPr marL="158750">
              <a:lnSpc>
                <a:spcPts val="2855"/>
              </a:lnSpc>
              <a:tabLst>
                <a:tab pos="3225165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Adding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3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new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variable:</a:t>
            </a:r>
            <a:r>
              <a:rPr sz="1800" dirty="0">
                <a:latin typeface="Lucida Sans Unicode"/>
                <a:cs typeface="Lucida Sans Unicode"/>
              </a:rPr>
              <a:t>	knapsack</a:t>
            </a:r>
            <a:r>
              <a:rPr sz="1800" spc="-10" dirty="0">
                <a:latin typeface="Lucida Sans Unicode"/>
                <a:cs typeface="Lucida Sans Unicode"/>
              </a:rPr>
              <a:t> problem.</a:t>
            </a:r>
            <a:endParaRPr sz="1800">
              <a:latin typeface="Lucida Sans Unicode"/>
              <a:cs typeface="Lucida Sans Unicode"/>
            </a:endParaRPr>
          </a:p>
          <a:p>
            <a:pPr marL="158750">
              <a:lnSpc>
                <a:spcPts val="3135"/>
              </a:lnSpc>
              <a:tabLst>
                <a:tab pos="4888865" algn="l"/>
              </a:tabLst>
            </a:pPr>
            <a:r>
              <a:rPr sz="4275" spc="2175" baseline="-8771" dirty="0">
                <a:latin typeface="Yu Gothic UI"/>
                <a:cs typeface="Yu Gothic UI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Dynamic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programming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over</a:t>
            </a:r>
            <a:r>
              <a:rPr sz="1800" spc="3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intervals:</a:t>
            </a:r>
            <a:r>
              <a:rPr sz="1800" dirty="0">
                <a:latin typeface="Lucida Sans Unicode"/>
                <a:cs typeface="Lucida Sans Unicode"/>
              </a:rPr>
              <a:t>	RNA</a:t>
            </a:r>
            <a:r>
              <a:rPr sz="1800" spc="4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secondary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structure.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267" y="6655310"/>
            <a:ext cx="75825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9100" algn="l"/>
              </a:tabLst>
            </a:pPr>
            <a:r>
              <a:rPr sz="1800" spc="-90" dirty="0">
                <a:solidFill>
                  <a:srgbClr val="0048AA"/>
                </a:solidFill>
                <a:latin typeface="Lucida Sans Unicode"/>
                <a:cs typeface="Lucida Sans Unicode"/>
              </a:rPr>
              <a:t>Top-</a:t>
            </a:r>
            <a:r>
              <a:rPr sz="18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down</a:t>
            </a:r>
            <a:r>
              <a:rPr sz="1800" spc="3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vs.</a:t>
            </a:r>
            <a:r>
              <a:rPr sz="1800" spc="3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0048AA"/>
                </a:solidFill>
                <a:latin typeface="Lucida Sans Unicode"/>
                <a:cs typeface="Lucida Sans Unicode"/>
              </a:rPr>
              <a:t>bottom-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up.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Different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people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have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different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intuitions.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ytbvideo/id/Hdr64lKQ3e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557</TotalTime>
  <Words>4036</Words>
  <Application>Microsoft Macintosh PowerPoint</Application>
  <PresentationFormat>自定义</PresentationFormat>
  <Paragraphs>735</Paragraphs>
  <Slides>38</Slides>
  <Notes>0</Notes>
  <HiddenSlides>15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9" baseType="lpstr">
      <vt:lpstr>Microsoft Yahei</vt:lpstr>
      <vt:lpstr>Arial MT</vt:lpstr>
      <vt:lpstr>Yu Gothic UI</vt:lpstr>
      <vt:lpstr>Lucida Console</vt:lpstr>
      <vt:lpstr>Lucida Sans Unicode</vt:lpstr>
      <vt:lpstr>Symbol</vt:lpstr>
      <vt:lpstr>Tahoma</vt:lpstr>
      <vt:lpstr>Times New Roman</vt:lpstr>
      <vt:lpstr>Trebuchet MS</vt:lpstr>
      <vt:lpstr>Verdana</vt:lpstr>
      <vt:lpstr>Office Theme</vt:lpstr>
      <vt:lpstr>6. Dynamic Programming I</vt:lpstr>
      <vt:lpstr>Algorithmic  paradigms</vt:lpstr>
      <vt:lpstr>Dynamic programming history</vt:lpstr>
      <vt:lpstr>Dynamic programming applications</vt:lpstr>
      <vt:lpstr>6. Dynamic Programming I</vt:lpstr>
      <vt:lpstr>Weighted interval scheduling</vt:lpstr>
      <vt:lpstr>Earliest-finish-time first algorithm</vt:lpstr>
      <vt:lpstr>Weighted interval scheduling</vt:lpstr>
      <vt:lpstr>PowerPoint 演示文稿</vt:lpstr>
      <vt:lpstr>Weighted interval scheduling: brute force</vt:lpstr>
      <vt:lpstr>Weighted interval scheduling: brute force</vt:lpstr>
      <vt:lpstr>Weighted interval scheduling: memoization</vt:lpstr>
      <vt:lpstr>Weighted interval scheduling: running time</vt:lpstr>
      <vt:lpstr>Weighted interval scheduling: finding a solution</vt:lpstr>
      <vt:lpstr>Weighted interval scheduling: bottom-up</vt:lpstr>
      <vt:lpstr>PowerPoint 演示文稿</vt:lpstr>
      <vt:lpstr>6. Dynamic Programming I</vt:lpstr>
      <vt:lpstr>Least squares</vt:lpstr>
      <vt:lpstr>Segmented least squares</vt:lpstr>
      <vt:lpstr>Segmented least squares</vt:lpstr>
      <vt:lpstr>・OPT(j) = minimum cost for points p1, p2, …, pj.</vt:lpstr>
      <vt:lpstr>Segmented least squares algorithm</vt:lpstr>
      <vt:lpstr>Segmented least squares analysis</vt:lpstr>
      <vt:lpstr>6. Dynamic Programming I</vt:lpstr>
      <vt:lpstr>Knapsack problem</vt:lpstr>
      <vt:lpstr>Dynamic programming: false start</vt:lpstr>
      <vt:lpstr>PowerPoint 演示文稿</vt:lpstr>
      <vt:lpstr>Knapsack problem: bottom-up</vt:lpstr>
      <vt:lpstr>Knapsack problem: bottom-up demo</vt:lpstr>
      <vt:lpstr>Knapsack problem: running time</vt:lpstr>
      <vt:lpstr>6. Dynamic Programming I</vt:lpstr>
      <vt:lpstr>RNA secondary structure</vt:lpstr>
      <vt:lpstr>RNA secondary structure</vt:lpstr>
      <vt:lpstr>RNA secondary structure</vt:lpstr>
      <vt:lpstr>RNA secondary structure: subproblems</vt:lpstr>
      <vt:lpstr>Dynamic programming over intervals</vt:lpstr>
      <vt:lpstr>Bottom-up dynamic programming over intervals</vt:lpstr>
      <vt:lpstr>Dynamic programming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Fan B</cp:lastModifiedBy>
  <cp:revision>3</cp:revision>
  <dcterms:created xsi:type="dcterms:W3CDTF">2025-11-04T07:16:30Z</dcterms:created>
  <dcterms:modified xsi:type="dcterms:W3CDTF">2025-12-16T01:36:42Z</dcterms:modified>
</cp:coreProperties>
</file>